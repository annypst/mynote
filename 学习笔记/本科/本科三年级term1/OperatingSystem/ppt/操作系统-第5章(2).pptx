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3" saveSubsetFonts="1">
  <p:sldMasterIdLst>
    <p:sldMasterId id="2147483655" r:id="rId1"/>
  </p:sldMasterIdLst>
  <p:notesMasterIdLst>
    <p:notesMasterId r:id="rId29"/>
  </p:notesMasterIdLst>
  <p:handoutMasterIdLst>
    <p:handoutMasterId r:id="rId30"/>
  </p:handoutMasterIdLst>
  <p:sldIdLst>
    <p:sldId id="343" r:id="rId2"/>
    <p:sldId id="527" r:id="rId3"/>
    <p:sldId id="617" r:id="rId4"/>
    <p:sldId id="634" r:id="rId5"/>
    <p:sldId id="344" r:id="rId6"/>
    <p:sldId id="346" r:id="rId7"/>
    <p:sldId id="618" r:id="rId8"/>
    <p:sldId id="619" r:id="rId9"/>
    <p:sldId id="622" r:id="rId10"/>
    <p:sldId id="623" r:id="rId11"/>
    <p:sldId id="433" r:id="rId12"/>
    <p:sldId id="563" r:id="rId13"/>
    <p:sldId id="565" r:id="rId14"/>
    <p:sldId id="627" r:id="rId15"/>
    <p:sldId id="632" r:id="rId16"/>
    <p:sldId id="646" r:id="rId17"/>
    <p:sldId id="567" r:id="rId18"/>
    <p:sldId id="568" r:id="rId19"/>
    <p:sldId id="628" r:id="rId20"/>
    <p:sldId id="569" r:id="rId21"/>
    <p:sldId id="571" r:id="rId22"/>
    <p:sldId id="574" r:id="rId23"/>
    <p:sldId id="352" r:id="rId24"/>
    <p:sldId id="357" r:id="rId25"/>
    <p:sldId id="647" r:id="rId26"/>
    <p:sldId id="575" r:id="rId27"/>
    <p:sldId id="633" r:id="rId28"/>
  </p:sldIdLst>
  <p:sldSz cx="9144000" cy="6858000" type="screen4x3"/>
  <p:notesSz cx="6858000" cy="987266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9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F6600"/>
    <a:srgbClr val="FF9900"/>
    <a:srgbClr val="FFCCFF"/>
    <a:srgbClr val="FFCCCC"/>
    <a:srgbClr val="FF9999"/>
    <a:srgbClr val="008000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94660" autoAdjust="0"/>
  </p:normalViewPr>
  <p:slideViewPr>
    <p:cSldViewPr>
      <p:cViewPr varScale="1">
        <p:scale>
          <a:sx n="98" d="100"/>
          <a:sy n="98" d="100"/>
        </p:scale>
        <p:origin x="176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678"/>
    </p:cViewPr>
  </p:sorterViewPr>
  <p:notesViewPr>
    <p:cSldViewPr>
      <p:cViewPr varScale="1">
        <p:scale>
          <a:sx n="58" d="100"/>
          <a:sy n="58" d="100"/>
        </p:scale>
        <p:origin x="-1812" y="-72"/>
      </p:cViewPr>
      <p:guideLst>
        <p:guide orient="horz" pos="3109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22.xml"/><Relationship Id="rId2" Type="http://schemas.openxmlformats.org/officeDocument/2006/relationships/slide" Target="slides/slide21.xml"/><Relationship Id="rId1" Type="http://schemas.openxmlformats.org/officeDocument/2006/relationships/slide" Target="slides/slide19.xml"/><Relationship Id="rId5" Type="http://schemas.openxmlformats.org/officeDocument/2006/relationships/slide" Target="slides/slide26.xml"/><Relationship Id="rId4" Type="http://schemas.openxmlformats.org/officeDocument/2006/relationships/slide" Target="slides/slide2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>
            <a:extLst>
              <a:ext uri="{FF2B5EF4-FFF2-40B4-BE49-F238E27FC236}">
                <a16:creationId xmlns:a16="http://schemas.microsoft.com/office/drawing/2014/main" id="{012E4C04-EF52-841A-AF3C-DD0488E1698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ea typeface="华文隶书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8835" name="Rectangle 3">
            <a:extLst>
              <a:ext uri="{FF2B5EF4-FFF2-40B4-BE49-F238E27FC236}">
                <a16:creationId xmlns:a16="http://schemas.microsoft.com/office/drawing/2014/main" id="{0B9DB8F3-0877-A179-F4B8-1210E550FE6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  <a:ea typeface="华文隶书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8836" name="Rectangle 4">
            <a:extLst>
              <a:ext uri="{FF2B5EF4-FFF2-40B4-BE49-F238E27FC236}">
                <a16:creationId xmlns:a16="http://schemas.microsoft.com/office/drawing/2014/main" id="{699E1F2E-D827-1B04-4CD0-7E2B8161B596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8950"/>
            <a:ext cx="29718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ea typeface="华文隶书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8837" name="Rectangle 5">
            <a:extLst>
              <a:ext uri="{FF2B5EF4-FFF2-40B4-BE49-F238E27FC236}">
                <a16:creationId xmlns:a16="http://schemas.microsoft.com/office/drawing/2014/main" id="{6A2B2713-67E6-A6B5-740D-4C3950C13E7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9378950"/>
            <a:ext cx="29718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Times New Roman" panose="02020603050405020304" pitchFamily="18" charset="0"/>
                <a:ea typeface="华文隶书" panose="02010800040101010101" pitchFamily="2" charset="-122"/>
              </a:defRPr>
            </a:lvl1pPr>
          </a:lstStyle>
          <a:p>
            <a:pPr>
              <a:defRPr/>
            </a:pPr>
            <a:fld id="{60F87701-D37A-476B-91D5-8EECFF46CB6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D4DC940-8F55-A79D-B5D1-318EA1A00B0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98427F68-88B9-43AE-F063-A5B422036ED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CE7AD5AF-D117-EE57-1078-FAC6CA559DA9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962025" y="739775"/>
            <a:ext cx="4938713" cy="37036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770D5319-502C-A7C8-B92B-B617FB2CE17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689475"/>
            <a:ext cx="5029200" cy="4443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CFFA2E22-0C79-04B8-FB62-7655FE51592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8950"/>
            <a:ext cx="29718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295" name="Rectangle 7">
            <a:extLst>
              <a:ext uri="{FF2B5EF4-FFF2-40B4-BE49-F238E27FC236}">
                <a16:creationId xmlns:a16="http://schemas.microsoft.com/office/drawing/2014/main" id="{ACBDB4C0-31F6-8777-D1AF-647F700175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378950"/>
            <a:ext cx="29718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346365AB-4E95-487D-83CE-F3A92C2ADB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70CC04E-E15C-F061-886B-170A9604B38D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3473642F-901D-0303-1619-423BC81FDA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2E83DB61-FB4E-9782-4363-DC339DF556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614FB756-F2CA-57A0-7736-2AD65DD7A8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86FE3AB0-BC41-F2C3-4CA2-9398BD54DE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7595807-ED5C-988B-0A24-C81AAC58B1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D3BA632-796C-C86D-2A46-1147F38872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51AC7AA9-7C0B-7547-42F5-A8B2A3493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38E13E57-8580-8771-49B3-72B29E7AD7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4BEAAEFF-187F-DCBE-6A5E-5131714B1EC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6046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6046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B83CFDF6-324E-9108-CA32-623A87828B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00F59AE9-EAEB-797A-803F-857E268074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CA500E4A-4CD0-F78C-8072-FBF1395212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12A9ADEB-283F-4F6D-9FEB-50D88641762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2291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C349DC98-B66B-2B58-0BA0-17400C630D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F3DE578-6DEB-0A1F-4036-71713EDD76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D1B590A2-C68C-2A27-B014-35847EB1DC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AA0377-AEE5-4CE3-935E-88D4F87B25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9584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2EF8850-4353-F0BC-A998-7430B80B7D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1B1F103C-BAB2-F5B9-84AD-01F4BE7212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1E004E91-026A-18B1-E73E-203A76AB9F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53AB6A-954E-4D5A-9DA3-495BEB98DEF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4948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9659F973-35FD-419C-5047-7075249B2CE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10A36029-2168-E2DE-182D-6B74493C68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E38A2341-891E-712B-2265-61144EAD6B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35D297-7B95-4C8B-B996-ACEA5481C14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8761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8F1FF99D-4594-74EB-EC56-13D2BB2BB2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065A4994-403A-7BA2-481B-6DF10AD228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EA4FA461-B7F9-9ADF-0547-8D410264DB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73D65A-A183-4764-BBE5-89527A54277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041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3B9D7B66-5588-E431-0C91-396564BEE1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C1DDDE78-4A3A-2D33-4275-E6C7CCDF10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CFD91850-B868-59A7-7944-333778A536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CEEEA6-151F-4759-AAEE-B7DB3EFED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9460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8340F71C-1F3F-B359-0BD3-D9E93F6FC2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6FE125F1-5347-79C4-F79F-61D1B71BDC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F06D0589-FDC0-3AC5-4CB9-0EEC1B1F21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26A8CF-5DEE-45AF-82A2-71C2E72A8E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7490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8CF2DA3-BD77-84F4-C5FC-17B9FAD62F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F1A12EF5-5B30-AE63-AD33-34C79169B8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A0F76767-90E9-07FE-81ED-269FB5AE7F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F41557-F3B3-4A09-81BB-43F4FE34053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3386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4E30D81-3F53-8A5D-A549-A63E65523F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A8020DC-121A-6A85-1D03-77D8DC0C2E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117BDA08-46A4-9131-5E9F-37202D71AC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F92B6C-E64B-4C97-AF3F-F92D7350638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1480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2B6C00A7-AED0-5FE3-69DF-426A4E71A7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81BC8FB7-40AD-B010-9D9C-3D0340C472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C8DF3E0-1749-6A6B-4890-2614695165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10F8CA-0298-4A72-B291-1959F80E220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0061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FC239CF3-5845-A4A9-373B-24DEB5591C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1E26C2EE-84DF-184C-A044-0691DCCC89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1907546-F593-3C70-8D58-45C9F79CBE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A7CA56-8711-4BD1-B089-440CAA7F9D5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314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608BFFB5-A2CD-CA01-1D35-B266971A56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2561891C-5E99-A4C5-B76A-50350D0919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029D0E57-02F4-5A6C-8A9D-29E8464167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A15162-8D35-4DCF-878A-973D917EF85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2247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AE69481-E0F8-A701-88DC-D5C09E3B75F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6D6ED04-96E3-B8FF-5C6C-504A84E8A94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2D6F2A2-F68E-E194-0C8B-14FE0399448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C8F494E-552A-CC65-5E50-47608C74900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12B986A-AA11-F2C6-970E-1FBA3331153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5E4C5BEE-311F-08ED-E8B1-664D7D8CE29C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ED202864-0174-CC77-3016-13608FA68294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B6DBAA92-318B-AF99-80FF-A7E87351DE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5DF7EA8C-4794-6405-F31B-3A59E7AF7B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59435" name="Rectangle 11">
            <a:extLst>
              <a:ext uri="{FF2B5EF4-FFF2-40B4-BE49-F238E27FC236}">
                <a16:creationId xmlns:a16="http://schemas.microsoft.com/office/drawing/2014/main" id="{2759816B-D441-E121-E850-AA701393073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59436" name="Rectangle 12">
            <a:extLst>
              <a:ext uri="{FF2B5EF4-FFF2-40B4-BE49-F238E27FC236}">
                <a16:creationId xmlns:a16="http://schemas.microsoft.com/office/drawing/2014/main" id="{87116DF4-A6E8-18E5-174C-1453952E94C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59437" name="Rectangle 13">
            <a:extLst>
              <a:ext uri="{FF2B5EF4-FFF2-40B4-BE49-F238E27FC236}">
                <a16:creationId xmlns:a16="http://schemas.microsoft.com/office/drawing/2014/main" id="{D53A7CA2-B276-E63D-F939-DD1C9841D85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smtClean="0"/>
            </a:lvl1pPr>
          </a:lstStyle>
          <a:p>
            <a:pPr>
              <a:defRPr/>
            </a:pPr>
            <a:fld id="{C488A3AC-031E-407D-B3FD-A5407DBCAF6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folHlink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folHlink"/>
          </a:solidFill>
          <a:latin typeface="Tahoma" pitchFamily="34" charset="0"/>
          <a:ea typeface="华文隶书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folHlink"/>
          </a:solidFill>
          <a:latin typeface="Tahoma" pitchFamily="34" charset="0"/>
          <a:ea typeface="华文隶书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folHlink"/>
          </a:solidFill>
          <a:latin typeface="Tahoma" pitchFamily="34" charset="0"/>
          <a:ea typeface="华文隶书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folHlink"/>
          </a:solidFill>
          <a:latin typeface="Tahoma" pitchFamily="34" charset="0"/>
          <a:ea typeface="华文隶书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folHlink"/>
          </a:solidFill>
          <a:latin typeface="Tahoma" pitchFamily="34" charset="0"/>
          <a:ea typeface="华文隶书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folHlink"/>
          </a:solidFill>
          <a:latin typeface="Tahoma" pitchFamily="34" charset="0"/>
          <a:ea typeface="华文隶书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folHlink"/>
          </a:solidFill>
          <a:latin typeface="Tahoma" pitchFamily="34" charset="0"/>
          <a:ea typeface="华文隶书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folHlink"/>
          </a:solidFill>
          <a:latin typeface="Tahoma" pitchFamily="34" charset="0"/>
          <a:ea typeface="华文隶书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00FF"/>
        </a:buClr>
        <a:buFont typeface="Wingdings" panose="05000000000000000000" pitchFamily="2" charset="2"/>
        <a:buChar char="v"/>
        <a:defRPr kumimoji="1" sz="2800" b="1">
          <a:solidFill>
            <a:schemeClr val="hlink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image" Target="../media/image1.gif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3.xml"/><Relationship Id="rId5" Type="http://schemas.openxmlformats.org/officeDocument/2006/relationships/slide" Target="slide9.xml"/><Relationship Id="rId4" Type="http://schemas.openxmlformats.org/officeDocument/2006/relationships/slide" Target="slide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slide" Target="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gi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AF1CB98-4FD4-46E7-577C-72FD7C5DCE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0938" y="769938"/>
            <a:ext cx="7793037" cy="762000"/>
          </a:xfrm>
        </p:spPr>
        <p:txBody>
          <a:bodyPr/>
          <a:lstStyle/>
          <a:p>
            <a:pPr eaLnBrk="1" hangingPunct="1"/>
            <a:r>
              <a:rPr lang="en-US" altLang="zh-CN" sz="2800" b="1">
                <a:solidFill>
                  <a:schemeClr val="hlin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5.5  </a:t>
            </a:r>
            <a:r>
              <a:rPr lang="zh-CN" altLang="en-US" sz="2800" b="1">
                <a:solidFill>
                  <a:schemeClr val="hlin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分页存储管理方式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2DA687CF-DB4F-C872-4B27-1C62DAC4B4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03350" y="1916113"/>
            <a:ext cx="6934200" cy="45720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q"/>
              <a:defRPr/>
            </a:pPr>
            <a:r>
              <a:rPr lang="zh-CN" altLang="en-US" sz="2000" dirty="0">
                <a:solidFill>
                  <a:schemeClr val="folHlink"/>
                </a:solidFill>
                <a:latin typeface="楷体_GB2312" pitchFamily="49" charset="-122"/>
              </a:rPr>
              <a:t>连续分配存储管理方式产生的问题</a:t>
            </a: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solidFill>
                  <a:schemeClr val="tx1"/>
                </a:solidFill>
                <a:latin typeface="楷体_GB2312" pitchFamily="49" charset="-122"/>
              </a:rPr>
              <a:t>      </a:t>
            </a:r>
            <a: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在分区存储管理中，要求把进程放在一个</a:t>
            </a:r>
            <a:r>
              <a:rPr lang="zh-CN" altLang="en-US" sz="1800" dirty="0">
                <a:latin typeface="楷体_GB2312" pitchFamily="49" charset="-122"/>
              </a:rPr>
              <a:t>连续的存储区</a:t>
            </a:r>
            <a: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中，因而会</a:t>
            </a:r>
            <a:r>
              <a:rPr lang="zh-CN" altLang="en-US" sz="1800" dirty="0">
                <a:latin typeface="楷体_GB2312" pitchFamily="49" charset="-122"/>
              </a:rPr>
              <a:t>产生许多碎片</a:t>
            </a:r>
            <a:r>
              <a:rPr lang="zh-CN" altLang="en-US" sz="1800" dirty="0">
                <a:solidFill>
                  <a:schemeClr val="tx1"/>
                </a:solidFill>
                <a:latin typeface="楷体_GB2312" pitchFamily="49" charset="-122"/>
              </a:rPr>
              <a:t>。</a:t>
            </a: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q"/>
              <a:defRPr/>
            </a:pPr>
            <a:r>
              <a:rPr lang="zh-CN" altLang="en-US" sz="2000" dirty="0">
                <a:solidFill>
                  <a:schemeClr val="folHlink"/>
                </a:solidFill>
                <a:latin typeface="楷体_GB2312" pitchFamily="49" charset="-122"/>
              </a:rPr>
              <a:t>碎片问题的解决方法</a:t>
            </a:r>
            <a:endParaRPr lang="en-US" altLang="zh-CN" sz="2000" dirty="0">
              <a:solidFill>
                <a:schemeClr val="tx1"/>
              </a:solidFill>
              <a:latin typeface="楷体_GB2312" pitchFamily="49" charset="-122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chemeClr val="tx1"/>
                </a:solidFill>
                <a:latin typeface="楷体_GB2312" pitchFamily="49" charset="-122"/>
              </a:rPr>
              <a:t>       </a:t>
            </a:r>
            <a:r>
              <a:rPr lang="zh-CN" altLang="en-US" sz="2000" dirty="0">
                <a:solidFill>
                  <a:srgbClr val="FF33CC"/>
                </a:solidFill>
                <a:latin typeface="楷体_GB2312" pitchFamily="49" charset="-122"/>
              </a:rPr>
              <a:t>（</a:t>
            </a:r>
            <a:r>
              <a:rPr lang="en-US" altLang="zh-CN" sz="2000" dirty="0">
                <a:solidFill>
                  <a:srgbClr val="FF33CC"/>
                </a:solidFill>
                <a:latin typeface="楷体_GB2312" pitchFamily="49" charset="-122"/>
              </a:rPr>
              <a:t>1</a:t>
            </a:r>
            <a:r>
              <a:rPr lang="zh-CN" altLang="en-US" sz="2000" dirty="0">
                <a:solidFill>
                  <a:srgbClr val="FF33CC"/>
                </a:solidFill>
                <a:latin typeface="楷体_GB2312" pitchFamily="49" charset="-122"/>
              </a:rPr>
              <a:t>）拼接</a:t>
            </a:r>
            <a:r>
              <a:rPr lang="en-US" altLang="zh-CN" sz="2000" dirty="0">
                <a:solidFill>
                  <a:srgbClr val="FF33CC"/>
                </a:solidFill>
                <a:latin typeface="楷体_GB2312" pitchFamily="49" charset="-122"/>
              </a:rPr>
              <a:t>/</a:t>
            </a:r>
            <a:r>
              <a:rPr lang="zh-CN" altLang="en-US" sz="2000" dirty="0">
                <a:solidFill>
                  <a:srgbClr val="FF33CC"/>
                </a:solidFill>
                <a:latin typeface="楷体_GB2312" pitchFamily="49" charset="-122"/>
              </a:rPr>
              <a:t>紧凑技术</a:t>
            </a:r>
            <a:r>
              <a:rPr lang="en-US" altLang="zh-CN" sz="2000" dirty="0">
                <a:latin typeface="楷体_GB2312" pitchFamily="49" charset="-122"/>
              </a:rPr>
              <a:t>----</a:t>
            </a:r>
            <a:r>
              <a:rPr lang="zh-CN" altLang="en-US" sz="1800" b="0" dirty="0">
                <a:latin typeface="宋体" panose="02010600030101010101" pitchFamily="2" charset="-122"/>
                <a:ea typeface="宋体" panose="02010600030101010101" pitchFamily="2" charset="-122"/>
              </a:rPr>
              <a:t>代价较高</a:t>
            </a:r>
            <a:r>
              <a:rPr lang="zh-CN" altLang="en-US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pPr eaLnBrk="1" hangingPunct="1">
              <a:lnSpc>
                <a:spcPct val="120000"/>
              </a:lnSpc>
              <a:buClr>
                <a:srgbClr val="3333FF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solidFill>
                  <a:srgbClr val="FF33CC"/>
                </a:solidFill>
                <a:latin typeface="楷体_GB2312" pitchFamily="49" charset="-122"/>
              </a:rPr>
              <a:t>       （</a:t>
            </a:r>
            <a:r>
              <a:rPr lang="en-US" altLang="zh-CN" sz="2000" dirty="0">
                <a:solidFill>
                  <a:srgbClr val="FF33CC"/>
                </a:solidFill>
                <a:latin typeface="楷体_GB2312" pitchFamily="49" charset="-122"/>
              </a:rPr>
              <a:t>2</a:t>
            </a:r>
            <a:r>
              <a:rPr lang="zh-CN" altLang="en-US" sz="2000" dirty="0">
                <a:solidFill>
                  <a:srgbClr val="FF33CC"/>
                </a:solidFill>
                <a:latin typeface="楷体_GB2312" pitchFamily="49" charset="-122"/>
              </a:rPr>
              <a:t>）离散分配方式</a:t>
            </a:r>
            <a:r>
              <a:rPr lang="en-US" altLang="zh-CN" sz="2400" dirty="0">
                <a:latin typeface="楷体_GB2312" pitchFamily="49" charset="-122"/>
              </a:rPr>
              <a:t>---</a:t>
            </a:r>
            <a: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允许将作业</a:t>
            </a:r>
            <a:r>
              <a:rPr lang="en-US" altLang="zh-CN" sz="18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进程</a:t>
            </a:r>
            <a:r>
              <a:rPr lang="zh-CN" altLang="en-US" sz="1800" dirty="0">
                <a:latin typeface="楷体_GB2312" pitchFamily="49" charset="-122"/>
              </a:rPr>
              <a:t>离散</a:t>
            </a:r>
            <a: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放到多个</a:t>
            </a:r>
            <a:r>
              <a:rPr lang="zh-CN" altLang="en-US" sz="1800" dirty="0">
                <a:latin typeface="楷体_GB2312" pitchFamily="49" charset="-122"/>
              </a:rPr>
              <a:t>不相邻接</a:t>
            </a:r>
            <a:r>
              <a:rPr lang="zh-CN" altLang="en-US" sz="18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的分区中，就可以避免拼接。基于这一思想产生了以下的离散分配方式：</a:t>
            </a:r>
          </a:p>
          <a:p>
            <a:pPr lvl="2" eaLnBrk="1" hangingPunct="1">
              <a:lnSpc>
                <a:spcPct val="120000"/>
              </a:lnSpc>
              <a:buClr>
                <a:srgbClr val="3333FF"/>
              </a:buClr>
              <a:buSzPct val="75000"/>
              <a:buFont typeface="Wingdings" panose="05000000000000000000" pitchFamily="2" charset="2"/>
              <a:buChar char="v"/>
              <a:defRPr/>
            </a:pPr>
            <a:r>
              <a:rPr lang="zh-CN" altLang="en-US" sz="1800" dirty="0">
                <a:solidFill>
                  <a:schemeClr val="hlink"/>
                </a:solidFill>
                <a:latin typeface="楷体_GB2312" pitchFamily="49" charset="-122"/>
              </a:rPr>
              <a:t>分页式存储管理</a:t>
            </a:r>
            <a:r>
              <a:rPr lang="zh-CN" altLang="en-US" sz="1800" dirty="0">
                <a:latin typeface="楷体_GB2312" pitchFamily="49" charset="-122"/>
              </a:rPr>
              <a:t>：</a:t>
            </a:r>
            <a:r>
              <a:rPr lang="zh-CN" altLang="en-US" sz="1800" b="0" dirty="0">
                <a:latin typeface="宋体" panose="02010600030101010101" pitchFamily="2" charset="-122"/>
                <a:ea typeface="宋体" panose="02010600030101010101" pitchFamily="2" charset="-122"/>
              </a:rPr>
              <a:t>离散分配的基本单位是页</a:t>
            </a:r>
          </a:p>
          <a:p>
            <a:pPr lvl="2" eaLnBrk="1" hangingPunct="1">
              <a:lnSpc>
                <a:spcPct val="120000"/>
              </a:lnSpc>
              <a:buClr>
                <a:srgbClr val="3333FF"/>
              </a:buClr>
              <a:buSzPct val="75000"/>
              <a:buFont typeface="Wingdings" panose="05000000000000000000" pitchFamily="2" charset="2"/>
              <a:buChar char="v"/>
              <a:defRPr/>
            </a:pPr>
            <a:r>
              <a:rPr lang="zh-CN" altLang="en-US" sz="1800" dirty="0">
                <a:solidFill>
                  <a:schemeClr val="hlink"/>
                </a:solidFill>
                <a:latin typeface="楷体_GB2312" pitchFamily="49" charset="-122"/>
              </a:rPr>
              <a:t>分段式存储管理</a:t>
            </a:r>
            <a:r>
              <a:rPr lang="zh-CN" altLang="en-US" sz="1800" dirty="0">
                <a:latin typeface="楷体_GB2312" pitchFamily="49" charset="-122"/>
              </a:rPr>
              <a:t>：</a:t>
            </a:r>
            <a:r>
              <a:rPr lang="zh-CN" altLang="en-US" sz="1800" b="0" dirty="0">
                <a:latin typeface="宋体" panose="02010600030101010101" pitchFamily="2" charset="-122"/>
                <a:ea typeface="宋体" panose="02010600030101010101" pitchFamily="2" charset="-122"/>
              </a:rPr>
              <a:t>离散分配的基本单位是段</a:t>
            </a:r>
          </a:p>
          <a:p>
            <a:pPr lvl="2" eaLnBrk="1" hangingPunct="1">
              <a:lnSpc>
                <a:spcPct val="120000"/>
              </a:lnSpc>
              <a:buClr>
                <a:srgbClr val="3333FF"/>
              </a:buClr>
              <a:buSzPct val="75000"/>
              <a:buFont typeface="Wingdings" panose="05000000000000000000" pitchFamily="2" charset="2"/>
              <a:buChar char="v"/>
              <a:defRPr/>
            </a:pPr>
            <a:r>
              <a:rPr lang="zh-CN" altLang="en-US" sz="1800" dirty="0">
                <a:solidFill>
                  <a:schemeClr val="hlink"/>
                </a:solidFill>
                <a:latin typeface="楷体_GB2312" pitchFamily="49" charset="-122"/>
              </a:rPr>
              <a:t>段页式存储管理</a:t>
            </a:r>
            <a:r>
              <a:rPr lang="zh-CN" altLang="en-US" sz="1800" dirty="0">
                <a:latin typeface="楷体_GB2312" pitchFamily="49" charset="-122"/>
              </a:rPr>
              <a:t>：</a:t>
            </a:r>
            <a:r>
              <a:rPr lang="zh-CN" altLang="en-US" sz="1800" b="0" dirty="0">
                <a:latin typeface="宋体" panose="02010600030101010101" pitchFamily="2" charset="-122"/>
                <a:ea typeface="宋体" panose="02010600030101010101" pitchFamily="2" charset="-122"/>
              </a:rPr>
              <a:t>离散分配的基本单位是段、页</a:t>
            </a:r>
          </a:p>
        </p:txBody>
      </p:sp>
      <p:pic>
        <p:nvPicPr>
          <p:cNvPr id="5124" name="Picture 5" descr="2-1-3">
            <a:extLst>
              <a:ext uri="{FF2B5EF4-FFF2-40B4-BE49-F238E27FC236}">
                <a16:creationId xmlns:a16="http://schemas.microsoft.com/office/drawing/2014/main" id="{186BA52B-95AE-2523-901E-1DE3E75EFF7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381000"/>
            <a:ext cx="1143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ECA8281-A4C5-75B9-02B5-2F2F726055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00200" y="762000"/>
            <a:ext cx="5630863" cy="762000"/>
          </a:xfrm>
        </p:spPr>
        <p:txBody>
          <a:bodyPr/>
          <a:lstStyle/>
          <a:p>
            <a:pPr eaLnBrk="1" hangingPunct="1"/>
            <a:r>
              <a:rPr lang="en-US" altLang="zh-CN" sz="2800" b="1">
                <a:latin typeface="幼圆" panose="02010509060101010101" pitchFamily="49" charset="-122"/>
                <a:ea typeface="幼圆" panose="02010509060101010101" pitchFamily="49" charset="-122"/>
              </a:rPr>
              <a:t>5.5  </a:t>
            </a:r>
            <a:r>
              <a:rPr lang="zh-CN" altLang="en-US" sz="2800" b="1">
                <a:latin typeface="幼圆" panose="02010509060101010101" pitchFamily="49" charset="-122"/>
                <a:ea typeface="幼圆" panose="02010509060101010101" pitchFamily="49" charset="-122"/>
              </a:rPr>
              <a:t>分页存储管理方式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923AE5E-E463-5E74-EDD2-FF3DB17403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6800" y="1828800"/>
            <a:ext cx="7077075" cy="42672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sz="2000">
                <a:latin typeface="楷体_GB2312" pitchFamily="49" charset="-122"/>
              </a:rPr>
              <a:t>      </a:t>
            </a:r>
            <a:r>
              <a:rPr lang="zh-CN" altLang="en-US" sz="2000">
                <a:latin typeface="楷体_GB2312" pitchFamily="49" charset="-122"/>
              </a:rPr>
              <a:t>    </a:t>
            </a:r>
            <a:r>
              <a:rPr lang="zh-CN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在分页存储管理方式中，如不具备页面</a:t>
            </a:r>
            <a:r>
              <a:rPr lang="zh-CN" altLang="en-US" sz="180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对换功能</a:t>
            </a:r>
            <a:r>
              <a:rPr lang="zh-CN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，不支持虚拟存储器功能，在调度作业运行时，</a:t>
            </a:r>
            <a:r>
              <a:rPr lang="zh-CN" altLang="en-US" sz="1800">
                <a:solidFill>
                  <a:srgbClr val="FF33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必须</a:t>
            </a:r>
            <a:r>
              <a:rPr lang="zh-CN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将它的所有页面一次调入内存，且在运行过程中页</a:t>
            </a:r>
            <a:r>
              <a:rPr lang="zh-CN" altLang="en-US" sz="1800">
                <a:solidFill>
                  <a:srgbClr val="FF33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必须</a:t>
            </a:r>
            <a:r>
              <a:rPr lang="zh-CN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一直驻留内存。若内存没有足够的块，则作业等待，这种存储管理方式称为</a:t>
            </a:r>
            <a:r>
              <a:rPr lang="zh-CN" altLang="en-US" sz="2000">
                <a:solidFill>
                  <a:srgbClr val="FF33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纯分页</a:t>
            </a:r>
            <a:r>
              <a:rPr lang="zh-CN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或基本分页存储管理方式 。</a:t>
            </a:r>
          </a:p>
          <a:p>
            <a:pPr lvl="4" eaLnBrk="1" hangingPunct="1">
              <a:buClr>
                <a:schemeClr val="tx2"/>
              </a:buClr>
              <a:buSzPct val="110000"/>
              <a:buFont typeface="Wingdings" panose="05000000000000000000" pitchFamily="2" charset="2"/>
              <a:buChar char="Ø"/>
            </a:pPr>
            <a:r>
              <a:rPr lang="zh-CN" altLang="en-US" sz="2000">
                <a:latin typeface="幼圆" panose="02010509060101010101" pitchFamily="49" charset="-122"/>
                <a:ea typeface="幼圆" panose="02010509060101010101" pitchFamily="49" charset="-122"/>
                <a:hlinkClick r:id="rId2" action="ppaction://hlinksldjump"/>
              </a:rPr>
              <a:t>基本思想</a:t>
            </a:r>
            <a:endParaRPr lang="zh-CN" altLang="en-US" sz="200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lvl="4" eaLnBrk="1" hangingPunct="1">
              <a:buClr>
                <a:schemeClr val="tx2"/>
              </a:buClr>
              <a:buSzPct val="110000"/>
              <a:buFont typeface="Wingdings" panose="05000000000000000000" pitchFamily="2" charset="2"/>
              <a:buChar char="Ø"/>
            </a:pPr>
            <a:r>
              <a:rPr lang="zh-CN" altLang="en-US" sz="2000">
                <a:latin typeface="幼圆" panose="02010509060101010101" pitchFamily="49" charset="-122"/>
                <a:ea typeface="幼圆" panose="02010509060101010101" pitchFamily="49" charset="-122"/>
                <a:hlinkClick r:id="rId3" action="ppaction://hlinksldjump"/>
              </a:rPr>
              <a:t>页表</a:t>
            </a:r>
            <a:endParaRPr lang="zh-CN" altLang="en-US" sz="200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lvl="4" eaLnBrk="1" hangingPunct="1">
              <a:buClr>
                <a:schemeClr val="tx2"/>
              </a:buClr>
              <a:buSzPct val="110000"/>
              <a:buFont typeface="Wingdings" panose="05000000000000000000" pitchFamily="2" charset="2"/>
              <a:buChar char="Ø"/>
            </a:pPr>
            <a:r>
              <a:rPr lang="zh-CN" altLang="en-US" sz="2000">
                <a:latin typeface="幼圆" panose="02010509060101010101" pitchFamily="49" charset="-122"/>
                <a:ea typeface="幼圆" panose="02010509060101010101" pitchFamily="49" charset="-122"/>
                <a:hlinkClick r:id="rId4" action="ppaction://hlinksldjump"/>
              </a:rPr>
              <a:t>地址结构</a:t>
            </a:r>
            <a:endParaRPr lang="zh-CN" altLang="en-US" sz="200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lvl="4" eaLnBrk="1" hangingPunct="1">
              <a:buClr>
                <a:schemeClr val="tx2"/>
              </a:buClr>
              <a:buSzPct val="110000"/>
              <a:buFont typeface="Wingdings" panose="05000000000000000000" pitchFamily="2" charset="2"/>
              <a:buChar char="Ø"/>
            </a:pPr>
            <a:r>
              <a:rPr lang="zh-CN" altLang="en-US" sz="2000">
                <a:latin typeface="幼圆" panose="02010509060101010101" pitchFamily="49" charset="-122"/>
                <a:ea typeface="幼圆" panose="02010509060101010101" pitchFamily="49" charset="-122"/>
                <a:hlinkClick r:id="rId5" action="ppaction://hlinksldjump"/>
              </a:rPr>
              <a:t>地址变换机构</a:t>
            </a:r>
            <a:endParaRPr lang="zh-CN" altLang="en-US" sz="200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lvl="4" eaLnBrk="1" hangingPunct="1">
              <a:buClr>
                <a:schemeClr val="tx2"/>
              </a:buClr>
              <a:buSzPct val="110000"/>
              <a:buFont typeface="Wingdings" panose="05000000000000000000" pitchFamily="2" charset="2"/>
              <a:buChar char="Ø"/>
            </a:pPr>
            <a:r>
              <a:rPr lang="zh-CN" altLang="en-US" sz="2000">
                <a:latin typeface="幼圆" panose="02010509060101010101" pitchFamily="49" charset="-122"/>
                <a:ea typeface="幼圆" panose="02010509060101010101" pitchFamily="49" charset="-122"/>
                <a:hlinkClick r:id="rId6" action="ppaction://hlinksldjump"/>
              </a:rPr>
              <a:t>页的共享与保护</a:t>
            </a:r>
            <a:endParaRPr lang="zh-CN" altLang="en-US" sz="20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6148" name="Picture 4" descr="2-1-3">
            <a:extLst>
              <a:ext uri="{FF2B5EF4-FFF2-40B4-BE49-F238E27FC236}">
                <a16:creationId xmlns:a16="http://schemas.microsoft.com/office/drawing/2014/main" id="{AEA67D12-A710-6E61-650D-7DC8202D11D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381000"/>
            <a:ext cx="1143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074">
            <a:extLst>
              <a:ext uri="{FF2B5EF4-FFF2-40B4-BE49-F238E27FC236}">
                <a16:creationId xmlns:a16="http://schemas.microsoft.com/office/drawing/2014/main" id="{D2C6A347-CC0E-1B78-CE83-EA1B0C0DC3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600" y="838200"/>
            <a:ext cx="5867400" cy="823913"/>
          </a:xfrm>
        </p:spPr>
        <p:txBody>
          <a:bodyPr/>
          <a:lstStyle/>
          <a:p>
            <a:pPr eaLnBrk="1" hangingPunct="1"/>
            <a:r>
              <a:rPr lang="zh-CN" altLang="en-US" sz="2800" b="1">
                <a:ea typeface="幼圆" panose="02010509060101010101" pitchFamily="49" charset="-122"/>
              </a:rPr>
              <a:t>一、基本思想</a:t>
            </a:r>
          </a:p>
        </p:txBody>
      </p:sp>
      <p:sp>
        <p:nvSpPr>
          <p:cNvPr id="7171" name="Rectangle 3075">
            <a:extLst>
              <a:ext uri="{FF2B5EF4-FFF2-40B4-BE49-F238E27FC236}">
                <a16:creationId xmlns:a16="http://schemas.microsoft.com/office/drawing/2014/main" id="{83451FCD-8021-76BB-E9D4-51403094E8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1828800"/>
            <a:ext cx="5119687" cy="43434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chemeClr val="hlink"/>
              </a:buClr>
              <a:buSzPct val="140000"/>
              <a:buFont typeface="Wingdings" panose="05000000000000000000" pitchFamily="2" charset="2"/>
              <a:buChar char="§"/>
            </a:pPr>
            <a:r>
              <a:rPr lang="zh-CN" altLang="en-US" sz="2000">
                <a:latin typeface="幼圆" panose="02010509060101010101" pitchFamily="49" charset="-122"/>
                <a:ea typeface="幼圆" panose="02010509060101010101" pitchFamily="49" charset="-122"/>
              </a:rPr>
              <a:t>空间划分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3333FF"/>
              </a:buClr>
              <a:buSzPct val="140000"/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zh-CN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）将一个用户进程的地址空间（逻辑）划分成若干个大小相等的区域，称为页或页面</a:t>
            </a:r>
            <a:r>
              <a:rPr lang="en-US" altLang="zh-CN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并为各页</a:t>
            </a:r>
            <a:r>
              <a:rPr lang="zh-CN" altLang="en-US" sz="180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</a:t>
            </a:r>
            <a:r>
              <a:rPr lang="en-US" altLang="zh-CN" sz="180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180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开始编号</a:t>
            </a:r>
            <a:r>
              <a:rPr lang="zh-CN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3333FF"/>
              </a:buClr>
              <a:buSzPct val="140000"/>
              <a:buFont typeface="Wingdings" panose="05000000000000000000" pitchFamily="2" charset="2"/>
              <a:buNone/>
            </a:pPr>
            <a:r>
              <a:rPr lang="zh-CN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（</a:t>
            </a:r>
            <a:r>
              <a:rPr lang="en-US" altLang="zh-CN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）内存空间也分成若干个与页大小相等的区域，称为（存储、物理）块或页框（</a:t>
            </a:r>
            <a:r>
              <a:rPr lang="en-US" altLang="zh-CN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frame</a:t>
            </a:r>
            <a:r>
              <a:rPr lang="zh-CN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），同样</a:t>
            </a:r>
            <a:r>
              <a:rPr lang="zh-CN" altLang="en-US" sz="180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</a:t>
            </a:r>
            <a:r>
              <a:rPr lang="en-US" altLang="zh-CN" sz="180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180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开始编号</a:t>
            </a:r>
            <a:r>
              <a:rPr lang="zh-CN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chemeClr val="hlink"/>
              </a:buClr>
              <a:buSzPct val="140000"/>
              <a:buFont typeface="Wingdings" panose="05000000000000000000" pitchFamily="2" charset="2"/>
              <a:buChar char="§"/>
            </a:pPr>
            <a:r>
              <a:rPr lang="zh-CN" altLang="en-US" sz="2000">
                <a:latin typeface="幼圆" panose="02010509060101010101" pitchFamily="49" charset="-122"/>
                <a:ea typeface="幼圆" panose="02010509060101010101" pitchFamily="49" charset="-122"/>
              </a:rPr>
              <a:t>内存分配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3333FF"/>
              </a:buClr>
              <a:buSzPct val="140000"/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zh-CN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在为进程分配内存时</a:t>
            </a:r>
            <a:r>
              <a:rPr lang="en-US" altLang="zh-CN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180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以块为单位</a:t>
            </a:r>
            <a:r>
              <a:rPr lang="en-US" altLang="zh-CN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将进程中若干页装入到多个不相邻的块中</a:t>
            </a:r>
            <a:r>
              <a:rPr lang="en-US" altLang="zh-CN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最后一页常装不满一块而出现</a:t>
            </a:r>
            <a:r>
              <a:rPr lang="zh-CN" altLang="en-US" sz="1800">
                <a:latin typeface="幼圆" panose="02010509060101010101" pitchFamily="49" charset="-122"/>
                <a:ea typeface="幼圆" panose="02010509060101010101" pitchFamily="49" charset="-122"/>
              </a:rPr>
              <a:t>页内碎片</a:t>
            </a:r>
            <a:r>
              <a:rPr lang="zh-CN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。按固定大小划分用户作业，不可能正好等分，最后一页不足一页。如：作业</a:t>
            </a:r>
            <a:r>
              <a:rPr lang="en-US" altLang="zh-CN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9KB</a:t>
            </a:r>
            <a:r>
              <a:rPr lang="zh-CN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，页面大小</a:t>
            </a:r>
            <a:r>
              <a:rPr lang="en-US" altLang="zh-CN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2KB</a:t>
            </a:r>
            <a:r>
              <a:rPr lang="zh-CN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，划分</a:t>
            </a:r>
            <a:r>
              <a:rPr lang="en-US" altLang="zh-CN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个页，最后一页只有</a:t>
            </a:r>
            <a:r>
              <a:rPr lang="en-US" altLang="zh-CN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1KB</a:t>
            </a:r>
            <a:r>
              <a:rPr lang="zh-CN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</p:txBody>
      </p:sp>
      <p:grpSp>
        <p:nvGrpSpPr>
          <p:cNvPr id="7172" name="Group 3184">
            <a:extLst>
              <a:ext uri="{FF2B5EF4-FFF2-40B4-BE49-F238E27FC236}">
                <a16:creationId xmlns:a16="http://schemas.microsoft.com/office/drawing/2014/main" id="{C0D4D4E2-7D16-5F90-F2BA-86601EE26C99}"/>
              </a:ext>
            </a:extLst>
          </p:cNvPr>
          <p:cNvGrpSpPr>
            <a:grpSpLocks/>
          </p:cNvGrpSpPr>
          <p:nvPr/>
        </p:nvGrpSpPr>
        <p:grpSpPr bwMode="auto">
          <a:xfrm>
            <a:off x="5003800" y="908050"/>
            <a:ext cx="4343400" cy="5257800"/>
            <a:chOff x="3168" y="576"/>
            <a:chExt cx="2736" cy="3312"/>
          </a:xfrm>
        </p:grpSpPr>
        <p:sp>
          <p:nvSpPr>
            <p:cNvPr id="7178" name="Rectangle 3082">
              <a:extLst>
                <a:ext uri="{FF2B5EF4-FFF2-40B4-BE49-F238E27FC236}">
                  <a16:creationId xmlns:a16="http://schemas.microsoft.com/office/drawing/2014/main" id="{BDBEE23B-C891-E250-BC5A-9F6F40F935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2244"/>
              <a:ext cx="52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600" b="0">
                  <a:solidFill>
                    <a:schemeClr val="tx1"/>
                  </a:solidFill>
                  <a:ea typeface="宋体" panose="02010600030101010101" pitchFamily="2" charset="-122"/>
                </a:rPr>
                <a:t>Page 3</a:t>
              </a:r>
            </a:p>
          </p:txBody>
        </p:sp>
        <p:sp>
          <p:nvSpPr>
            <p:cNvPr id="7179" name="Rectangle 3081">
              <a:extLst>
                <a:ext uri="{FF2B5EF4-FFF2-40B4-BE49-F238E27FC236}">
                  <a16:creationId xmlns:a16="http://schemas.microsoft.com/office/drawing/2014/main" id="{6E4B642A-AF69-4277-5FB5-21428F682F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992"/>
              <a:ext cx="52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600" b="0">
                  <a:solidFill>
                    <a:schemeClr val="tx1"/>
                  </a:solidFill>
                  <a:ea typeface="宋体" panose="02010600030101010101" pitchFamily="2" charset="-122"/>
                </a:rPr>
                <a:t>Page 2</a:t>
              </a:r>
            </a:p>
          </p:txBody>
        </p:sp>
        <p:sp>
          <p:nvSpPr>
            <p:cNvPr id="7180" name="Rectangle 3080">
              <a:extLst>
                <a:ext uri="{FF2B5EF4-FFF2-40B4-BE49-F238E27FC236}">
                  <a16:creationId xmlns:a16="http://schemas.microsoft.com/office/drawing/2014/main" id="{DCC4EEB0-1EE4-1824-928C-BB13F1ACDA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740"/>
              <a:ext cx="52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600" b="0">
                  <a:solidFill>
                    <a:schemeClr val="tx1"/>
                  </a:solidFill>
                  <a:ea typeface="宋体" panose="02010600030101010101" pitchFamily="2" charset="-122"/>
                </a:rPr>
                <a:t>Page 1</a:t>
              </a:r>
            </a:p>
          </p:txBody>
        </p:sp>
        <p:sp>
          <p:nvSpPr>
            <p:cNvPr id="7181" name="Rectangle 3079">
              <a:extLst>
                <a:ext uri="{FF2B5EF4-FFF2-40B4-BE49-F238E27FC236}">
                  <a16:creationId xmlns:a16="http://schemas.microsoft.com/office/drawing/2014/main" id="{2C0E7C75-4B04-1050-65B6-19AABF0B0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488"/>
              <a:ext cx="52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600" b="0">
                  <a:solidFill>
                    <a:schemeClr val="tx1"/>
                  </a:solidFill>
                  <a:ea typeface="宋体" panose="02010600030101010101" pitchFamily="2" charset="-122"/>
                </a:rPr>
                <a:t>Page 0</a:t>
              </a:r>
            </a:p>
          </p:txBody>
        </p:sp>
        <p:sp>
          <p:nvSpPr>
            <p:cNvPr id="7182" name="Line 3083">
              <a:extLst>
                <a:ext uri="{FF2B5EF4-FFF2-40B4-BE49-F238E27FC236}">
                  <a16:creationId xmlns:a16="http://schemas.microsoft.com/office/drawing/2014/main" id="{6FD29F74-0628-1DCA-B0C0-9061B96F29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488"/>
              <a:ext cx="52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83" name="Line 3084">
              <a:extLst>
                <a:ext uri="{FF2B5EF4-FFF2-40B4-BE49-F238E27FC236}">
                  <a16:creationId xmlns:a16="http://schemas.microsoft.com/office/drawing/2014/main" id="{ABAAF24C-DEF1-D73A-C006-5DE7DE8868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740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84" name="Line 3085">
              <a:extLst>
                <a:ext uri="{FF2B5EF4-FFF2-40B4-BE49-F238E27FC236}">
                  <a16:creationId xmlns:a16="http://schemas.microsoft.com/office/drawing/2014/main" id="{8094426F-81D4-78E1-4030-CC1AF023F9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992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85" name="Line 3086">
              <a:extLst>
                <a:ext uri="{FF2B5EF4-FFF2-40B4-BE49-F238E27FC236}">
                  <a16:creationId xmlns:a16="http://schemas.microsoft.com/office/drawing/2014/main" id="{34723AB6-EBE9-48F3-FF5B-A26BC7F5AD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244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86" name="Line 3087">
              <a:extLst>
                <a:ext uri="{FF2B5EF4-FFF2-40B4-BE49-F238E27FC236}">
                  <a16:creationId xmlns:a16="http://schemas.microsoft.com/office/drawing/2014/main" id="{CDC8E328-7E3E-8D8A-1BEE-C70057B8E9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496"/>
              <a:ext cx="52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87" name="Line 3088">
              <a:extLst>
                <a:ext uri="{FF2B5EF4-FFF2-40B4-BE49-F238E27FC236}">
                  <a16:creationId xmlns:a16="http://schemas.microsoft.com/office/drawing/2014/main" id="{CEDD90B2-C9EA-9B10-1482-1F83628363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488"/>
              <a:ext cx="0" cy="100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88" name="Line 3089">
              <a:extLst>
                <a:ext uri="{FF2B5EF4-FFF2-40B4-BE49-F238E27FC236}">
                  <a16:creationId xmlns:a16="http://schemas.microsoft.com/office/drawing/2014/main" id="{8C6FE4EA-C2BB-C549-8EAD-4186F9E669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1488"/>
              <a:ext cx="0" cy="100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89" name="Rectangle 3117">
              <a:extLst>
                <a:ext uri="{FF2B5EF4-FFF2-40B4-BE49-F238E27FC236}">
                  <a16:creationId xmlns:a16="http://schemas.microsoft.com/office/drawing/2014/main" id="{5E065448-0D55-43DF-1E00-64489FCDA3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8" y="1260"/>
              <a:ext cx="52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600" b="0">
                  <a:solidFill>
                    <a:schemeClr val="tx1"/>
                  </a:solidFill>
                  <a:ea typeface="宋体" panose="02010600030101010101" pitchFamily="2" charset="-122"/>
                </a:rPr>
                <a:t>Page 0</a:t>
              </a:r>
            </a:p>
          </p:txBody>
        </p:sp>
        <p:sp>
          <p:nvSpPr>
            <p:cNvPr id="7190" name="Rectangle 3114">
              <a:extLst>
                <a:ext uri="{FF2B5EF4-FFF2-40B4-BE49-F238E27FC236}">
                  <a16:creationId xmlns:a16="http://schemas.microsoft.com/office/drawing/2014/main" id="{FF261C3A-D66E-764A-549E-CF04ECC991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8" y="2520"/>
              <a:ext cx="52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endParaRPr lang="zh-CN" altLang="zh-CN" sz="160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191" name="Rectangle 3111">
              <a:extLst>
                <a:ext uri="{FF2B5EF4-FFF2-40B4-BE49-F238E27FC236}">
                  <a16:creationId xmlns:a16="http://schemas.microsoft.com/office/drawing/2014/main" id="{83492B4D-67CC-6E10-FF64-065FA11F4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8" y="2268"/>
              <a:ext cx="52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endParaRPr lang="zh-CN" altLang="zh-CN" sz="160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192" name="Rectangle 3108">
              <a:extLst>
                <a:ext uri="{FF2B5EF4-FFF2-40B4-BE49-F238E27FC236}">
                  <a16:creationId xmlns:a16="http://schemas.microsoft.com/office/drawing/2014/main" id="{90726779-BD5A-58CF-27B5-70C5C1D21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8" y="1512"/>
              <a:ext cx="52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endParaRPr lang="zh-CN" altLang="zh-CN" sz="160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193" name="Rectangle 3097">
              <a:extLst>
                <a:ext uri="{FF2B5EF4-FFF2-40B4-BE49-F238E27FC236}">
                  <a16:creationId xmlns:a16="http://schemas.microsoft.com/office/drawing/2014/main" id="{F4AFEB30-5801-6BC7-3C7A-4541537983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8" y="2772"/>
              <a:ext cx="52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600" b="0">
                  <a:solidFill>
                    <a:schemeClr val="tx1"/>
                  </a:solidFill>
                  <a:ea typeface="宋体" panose="02010600030101010101" pitchFamily="2" charset="-122"/>
                </a:rPr>
                <a:t>Page 3</a:t>
              </a:r>
            </a:p>
          </p:txBody>
        </p:sp>
        <p:sp>
          <p:nvSpPr>
            <p:cNvPr id="7194" name="Rectangle 3098">
              <a:extLst>
                <a:ext uri="{FF2B5EF4-FFF2-40B4-BE49-F238E27FC236}">
                  <a16:creationId xmlns:a16="http://schemas.microsoft.com/office/drawing/2014/main" id="{4C870491-77EE-9529-0522-D275F32A19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8" y="2016"/>
              <a:ext cx="52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600" b="0">
                  <a:solidFill>
                    <a:schemeClr val="tx1"/>
                  </a:solidFill>
                  <a:ea typeface="宋体" panose="02010600030101010101" pitchFamily="2" charset="-122"/>
                </a:rPr>
                <a:t>Page 1</a:t>
              </a:r>
            </a:p>
          </p:txBody>
        </p:sp>
        <p:sp>
          <p:nvSpPr>
            <p:cNvPr id="7195" name="Rectangle 3099">
              <a:extLst>
                <a:ext uri="{FF2B5EF4-FFF2-40B4-BE49-F238E27FC236}">
                  <a16:creationId xmlns:a16="http://schemas.microsoft.com/office/drawing/2014/main" id="{DC277B7E-08A3-5ABA-91DF-F2D7B08EE9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8" y="1764"/>
              <a:ext cx="52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600" b="0">
                  <a:solidFill>
                    <a:schemeClr val="tx1"/>
                  </a:solidFill>
                  <a:ea typeface="宋体" panose="02010600030101010101" pitchFamily="2" charset="-122"/>
                </a:rPr>
                <a:t>Page 2</a:t>
              </a:r>
            </a:p>
          </p:txBody>
        </p:sp>
        <p:sp>
          <p:nvSpPr>
            <p:cNvPr id="7196" name="Rectangle 3100">
              <a:extLst>
                <a:ext uri="{FF2B5EF4-FFF2-40B4-BE49-F238E27FC236}">
                  <a16:creationId xmlns:a16="http://schemas.microsoft.com/office/drawing/2014/main" id="{FCFECE25-5C85-3F5F-D37E-10726B72CB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8" y="1008"/>
              <a:ext cx="52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endParaRPr lang="zh-CN" altLang="zh-CN" sz="160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197" name="Line 3101">
              <a:extLst>
                <a:ext uri="{FF2B5EF4-FFF2-40B4-BE49-F238E27FC236}">
                  <a16:creationId xmlns:a16="http://schemas.microsoft.com/office/drawing/2014/main" id="{F7B84A1D-5A61-572B-3BDA-3665545D32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1008"/>
              <a:ext cx="52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98" name="Line 3102">
              <a:extLst>
                <a:ext uri="{FF2B5EF4-FFF2-40B4-BE49-F238E27FC236}">
                  <a16:creationId xmlns:a16="http://schemas.microsoft.com/office/drawing/2014/main" id="{93017D5B-CBE7-0D84-35F3-9599D6F1BE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1764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99" name="Line 3103">
              <a:extLst>
                <a:ext uri="{FF2B5EF4-FFF2-40B4-BE49-F238E27FC236}">
                  <a16:creationId xmlns:a16="http://schemas.microsoft.com/office/drawing/2014/main" id="{BD3F07AF-FBC6-A32C-A3A1-6ABA3D2B17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2016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0" name="Line 3104">
              <a:extLst>
                <a:ext uri="{FF2B5EF4-FFF2-40B4-BE49-F238E27FC236}">
                  <a16:creationId xmlns:a16="http://schemas.microsoft.com/office/drawing/2014/main" id="{94DDAA50-EB48-52B5-8D0A-94E8BF502A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2772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1" name="Line 3105">
              <a:extLst>
                <a:ext uri="{FF2B5EF4-FFF2-40B4-BE49-F238E27FC236}">
                  <a16:creationId xmlns:a16="http://schemas.microsoft.com/office/drawing/2014/main" id="{60F49160-2586-054B-AA01-DB2E6B5D7E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3024"/>
              <a:ext cx="52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2" name="Line 3106">
              <a:extLst>
                <a:ext uri="{FF2B5EF4-FFF2-40B4-BE49-F238E27FC236}">
                  <a16:creationId xmlns:a16="http://schemas.microsoft.com/office/drawing/2014/main" id="{5C5A7B0D-2F7D-8C74-86C9-3EA7B8F0B2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1008"/>
              <a:ext cx="0" cy="201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3" name="Line 3107">
              <a:extLst>
                <a:ext uri="{FF2B5EF4-FFF2-40B4-BE49-F238E27FC236}">
                  <a16:creationId xmlns:a16="http://schemas.microsoft.com/office/drawing/2014/main" id="{A98A0C64-8B51-15CD-8818-62CA4F4002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16" y="1008"/>
              <a:ext cx="0" cy="201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4" name="Line 3109">
              <a:extLst>
                <a:ext uri="{FF2B5EF4-FFF2-40B4-BE49-F238E27FC236}">
                  <a16:creationId xmlns:a16="http://schemas.microsoft.com/office/drawing/2014/main" id="{C16DB88B-FF98-1F4F-4D0A-5EBBAFDB14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1512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5" name="Line 3112">
              <a:extLst>
                <a:ext uri="{FF2B5EF4-FFF2-40B4-BE49-F238E27FC236}">
                  <a16:creationId xmlns:a16="http://schemas.microsoft.com/office/drawing/2014/main" id="{843BDCC6-E655-EC14-17ED-1866E279A5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2268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6" name="Line 3115">
              <a:extLst>
                <a:ext uri="{FF2B5EF4-FFF2-40B4-BE49-F238E27FC236}">
                  <a16:creationId xmlns:a16="http://schemas.microsoft.com/office/drawing/2014/main" id="{763E916C-038D-28FE-A181-FB7A92CB6A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2520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7" name="Line 3118">
              <a:extLst>
                <a:ext uri="{FF2B5EF4-FFF2-40B4-BE49-F238E27FC236}">
                  <a16:creationId xmlns:a16="http://schemas.microsoft.com/office/drawing/2014/main" id="{2B9450D0-FA40-CCDF-D2C3-256D5EA74B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1260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8" name="Text Box 3122">
              <a:extLst>
                <a:ext uri="{FF2B5EF4-FFF2-40B4-BE49-F238E27FC236}">
                  <a16:creationId xmlns:a16="http://schemas.microsoft.com/office/drawing/2014/main" id="{EE99AE8E-D174-C514-0802-2B973BAC30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2640"/>
              <a:ext cx="1200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chemeClr val="tx1"/>
                  </a:solidFill>
                  <a:ea typeface="宋体" panose="02010600030101010101" pitchFamily="2" charset="-122"/>
                </a:rPr>
                <a:t>Logical  memory</a:t>
              </a:r>
            </a:p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chemeClr val="tx1"/>
                  </a:solidFill>
                  <a:ea typeface="宋体" panose="02010600030101010101" pitchFamily="2" charset="-122"/>
                </a:rPr>
                <a:t>  </a:t>
              </a:r>
              <a:r>
                <a:rPr lang="zh-CN" altLang="en-US" sz="1600">
                  <a:ea typeface="宋体" panose="02010600030101010101" pitchFamily="2" charset="-122"/>
                </a:rPr>
                <a:t>逻辑地址空间</a:t>
              </a:r>
            </a:p>
          </p:txBody>
        </p:sp>
        <p:sp>
          <p:nvSpPr>
            <p:cNvPr id="7209" name="Text Box 3123">
              <a:extLst>
                <a:ext uri="{FF2B5EF4-FFF2-40B4-BE49-F238E27FC236}">
                  <a16:creationId xmlns:a16="http://schemas.microsoft.com/office/drawing/2014/main" id="{4A763BE5-F0B1-F8CC-FE30-4435F5ACF2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3168"/>
              <a:ext cx="1344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chemeClr val="tx1"/>
                  </a:solidFill>
                  <a:ea typeface="宋体" panose="02010600030101010101" pitchFamily="2" charset="-122"/>
                </a:rPr>
                <a:t>physical memory</a:t>
              </a:r>
            </a:p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chemeClr val="tx1"/>
                  </a:solidFill>
                  <a:ea typeface="宋体" panose="02010600030101010101" pitchFamily="2" charset="-122"/>
                </a:rPr>
                <a:t>   </a:t>
              </a:r>
              <a:r>
                <a:rPr lang="zh-CN" altLang="en-US" sz="1600">
                  <a:ea typeface="宋体" panose="02010600030101010101" pitchFamily="2" charset="-122"/>
                </a:rPr>
                <a:t>物理地址空间</a:t>
              </a:r>
            </a:p>
          </p:txBody>
        </p:sp>
        <p:sp>
          <p:nvSpPr>
            <p:cNvPr id="7210" name="Text Box 3124">
              <a:extLst>
                <a:ext uri="{FF2B5EF4-FFF2-40B4-BE49-F238E27FC236}">
                  <a16:creationId xmlns:a16="http://schemas.microsoft.com/office/drawing/2014/main" id="{A66444CE-7778-D3B1-38EE-BDFC96CA50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576"/>
              <a:ext cx="624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chemeClr val="tx1"/>
                  </a:solidFill>
                  <a:ea typeface="宋体" panose="02010600030101010101" pitchFamily="2" charset="-122"/>
                </a:rPr>
                <a:t>Frame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solidFill>
                    <a:schemeClr val="tx1"/>
                  </a:solidFill>
                  <a:ea typeface="宋体" panose="02010600030101010101" pitchFamily="2" charset="-122"/>
                </a:rPr>
                <a:t>number</a:t>
              </a:r>
            </a:p>
          </p:txBody>
        </p:sp>
        <p:sp>
          <p:nvSpPr>
            <p:cNvPr id="7211" name="Text Box 3125">
              <a:extLst>
                <a:ext uri="{FF2B5EF4-FFF2-40B4-BE49-F238E27FC236}">
                  <a16:creationId xmlns:a16="http://schemas.microsoft.com/office/drawing/2014/main" id="{038FDD83-1EF7-3DB6-062D-98EF2C67DF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1104"/>
              <a:ext cx="192" cy="1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 b="0">
                  <a:solidFill>
                    <a:schemeClr val="tx1"/>
                  </a:solidFill>
                  <a:ea typeface="宋体" panose="02010600030101010101" pitchFamily="2" charset="-122"/>
                </a:rPr>
                <a:t>0</a:t>
              </a:r>
            </a:p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 b="0">
                  <a:solidFill>
                    <a:schemeClr val="tx1"/>
                  </a:solidFill>
                  <a:ea typeface="宋体" panose="02010600030101010101" pitchFamily="2" charset="-122"/>
                </a:rPr>
                <a:t>1</a:t>
              </a:r>
            </a:p>
            <a:p>
              <a:pPr eaLnBrk="1" hangingPunct="1">
                <a:lnSpc>
                  <a:spcPct val="11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 b="0">
                  <a:solidFill>
                    <a:schemeClr val="tx1"/>
                  </a:solidFill>
                  <a:ea typeface="宋体" panose="02010600030101010101" pitchFamily="2" charset="-122"/>
                </a:rPr>
                <a:t>2</a:t>
              </a:r>
            </a:p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 b="0">
                  <a:solidFill>
                    <a:schemeClr val="tx1"/>
                  </a:solidFill>
                  <a:ea typeface="宋体" panose="02010600030101010101" pitchFamily="2" charset="-122"/>
                </a:rPr>
                <a:t>3</a:t>
              </a:r>
            </a:p>
            <a:p>
              <a:pPr eaLnBrk="1" hangingPunct="1">
                <a:lnSpc>
                  <a:spcPct val="11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 b="0">
                  <a:solidFill>
                    <a:schemeClr val="tx1"/>
                  </a:solidFill>
                  <a:ea typeface="宋体" panose="02010600030101010101" pitchFamily="2" charset="-122"/>
                </a:rPr>
                <a:t>4</a:t>
              </a:r>
            </a:p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 b="0">
                  <a:solidFill>
                    <a:schemeClr val="tx1"/>
                  </a:solidFill>
                  <a:ea typeface="宋体" panose="02010600030101010101" pitchFamily="2" charset="-122"/>
                </a:rPr>
                <a:t>5</a:t>
              </a:r>
            </a:p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 b="0">
                  <a:solidFill>
                    <a:schemeClr val="tx1"/>
                  </a:solidFill>
                  <a:ea typeface="宋体" panose="02010600030101010101" pitchFamily="2" charset="-122"/>
                </a:rPr>
                <a:t>6</a:t>
              </a:r>
            </a:p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 b="0">
                  <a:solidFill>
                    <a:schemeClr val="tx1"/>
                  </a:solidFill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7212" name="Rectangle 3169">
              <a:extLst>
                <a:ext uri="{FF2B5EF4-FFF2-40B4-BE49-F238E27FC236}">
                  <a16:creationId xmlns:a16="http://schemas.microsoft.com/office/drawing/2014/main" id="{62C18309-3D6F-229F-256C-9D69D8CC65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1308"/>
              <a:ext cx="38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600" b="0">
                  <a:solidFill>
                    <a:schemeClr val="tx1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7213" name="Rectangle 3167">
              <a:extLst>
                <a:ext uri="{FF2B5EF4-FFF2-40B4-BE49-F238E27FC236}">
                  <a16:creationId xmlns:a16="http://schemas.microsoft.com/office/drawing/2014/main" id="{19B27D16-E48A-C8E8-461F-D19859E28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1308"/>
              <a:ext cx="38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600" b="0">
                  <a:solidFill>
                    <a:schemeClr val="tx1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7214" name="Rectangle 3163">
              <a:extLst>
                <a:ext uri="{FF2B5EF4-FFF2-40B4-BE49-F238E27FC236}">
                  <a16:creationId xmlns:a16="http://schemas.microsoft.com/office/drawing/2014/main" id="{F7380760-8453-D879-D5EF-CAC942F7F9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2064"/>
              <a:ext cx="38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600" b="0">
                  <a:solidFill>
                    <a:schemeClr val="tx1"/>
                  </a:solidFill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7215" name="Rectangle 3161">
              <a:extLst>
                <a:ext uri="{FF2B5EF4-FFF2-40B4-BE49-F238E27FC236}">
                  <a16:creationId xmlns:a16="http://schemas.microsoft.com/office/drawing/2014/main" id="{65E3BE62-388C-E4A5-85E8-EB1CFA36A1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1812"/>
              <a:ext cx="38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600" b="0">
                  <a:solidFill>
                    <a:schemeClr val="tx1"/>
                  </a:solidFill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7216" name="Rectangle 3159">
              <a:extLst>
                <a:ext uri="{FF2B5EF4-FFF2-40B4-BE49-F238E27FC236}">
                  <a16:creationId xmlns:a16="http://schemas.microsoft.com/office/drawing/2014/main" id="{27083877-EF89-A12B-AB24-2073F688C6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1560"/>
              <a:ext cx="38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600" b="0">
                  <a:solidFill>
                    <a:schemeClr val="tx1"/>
                  </a:solidFill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7217" name="Rectangle 3157">
              <a:extLst>
                <a:ext uri="{FF2B5EF4-FFF2-40B4-BE49-F238E27FC236}">
                  <a16:creationId xmlns:a16="http://schemas.microsoft.com/office/drawing/2014/main" id="{097A54E5-FFDF-B4B1-2607-489F61E49C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1056"/>
              <a:ext cx="38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zh-CN" altLang="en-US" sz="1400" b="0">
                  <a:solidFill>
                    <a:schemeClr val="tx1"/>
                  </a:solidFill>
                  <a:ea typeface="宋体" panose="02010600030101010101" pitchFamily="2" charset="-122"/>
                </a:rPr>
                <a:t>块号</a:t>
              </a:r>
            </a:p>
          </p:txBody>
        </p:sp>
        <p:sp>
          <p:nvSpPr>
            <p:cNvPr id="7218" name="Rectangle 3127">
              <a:extLst>
                <a:ext uri="{FF2B5EF4-FFF2-40B4-BE49-F238E27FC236}">
                  <a16:creationId xmlns:a16="http://schemas.microsoft.com/office/drawing/2014/main" id="{C1C1DA9A-D0DA-47A0-203C-00C37FE117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2064"/>
              <a:ext cx="38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600" b="0">
                  <a:solidFill>
                    <a:schemeClr val="tx1"/>
                  </a:solidFill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7219" name="Rectangle 3128">
              <a:extLst>
                <a:ext uri="{FF2B5EF4-FFF2-40B4-BE49-F238E27FC236}">
                  <a16:creationId xmlns:a16="http://schemas.microsoft.com/office/drawing/2014/main" id="{3C772D3F-E21D-A2EB-D8A7-BD76D39E84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1812"/>
              <a:ext cx="38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600" b="0">
                  <a:solidFill>
                    <a:schemeClr val="tx1"/>
                  </a:solidFill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7220" name="Rectangle 3129">
              <a:extLst>
                <a:ext uri="{FF2B5EF4-FFF2-40B4-BE49-F238E27FC236}">
                  <a16:creationId xmlns:a16="http://schemas.microsoft.com/office/drawing/2014/main" id="{5F6D9635-8E0A-4E77-43C5-110E2AE93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1560"/>
              <a:ext cx="38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600" b="0">
                  <a:solidFill>
                    <a:schemeClr val="tx1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7221" name="Rectangle 3130">
              <a:extLst>
                <a:ext uri="{FF2B5EF4-FFF2-40B4-BE49-F238E27FC236}">
                  <a16:creationId xmlns:a16="http://schemas.microsoft.com/office/drawing/2014/main" id="{F013E329-EF34-7821-BFD9-1991D85B82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1056"/>
              <a:ext cx="38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zh-CN" altLang="en-US" sz="1400" b="0">
                  <a:solidFill>
                    <a:schemeClr val="tx1"/>
                  </a:solidFill>
                  <a:ea typeface="宋体" panose="02010600030101010101" pitchFamily="2" charset="-122"/>
                </a:rPr>
                <a:t>页号</a:t>
              </a:r>
            </a:p>
          </p:txBody>
        </p:sp>
        <p:sp>
          <p:nvSpPr>
            <p:cNvPr id="7222" name="Line 3131">
              <a:extLst>
                <a:ext uri="{FF2B5EF4-FFF2-40B4-BE49-F238E27FC236}">
                  <a16:creationId xmlns:a16="http://schemas.microsoft.com/office/drawing/2014/main" id="{3B5D2A13-D9CD-9FB4-9052-6D37A6DE59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1056"/>
              <a:ext cx="76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23" name="Line 3132">
              <a:extLst>
                <a:ext uri="{FF2B5EF4-FFF2-40B4-BE49-F238E27FC236}">
                  <a16:creationId xmlns:a16="http://schemas.microsoft.com/office/drawing/2014/main" id="{4AC20BEC-85DF-C8DF-6885-B2B000076C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1560"/>
              <a:ext cx="7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24" name="Line 3133">
              <a:extLst>
                <a:ext uri="{FF2B5EF4-FFF2-40B4-BE49-F238E27FC236}">
                  <a16:creationId xmlns:a16="http://schemas.microsoft.com/office/drawing/2014/main" id="{BA40EB3B-B82D-52F5-67A0-E319B5A8F2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1812"/>
              <a:ext cx="7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25" name="Line 3134">
              <a:extLst>
                <a:ext uri="{FF2B5EF4-FFF2-40B4-BE49-F238E27FC236}">
                  <a16:creationId xmlns:a16="http://schemas.microsoft.com/office/drawing/2014/main" id="{6F53D516-6E2C-5B20-FC1C-B5B7FD68D0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2064"/>
              <a:ext cx="7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26" name="Line 3135">
              <a:extLst>
                <a:ext uri="{FF2B5EF4-FFF2-40B4-BE49-F238E27FC236}">
                  <a16:creationId xmlns:a16="http://schemas.microsoft.com/office/drawing/2014/main" id="{88B44BDB-0388-704C-7B5F-3CFC2E97BB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2316"/>
              <a:ext cx="76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27" name="Line 3136">
              <a:extLst>
                <a:ext uri="{FF2B5EF4-FFF2-40B4-BE49-F238E27FC236}">
                  <a16:creationId xmlns:a16="http://schemas.microsoft.com/office/drawing/2014/main" id="{E604FE2E-3348-94E5-F43E-BE6BFEC402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1056"/>
              <a:ext cx="0" cy="126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28" name="Line 3137">
              <a:extLst>
                <a:ext uri="{FF2B5EF4-FFF2-40B4-BE49-F238E27FC236}">
                  <a16:creationId xmlns:a16="http://schemas.microsoft.com/office/drawing/2014/main" id="{85455F83-FE11-8D21-8729-6304333B63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1056"/>
              <a:ext cx="0" cy="126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29" name="Line 3158">
              <a:extLst>
                <a:ext uri="{FF2B5EF4-FFF2-40B4-BE49-F238E27FC236}">
                  <a16:creationId xmlns:a16="http://schemas.microsoft.com/office/drawing/2014/main" id="{3522F10A-437C-1465-3B88-7DA0EB4B72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1056"/>
              <a:ext cx="0" cy="12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30" name="Line 3168">
              <a:extLst>
                <a:ext uri="{FF2B5EF4-FFF2-40B4-BE49-F238E27FC236}">
                  <a16:creationId xmlns:a16="http://schemas.microsoft.com/office/drawing/2014/main" id="{A463C939-9771-3B24-5BD2-4F2ACEACEA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1308"/>
              <a:ext cx="7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31" name="Text Box 3144">
              <a:extLst>
                <a:ext uri="{FF2B5EF4-FFF2-40B4-BE49-F238E27FC236}">
                  <a16:creationId xmlns:a16="http://schemas.microsoft.com/office/drawing/2014/main" id="{BEF26992-8941-E2CC-8FE7-29F8FD6A55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2352"/>
              <a:ext cx="816" cy="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chemeClr val="tx1"/>
                  </a:solidFill>
                  <a:ea typeface="宋体" panose="02010600030101010101" pitchFamily="2" charset="-122"/>
                </a:rPr>
                <a:t>Page table</a:t>
              </a:r>
            </a:p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chemeClr val="tx1"/>
                  </a:solidFill>
                  <a:ea typeface="宋体" panose="02010600030101010101" pitchFamily="2" charset="-122"/>
                </a:rPr>
                <a:t>     </a:t>
              </a:r>
              <a:r>
                <a:rPr lang="zh-CN" altLang="en-US" sz="1400">
                  <a:ea typeface="宋体" panose="02010600030101010101" pitchFamily="2" charset="-122"/>
                </a:rPr>
                <a:t>页表</a:t>
              </a:r>
            </a:p>
          </p:txBody>
        </p:sp>
        <p:sp>
          <p:nvSpPr>
            <p:cNvPr id="7232" name="AutoShape 3145">
              <a:extLst>
                <a:ext uri="{FF2B5EF4-FFF2-40B4-BE49-F238E27FC236}">
                  <a16:creationId xmlns:a16="http://schemas.microsoft.com/office/drawing/2014/main" id="{1BC8E265-86EA-2556-A48E-2E6A7FF22C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3648"/>
              <a:ext cx="768" cy="240"/>
            </a:xfrm>
            <a:prstGeom prst="wedgeRectCallout">
              <a:avLst>
                <a:gd name="adj1" fmla="val 37500"/>
                <a:gd name="adj2" fmla="val -32125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</a:rPr>
                <a:t>页内碎片</a:t>
              </a:r>
            </a:p>
          </p:txBody>
        </p:sp>
        <p:sp>
          <p:nvSpPr>
            <p:cNvPr id="7233" name="Rectangle 3147">
              <a:extLst>
                <a:ext uri="{FF2B5EF4-FFF2-40B4-BE49-F238E27FC236}">
                  <a16:creationId xmlns:a16="http://schemas.microsoft.com/office/drawing/2014/main" id="{7511C243-E3BD-1A6C-F99C-76FFE08BE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8" y="2928"/>
              <a:ext cx="528" cy="96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7173" name="Rectangle 3183">
            <a:extLst>
              <a:ext uri="{FF2B5EF4-FFF2-40B4-BE49-F238E27FC236}">
                <a16:creationId xmlns:a16="http://schemas.microsoft.com/office/drawing/2014/main" id="{1D615CD3-636B-A482-97F9-9F885E4806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6286500"/>
            <a:ext cx="5643563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lvl="2" eaLnBrk="1" hangingPunct="1">
              <a:lnSpc>
                <a:spcPct val="120000"/>
              </a:lnSpc>
              <a:spcBef>
                <a:spcPct val="0"/>
              </a:spcBef>
              <a:buClr>
                <a:srgbClr val="3333FF"/>
              </a:buClr>
              <a:buSzPct val="140000"/>
              <a:buFont typeface="Wingdings" panose="05000000000000000000" pitchFamily="2" charset="2"/>
              <a:buNone/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注：需要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CPU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的硬件支持（地址变换机构）。</a:t>
            </a:r>
          </a:p>
        </p:txBody>
      </p:sp>
      <p:sp>
        <p:nvSpPr>
          <p:cNvPr id="7174" name="Line 3186">
            <a:extLst>
              <a:ext uri="{FF2B5EF4-FFF2-40B4-BE49-F238E27FC236}">
                <a16:creationId xmlns:a16="http://schemas.microsoft.com/office/drawing/2014/main" id="{B3566E57-C163-A9BF-7F85-F96487C838F0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3800" y="1268413"/>
            <a:ext cx="647700" cy="9366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175" name="Text Box 3187">
            <a:extLst>
              <a:ext uri="{FF2B5EF4-FFF2-40B4-BE49-F238E27FC236}">
                <a16:creationId xmlns:a16="http://schemas.microsoft.com/office/drawing/2014/main" id="{D1398DCC-C8E4-15DF-A3B9-FED027186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836613"/>
            <a:ext cx="7921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>
                <a:ea typeface="宋体" panose="02010600030101010101" pitchFamily="2" charset="-122"/>
              </a:rPr>
              <a:t>虚页</a:t>
            </a:r>
          </a:p>
        </p:txBody>
      </p:sp>
      <p:sp>
        <p:nvSpPr>
          <p:cNvPr id="7176" name="Text Box 3188">
            <a:extLst>
              <a:ext uri="{FF2B5EF4-FFF2-40B4-BE49-F238E27FC236}">
                <a16:creationId xmlns:a16="http://schemas.microsoft.com/office/drawing/2014/main" id="{8F66654F-990E-78F9-2E45-23CC9C7009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1838" y="404813"/>
            <a:ext cx="792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>
                <a:ea typeface="宋体" panose="02010600030101010101" pitchFamily="2" charset="-122"/>
              </a:rPr>
              <a:t>实页</a:t>
            </a:r>
          </a:p>
        </p:txBody>
      </p:sp>
      <p:sp>
        <p:nvSpPr>
          <p:cNvPr id="7177" name="Line 3189">
            <a:extLst>
              <a:ext uri="{FF2B5EF4-FFF2-40B4-BE49-F238E27FC236}">
                <a16:creationId xmlns:a16="http://schemas.microsoft.com/office/drawing/2014/main" id="{104B53E4-71D9-0568-0F0D-B6E6794B50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59788" y="836613"/>
            <a:ext cx="215900" cy="6477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5DD637A-FFB6-7BEF-5627-DEC445CF3D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600" y="838200"/>
            <a:ext cx="5867400" cy="823913"/>
          </a:xfrm>
        </p:spPr>
        <p:txBody>
          <a:bodyPr/>
          <a:lstStyle/>
          <a:p>
            <a:pPr eaLnBrk="1" hangingPunct="1"/>
            <a:r>
              <a:rPr lang="zh-CN" altLang="en-US" sz="2800" b="1">
                <a:ea typeface="幼圆" panose="02010509060101010101" pitchFamily="49" charset="-122"/>
              </a:rPr>
              <a:t>一、基本思想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22D3EE16-4F49-B7E1-A779-072C133819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2060575"/>
            <a:ext cx="7705725" cy="1081088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Clr>
                <a:schemeClr val="hlink"/>
              </a:buClr>
              <a:buSzPct val="140000"/>
              <a:buFont typeface="Wingdings" panose="05000000000000000000" pitchFamily="2" charset="2"/>
              <a:buChar char="§"/>
            </a:pPr>
            <a:r>
              <a:rPr lang="zh-CN" altLang="en-US" sz="2000">
                <a:latin typeface="幼圆" panose="02010509060101010101" pitchFamily="49" charset="-122"/>
                <a:ea typeface="幼圆" panose="02010509060101010101" pitchFamily="49" charset="-122"/>
              </a:rPr>
              <a:t>采用页式存储器管理</a:t>
            </a:r>
            <a:r>
              <a:rPr lang="zh-CN" altLang="en-US" sz="2000">
                <a:solidFill>
                  <a:srgbClr val="FF33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用户作业的逻辑地址结构可表示为：</a:t>
            </a:r>
          </a:p>
        </p:txBody>
      </p:sp>
      <p:graphicFrame>
        <p:nvGraphicFramePr>
          <p:cNvPr id="542724" name="Group 4">
            <a:extLst>
              <a:ext uri="{FF2B5EF4-FFF2-40B4-BE49-F238E27FC236}">
                <a16:creationId xmlns:a16="http://schemas.microsoft.com/office/drawing/2014/main" id="{398CBE95-2208-FBBF-6EFB-9784E42E2BFD}"/>
              </a:ext>
            </a:extLst>
          </p:cNvPr>
          <p:cNvGraphicFramePr>
            <a:graphicFrameLocks noGrp="1"/>
          </p:cNvGraphicFramePr>
          <p:nvPr/>
        </p:nvGraphicFramePr>
        <p:xfrm>
          <a:off x="900113" y="2708275"/>
          <a:ext cx="5410200" cy="365125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页号</a:t>
                      </a:r>
                    </a:p>
                  </a:txBody>
                  <a:tcPr marT="45581" marB="4558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位移量（页内地址）</a:t>
                      </a:r>
                    </a:p>
                  </a:txBody>
                  <a:tcPr marT="45581" marB="455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204" name="Rectangle 12">
            <a:extLst>
              <a:ext uri="{FF2B5EF4-FFF2-40B4-BE49-F238E27FC236}">
                <a16:creationId xmlns:a16="http://schemas.microsoft.com/office/drawing/2014/main" id="{546399E3-B907-FF64-4BE9-25C011EC1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400" y="4094163"/>
            <a:ext cx="2089150" cy="18002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205" name="Text Box 13">
            <a:extLst>
              <a:ext uri="{FF2B5EF4-FFF2-40B4-BE49-F238E27FC236}">
                <a16:creationId xmlns:a16="http://schemas.microsoft.com/office/drawing/2014/main" id="{7D833054-ED83-E67C-1862-596FD3AA6D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5300" y="6092825"/>
            <a:ext cx="20161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1600">
                <a:solidFill>
                  <a:srgbClr val="FF33CC"/>
                </a:solidFill>
                <a:ea typeface="幼圆" panose="02010509060101010101" pitchFamily="49" charset="-122"/>
              </a:rPr>
              <a:t>用户作业地址空间</a:t>
            </a:r>
          </a:p>
        </p:txBody>
      </p:sp>
      <p:sp>
        <p:nvSpPr>
          <p:cNvPr id="8206" name="Line 14">
            <a:extLst>
              <a:ext uri="{FF2B5EF4-FFF2-40B4-BE49-F238E27FC236}">
                <a16:creationId xmlns:a16="http://schemas.microsoft.com/office/drawing/2014/main" id="{60D850EF-49DD-CB1B-98FE-D075983226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49400" y="4724400"/>
            <a:ext cx="2089150" cy="190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207" name="Line 15">
            <a:extLst>
              <a:ext uri="{FF2B5EF4-FFF2-40B4-BE49-F238E27FC236}">
                <a16:creationId xmlns:a16="http://schemas.microsoft.com/office/drawing/2014/main" id="{1697F10F-4F9B-4E5A-6AD9-29F16F5206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49400" y="5300663"/>
            <a:ext cx="2089150" cy="190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208" name="Text Box 16">
            <a:extLst>
              <a:ext uri="{FF2B5EF4-FFF2-40B4-BE49-F238E27FC236}">
                <a16:creationId xmlns:a16="http://schemas.microsoft.com/office/drawing/2014/main" id="{70EC6944-F355-0592-A183-15A9BD0F5D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0625" y="3878263"/>
            <a:ext cx="2873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600">
                <a:solidFill>
                  <a:srgbClr val="0000CC"/>
                </a:solidFill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8209" name="Line 17">
            <a:extLst>
              <a:ext uri="{FF2B5EF4-FFF2-40B4-BE49-F238E27FC236}">
                <a16:creationId xmlns:a16="http://schemas.microsoft.com/office/drawing/2014/main" id="{FE2C14E3-9021-F5FA-A01A-AE3D81BA53C1}"/>
              </a:ext>
            </a:extLst>
          </p:cNvPr>
          <p:cNvSpPr>
            <a:spLocks noChangeShapeType="1"/>
          </p:cNvSpPr>
          <p:nvPr/>
        </p:nvSpPr>
        <p:spPr bwMode="auto">
          <a:xfrm>
            <a:off x="1190625" y="5102225"/>
            <a:ext cx="360363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210" name="Text Box 18">
            <a:extLst>
              <a:ext uri="{FF2B5EF4-FFF2-40B4-BE49-F238E27FC236}">
                <a16:creationId xmlns:a16="http://schemas.microsoft.com/office/drawing/2014/main" id="{186B6943-6FBD-9D4E-00D9-F6368C35DC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363" y="4959350"/>
            <a:ext cx="6477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400">
                <a:solidFill>
                  <a:schemeClr val="tx1"/>
                </a:solidFill>
                <a:ea typeface="宋体" panose="02010600030101010101" pitchFamily="2" charset="-122"/>
              </a:rPr>
              <a:t>1027</a:t>
            </a:r>
          </a:p>
        </p:txBody>
      </p:sp>
      <p:sp>
        <p:nvSpPr>
          <p:cNvPr id="8211" name="Text Box 19">
            <a:extLst>
              <a:ext uri="{FF2B5EF4-FFF2-40B4-BE49-F238E27FC236}">
                <a16:creationId xmlns:a16="http://schemas.microsoft.com/office/drawing/2014/main" id="{875D20B4-1878-7028-7AC6-4E9A0FB8F7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0800" y="4221163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600">
                <a:solidFill>
                  <a:srgbClr val="0000CC"/>
                </a:solidFill>
                <a:ea typeface="宋体" panose="02010600030101010101" pitchFamily="2" charset="-122"/>
              </a:rPr>
              <a:t>0</a:t>
            </a:r>
            <a:r>
              <a:rPr lang="zh-CN" altLang="en-US" sz="1600">
                <a:solidFill>
                  <a:srgbClr val="0000CC"/>
                </a:solidFill>
                <a:ea typeface="宋体" panose="02010600030101010101" pitchFamily="2" charset="-122"/>
              </a:rPr>
              <a:t>页</a:t>
            </a:r>
          </a:p>
        </p:txBody>
      </p:sp>
      <p:sp>
        <p:nvSpPr>
          <p:cNvPr id="8212" name="Text Box 20">
            <a:extLst>
              <a:ext uri="{FF2B5EF4-FFF2-40B4-BE49-F238E27FC236}">
                <a16:creationId xmlns:a16="http://schemas.microsoft.com/office/drawing/2014/main" id="{2D91CBBB-B5D2-A54D-08D2-D475954A4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0800" y="4797425"/>
            <a:ext cx="863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600">
                <a:solidFill>
                  <a:srgbClr val="0000CC"/>
                </a:solidFill>
                <a:ea typeface="宋体" panose="02010600030101010101" pitchFamily="2" charset="-122"/>
              </a:rPr>
              <a:t>1</a:t>
            </a:r>
            <a:r>
              <a:rPr lang="zh-CN" altLang="en-US" sz="1600">
                <a:solidFill>
                  <a:srgbClr val="0000CC"/>
                </a:solidFill>
                <a:ea typeface="宋体" panose="02010600030101010101" pitchFamily="2" charset="-122"/>
              </a:rPr>
              <a:t>页</a:t>
            </a:r>
          </a:p>
        </p:txBody>
      </p:sp>
      <p:sp>
        <p:nvSpPr>
          <p:cNvPr id="8213" name="Text Box 21">
            <a:extLst>
              <a:ext uri="{FF2B5EF4-FFF2-40B4-BE49-F238E27FC236}">
                <a16:creationId xmlns:a16="http://schemas.microsoft.com/office/drawing/2014/main" id="{DD63417D-7866-D580-DB62-D00DA34EDA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275" y="5373688"/>
            <a:ext cx="9366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600">
                <a:solidFill>
                  <a:srgbClr val="0000CC"/>
                </a:solidFill>
                <a:ea typeface="宋体" panose="02010600030101010101" pitchFamily="2" charset="-122"/>
              </a:rPr>
              <a:t>2</a:t>
            </a:r>
            <a:r>
              <a:rPr lang="zh-CN" altLang="en-US" sz="1600">
                <a:solidFill>
                  <a:srgbClr val="0000CC"/>
                </a:solidFill>
                <a:ea typeface="宋体" panose="02010600030101010101" pitchFamily="2" charset="-122"/>
              </a:rPr>
              <a:t>页</a:t>
            </a:r>
          </a:p>
        </p:txBody>
      </p:sp>
      <p:sp>
        <p:nvSpPr>
          <p:cNvPr id="8214" name="AutoShape 22">
            <a:extLst>
              <a:ext uri="{FF2B5EF4-FFF2-40B4-BE49-F238E27FC236}">
                <a16:creationId xmlns:a16="http://schemas.microsoft.com/office/drawing/2014/main" id="{C27BA5F1-31CA-6BFF-01C3-9469CF85FAEA}"/>
              </a:ext>
            </a:extLst>
          </p:cNvPr>
          <p:cNvSpPr>
            <a:spLocks/>
          </p:cNvSpPr>
          <p:nvPr/>
        </p:nvSpPr>
        <p:spPr bwMode="auto">
          <a:xfrm>
            <a:off x="1622425" y="4743450"/>
            <a:ext cx="71438" cy="341313"/>
          </a:xfrm>
          <a:prstGeom prst="rightBracket">
            <a:avLst>
              <a:gd name="adj" fmla="val 39815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215" name="Rectangle 23">
            <a:extLst>
              <a:ext uri="{FF2B5EF4-FFF2-40B4-BE49-F238E27FC236}">
                <a16:creationId xmlns:a16="http://schemas.microsoft.com/office/drawing/2014/main" id="{764BA390-D279-0438-A90D-998526F484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213100"/>
            <a:ext cx="74168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>
                <a:schemeClr val="hlink"/>
              </a:buClr>
              <a:buSzPct val="140000"/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rgbClr val="FF33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例如：</a:t>
            </a:r>
            <a:r>
              <a:rPr lang="zh-CN" altLang="en-US" sz="2000">
                <a:solidFill>
                  <a:srgbClr val="0000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页面大小为</a:t>
            </a:r>
            <a:r>
              <a:rPr lang="en-US" altLang="zh-CN" sz="2000">
                <a:solidFill>
                  <a:srgbClr val="0000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1K</a:t>
            </a:r>
            <a:r>
              <a:rPr lang="zh-CN" altLang="en-US" sz="2000">
                <a:solidFill>
                  <a:srgbClr val="0000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；用户作业的逻辑地址为：</a:t>
            </a:r>
            <a:r>
              <a:rPr lang="en-US" altLang="zh-CN" sz="2000">
                <a:solidFill>
                  <a:srgbClr val="0000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1027(</a:t>
            </a:r>
            <a:r>
              <a:rPr lang="zh-CN" altLang="en-US" sz="2000">
                <a:solidFill>
                  <a:srgbClr val="0000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十进制</a:t>
            </a:r>
            <a:r>
              <a:rPr lang="en-US" altLang="zh-CN" sz="2000">
                <a:solidFill>
                  <a:srgbClr val="0000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)</a:t>
            </a:r>
            <a:r>
              <a:rPr lang="zh-CN" altLang="en-US" sz="2000">
                <a:solidFill>
                  <a:srgbClr val="0000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；</a:t>
            </a:r>
          </a:p>
        </p:txBody>
      </p:sp>
      <p:sp>
        <p:nvSpPr>
          <p:cNvPr id="8216" name="Line 24">
            <a:extLst>
              <a:ext uri="{FF2B5EF4-FFF2-40B4-BE49-F238E27FC236}">
                <a16:creationId xmlns:a16="http://schemas.microsoft.com/office/drawing/2014/main" id="{63F2E1E8-789D-DAFF-4099-0B0D53A9AF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65300" y="4941888"/>
            <a:ext cx="503238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217" name="Text Box 25">
            <a:extLst>
              <a:ext uri="{FF2B5EF4-FFF2-40B4-BE49-F238E27FC236}">
                <a16:creationId xmlns:a16="http://schemas.microsoft.com/office/drawing/2014/main" id="{0CD2FF3E-0EA7-1D07-F43A-DB5A7F538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1563" y="4724400"/>
            <a:ext cx="13684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1600">
                <a:ea typeface="宋体" panose="02010600030101010101" pitchFamily="2" charset="-122"/>
              </a:rPr>
              <a:t>页内位移</a:t>
            </a:r>
            <a:r>
              <a:rPr lang="en-US" altLang="zh-CN" sz="1600">
                <a:ea typeface="宋体" panose="02010600030101010101" pitchFamily="2" charset="-122"/>
              </a:rPr>
              <a:t>:3</a:t>
            </a:r>
          </a:p>
        </p:txBody>
      </p:sp>
      <p:sp>
        <p:nvSpPr>
          <p:cNvPr id="8218" name="Text Box 26">
            <a:extLst>
              <a:ext uri="{FF2B5EF4-FFF2-40B4-BE49-F238E27FC236}">
                <a16:creationId xmlns:a16="http://schemas.microsoft.com/office/drawing/2014/main" id="{35003EEB-7EEE-EC86-93B0-F5D529D89C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508500"/>
            <a:ext cx="4105275" cy="143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1600">
                <a:solidFill>
                  <a:srgbClr val="0000CC"/>
                </a:solidFill>
                <a:ea typeface="宋体" panose="02010600030101010101" pitchFamily="2" charset="-122"/>
              </a:rPr>
              <a:t>逻辑地址：</a:t>
            </a:r>
            <a:r>
              <a:rPr lang="en-US" altLang="zh-CN" sz="1600">
                <a:solidFill>
                  <a:srgbClr val="0000CC"/>
                </a:solidFill>
                <a:ea typeface="宋体" panose="02010600030101010101" pitchFamily="2" charset="-122"/>
              </a:rPr>
              <a:t>1027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1600">
                <a:solidFill>
                  <a:srgbClr val="0000CC"/>
                </a:solidFill>
                <a:ea typeface="宋体" panose="02010600030101010101" pitchFamily="2" charset="-122"/>
              </a:rPr>
              <a:t>可表达为</a:t>
            </a:r>
            <a:r>
              <a:rPr lang="zh-CN" altLang="en-US" sz="1600">
                <a:solidFill>
                  <a:srgbClr val="0000CC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：（</a:t>
            </a:r>
            <a:r>
              <a:rPr lang="en-US" altLang="zh-CN" sz="1600">
                <a:solidFill>
                  <a:srgbClr val="0000CC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1</a:t>
            </a:r>
            <a:r>
              <a:rPr lang="zh-CN" altLang="en-US" sz="1600">
                <a:solidFill>
                  <a:srgbClr val="0000CC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，</a:t>
            </a:r>
            <a:r>
              <a:rPr lang="en-US" altLang="zh-CN" sz="1600">
                <a:solidFill>
                  <a:srgbClr val="0000CC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3</a:t>
            </a:r>
            <a:r>
              <a:rPr lang="zh-CN" altLang="en-US" sz="1600">
                <a:solidFill>
                  <a:srgbClr val="0000CC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）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1600">
                <a:solidFill>
                  <a:srgbClr val="0000CC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                   其中：</a:t>
            </a:r>
            <a:r>
              <a:rPr lang="en-US" altLang="zh-CN" sz="1600">
                <a:solidFill>
                  <a:srgbClr val="0000CC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1</a:t>
            </a:r>
            <a:r>
              <a:rPr lang="zh-CN" altLang="en-US" sz="1600">
                <a:solidFill>
                  <a:srgbClr val="0000CC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为页号；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1600">
                <a:solidFill>
                  <a:srgbClr val="0000CC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                             </a:t>
            </a:r>
            <a:r>
              <a:rPr lang="en-US" altLang="zh-CN" sz="1600">
                <a:solidFill>
                  <a:srgbClr val="0000CC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3</a:t>
            </a:r>
            <a:r>
              <a:rPr lang="zh-CN" altLang="en-US" sz="1600">
                <a:solidFill>
                  <a:srgbClr val="0000CC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为位移量（页内位移）</a:t>
            </a:r>
            <a:endParaRPr lang="zh-CN" altLang="en-US" sz="1600">
              <a:solidFill>
                <a:srgbClr val="0000CC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D0932E45-1A14-F71E-FF19-A9B5CDCAA8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600" y="838200"/>
            <a:ext cx="5867400" cy="823913"/>
          </a:xfrm>
        </p:spPr>
        <p:txBody>
          <a:bodyPr/>
          <a:lstStyle/>
          <a:p>
            <a:pPr eaLnBrk="1" hangingPunct="1"/>
            <a:r>
              <a:rPr lang="zh-CN" altLang="en-US" sz="2800" b="1">
                <a:ea typeface="幼圆" panose="02010509060101010101" pitchFamily="49" charset="-122"/>
              </a:rPr>
              <a:t>一、基本思想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4537F120-E1F2-8A08-E758-50BA4C0505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2060575"/>
            <a:ext cx="6553200" cy="43434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Clr>
                <a:schemeClr val="hlink"/>
              </a:buClr>
              <a:buSzPct val="140000"/>
              <a:buFont typeface="Wingdings" panose="05000000000000000000" pitchFamily="2" charset="2"/>
              <a:buChar char="§"/>
            </a:pPr>
            <a:r>
              <a:rPr lang="zh-CN" altLang="en-US" sz="1800">
                <a:latin typeface="幼圆" panose="02010509060101010101" pitchFamily="49" charset="-122"/>
                <a:ea typeface="幼圆" panose="02010509060101010101" pitchFamily="49" charset="-122"/>
              </a:rPr>
              <a:t>页面大小</a:t>
            </a:r>
            <a:r>
              <a:rPr lang="en-US" altLang="zh-CN" sz="1800">
                <a:latin typeface="幼圆" panose="02010509060101010101" pitchFamily="49" charset="-122"/>
                <a:ea typeface="幼圆" panose="02010509060101010101" pitchFamily="49" charset="-122"/>
              </a:rPr>
              <a:t>-----</a:t>
            </a:r>
            <a:r>
              <a:rPr lang="zh-CN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由地址结构（逻辑）决定</a:t>
            </a:r>
            <a:r>
              <a:rPr lang="en-US" altLang="zh-CN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页内位移的位数</a:t>
            </a:r>
            <a:r>
              <a:rPr lang="en-US" altLang="zh-CN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>
                <a:srgbClr val="3333FF"/>
              </a:buClr>
              <a:buSzPct val="140000"/>
              <a:buFont typeface="Wingdings" panose="05000000000000000000" pitchFamily="2" charset="2"/>
              <a:buNone/>
            </a:pPr>
            <a:r>
              <a:rPr lang="zh-CN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若页面较小：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rgbClr val="3333FF"/>
              </a:buClr>
              <a:buSzPct val="140000"/>
              <a:buFont typeface="Wingdings" panose="05000000000000000000" pitchFamily="2" charset="2"/>
              <a:buChar char="§"/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减少页内碎片和内存碎片的总空间，有利于提高内存利用率。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rgbClr val="3333FF"/>
              </a:buClr>
              <a:buSzPct val="140000"/>
              <a:buFont typeface="Wingdings" panose="05000000000000000000" pitchFamily="2" charset="2"/>
              <a:buChar char="§"/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如：作业大小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8.5KB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，页面大小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1KB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，产生页内碎片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0.5KB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；页面大小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2KB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，产生页内碎片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1.5KB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Clr>
                <a:srgbClr val="3333FF"/>
              </a:buClr>
              <a:buSzPct val="140000"/>
              <a:buFont typeface="Wingdings" panose="05000000000000000000" pitchFamily="2" charset="2"/>
              <a:buChar char="§"/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每个进程页面数增多，从而使页表长增加，占用内存就较大。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Clr>
                <a:srgbClr val="3333FF"/>
              </a:buClr>
              <a:buSzPct val="140000"/>
              <a:buFont typeface="Wingdings" panose="05000000000000000000" pitchFamily="2" charset="2"/>
              <a:buChar char="§"/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页面换进换出速度将降低。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>
                <a:srgbClr val="3333FF"/>
              </a:buClr>
              <a:buSzPct val="140000"/>
              <a:buFont typeface="Wingdings" panose="05000000000000000000" pitchFamily="2" charset="2"/>
              <a:buNone/>
            </a:pPr>
            <a:r>
              <a:rPr lang="zh-CN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若页面较大：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Clr>
                <a:srgbClr val="3333FF"/>
              </a:buClr>
              <a:buSzPct val="140000"/>
              <a:buFont typeface="Wingdings" panose="05000000000000000000" pitchFamily="2" charset="2"/>
              <a:buChar char="§"/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每个进程页面数减少，页表长度减少，占用内存就较小。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Clr>
                <a:srgbClr val="3333FF"/>
              </a:buClr>
              <a:buSzPct val="140000"/>
              <a:buFont typeface="Wingdings" panose="05000000000000000000" pitchFamily="2" charset="2"/>
              <a:buChar char="§"/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页面换进换出速度将提高。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Clr>
                <a:srgbClr val="3333FF"/>
              </a:buClr>
              <a:buSzPct val="140000"/>
              <a:buFont typeface="Wingdings" panose="05000000000000000000" pitchFamily="2" charset="2"/>
              <a:buChar char="§"/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会增加页内碎片不利于提高内存利用率。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>
                <a:srgbClr val="3333FF"/>
              </a:buClr>
              <a:buSzPct val="140000"/>
              <a:buFont typeface="Wingdings" panose="05000000000000000000" pitchFamily="2" charset="2"/>
              <a:buNone/>
            </a:pPr>
            <a:r>
              <a:rPr lang="zh-CN" altLang="en-US" sz="1800">
                <a:latin typeface="幼圆" panose="02010509060101010101" pitchFamily="49" charset="-122"/>
                <a:ea typeface="幼圆" panose="02010509060101010101" pitchFamily="49" charset="-122"/>
              </a:rPr>
              <a:t>页面大小</a:t>
            </a:r>
            <a:r>
              <a:rPr lang="en-US" altLang="zh-CN" sz="1800">
                <a:latin typeface="幼圆" panose="02010509060101010101" pitchFamily="49" charset="-122"/>
                <a:ea typeface="幼圆" panose="02010509060101010101" pitchFamily="49" charset="-122"/>
              </a:rPr>
              <a:t>-----</a:t>
            </a:r>
            <a:r>
              <a:rPr lang="zh-CN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选择适中，通常为</a:t>
            </a:r>
            <a:r>
              <a:rPr lang="en-US" altLang="zh-CN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的幂，一般在</a:t>
            </a:r>
            <a:r>
              <a:rPr lang="en-US" altLang="zh-CN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512B-8KB</a:t>
            </a:r>
            <a:r>
              <a:rPr lang="zh-CN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之间。</a:t>
            </a:r>
          </a:p>
        </p:txBody>
      </p:sp>
      <p:grpSp>
        <p:nvGrpSpPr>
          <p:cNvPr id="9220" name="Group 50">
            <a:extLst>
              <a:ext uri="{FF2B5EF4-FFF2-40B4-BE49-F238E27FC236}">
                <a16:creationId xmlns:a16="http://schemas.microsoft.com/office/drawing/2014/main" id="{49AAB94B-157B-5C0F-C118-31FECE27E036}"/>
              </a:ext>
            </a:extLst>
          </p:cNvPr>
          <p:cNvGrpSpPr>
            <a:grpSpLocks/>
          </p:cNvGrpSpPr>
          <p:nvPr/>
        </p:nvGrpSpPr>
        <p:grpSpPr bwMode="auto">
          <a:xfrm>
            <a:off x="7380288" y="2276475"/>
            <a:ext cx="1524000" cy="2286000"/>
            <a:chOff x="4608" y="1248"/>
            <a:chExt cx="960" cy="1606"/>
          </a:xfrm>
        </p:grpSpPr>
        <p:sp>
          <p:nvSpPr>
            <p:cNvPr id="9231" name="Rectangle 11">
              <a:extLst>
                <a:ext uri="{FF2B5EF4-FFF2-40B4-BE49-F238E27FC236}">
                  <a16:creationId xmlns:a16="http://schemas.microsoft.com/office/drawing/2014/main" id="{ED34F870-1505-1DD2-1A70-E89C12C7C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1500"/>
              <a:ext cx="38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600" b="0">
                  <a:solidFill>
                    <a:schemeClr val="tx1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9232" name="Rectangle 12">
              <a:extLst>
                <a:ext uri="{FF2B5EF4-FFF2-40B4-BE49-F238E27FC236}">
                  <a16:creationId xmlns:a16="http://schemas.microsoft.com/office/drawing/2014/main" id="{D5C4093E-A454-0EBE-CD57-F8715C1FC6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1500"/>
              <a:ext cx="38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600" b="0">
                  <a:solidFill>
                    <a:schemeClr val="tx1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9233" name="Rectangle 13">
              <a:extLst>
                <a:ext uri="{FF2B5EF4-FFF2-40B4-BE49-F238E27FC236}">
                  <a16:creationId xmlns:a16="http://schemas.microsoft.com/office/drawing/2014/main" id="{050A4D49-71BA-F6C3-8858-27D5AF07F9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2256"/>
              <a:ext cx="38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600" b="0">
                  <a:solidFill>
                    <a:schemeClr val="tx1"/>
                  </a:solidFill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9234" name="Rectangle 14">
              <a:extLst>
                <a:ext uri="{FF2B5EF4-FFF2-40B4-BE49-F238E27FC236}">
                  <a16:creationId xmlns:a16="http://schemas.microsoft.com/office/drawing/2014/main" id="{19419EB1-4FC5-4838-5EFB-CD5A01C920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2004"/>
              <a:ext cx="38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600" b="0">
                  <a:solidFill>
                    <a:schemeClr val="tx1"/>
                  </a:solidFill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9235" name="Rectangle 15">
              <a:extLst>
                <a:ext uri="{FF2B5EF4-FFF2-40B4-BE49-F238E27FC236}">
                  <a16:creationId xmlns:a16="http://schemas.microsoft.com/office/drawing/2014/main" id="{1A4846B0-FD30-714B-A86A-28D73816CC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1752"/>
              <a:ext cx="38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600" b="0">
                  <a:solidFill>
                    <a:schemeClr val="tx1"/>
                  </a:solidFill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9236" name="Rectangle 16">
              <a:extLst>
                <a:ext uri="{FF2B5EF4-FFF2-40B4-BE49-F238E27FC236}">
                  <a16:creationId xmlns:a16="http://schemas.microsoft.com/office/drawing/2014/main" id="{E36A422C-0220-DF06-9113-972DC12FEB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1248"/>
              <a:ext cx="38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zh-CN" altLang="en-US" sz="1400" b="0">
                  <a:solidFill>
                    <a:schemeClr val="tx1"/>
                  </a:solidFill>
                  <a:ea typeface="宋体" panose="02010600030101010101" pitchFamily="2" charset="-122"/>
                </a:rPr>
                <a:t>块号</a:t>
              </a:r>
            </a:p>
          </p:txBody>
        </p:sp>
        <p:sp>
          <p:nvSpPr>
            <p:cNvPr id="9237" name="Rectangle 17">
              <a:extLst>
                <a:ext uri="{FF2B5EF4-FFF2-40B4-BE49-F238E27FC236}">
                  <a16:creationId xmlns:a16="http://schemas.microsoft.com/office/drawing/2014/main" id="{0944DB94-6A2A-C4B0-AE26-97541893F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2256"/>
              <a:ext cx="38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600" b="0">
                  <a:solidFill>
                    <a:schemeClr val="tx1"/>
                  </a:solidFill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9238" name="Rectangle 18">
              <a:extLst>
                <a:ext uri="{FF2B5EF4-FFF2-40B4-BE49-F238E27FC236}">
                  <a16:creationId xmlns:a16="http://schemas.microsoft.com/office/drawing/2014/main" id="{67054B66-9EC7-85DA-EF30-E68F1A2E3E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2004"/>
              <a:ext cx="38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600" b="0">
                  <a:solidFill>
                    <a:schemeClr val="tx1"/>
                  </a:solidFill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9239" name="Rectangle 19">
              <a:extLst>
                <a:ext uri="{FF2B5EF4-FFF2-40B4-BE49-F238E27FC236}">
                  <a16:creationId xmlns:a16="http://schemas.microsoft.com/office/drawing/2014/main" id="{E73ADB61-06C7-B9EF-86AE-4380AD7190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1752"/>
              <a:ext cx="38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600" b="0">
                  <a:solidFill>
                    <a:schemeClr val="tx1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9240" name="Rectangle 20">
              <a:extLst>
                <a:ext uri="{FF2B5EF4-FFF2-40B4-BE49-F238E27FC236}">
                  <a16:creationId xmlns:a16="http://schemas.microsoft.com/office/drawing/2014/main" id="{89DEE420-523F-97AE-A487-FB32A8759B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1248"/>
              <a:ext cx="38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zh-CN" altLang="en-US" sz="1400" b="0">
                  <a:solidFill>
                    <a:schemeClr val="tx1"/>
                  </a:solidFill>
                  <a:ea typeface="宋体" panose="02010600030101010101" pitchFamily="2" charset="-122"/>
                </a:rPr>
                <a:t>页号</a:t>
              </a:r>
            </a:p>
          </p:txBody>
        </p:sp>
        <p:sp>
          <p:nvSpPr>
            <p:cNvPr id="9241" name="Line 21">
              <a:extLst>
                <a:ext uri="{FF2B5EF4-FFF2-40B4-BE49-F238E27FC236}">
                  <a16:creationId xmlns:a16="http://schemas.microsoft.com/office/drawing/2014/main" id="{18A21017-B427-89C9-255C-098DAEF522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248"/>
              <a:ext cx="76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42" name="Line 22">
              <a:extLst>
                <a:ext uri="{FF2B5EF4-FFF2-40B4-BE49-F238E27FC236}">
                  <a16:creationId xmlns:a16="http://schemas.microsoft.com/office/drawing/2014/main" id="{1E418A31-987E-C9C2-0785-4DA8C0C87D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752"/>
              <a:ext cx="7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43" name="Line 23">
              <a:extLst>
                <a:ext uri="{FF2B5EF4-FFF2-40B4-BE49-F238E27FC236}">
                  <a16:creationId xmlns:a16="http://schemas.microsoft.com/office/drawing/2014/main" id="{7F2CA1E4-9B09-821B-7385-E04569A4A6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2004"/>
              <a:ext cx="7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44" name="Line 24">
              <a:extLst>
                <a:ext uri="{FF2B5EF4-FFF2-40B4-BE49-F238E27FC236}">
                  <a16:creationId xmlns:a16="http://schemas.microsoft.com/office/drawing/2014/main" id="{B4C61ED4-95FE-1666-5343-354F30C23B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2256"/>
              <a:ext cx="7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45" name="Line 25">
              <a:extLst>
                <a:ext uri="{FF2B5EF4-FFF2-40B4-BE49-F238E27FC236}">
                  <a16:creationId xmlns:a16="http://schemas.microsoft.com/office/drawing/2014/main" id="{F8417A2E-493D-ECFD-F4E0-90227722BD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2508"/>
              <a:ext cx="76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46" name="Line 26">
              <a:extLst>
                <a:ext uri="{FF2B5EF4-FFF2-40B4-BE49-F238E27FC236}">
                  <a16:creationId xmlns:a16="http://schemas.microsoft.com/office/drawing/2014/main" id="{8E50CB0A-F07B-4318-7B61-B268A8C91C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248"/>
              <a:ext cx="0" cy="126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47" name="Line 27">
              <a:extLst>
                <a:ext uri="{FF2B5EF4-FFF2-40B4-BE49-F238E27FC236}">
                  <a16:creationId xmlns:a16="http://schemas.microsoft.com/office/drawing/2014/main" id="{101FABF5-B88E-7934-2136-0EEC21556A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1248"/>
              <a:ext cx="0" cy="126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48" name="Line 28">
              <a:extLst>
                <a:ext uri="{FF2B5EF4-FFF2-40B4-BE49-F238E27FC236}">
                  <a16:creationId xmlns:a16="http://schemas.microsoft.com/office/drawing/2014/main" id="{0BE699E0-0016-D4FB-37A0-7DFB28545B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1248"/>
              <a:ext cx="0" cy="12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49" name="Line 29">
              <a:extLst>
                <a:ext uri="{FF2B5EF4-FFF2-40B4-BE49-F238E27FC236}">
                  <a16:creationId xmlns:a16="http://schemas.microsoft.com/office/drawing/2014/main" id="{E900E85F-F002-73A7-ED61-6300AEEF7E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500"/>
              <a:ext cx="7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50" name="Text Box 30">
              <a:extLst>
                <a:ext uri="{FF2B5EF4-FFF2-40B4-BE49-F238E27FC236}">
                  <a16:creationId xmlns:a16="http://schemas.microsoft.com/office/drawing/2014/main" id="{FA320449-E5AB-F57D-6ED6-8903486598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" y="2640"/>
              <a:ext cx="816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chemeClr val="tx1"/>
                  </a:solidFill>
                  <a:ea typeface="宋体" panose="02010600030101010101" pitchFamily="2" charset="-122"/>
                </a:rPr>
                <a:t>Page table</a:t>
              </a:r>
            </a:p>
          </p:txBody>
        </p:sp>
      </p:grpSp>
      <p:graphicFrame>
        <p:nvGraphicFramePr>
          <p:cNvPr id="156721" name="Group 49">
            <a:extLst>
              <a:ext uri="{FF2B5EF4-FFF2-40B4-BE49-F238E27FC236}">
                <a16:creationId xmlns:a16="http://schemas.microsoft.com/office/drawing/2014/main" id="{725AF386-B016-4DAA-3BCD-0F1EEC42371B}"/>
              </a:ext>
            </a:extLst>
          </p:cNvPr>
          <p:cNvGraphicFramePr>
            <a:graphicFrameLocks noGrp="1"/>
          </p:cNvGraphicFramePr>
          <p:nvPr/>
        </p:nvGraphicFramePr>
        <p:xfrm>
          <a:off x="3733800" y="1295400"/>
          <a:ext cx="5410200" cy="365125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页号</a:t>
                      </a:r>
                    </a:p>
                  </a:txBody>
                  <a:tcPr marT="45581" marB="4558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位移量（页内地址）</a:t>
                      </a:r>
                    </a:p>
                  </a:txBody>
                  <a:tcPr marT="45581" marB="455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229" name="Line 44">
            <a:extLst>
              <a:ext uri="{FF2B5EF4-FFF2-40B4-BE49-F238E27FC236}">
                <a16:creationId xmlns:a16="http://schemas.microsoft.com/office/drawing/2014/main" id="{AF229204-0953-7EC5-F532-178B9259D0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32363" y="1700213"/>
            <a:ext cx="2160587" cy="649287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30" name="AutoShape 51">
            <a:hlinkClick r:id="rId2" action="ppaction://hlinksldjump"/>
            <a:extLst>
              <a:ext uri="{FF2B5EF4-FFF2-40B4-BE49-F238E27FC236}">
                <a16:creationId xmlns:a16="http://schemas.microsoft.com/office/drawing/2014/main" id="{BDCC2017-9A0E-B929-E3E3-4B7F27257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6096000"/>
            <a:ext cx="685800" cy="457200"/>
          </a:xfrm>
          <a:prstGeom prst="irregularSeal1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400" b="0">
                <a:solidFill>
                  <a:schemeClr val="bg1"/>
                </a:solidFill>
                <a:ea typeface="宋体" panose="02010600030101010101" pitchFamily="2" charset="-122"/>
              </a:rPr>
              <a:t>返回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08F06D7-7903-1D71-56FB-615BBA3034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95400" y="838200"/>
            <a:ext cx="3962400" cy="762000"/>
          </a:xfrm>
        </p:spPr>
        <p:txBody>
          <a:bodyPr/>
          <a:lstStyle/>
          <a:p>
            <a:pPr eaLnBrk="1" hangingPunct="1"/>
            <a:r>
              <a:rPr lang="zh-CN" altLang="en-US" sz="2800" b="1">
                <a:ea typeface="幼圆" panose="02010509060101010101" pitchFamily="49" charset="-122"/>
              </a:rPr>
              <a:t>二、页表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E27D8EE-2ED1-D51F-085D-EB8239FDAF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2875" y="1905000"/>
            <a:ext cx="4886325" cy="4114800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为了便于在内存找到进程的</a:t>
            </a:r>
            <a:r>
              <a:rPr lang="zh-CN" altLang="en-US" sz="160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每个页面所对应块</a:t>
            </a:r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，系统为每个进程建立一张页面映象，简称页表，如图。</a:t>
            </a: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记录了页面在内存中对应的块号</a:t>
            </a: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页表一般存放在内存中</a:t>
            </a: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页表的基址及长度由页表寄存器给出</a:t>
            </a:r>
            <a:endParaRPr lang="en-US" altLang="zh-CN" sz="18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程序未执行时，其页表的基址及长度放于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PCB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中；运行时，调入页表寄存器中。</a:t>
            </a: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访问一个字节的数据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指令需访问内存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次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页表一次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内存一次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),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所以出现内存访问速度降低的问题。</a:t>
            </a:r>
          </a:p>
        </p:txBody>
      </p:sp>
      <p:graphicFrame>
        <p:nvGraphicFramePr>
          <p:cNvPr id="158820" name="Group 100">
            <a:extLst>
              <a:ext uri="{FF2B5EF4-FFF2-40B4-BE49-F238E27FC236}">
                <a16:creationId xmlns:a16="http://schemas.microsoft.com/office/drawing/2014/main" id="{3FB4660E-21D1-77B5-055C-EC276DBFA196}"/>
              </a:ext>
            </a:extLst>
          </p:cNvPr>
          <p:cNvGraphicFramePr>
            <a:graphicFrameLocks noGrp="1"/>
          </p:cNvGraphicFramePr>
          <p:nvPr/>
        </p:nvGraphicFramePr>
        <p:xfrm>
          <a:off x="6324600" y="1295400"/>
          <a:ext cx="914400" cy="1463675"/>
        </p:xfrm>
        <a:graphic>
          <a:graphicData uri="http://schemas.openxmlformats.org/drawingml/2006/table">
            <a:tbl>
              <a:tblPr/>
              <a:tblGrid>
                <a:gridCol w="434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91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91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91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91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…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…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261" name="Text Box 57">
            <a:extLst>
              <a:ext uri="{FF2B5EF4-FFF2-40B4-BE49-F238E27FC236}">
                <a16:creationId xmlns:a16="http://schemas.microsoft.com/office/drawing/2014/main" id="{156DB942-2FCD-3131-35FF-2BA433F6F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990600"/>
            <a:ext cx="1295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1600" b="0">
                <a:solidFill>
                  <a:schemeClr val="tx1"/>
                </a:solidFill>
                <a:ea typeface="宋体" panose="02010600030101010101" pitchFamily="2" charset="-122"/>
              </a:rPr>
              <a:t>页号  块号    </a:t>
            </a:r>
          </a:p>
        </p:txBody>
      </p:sp>
      <p:graphicFrame>
        <p:nvGraphicFramePr>
          <p:cNvPr id="158798" name="Group 78">
            <a:extLst>
              <a:ext uri="{FF2B5EF4-FFF2-40B4-BE49-F238E27FC236}">
                <a16:creationId xmlns:a16="http://schemas.microsoft.com/office/drawing/2014/main" id="{808F7E53-7ED8-59A0-7182-77A345A1B729}"/>
              </a:ext>
            </a:extLst>
          </p:cNvPr>
          <p:cNvGraphicFramePr>
            <a:graphicFrameLocks noGrp="1"/>
          </p:cNvGraphicFramePr>
          <p:nvPr/>
        </p:nvGraphicFramePr>
        <p:xfrm>
          <a:off x="2071688" y="6330950"/>
          <a:ext cx="2438400" cy="455613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56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</a:rPr>
                        <a:t>页表始址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</a:rPr>
                        <a:t>页表长度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270" name="Line 101">
            <a:extLst>
              <a:ext uri="{FF2B5EF4-FFF2-40B4-BE49-F238E27FC236}">
                <a16:creationId xmlns:a16="http://schemas.microsoft.com/office/drawing/2014/main" id="{6A42A559-EEC8-BA72-7831-3CEF5F1258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14750" y="4191000"/>
            <a:ext cx="95250" cy="20955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158842" name="Group 122">
            <a:extLst>
              <a:ext uri="{FF2B5EF4-FFF2-40B4-BE49-F238E27FC236}">
                <a16:creationId xmlns:a16="http://schemas.microsoft.com/office/drawing/2014/main" id="{09DA5B05-32D2-9ABE-6D68-9DA4731A7969}"/>
              </a:ext>
            </a:extLst>
          </p:cNvPr>
          <p:cNvGraphicFramePr>
            <a:graphicFrameLocks noGrp="1"/>
          </p:cNvGraphicFramePr>
          <p:nvPr/>
        </p:nvGraphicFramePr>
        <p:xfrm>
          <a:off x="5257800" y="2133600"/>
          <a:ext cx="762000" cy="182880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41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8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…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285" name="Text Box 123">
            <a:extLst>
              <a:ext uri="{FF2B5EF4-FFF2-40B4-BE49-F238E27FC236}">
                <a16:creationId xmlns:a16="http://schemas.microsoft.com/office/drawing/2014/main" id="{CCF6DC52-DDC5-FFCB-FD3E-4A189D5B6E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4114800"/>
            <a:ext cx="160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1400" b="0">
                <a:solidFill>
                  <a:schemeClr val="tx1"/>
                </a:solidFill>
                <a:ea typeface="宋体" panose="02010600030101010101" pitchFamily="2" charset="-122"/>
              </a:rPr>
              <a:t>作业的地址空间</a:t>
            </a:r>
          </a:p>
        </p:txBody>
      </p:sp>
      <p:graphicFrame>
        <p:nvGraphicFramePr>
          <p:cNvPr id="158873" name="Group 153">
            <a:extLst>
              <a:ext uri="{FF2B5EF4-FFF2-40B4-BE49-F238E27FC236}">
                <a16:creationId xmlns:a16="http://schemas.microsoft.com/office/drawing/2014/main" id="{DBAD6904-6242-D331-B126-EC9E08A0CDB4}"/>
              </a:ext>
            </a:extLst>
          </p:cNvPr>
          <p:cNvGraphicFramePr>
            <a:graphicFrameLocks noGrp="1"/>
          </p:cNvGraphicFramePr>
          <p:nvPr/>
        </p:nvGraphicFramePr>
        <p:xfrm>
          <a:off x="7848600" y="1600200"/>
          <a:ext cx="609600" cy="36576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41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8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310" name="Text Box 138">
            <a:extLst>
              <a:ext uri="{FF2B5EF4-FFF2-40B4-BE49-F238E27FC236}">
                <a16:creationId xmlns:a16="http://schemas.microsoft.com/office/drawing/2014/main" id="{6B1BB791-8B92-EDD0-11F4-13EE1B8C97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1524000"/>
            <a:ext cx="457200" cy="373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</a:p>
          <a:p>
            <a:pPr eaLnBrk="1" hangingPunct="1">
              <a:lnSpc>
                <a:spcPct val="18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t>3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t>4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t>5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t>6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t>7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ClrTx/>
              <a:buFontTx/>
              <a:buNone/>
            </a:pPr>
            <a:endParaRPr lang="en-US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ClrTx/>
              <a:buFontTx/>
              <a:buNone/>
            </a:pPr>
            <a:endParaRPr lang="en-US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0311" name="Line 154">
            <a:extLst>
              <a:ext uri="{FF2B5EF4-FFF2-40B4-BE49-F238E27FC236}">
                <a16:creationId xmlns:a16="http://schemas.microsoft.com/office/drawing/2014/main" id="{3E771CCB-09FF-276C-FDEA-CD8142F41394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1524000"/>
            <a:ext cx="609600" cy="990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312" name="Line 155">
            <a:extLst>
              <a:ext uri="{FF2B5EF4-FFF2-40B4-BE49-F238E27FC236}">
                <a16:creationId xmlns:a16="http://schemas.microsoft.com/office/drawing/2014/main" id="{EF83A9C9-0976-338D-7D0A-41BCFF23A629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1828800"/>
            <a:ext cx="609600" cy="1447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313" name="Line 156">
            <a:extLst>
              <a:ext uri="{FF2B5EF4-FFF2-40B4-BE49-F238E27FC236}">
                <a16:creationId xmlns:a16="http://schemas.microsoft.com/office/drawing/2014/main" id="{71ACDC34-6D24-45A4-AAF2-E0BE1F495E9E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2286000"/>
            <a:ext cx="609600" cy="2057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314" name="Text Box 157">
            <a:extLst>
              <a:ext uri="{FF2B5EF4-FFF2-40B4-BE49-F238E27FC236}">
                <a16:creationId xmlns:a16="http://schemas.microsoft.com/office/drawing/2014/main" id="{27B446B1-A530-75E5-A7B5-3A9A0047E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5334000"/>
            <a:ext cx="990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1400" b="0">
                <a:solidFill>
                  <a:schemeClr val="tx1"/>
                </a:solidFill>
                <a:ea typeface="宋体" panose="02010600030101010101" pitchFamily="2" charset="-122"/>
              </a:rPr>
              <a:t>内存空间</a:t>
            </a:r>
          </a:p>
        </p:txBody>
      </p:sp>
      <p:sp>
        <p:nvSpPr>
          <p:cNvPr id="10315" name="Text Box 158">
            <a:extLst>
              <a:ext uri="{FF2B5EF4-FFF2-40B4-BE49-F238E27FC236}">
                <a16:creationId xmlns:a16="http://schemas.microsoft.com/office/drawing/2014/main" id="{CA6C9538-FD30-8A63-2271-2252A64F35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2895600"/>
            <a:ext cx="990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1400" b="0">
                <a:solidFill>
                  <a:schemeClr val="tx1"/>
                </a:solidFill>
                <a:ea typeface="宋体" panose="02010600030101010101" pitchFamily="2" charset="-122"/>
              </a:rPr>
              <a:t>页表</a:t>
            </a:r>
          </a:p>
        </p:txBody>
      </p:sp>
      <p:sp>
        <p:nvSpPr>
          <p:cNvPr id="10316" name="AutoShape 159">
            <a:hlinkClick r:id="rId2" action="ppaction://hlinksldjump"/>
            <a:extLst>
              <a:ext uri="{FF2B5EF4-FFF2-40B4-BE49-F238E27FC236}">
                <a16:creationId xmlns:a16="http://schemas.microsoft.com/office/drawing/2014/main" id="{DF2B6282-68A1-45C6-354D-CEB2F39AF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6096000"/>
            <a:ext cx="685800" cy="457200"/>
          </a:xfrm>
          <a:prstGeom prst="irregularSeal1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400" b="0">
                <a:solidFill>
                  <a:schemeClr val="bg1"/>
                </a:solidFill>
                <a:ea typeface="宋体" panose="02010600030101010101" pitchFamily="2" charset="-122"/>
              </a:rPr>
              <a:t>返回</a:t>
            </a:r>
          </a:p>
        </p:txBody>
      </p:sp>
      <p:sp>
        <p:nvSpPr>
          <p:cNvPr id="10317" name="Text Box 160">
            <a:extLst>
              <a:ext uri="{FF2B5EF4-FFF2-40B4-BE49-F238E27FC236}">
                <a16:creationId xmlns:a16="http://schemas.microsoft.com/office/drawing/2014/main" id="{28C544AD-ED7B-73FD-C40C-E56AA0EAC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725" y="5013325"/>
            <a:ext cx="22336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特点：</a:t>
            </a:r>
            <a:r>
              <a:rPr lang="zh-CN" altLang="en-US"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逻辑上相邻的页，物理上不一定相邻。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050">
            <a:extLst>
              <a:ext uri="{FF2B5EF4-FFF2-40B4-BE49-F238E27FC236}">
                <a16:creationId xmlns:a16="http://schemas.microsoft.com/office/drawing/2014/main" id="{59C42036-58C7-AA70-1EDB-EB7EECC9E6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>
                <a:ea typeface="幼圆" panose="02010509060101010101" pitchFamily="49" charset="-122"/>
              </a:rPr>
              <a:t>三、地址结构</a:t>
            </a:r>
          </a:p>
        </p:txBody>
      </p:sp>
      <p:sp>
        <p:nvSpPr>
          <p:cNvPr id="11267" name="Rectangle 2051">
            <a:extLst>
              <a:ext uri="{FF2B5EF4-FFF2-40B4-BE49-F238E27FC236}">
                <a16:creationId xmlns:a16="http://schemas.microsoft.com/office/drawing/2014/main" id="{895E9EBF-2D65-2643-4C05-0B0100D9B55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182688" y="2017713"/>
            <a:ext cx="7637462" cy="4579937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363538" algn="l"/>
              </a:tabLst>
            </a:pPr>
            <a:r>
              <a:rPr lang="zh-CN" altLang="en-US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分页存储管理系统中的地址结构</a:t>
            </a:r>
            <a:r>
              <a:rPr lang="zh-CN" altLang="en-US" sz="160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（逻辑）</a:t>
            </a:r>
            <a:r>
              <a:rPr lang="zh-CN" altLang="en-US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None/>
              <a:tabLst>
                <a:tab pos="363538" algn="l"/>
              </a:tabLst>
            </a:pPr>
            <a:endParaRPr lang="zh-CN" altLang="en-US" sz="1600" b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None/>
              <a:tabLst>
                <a:tab pos="363538" algn="l"/>
              </a:tabLst>
            </a:pPr>
            <a:endParaRPr lang="zh-CN" altLang="en-US" sz="1600" b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None/>
              <a:tabLst>
                <a:tab pos="363538" algn="l"/>
              </a:tabLst>
            </a:pPr>
            <a:r>
              <a:rPr lang="zh-CN" altLang="en-US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地址长为</a:t>
            </a:r>
            <a:r>
              <a:rPr lang="en-US" altLang="zh-CN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32</a:t>
            </a:r>
            <a:r>
              <a:rPr lang="zh-CN" altLang="en-US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位，其中</a:t>
            </a:r>
            <a:r>
              <a:rPr lang="en-US" altLang="zh-CN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0-11</a:t>
            </a:r>
            <a:r>
              <a:rPr lang="zh-CN" altLang="en-US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位为页内地址，即每页的大小为</a:t>
            </a:r>
            <a:r>
              <a:rPr lang="en-US" altLang="zh-CN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1600" b="0" baseline="30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</a:t>
            </a:r>
            <a:r>
              <a:rPr lang="en-US" altLang="zh-CN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=4KB</a:t>
            </a: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None/>
              <a:tabLst>
                <a:tab pos="363538" algn="l"/>
              </a:tabLst>
            </a:pPr>
            <a:r>
              <a:rPr lang="en-US" altLang="zh-CN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12-31</a:t>
            </a:r>
            <a:r>
              <a:rPr lang="zh-CN" altLang="en-US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位为页号，地址空间最多允许有</a:t>
            </a:r>
            <a:r>
              <a:rPr lang="en-US" altLang="zh-CN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1600" b="0" baseline="30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 </a:t>
            </a:r>
            <a:r>
              <a:rPr lang="en-US" altLang="zh-CN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=1M</a:t>
            </a:r>
            <a:r>
              <a:rPr lang="zh-CN" altLang="en-US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页。</a:t>
            </a: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None/>
              <a:tabLst>
                <a:tab pos="363538" algn="l"/>
              </a:tabLst>
            </a:pPr>
            <a:r>
              <a:rPr lang="zh-CN" altLang="en-US" sz="160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若给定一个逻辑地址空间中的地址为</a:t>
            </a:r>
            <a:r>
              <a:rPr lang="en-US" altLang="zh-CN" sz="160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160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，页面的大小为</a:t>
            </a:r>
            <a:r>
              <a:rPr lang="en-US" altLang="zh-CN" sz="160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</a:t>
            </a:r>
            <a:r>
              <a:rPr lang="zh-CN" altLang="en-US" sz="160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，则页号</a:t>
            </a:r>
            <a:r>
              <a:rPr lang="en-US" altLang="zh-CN" sz="160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sz="160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和页内位移</a:t>
            </a:r>
            <a:r>
              <a:rPr lang="en-US" altLang="zh-CN" sz="160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lang="zh-CN" altLang="en-US" sz="160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可按下式求得：</a:t>
            </a: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None/>
              <a:tabLst>
                <a:tab pos="363538" algn="l"/>
              </a:tabLst>
            </a:pPr>
            <a:endParaRPr lang="zh-CN" altLang="en-US" sz="1600" b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None/>
              <a:tabLst>
                <a:tab pos="363538" algn="l"/>
              </a:tabLst>
            </a:pPr>
            <a:endParaRPr lang="zh-CN" altLang="en-US" sz="1600" b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363538" algn="l"/>
              </a:tabLst>
            </a:pPr>
            <a:r>
              <a:rPr lang="zh-CN" altLang="en-US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物理地址：</a:t>
            </a: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tabLst>
                <a:tab pos="363538" algn="l"/>
              </a:tabLst>
            </a:pPr>
            <a:endParaRPr lang="zh-CN" altLang="en-US" sz="1600" b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tabLst>
                <a:tab pos="363538" algn="l"/>
              </a:tabLst>
            </a:pPr>
            <a:r>
              <a:rPr lang="zh-CN" altLang="en-US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地址长为</a:t>
            </a:r>
            <a:r>
              <a:rPr lang="en-US" altLang="zh-CN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22</a:t>
            </a:r>
            <a:r>
              <a:rPr lang="zh-CN" altLang="en-US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位，其中</a:t>
            </a:r>
            <a:r>
              <a:rPr lang="en-US" altLang="zh-CN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0-11</a:t>
            </a:r>
            <a:r>
              <a:rPr lang="zh-CN" altLang="en-US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位为块内地址，即每块的大小为</a:t>
            </a:r>
            <a:r>
              <a:rPr lang="en-US" altLang="zh-CN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1600" b="0" baseline="30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</a:t>
            </a:r>
            <a:r>
              <a:rPr lang="en-US" altLang="zh-CN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=4KB</a:t>
            </a:r>
            <a:r>
              <a:rPr lang="zh-CN" altLang="en-US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1600">
                <a:solidFill>
                  <a:srgbClr val="FF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与页相等</a:t>
            </a: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None/>
              <a:tabLst>
                <a:tab pos="363538" algn="l"/>
              </a:tabLst>
            </a:pPr>
            <a:r>
              <a:rPr lang="zh-CN" altLang="en-US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</a:t>
            </a:r>
            <a:r>
              <a:rPr lang="en-US" altLang="zh-CN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12-21</a:t>
            </a:r>
            <a:r>
              <a:rPr lang="zh-CN" altLang="en-US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位为块号，内存地址空间最多允许有</a:t>
            </a:r>
            <a:r>
              <a:rPr lang="en-US" altLang="zh-CN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1600" b="0" baseline="30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 </a:t>
            </a:r>
            <a:r>
              <a:rPr lang="en-US" altLang="zh-CN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=1K</a:t>
            </a:r>
            <a:r>
              <a:rPr lang="zh-CN" altLang="en-US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块。 </a:t>
            </a:r>
          </a:p>
        </p:txBody>
      </p:sp>
      <p:graphicFrame>
        <p:nvGraphicFramePr>
          <p:cNvPr id="470098" name="Group 2130">
            <a:extLst>
              <a:ext uri="{FF2B5EF4-FFF2-40B4-BE49-F238E27FC236}">
                <a16:creationId xmlns:a16="http://schemas.microsoft.com/office/drawing/2014/main" id="{E4969B56-A1FD-47A3-D64E-194E47C39F14}"/>
              </a:ext>
            </a:extLst>
          </p:cNvPr>
          <p:cNvGraphicFramePr>
            <a:graphicFrameLocks noGrp="1"/>
          </p:cNvGraphicFramePr>
          <p:nvPr/>
        </p:nvGraphicFramePr>
        <p:xfrm>
          <a:off x="2843213" y="2565400"/>
          <a:ext cx="3276600" cy="404813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页号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位移量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0093" name="Group 2125">
            <a:extLst>
              <a:ext uri="{FF2B5EF4-FFF2-40B4-BE49-F238E27FC236}">
                <a16:creationId xmlns:a16="http://schemas.microsoft.com/office/drawing/2014/main" id="{5634BA7D-E034-56AA-CEBC-5F376148054B}"/>
              </a:ext>
            </a:extLst>
          </p:cNvPr>
          <p:cNvGraphicFramePr>
            <a:graphicFrameLocks noGrp="1"/>
          </p:cNvGraphicFramePr>
          <p:nvPr/>
        </p:nvGraphicFramePr>
        <p:xfrm>
          <a:off x="2867025" y="5157788"/>
          <a:ext cx="3657600" cy="4572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块号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块内位移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284" name="Text Box 2121">
            <a:extLst>
              <a:ext uri="{FF2B5EF4-FFF2-40B4-BE49-F238E27FC236}">
                <a16:creationId xmlns:a16="http://schemas.microsoft.com/office/drawing/2014/main" id="{5CB31721-55F9-D979-B3A8-01B8A03E2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338" y="2276475"/>
            <a:ext cx="3657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t>31                  12 11                             0</a:t>
            </a:r>
          </a:p>
        </p:txBody>
      </p:sp>
      <p:sp>
        <p:nvSpPr>
          <p:cNvPr id="11285" name="Text Box 2124">
            <a:extLst>
              <a:ext uri="{FF2B5EF4-FFF2-40B4-BE49-F238E27FC236}">
                <a16:creationId xmlns:a16="http://schemas.microsoft.com/office/drawing/2014/main" id="{39364C18-77C6-5550-F068-4D6B410A6E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7025" y="4852988"/>
            <a:ext cx="4038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t>21                       12 11                             0</a:t>
            </a:r>
          </a:p>
        </p:txBody>
      </p:sp>
      <p:sp>
        <p:nvSpPr>
          <p:cNvPr id="11286" name="Line 2127">
            <a:extLst>
              <a:ext uri="{FF2B5EF4-FFF2-40B4-BE49-F238E27FC236}">
                <a16:creationId xmlns:a16="http://schemas.microsoft.com/office/drawing/2014/main" id="{78EF038C-E1C7-254F-AD27-0C3FA64591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24525" y="2163763"/>
            <a:ext cx="1152525" cy="6477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287" name="Text Box 2128">
            <a:extLst>
              <a:ext uri="{FF2B5EF4-FFF2-40B4-BE49-F238E27FC236}">
                <a16:creationId xmlns:a16="http://schemas.microsoft.com/office/drawing/2014/main" id="{6DD0AA61-E08C-7216-7653-505EE8E74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1874838"/>
            <a:ext cx="1439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0">
                <a:ea typeface="宋体" panose="02010600030101010101" pitchFamily="2" charset="-122"/>
              </a:rPr>
              <a:t>页内位移</a:t>
            </a:r>
          </a:p>
        </p:txBody>
      </p:sp>
      <p:graphicFrame>
        <p:nvGraphicFramePr>
          <p:cNvPr id="11288" name="Object 2135">
            <a:extLst>
              <a:ext uri="{FF2B5EF4-FFF2-40B4-BE49-F238E27FC236}">
                <a16:creationId xmlns:a16="http://schemas.microsoft.com/office/drawing/2014/main" id="{215B5C0E-6E5E-484F-3123-6E0C0843FB92}"/>
              </a:ext>
            </a:extLst>
          </p:cNvPr>
          <p:cNvGraphicFramePr>
            <a:graphicFrameLocks noChangeAspect="1"/>
          </p:cNvGraphicFramePr>
          <p:nvPr>
            <p:ph sz="half" idx="2"/>
          </p:nvPr>
        </p:nvGraphicFramePr>
        <p:xfrm>
          <a:off x="3348038" y="4149725"/>
          <a:ext cx="9271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7100" imgH="660400" progId="Equation.3">
                  <p:embed/>
                </p:oleObj>
              </mc:Choice>
              <mc:Fallback>
                <p:oleObj name="Equation" r:id="rId2" imgW="927100" imgH="660400" progId="Equation.3">
                  <p:embed/>
                  <p:pic>
                    <p:nvPicPr>
                      <p:cNvPr id="0" name="Object 21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4149725"/>
                        <a:ext cx="9271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9" name="Line 2137">
            <a:extLst>
              <a:ext uri="{FF2B5EF4-FFF2-40B4-BE49-F238E27FC236}">
                <a16:creationId xmlns:a16="http://schemas.microsoft.com/office/drawing/2014/main" id="{5CBE150C-5721-AD11-55DF-0CC0A923AC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64388" y="2852738"/>
            <a:ext cx="431800" cy="6477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290" name="Text Box 2138">
            <a:extLst>
              <a:ext uri="{FF2B5EF4-FFF2-40B4-BE49-F238E27FC236}">
                <a16:creationId xmlns:a16="http://schemas.microsoft.com/office/drawing/2014/main" id="{DA8E8005-F6EC-3236-C148-59F4537D5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5825" y="2420938"/>
            <a:ext cx="1439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0">
                <a:ea typeface="宋体" panose="02010600030101010101" pitchFamily="2" charset="-122"/>
              </a:rPr>
              <a:t>用户作业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026">
            <a:extLst>
              <a:ext uri="{FF2B5EF4-FFF2-40B4-BE49-F238E27FC236}">
                <a16:creationId xmlns:a16="http://schemas.microsoft.com/office/drawing/2014/main" id="{CB2E1DBF-B106-78C2-DB7D-BFF925A21F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0938" y="1143000"/>
            <a:ext cx="7793037" cy="617538"/>
          </a:xfrm>
        </p:spPr>
        <p:txBody>
          <a:bodyPr/>
          <a:lstStyle/>
          <a:p>
            <a:pPr eaLnBrk="1" hangingPunct="1"/>
            <a:r>
              <a:rPr lang="zh-CN" altLang="en-US" sz="2800" b="1">
                <a:ea typeface="幼圆" panose="02010509060101010101" pitchFamily="49" charset="-122"/>
              </a:rPr>
              <a:t>三、地址结构例题</a:t>
            </a:r>
          </a:p>
        </p:txBody>
      </p:sp>
      <p:sp>
        <p:nvSpPr>
          <p:cNvPr id="12291" name="Rectangle 1027">
            <a:extLst>
              <a:ext uri="{FF2B5EF4-FFF2-40B4-BE49-F238E27FC236}">
                <a16:creationId xmlns:a16="http://schemas.microsoft.com/office/drawing/2014/main" id="{AB6776B7-7AE8-7A4B-DC15-1D73425955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8001000" cy="44958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设有一页式存储管理系统，向用户提供的逻辑地址空间最大为</a:t>
            </a:r>
            <a:r>
              <a:rPr lang="en-US" altLang="zh-CN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页，每页</a:t>
            </a:r>
            <a:r>
              <a:rPr lang="en-US" altLang="zh-CN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2048B</a:t>
            </a: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，内存总共有</a:t>
            </a:r>
            <a:r>
              <a:rPr lang="en-US" altLang="zh-CN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个存储块，试问</a:t>
            </a:r>
            <a:r>
              <a:rPr lang="zh-CN" altLang="en-US" sz="1800" b="0">
                <a:latin typeface="宋体" panose="02010600030101010101" pitchFamily="2" charset="-122"/>
                <a:ea typeface="宋体" panose="02010600030101010101" pitchFamily="2" charset="-122"/>
              </a:rPr>
              <a:t>逻辑地址</a:t>
            </a: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至少应为多少位？</a:t>
            </a:r>
            <a:r>
              <a:rPr lang="zh-CN" altLang="en-US" sz="1800" b="0">
                <a:latin typeface="宋体" panose="02010600030101010101" pitchFamily="2" charset="-122"/>
                <a:ea typeface="宋体" panose="02010600030101010101" pitchFamily="2" charset="-122"/>
              </a:rPr>
              <a:t>内存空间</a:t>
            </a: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有多大？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800">
                <a:latin typeface="幼圆" panose="02010509060101010101" pitchFamily="49" charset="-122"/>
                <a:ea typeface="幼圆" panose="02010509060101010101" pitchFamily="49" charset="-122"/>
              </a:rPr>
              <a:t>解：</a:t>
            </a: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（</a:t>
            </a:r>
            <a:r>
              <a:rPr lang="en-US" altLang="zh-CN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1</a:t>
            </a: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）</a:t>
            </a: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页式存储管理系统的</a:t>
            </a:r>
            <a:r>
              <a:rPr lang="zh-CN" altLang="en-US" sz="180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逻辑地址</a:t>
            </a: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为：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其中页内地址表每页的大小即 </a:t>
            </a:r>
            <a:r>
              <a:rPr lang="en-US" altLang="zh-CN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2048B=2*1024B=2</a:t>
            </a:r>
            <a:r>
              <a:rPr lang="en-US" altLang="zh-CN" sz="1800" b="0" baseline="30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r>
              <a:rPr lang="en-US" altLang="zh-CN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，所以页内地址为</a:t>
            </a:r>
            <a:r>
              <a:rPr lang="en-US" altLang="zh-CN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位。</a:t>
            </a: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其中页号表最多允许的页数即 </a:t>
            </a:r>
            <a:r>
              <a:rPr lang="en-US" altLang="zh-CN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页</a:t>
            </a:r>
            <a:r>
              <a:rPr lang="en-US" altLang="zh-CN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=2</a:t>
            </a:r>
            <a:r>
              <a:rPr lang="en-US" altLang="zh-CN" sz="1800" b="0" baseline="30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页，所以页号为</a:t>
            </a:r>
            <a:r>
              <a:rPr lang="en-US" altLang="zh-CN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位。</a:t>
            </a: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故逻辑地址至少应为</a:t>
            </a:r>
            <a:r>
              <a:rPr lang="en-US" altLang="zh-CN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15</a:t>
            </a: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位。 </a:t>
            </a: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（</a:t>
            </a:r>
            <a:r>
              <a:rPr lang="en-US" altLang="zh-CN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）物理地址为：                </a:t>
            </a: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其中</a:t>
            </a:r>
            <a:r>
              <a:rPr lang="zh-CN" altLang="en-US" sz="180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块内地址表每块的大小与页大小相等</a:t>
            </a: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，所以块内地址也为</a:t>
            </a:r>
            <a:r>
              <a:rPr lang="en-US" altLang="zh-CN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位。</a:t>
            </a: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其中块号表内存空间最多允许的块数即 </a:t>
            </a:r>
            <a:r>
              <a:rPr lang="en-US" altLang="zh-CN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块</a:t>
            </a:r>
            <a:r>
              <a:rPr lang="en-US" altLang="zh-CN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=2</a:t>
            </a:r>
            <a:r>
              <a:rPr lang="en-US" altLang="zh-CN" sz="1800" b="0" baseline="30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块，所以块号为</a:t>
            </a:r>
            <a:r>
              <a:rPr lang="en-US" altLang="zh-CN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位。</a:t>
            </a: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故内存空间至少应为</a:t>
            </a:r>
            <a:r>
              <a:rPr lang="en-US" altLang="zh-CN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14</a:t>
            </a: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位，即</a:t>
            </a:r>
            <a:r>
              <a:rPr lang="en-US" altLang="zh-CN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1800" b="0" baseline="30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14 </a:t>
            </a:r>
            <a:r>
              <a:rPr lang="en-US" altLang="zh-CN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=16KB</a:t>
            </a:r>
          </a:p>
        </p:txBody>
      </p:sp>
      <p:graphicFrame>
        <p:nvGraphicFramePr>
          <p:cNvPr id="471061" name="Group 1045">
            <a:extLst>
              <a:ext uri="{FF2B5EF4-FFF2-40B4-BE49-F238E27FC236}">
                <a16:creationId xmlns:a16="http://schemas.microsoft.com/office/drawing/2014/main" id="{B461CCA5-09D9-A210-F007-9B2FB811FAA2}"/>
              </a:ext>
            </a:extLst>
          </p:cNvPr>
          <p:cNvGraphicFramePr>
            <a:graphicFrameLocks noGrp="1"/>
          </p:cNvGraphicFramePr>
          <p:nvPr/>
        </p:nvGraphicFramePr>
        <p:xfrm>
          <a:off x="5181600" y="3276600"/>
          <a:ext cx="3276600" cy="365125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页号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p</a:t>
                      </a:r>
                    </a:p>
                  </a:txBody>
                  <a:tcPr marT="45581" marB="4558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位移量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w</a:t>
                      </a:r>
                    </a:p>
                  </a:txBody>
                  <a:tcPr marT="45581" marB="455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1063" name="Group 1047">
            <a:extLst>
              <a:ext uri="{FF2B5EF4-FFF2-40B4-BE49-F238E27FC236}">
                <a16:creationId xmlns:a16="http://schemas.microsoft.com/office/drawing/2014/main" id="{FD0713BC-EBBE-C940-FE08-005BD298AE25}"/>
              </a:ext>
            </a:extLst>
          </p:cNvPr>
          <p:cNvGraphicFramePr>
            <a:graphicFrameLocks noGrp="1"/>
          </p:cNvGraphicFramePr>
          <p:nvPr/>
        </p:nvGraphicFramePr>
        <p:xfrm>
          <a:off x="3429000" y="4953000"/>
          <a:ext cx="3657600" cy="365125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块号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b</a:t>
                      </a:r>
                    </a:p>
                  </a:txBody>
                  <a:tcPr marT="45581" marB="4558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块内位移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d</a:t>
                      </a:r>
                    </a:p>
                  </a:txBody>
                  <a:tcPr marT="45581" marB="455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308" name="AutoShape 1048">
            <a:hlinkClick r:id="rId2" action="ppaction://hlinksldjump"/>
            <a:extLst>
              <a:ext uri="{FF2B5EF4-FFF2-40B4-BE49-F238E27FC236}">
                <a16:creationId xmlns:a16="http://schemas.microsoft.com/office/drawing/2014/main" id="{5E0E2E9D-B1B4-757E-3328-8A936FC40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6172200"/>
            <a:ext cx="685800" cy="457200"/>
          </a:xfrm>
          <a:prstGeom prst="irregularSeal1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400" b="0">
                <a:solidFill>
                  <a:schemeClr val="bg1"/>
                </a:solidFill>
                <a:ea typeface="宋体" panose="02010600030101010101" pitchFamily="2" charset="-122"/>
              </a:rPr>
              <a:t>返回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026">
            <a:extLst>
              <a:ext uri="{FF2B5EF4-FFF2-40B4-BE49-F238E27FC236}">
                <a16:creationId xmlns:a16="http://schemas.microsoft.com/office/drawing/2014/main" id="{93B60B39-E3FA-78FF-274A-218155AB74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95400" y="838200"/>
            <a:ext cx="3962400" cy="762000"/>
          </a:xfrm>
        </p:spPr>
        <p:txBody>
          <a:bodyPr/>
          <a:lstStyle/>
          <a:p>
            <a:pPr eaLnBrk="1" hangingPunct="1"/>
            <a:r>
              <a:rPr lang="zh-CN" altLang="en-US" sz="2800" b="1">
                <a:ea typeface="幼圆" panose="02010509060101010101" pitchFamily="49" charset="-122"/>
              </a:rPr>
              <a:t>四、地址变换机构</a:t>
            </a:r>
          </a:p>
        </p:txBody>
      </p:sp>
      <p:sp>
        <p:nvSpPr>
          <p:cNvPr id="13315" name="Rectangle 1027">
            <a:extLst>
              <a:ext uri="{FF2B5EF4-FFF2-40B4-BE49-F238E27FC236}">
                <a16:creationId xmlns:a16="http://schemas.microsoft.com/office/drawing/2014/main" id="{21D594B4-CC5C-BB3D-457D-DECDD42815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752600"/>
            <a:ext cx="8153400" cy="23241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lang="zh-CN" altLang="en-US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为了能将</a:t>
            </a:r>
            <a:r>
              <a:rPr lang="zh-CN" altLang="en-US" sz="160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用户地址空间中的逻辑地址变换为内存空间中的物理地址</a:t>
            </a:r>
            <a:r>
              <a:rPr lang="zh-CN" altLang="en-US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，在系统中必须设置地址变换机构。分</a:t>
            </a:r>
            <a:r>
              <a:rPr lang="zh-CN" altLang="en-US" sz="1600">
                <a:solidFill>
                  <a:srgbClr val="FF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基本</a:t>
            </a:r>
            <a:r>
              <a:rPr lang="zh-CN" altLang="en-US" sz="160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的地址变换机构</a:t>
            </a:r>
            <a:r>
              <a:rPr lang="zh-CN" altLang="en-US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zh-CN" altLang="en-US" sz="160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具有</a:t>
            </a:r>
            <a:r>
              <a:rPr lang="zh-CN" altLang="en-US" sz="1600">
                <a:solidFill>
                  <a:srgbClr val="FF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快表</a:t>
            </a:r>
            <a:r>
              <a:rPr lang="zh-CN" altLang="en-US" sz="160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的地址变换机构</a:t>
            </a:r>
            <a:r>
              <a:rPr lang="zh-CN" altLang="en-US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zh-CN" altLang="en-US" sz="1800">
                <a:solidFill>
                  <a:srgbClr val="FF33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地址变换机构的基本任务</a:t>
            </a:r>
          </a:p>
          <a:p>
            <a:pPr eaLnBrk="1" hangingPunct="1">
              <a:lnSpc>
                <a:spcPct val="110000"/>
              </a:lnSpc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------</a:t>
            </a: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实现逻辑地址向物理地址的转换（</a:t>
            </a:r>
            <a:r>
              <a:rPr lang="zh-CN" altLang="en-US" sz="1800">
                <a:solidFill>
                  <a:srgbClr val="FF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页号</a:t>
            </a:r>
            <a:r>
              <a:rPr lang="en-US" altLang="zh-CN" sz="1800">
                <a:solidFill>
                  <a:srgbClr val="FF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zh-CN" altLang="en-US" sz="1800">
                <a:solidFill>
                  <a:srgbClr val="FF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块号、虚页</a:t>
            </a:r>
            <a:r>
              <a:rPr lang="en-US" altLang="zh-CN" sz="1800">
                <a:solidFill>
                  <a:srgbClr val="FF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zh-CN" altLang="en-US" sz="1800">
                <a:solidFill>
                  <a:srgbClr val="FF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实页</a:t>
            </a: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）。</a:t>
            </a:r>
          </a:p>
          <a:p>
            <a:pPr eaLnBrk="1" hangingPunct="1">
              <a:lnSpc>
                <a:spcPct val="110000"/>
              </a:lnSpc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地址变换借助页表来完成。</a:t>
            </a:r>
          </a:p>
          <a:p>
            <a:pPr eaLnBrk="1" hangingPunct="1">
              <a:lnSpc>
                <a:spcPct val="11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zh-CN" altLang="en-US" sz="1800">
                <a:solidFill>
                  <a:srgbClr val="FF33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分页系统的基本地址变换机构如图所示：</a:t>
            </a:r>
          </a:p>
        </p:txBody>
      </p:sp>
      <p:grpSp>
        <p:nvGrpSpPr>
          <p:cNvPr id="13316" name="Group 1086">
            <a:extLst>
              <a:ext uri="{FF2B5EF4-FFF2-40B4-BE49-F238E27FC236}">
                <a16:creationId xmlns:a16="http://schemas.microsoft.com/office/drawing/2014/main" id="{B846CD91-A4D1-02B0-E6C3-0C5B6E3EA1DE}"/>
              </a:ext>
            </a:extLst>
          </p:cNvPr>
          <p:cNvGrpSpPr>
            <a:grpSpLocks/>
          </p:cNvGrpSpPr>
          <p:nvPr/>
        </p:nvGrpSpPr>
        <p:grpSpPr bwMode="auto">
          <a:xfrm>
            <a:off x="1763713" y="3795713"/>
            <a:ext cx="5486400" cy="3048000"/>
            <a:chOff x="1104" y="2400"/>
            <a:chExt cx="3456" cy="1920"/>
          </a:xfrm>
        </p:grpSpPr>
        <p:grpSp>
          <p:nvGrpSpPr>
            <p:cNvPr id="13318" name="Group 1083">
              <a:extLst>
                <a:ext uri="{FF2B5EF4-FFF2-40B4-BE49-F238E27FC236}">
                  <a16:creationId xmlns:a16="http://schemas.microsoft.com/office/drawing/2014/main" id="{833E0218-C736-708A-15A7-1A37449D61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" y="2400"/>
              <a:ext cx="3456" cy="1920"/>
              <a:chOff x="864" y="2400"/>
              <a:chExt cx="3456" cy="1920"/>
            </a:xfrm>
          </p:grpSpPr>
          <p:grpSp>
            <p:nvGrpSpPr>
              <p:cNvPr id="13320" name="Group 1081">
                <a:extLst>
                  <a:ext uri="{FF2B5EF4-FFF2-40B4-BE49-F238E27FC236}">
                    <a16:creationId xmlns:a16="http://schemas.microsoft.com/office/drawing/2014/main" id="{F84E674A-928E-01B6-E7A2-786846F048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4" y="2400"/>
                <a:ext cx="3456" cy="1920"/>
                <a:chOff x="864" y="2400"/>
                <a:chExt cx="3456" cy="1920"/>
              </a:xfrm>
            </p:grpSpPr>
            <p:grpSp>
              <p:nvGrpSpPr>
                <p:cNvPr id="13326" name="Group 1058">
                  <a:extLst>
                    <a:ext uri="{FF2B5EF4-FFF2-40B4-BE49-F238E27FC236}">
                      <a16:creationId xmlns:a16="http://schemas.microsoft.com/office/drawing/2014/main" id="{C1538C2D-0B56-8988-452A-3355F57C3E4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64" y="2688"/>
                  <a:ext cx="912" cy="192"/>
                  <a:chOff x="864" y="2688"/>
                  <a:chExt cx="912" cy="192"/>
                </a:xfrm>
              </p:grpSpPr>
              <p:sp>
                <p:nvSpPr>
                  <p:cNvPr id="13352" name="Rectangle 1047">
                    <a:extLst>
                      <a:ext uri="{FF2B5EF4-FFF2-40B4-BE49-F238E27FC236}">
                        <a16:creationId xmlns:a16="http://schemas.microsoft.com/office/drawing/2014/main" id="{E94741F4-3C3F-FD24-5D75-F7BCDD772BA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64" y="2688"/>
                    <a:ext cx="912" cy="19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00FF"/>
                      </a:buClr>
                      <a:buFont typeface="Wingdings" panose="05000000000000000000" pitchFamily="2" charset="2"/>
                      <a:buChar char="v"/>
                      <a:defRPr kumimoji="1" sz="2800" b="1">
                        <a:solidFill>
                          <a:schemeClr val="hlink"/>
                        </a:solidFill>
                        <a:latin typeface="Tahoma" panose="020B060403050404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kumimoji="1" sz="24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kumimoji="1" sz="24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kumimoji="1" sz="24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kumimoji="1" sz="24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kumimoji="1" sz="24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kumimoji="1" sz="24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kumimoji="1" sz="24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kumimoji="1" sz="24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zh-CN" altLang="en-US" sz="1400" b="0">
                        <a:solidFill>
                          <a:schemeClr val="tx1"/>
                        </a:solidFill>
                        <a:ea typeface="宋体" panose="02010600030101010101" pitchFamily="2" charset="-122"/>
                      </a:rPr>
                      <a:t>页表始址  页表长度</a:t>
                    </a:r>
                  </a:p>
                </p:txBody>
              </p:sp>
              <p:sp>
                <p:nvSpPr>
                  <p:cNvPr id="13353" name="Line 1048">
                    <a:extLst>
                      <a:ext uri="{FF2B5EF4-FFF2-40B4-BE49-F238E27FC236}">
                        <a16:creationId xmlns:a16="http://schemas.microsoft.com/office/drawing/2014/main" id="{A2239FB7-A6CE-6DD7-5814-5B3E4D93E80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2688"/>
                    <a:ext cx="0" cy="19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3327" name="Rectangle 1049">
                  <a:extLst>
                    <a:ext uri="{FF2B5EF4-FFF2-40B4-BE49-F238E27FC236}">
                      <a16:creationId xmlns:a16="http://schemas.microsoft.com/office/drawing/2014/main" id="{07F9C79E-8E91-4DBA-DB03-D2E483B6EF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12" y="3168"/>
                  <a:ext cx="1104" cy="91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00FF"/>
                    </a:buClr>
                    <a:buFont typeface="Wingdings" panose="05000000000000000000" pitchFamily="2" charset="2"/>
                    <a:buChar char="v"/>
                    <a:defRPr kumimoji="1" sz="2800" b="1">
                      <a:solidFill>
                        <a:schemeClr val="hlink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b="0">
                      <a:solidFill>
                        <a:schemeClr val="tx1"/>
                      </a:solidFill>
                      <a:ea typeface="宋体" panose="02010600030101010101" pitchFamily="2" charset="-122"/>
                    </a:rPr>
                    <a:t>1</a:t>
                  </a:r>
                </a:p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200" b="0">
                    <a:solidFill>
                      <a:schemeClr val="tx1"/>
                    </a:solidFill>
                    <a:ea typeface="宋体" panose="02010600030101010101" pitchFamily="2" charset="-122"/>
                  </a:endParaRPr>
                </a:p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200" b="0">
                    <a:solidFill>
                      <a:schemeClr val="tx1"/>
                    </a:solidFill>
                    <a:ea typeface="宋体" panose="02010600030101010101" pitchFamily="2" charset="-122"/>
                  </a:endParaRPr>
                </a:p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200" b="0">
                    <a:solidFill>
                      <a:schemeClr val="tx1"/>
                    </a:solidFill>
                    <a:ea typeface="宋体" panose="02010600030101010101" pitchFamily="2" charset="-122"/>
                  </a:endParaRPr>
                </a:p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200" b="0">
                    <a:solidFill>
                      <a:schemeClr val="tx1"/>
                    </a:solidFill>
                    <a:ea typeface="宋体" panose="02010600030101010101" pitchFamily="2" charset="-122"/>
                  </a:endParaRPr>
                </a:p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b="0">
                      <a:solidFill>
                        <a:schemeClr val="tx1"/>
                      </a:solidFill>
                      <a:ea typeface="宋体" panose="02010600030101010101" pitchFamily="2" charset="-122"/>
                    </a:rPr>
                    <a:t>B</a:t>
                  </a:r>
                </a:p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200" b="0">
                    <a:solidFill>
                      <a:schemeClr val="tx1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328" name="Text Box 1054">
                  <a:extLst>
                    <a:ext uri="{FF2B5EF4-FFF2-40B4-BE49-F238E27FC236}">
                      <a16:creationId xmlns:a16="http://schemas.microsoft.com/office/drawing/2014/main" id="{A929E239-DB47-5717-D53E-A9544C32866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60" y="2496"/>
                  <a:ext cx="720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00FF"/>
                    </a:buClr>
                    <a:buFont typeface="Wingdings" panose="05000000000000000000" pitchFamily="2" charset="2"/>
                    <a:buChar char="v"/>
                    <a:defRPr kumimoji="1" sz="2800" b="1">
                      <a:solidFill>
                        <a:schemeClr val="hlink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zh-CN" altLang="en-US" sz="1400" b="0">
                      <a:solidFill>
                        <a:schemeClr val="tx1"/>
                      </a:solidFill>
                      <a:ea typeface="宋体" panose="02010600030101010101" pitchFamily="2" charset="-122"/>
                    </a:rPr>
                    <a:t>页表寄存器</a:t>
                  </a:r>
                </a:p>
              </p:txBody>
            </p:sp>
            <p:sp>
              <p:nvSpPr>
                <p:cNvPr id="13329" name="Text Box 1055">
                  <a:extLst>
                    <a:ext uri="{FF2B5EF4-FFF2-40B4-BE49-F238E27FC236}">
                      <a16:creationId xmlns:a16="http://schemas.microsoft.com/office/drawing/2014/main" id="{F73077BC-8934-F168-4564-59FE1561B4E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72" y="3168"/>
                  <a:ext cx="192" cy="79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00FF"/>
                    </a:buClr>
                    <a:buFont typeface="Wingdings" panose="05000000000000000000" pitchFamily="2" charset="2"/>
                    <a:buChar char="v"/>
                    <a:defRPr kumimoji="1" sz="2800" b="1">
                      <a:solidFill>
                        <a:schemeClr val="hlink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1400" b="0">
                      <a:solidFill>
                        <a:schemeClr val="tx1"/>
                      </a:solidFill>
                      <a:ea typeface="宋体" panose="02010600030101010101" pitchFamily="2" charset="-122"/>
                    </a:rPr>
                    <a:t>0</a:t>
                  </a:r>
                </a:p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1400" b="0">
                      <a:solidFill>
                        <a:schemeClr val="tx1"/>
                      </a:solidFill>
                      <a:ea typeface="宋体" panose="02010600030101010101" pitchFamily="2" charset="-122"/>
                    </a:rPr>
                    <a:t>1</a:t>
                  </a:r>
                </a:p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1400" b="0">
                      <a:solidFill>
                        <a:schemeClr val="tx1"/>
                      </a:solidFill>
                      <a:ea typeface="宋体" panose="02010600030101010101" pitchFamily="2" charset="-122"/>
                    </a:rPr>
                    <a:t>2</a:t>
                  </a:r>
                </a:p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1400" b="0">
                      <a:solidFill>
                        <a:schemeClr val="tx1"/>
                      </a:solidFill>
                      <a:ea typeface="宋体" panose="02010600030101010101" pitchFamily="2" charset="-122"/>
                    </a:rPr>
                    <a:t>3</a:t>
                  </a:r>
                </a:p>
              </p:txBody>
            </p:sp>
            <p:sp>
              <p:nvSpPr>
                <p:cNvPr id="13330" name="Text Box 1056">
                  <a:extLst>
                    <a:ext uri="{FF2B5EF4-FFF2-40B4-BE49-F238E27FC236}">
                      <a16:creationId xmlns:a16="http://schemas.microsoft.com/office/drawing/2014/main" id="{E93034F3-2749-B36B-AF09-C20E6AB237A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24" y="2976"/>
                  <a:ext cx="1152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00FF"/>
                    </a:buClr>
                    <a:buFont typeface="Wingdings" panose="05000000000000000000" pitchFamily="2" charset="2"/>
                    <a:buChar char="v"/>
                    <a:defRPr kumimoji="1" sz="2800" b="1">
                      <a:solidFill>
                        <a:schemeClr val="hlink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zh-CN" altLang="en-US" sz="1400" b="0">
                      <a:solidFill>
                        <a:schemeClr val="tx1"/>
                      </a:solidFill>
                      <a:ea typeface="宋体" panose="02010600030101010101" pitchFamily="2" charset="-122"/>
                    </a:rPr>
                    <a:t>页号              块号</a:t>
                  </a:r>
                </a:p>
              </p:txBody>
            </p:sp>
            <p:sp>
              <p:nvSpPr>
                <p:cNvPr id="13331" name="Text Box 1057">
                  <a:extLst>
                    <a:ext uri="{FF2B5EF4-FFF2-40B4-BE49-F238E27FC236}">
                      <a16:creationId xmlns:a16="http://schemas.microsoft.com/office/drawing/2014/main" id="{71F950B7-DEFB-4ED9-F519-1B105684A93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08" y="2448"/>
                  <a:ext cx="624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00FF"/>
                    </a:buClr>
                    <a:buFont typeface="Wingdings" panose="05000000000000000000" pitchFamily="2" charset="2"/>
                    <a:buChar char="v"/>
                    <a:defRPr kumimoji="1" sz="2800" b="1">
                      <a:solidFill>
                        <a:schemeClr val="hlink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zh-CN" altLang="en-US" sz="1400" b="0">
                      <a:solidFill>
                        <a:schemeClr val="tx1"/>
                      </a:solidFill>
                      <a:ea typeface="宋体" panose="02010600030101010101" pitchFamily="2" charset="-122"/>
                    </a:rPr>
                    <a:t>逻辑地址</a:t>
                  </a:r>
                </a:p>
              </p:txBody>
            </p:sp>
            <p:grpSp>
              <p:nvGrpSpPr>
                <p:cNvPr id="13332" name="Group 1059">
                  <a:extLst>
                    <a:ext uri="{FF2B5EF4-FFF2-40B4-BE49-F238E27FC236}">
                      <a16:creationId xmlns:a16="http://schemas.microsoft.com/office/drawing/2014/main" id="{54EE896B-B348-AF0E-D695-68EA093808A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360" y="2688"/>
                  <a:ext cx="912" cy="192"/>
                  <a:chOff x="864" y="2688"/>
                  <a:chExt cx="912" cy="192"/>
                </a:xfrm>
              </p:grpSpPr>
              <p:sp>
                <p:nvSpPr>
                  <p:cNvPr id="13350" name="Rectangle 1060">
                    <a:extLst>
                      <a:ext uri="{FF2B5EF4-FFF2-40B4-BE49-F238E27FC236}">
                        <a16:creationId xmlns:a16="http://schemas.microsoft.com/office/drawing/2014/main" id="{8B57D19E-A6DB-DB50-73C1-80E836C4ADA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64" y="2688"/>
                    <a:ext cx="912" cy="19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00FF"/>
                      </a:buClr>
                      <a:buFont typeface="Wingdings" panose="05000000000000000000" pitchFamily="2" charset="2"/>
                      <a:buChar char="v"/>
                      <a:defRPr kumimoji="1" sz="2800" b="1">
                        <a:solidFill>
                          <a:schemeClr val="hlink"/>
                        </a:solidFill>
                        <a:latin typeface="Tahoma" panose="020B060403050404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kumimoji="1" sz="24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kumimoji="1" sz="24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kumimoji="1" sz="24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kumimoji="1" sz="24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kumimoji="1" sz="24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kumimoji="1" sz="24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kumimoji="1" sz="24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kumimoji="1" sz="24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zh-CN" altLang="en-US" sz="1400" b="0">
                        <a:solidFill>
                          <a:schemeClr val="tx1"/>
                        </a:solidFill>
                        <a:ea typeface="宋体" panose="02010600030101010101" pitchFamily="2" charset="-122"/>
                      </a:rPr>
                      <a:t>页号     页内地址</a:t>
                    </a:r>
                  </a:p>
                </p:txBody>
              </p:sp>
              <p:sp>
                <p:nvSpPr>
                  <p:cNvPr id="13351" name="Line 1061">
                    <a:extLst>
                      <a:ext uri="{FF2B5EF4-FFF2-40B4-BE49-F238E27FC236}">
                        <a16:creationId xmlns:a16="http://schemas.microsoft.com/office/drawing/2014/main" id="{1340D1E8-DCDF-370F-BFF9-74C44E61A19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2688"/>
                    <a:ext cx="0" cy="19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3333" name="Oval 1062">
                  <a:extLst>
                    <a:ext uri="{FF2B5EF4-FFF2-40B4-BE49-F238E27FC236}">
                      <a16:creationId xmlns:a16="http://schemas.microsoft.com/office/drawing/2014/main" id="{EB12BE40-D441-BCEC-04F9-C62D7996C4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2736"/>
                  <a:ext cx="192" cy="96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00FF"/>
                    </a:buClr>
                    <a:buFont typeface="Wingdings" panose="05000000000000000000" pitchFamily="2" charset="2"/>
                    <a:buChar char="v"/>
                    <a:defRPr kumimoji="1" sz="2800" b="1">
                      <a:solidFill>
                        <a:schemeClr val="hlink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b="0">
                      <a:solidFill>
                        <a:schemeClr val="tx1"/>
                      </a:solidFill>
                      <a:ea typeface="宋体" panose="02010600030101010101" pitchFamily="2" charset="-122"/>
                    </a:rPr>
                    <a:t>&gt;</a:t>
                  </a:r>
                </a:p>
              </p:txBody>
            </p:sp>
            <p:sp>
              <p:nvSpPr>
                <p:cNvPr id="13334" name="Text Box 1063">
                  <a:extLst>
                    <a:ext uri="{FF2B5EF4-FFF2-40B4-BE49-F238E27FC236}">
                      <a16:creationId xmlns:a16="http://schemas.microsoft.com/office/drawing/2014/main" id="{B5250983-AEDC-7C28-A445-8B66646EC15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04" y="2400"/>
                  <a:ext cx="624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00FF"/>
                    </a:buClr>
                    <a:buFont typeface="Wingdings" panose="05000000000000000000" pitchFamily="2" charset="2"/>
                    <a:buChar char="v"/>
                    <a:defRPr kumimoji="1" sz="2800" b="1">
                      <a:solidFill>
                        <a:schemeClr val="hlink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zh-CN" altLang="en-US" sz="1400" b="0">
                      <a:solidFill>
                        <a:schemeClr val="tx1"/>
                      </a:solidFill>
                      <a:ea typeface="宋体" panose="02010600030101010101" pitchFamily="2" charset="-122"/>
                    </a:rPr>
                    <a:t>越界中断</a:t>
                  </a:r>
                </a:p>
              </p:txBody>
            </p:sp>
            <p:sp>
              <p:nvSpPr>
                <p:cNvPr id="13335" name="Text Box 1064">
                  <a:extLst>
                    <a:ext uri="{FF2B5EF4-FFF2-40B4-BE49-F238E27FC236}">
                      <a16:creationId xmlns:a16="http://schemas.microsoft.com/office/drawing/2014/main" id="{3DE6F123-EB14-BED3-2FDA-8D330DF6397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00" y="4128"/>
                  <a:ext cx="672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00FF"/>
                    </a:buClr>
                    <a:buFont typeface="Wingdings" panose="05000000000000000000" pitchFamily="2" charset="2"/>
                    <a:buChar char="v"/>
                    <a:defRPr kumimoji="1" sz="2800" b="1">
                      <a:solidFill>
                        <a:schemeClr val="hlink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zh-CN" altLang="en-US" sz="1400" b="0">
                      <a:solidFill>
                        <a:schemeClr val="tx1"/>
                      </a:solidFill>
                      <a:ea typeface="宋体" panose="02010600030101010101" pitchFamily="2" charset="-122"/>
                    </a:rPr>
                    <a:t>页表</a:t>
                  </a:r>
                </a:p>
              </p:txBody>
            </p:sp>
            <p:grpSp>
              <p:nvGrpSpPr>
                <p:cNvPr id="13336" name="Group 1080">
                  <a:extLst>
                    <a:ext uri="{FF2B5EF4-FFF2-40B4-BE49-F238E27FC236}">
                      <a16:creationId xmlns:a16="http://schemas.microsoft.com/office/drawing/2014/main" id="{7786A826-49AB-726C-1A88-5478422AEBD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408" y="3744"/>
                  <a:ext cx="912" cy="192"/>
                  <a:chOff x="3408" y="3744"/>
                  <a:chExt cx="912" cy="192"/>
                </a:xfrm>
              </p:grpSpPr>
              <p:sp>
                <p:nvSpPr>
                  <p:cNvPr id="13348" name="Rectangle 1066">
                    <a:extLst>
                      <a:ext uri="{FF2B5EF4-FFF2-40B4-BE49-F238E27FC236}">
                        <a16:creationId xmlns:a16="http://schemas.microsoft.com/office/drawing/2014/main" id="{F0E7940E-6677-FE91-46FD-03863A6E3B7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408" y="3744"/>
                    <a:ext cx="912" cy="19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00FF"/>
                      </a:buClr>
                      <a:buFont typeface="Wingdings" panose="05000000000000000000" pitchFamily="2" charset="2"/>
                      <a:buChar char="v"/>
                      <a:defRPr kumimoji="1" sz="2800" b="1">
                        <a:solidFill>
                          <a:schemeClr val="hlink"/>
                        </a:solidFill>
                        <a:latin typeface="Tahoma" panose="020B060403050404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kumimoji="1" sz="24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kumimoji="1" sz="24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kumimoji="1" sz="24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kumimoji="1" sz="24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kumimoji="1" sz="24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kumimoji="1" sz="24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kumimoji="1" sz="24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kumimoji="1" sz="2400" b="1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zh-CN" altLang="en-US" sz="1400" b="0">
                        <a:solidFill>
                          <a:schemeClr val="tx1"/>
                        </a:solidFill>
                        <a:ea typeface="宋体" panose="02010600030101010101" pitchFamily="2" charset="-122"/>
                      </a:rPr>
                      <a:t>块号      块内地址</a:t>
                    </a:r>
                  </a:p>
                </p:txBody>
              </p:sp>
              <p:sp>
                <p:nvSpPr>
                  <p:cNvPr id="13349" name="Line 1067">
                    <a:extLst>
                      <a:ext uri="{FF2B5EF4-FFF2-40B4-BE49-F238E27FC236}">
                        <a16:creationId xmlns:a16="http://schemas.microsoft.com/office/drawing/2014/main" id="{19A6496A-09E4-ADA9-55A8-974E46440AD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744" y="3744"/>
                    <a:ext cx="0" cy="19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3337" name="Text Box 1068">
                  <a:extLst>
                    <a:ext uri="{FF2B5EF4-FFF2-40B4-BE49-F238E27FC236}">
                      <a16:creationId xmlns:a16="http://schemas.microsoft.com/office/drawing/2014/main" id="{1946A9D0-F0FB-D92E-54FF-A5B1EA7CFAF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04" y="3936"/>
                  <a:ext cx="624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00FF"/>
                    </a:buClr>
                    <a:buFont typeface="Wingdings" panose="05000000000000000000" pitchFamily="2" charset="2"/>
                    <a:buChar char="v"/>
                    <a:defRPr kumimoji="1" sz="2800" b="1">
                      <a:solidFill>
                        <a:schemeClr val="hlink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zh-CN" altLang="en-US" sz="1400" b="0">
                      <a:solidFill>
                        <a:schemeClr val="tx1"/>
                      </a:solidFill>
                      <a:ea typeface="宋体" panose="02010600030101010101" pitchFamily="2" charset="-122"/>
                    </a:rPr>
                    <a:t>物理地址</a:t>
                  </a:r>
                </a:p>
              </p:txBody>
            </p:sp>
            <p:sp>
              <p:nvSpPr>
                <p:cNvPr id="13338" name="Oval 1069">
                  <a:extLst>
                    <a:ext uri="{FF2B5EF4-FFF2-40B4-BE49-F238E27FC236}">
                      <a16:creationId xmlns:a16="http://schemas.microsoft.com/office/drawing/2014/main" id="{4708C951-86F4-E92C-63AD-68F48CEECD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3072"/>
                  <a:ext cx="192" cy="96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00FF"/>
                    </a:buClr>
                    <a:buFont typeface="Wingdings" panose="05000000000000000000" pitchFamily="2" charset="2"/>
                    <a:buChar char="v"/>
                    <a:defRPr kumimoji="1" sz="2800" b="1">
                      <a:solidFill>
                        <a:schemeClr val="hlink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b="0">
                      <a:solidFill>
                        <a:schemeClr val="tx1"/>
                      </a:solidFill>
                      <a:ea typeface="宋体" panose="02010600030101010101" pitchFamily="2" charset="-122"/>
                    </a:rPr>
                    <a:t>+</a:t>
                  </a:r>
                </a:p>
              </p:txBody>
            </p:sp>
            <p:sp>
              <p:nvSpPr>
                <p:cNvPr id="13339" name="Line 1070">
                  <a:extLst>
                    <a:ext uri="{FF2B5EF4-FFF2-40B4-BE49-F238E27FC236}">
                      <a16:creationId xmlns:a16="http://schemas.microsoft.com/office/drawing/2014/main" id="{7E31ABAE-B527-E98F-E3CB-C75826AA3C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56" y="288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3340" name="Line 1071">
                  <a:extLst>
                    <a:ext uri="{FF2B5EF4-FFF2-40B4-BE49-F238E27FC236}">
                      <a16:creationId xmlns:a16="http://schemas.microsoft.com/office/drawing/2014/main" id="{AE4B97CE-C84C-7FCF-6682-8E98C0E31F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52" y="28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3341" name="Line 1073">
                  <a:extLst>
                    <a:ext uri="{FF2B5EF4-FFF2-40B4-BE49-F238E27FC236}">
                      <a16:creationId xmlns:a16="http://schemas.microsoft.com/office/drawing/2014/main" id="{6F56D527-2B9A-EFF4-9412-EB15C64B30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56" y="2976"/>
                  <a:ext cx="24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3342" name="Line 1074">
                  <a:extLst>
                    <a:ext uri="{FF2B5EF4-FFF2-40B4-BE49-F238E27FC236}">
                      <a16:creationId xmlns:a16="http://schemas.microsoft.com/office/drawing/2014/main" id="{9502A6D7-6A6D-81BF-B3D6-D9F89406F7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592" y="2832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3343" name="Line 1075">
                  <a:extLst>
                    <a:ext uri="{FF2B5EF4-FFF2-40B4-BE49-F238E27FC236}">
                      <a16:creationId xmlns:a16="http://schemas.microsoft.com/office/drawing/2014/main" id="{DAF60825-1213-60A6-7E23-012E1B71C2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592" y="2544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3344" name="Line 1076">
                  <a:extLst>
                    <a:ext uri="{FF2B5EF4-FFF2-40B4-BE49-F238E27FC236}">
                      <a16:creationId xmlns:a16="http://schemas.microsoft.com/office/drawing/2014/main" id="{05FDA7B5-6FC4-FD1B-781F-0ECE2FEF9B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56" y="3168"/>
                  <a:ext cx="0" cy="6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3345" name="Line 1077">
                  <a:extLst>
                    <a:ext uri="{FF2B5EF4-FFF2-40B4-BE49-F238E27FC236}">
                      <a16:creationId xmlns:a16="http://schemas.microsoft.com/office/drawing/2014/main" id="{6A1D1E0D-61A7-3925-D475-F2CB8A60EC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56" y="3840"/>
                  <a:ext cx="105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3346" name="Line 1078">
                  <a:extLst>
                    <a:ext uri="{FF2B5EF4-FFF2-40B4-BE49-F238E27FC236}">
                      <a16:creationId xmlns:a16="http://schemas.microsoft.com/office/drawing/2014/main" id="{13B86FD4-A118-C7E4-0954-CE0F15715E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6" y="3840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3347" name="Line 1079">
                  <a:extLst>
                    <a:ext uri="{FF2B5EF4-FFF2-40B4-BE49-F238E27FC236}">
                      <a16:creationId xmlns:a16="http://schemas.microsoft.com/office/drawing/2014/main" id="{4AED967A-5BBA-EC36-D6ED-08B3EC5101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84" y="2880"/>
                  <a:ext cx="0" cy="86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321" name="Group 1082">
                <a:extLst>
                  <a:ext uri="{FF2B5EF4-FFF2-40B4-BE49-F238E27FC236}">
                    <a16:creationId xmlns:a16="http://schemas.microsoft.com/office/drawing/2014/main" id="{0D5F3719-6FFC-EE2A-339C-521D958CFA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12" y="3360"/>
                <a:ext cx="1104" cy="576"/>
                <a:chOff x="2112" y="3360"/>
                <a:chExt cx="1104" cy="576"/>
              </a:xfrm>
            </p:grpSpPr>
            <p:sp>
              <p:nvSpPr>
                <p:cNvPr id="13322" name="Line 1050">
                  <a:extLst>
                    <a:ext uri="{FF2B5EF4-FFF2-40B4-BE49-F238E27FC236}">
                      <a16:creationId xmlns:a16="http://schemas.microsoft.com/office/drawing/2014/main" id="{615F0BE7-4715-35B1-41C3-C04B8019C4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2" y="3360"/>
                  <a:ext cx="110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3323" name="Line 1051">
                  <a:extLst>
                    <a:ext uri="{FF2B5EF4-FFF2-40B4-BE49-F238E27FC236}">
                      <a16:creationId xmlns:a16="http://schemas.microsoft.com/office/drawing/2014/main" id="{062CE239-D9C3-B13E-63C7-38E3B7F08F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2" y="3552"/>
                  <a:ext cx="110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3324" name="Line 1052">
                  <a:extLst>
                    <a:ext uri="{FF2B5EF4-FFF2-40B4-BE49-F238E27FC236}">
                      <a16:creationId xmlns:a16="http://schemas.microsoft.com/office/drawing/2014/main" id="{43C4B541-7C1B-ED3F-51ED-52C01AB2FC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2" y="3744"/>
                  <a:ext cx="110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3325" name="Line 1053">
                  <a:extLst>
                    <a:ext uri="{FF2B5EF4-FFF2-40B4-BE49-F238E27FC236}">
                      <a16:creationId xmlns:a16="http://schemas.microsoft.com/office/drawing/2014/main" id="{0ADC5B6B-30F2-CF7E-56D6-B740701A0F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2" y="3936"/>
                  <a:ext cx="110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3319" name="Line 1085">
              <a:extLst>
                <a:ext uri="{FF2B5EF4-FFF2-40B4-BE49-F238E27FC236}">
                  <a16:creationId xmlns:a16="http://schemas.microsoft.com/office/drawing/2014/main" id="{343FCCBF-8DA9-B766-AC3A-2D17C15929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784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3317" name="Text Box 1087">
            <a:extLst>
              <a:ext uri="{FF2B5EF4-FFF2-40B4-BE49-F238E27FC236}">
                <a16:creationId xmlns:a16="http://schemas.microsoft.com/office/drawing/2014/main" id="{D12CCFA5-A307-61F7-1296-8EE5B3BB31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5013325"/>
            <a:ext cx="10080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>
                <a:solidFill>
                  <a:srgbClr val="FF33CC"/>
                </a:solidFill>
                <a:ea typeface="幼圆" panose="02010509060101010101" pitchFamily="49" charset="-122"/>
              </a:rPr>
              <a:t>直接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026">
            <a:extLst>
              <a:ext uri="{FF2B5EF4-FFF2-40B4-BE49-F238E27FC236}">
                <a16:creationId xmlns:a16="http://schemas.microsoft.com/office/drawing/2014/main" id="{2626969D-107B-4D8A-FB45-8DCD2071AE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457200"/>
            <a:ext cx="7793038" cy="617538"/>
          </a:xfrm>
        </p:spPr>
        <p:txBody>
          <a:bodyPr/>
          <a:lstStyle/>
          <a:p>
            <a:pPr eaLnBrk="1" hangingPunct="1"/>
            <a:r>
              <a:rPr lang="zh-CN" altLang="en-US" sz="2800" b="1">
                <a:ea typeface="幼圆" panose="02010509060101010101" pitchFamily="49" charset="-122"/>
              </a:rPr>
              <a:t>四、地址变换例题</a:t>
            </a:r>
          </a:p>
        </p:txBody>
      </p:sp>
      <p:sp>
        <p:nvSpPr>
          <p:cNvPr id="14339" name="Rectangle 1027">
            <a:extLst>
              <a:ext uri="{FF2B5EF4-FFF2-40B4-BE49-F238E27FC236}">
                <a16:creationId xmlns:a16="http://schemas.microsoft.com/office/drawing/2014/main" id="{FDEBB94F-4E29-973D-E6AC-DD6ED18FCE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990600"/>
            <a:ext cx="7486650" cy="53340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   若在一分页存储管理系统中，某作业的页表如表所示，已知页面大小为</a:t>
            </a:r>
            <a:r>
              <a:rPr lang="en-US" altLang="zh-CN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1024B</a:t>
            </a:r>
            <a:r>
              <a:rPr lang="zh-CN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，试将逻辑地址</a:t>
            </a:r>
            <a:r>
              <a:rPr lang="en-US" altLang="zh-CN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1011</a:t>
            </a:r>
            <a:r>
              <a:rPr lang="zh-CN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2148</a:t>
            </a:r>
            <a:r>
              <a:rPr lang="zh-CN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5012</a:t>
            </a:r>
            <a:r>
              <a:rPr lang="zh-CN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转化为相应的物理地址？画出其地址转换图。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1800">
                <a:latin typeface="幼圆" panose="02010509060101010101" pitchFamily="49" charset="-122"/>
                <a:ea typeface="幼圆" panose="02010509060101010101" pitchFamily="49" charset="-122"/>
              </a:rPr>
              <a:t>解：</a:t>
            </a: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由题知</a:t>
            </a: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逻辑地址为：</a:t>
            </a:r>
            <a:endParaRPr lang="zh-CN" altLang="en-US" sz="1800" b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物理地址为：</a:t>
            </a:r>
            <a:endParaRPr lang="zh-CN" altLang="en-US" sz="1800" b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（</a:t>
            </a:r>
            <a:r>
              <a:rPr lang="en-US" altLang="zh-CN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1</a:t>
            </a: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）逻辑地址</a:t>
            </a:r>
            <a:r>
              <a:rPr lang="en-US" altLang="zh-CN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1011</a:t>
            </a: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（十进制）的二进制表示为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</a:t>
            </a:r>
            <a:r>
              <a:rPr lang="en-US" altLang="zh-CN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00  11</a:t>
            </a:r>
            <a:r>
              <a:rPr lang="en-US" altLang="zh-CN" sz="180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1111</a:t>
            </a:r>
            <a:r>
              <a:rPr lang="en-US" altLang="zh-CN" sz="1800">
                <a:solidFill>
                  <a:srgbClr val="FF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0011</a:t>
            </a: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3F3</a:t>
            </a: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由此可知逻辑地址</a:t>
            </a:r>
            <a:r>
              <a:rPr lang="en-US" altLang="zh-CN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1011</a:t>
            </a: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的页号</a:t>
            </a:r>
            <a:r>
              <a:rPr lang="en-US" altLang="zh-CN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，查页表知该页放在第</a:t>
            </a:r>
            <a:r>
              <a:rPr lang="en-US" altLang="zh-CN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物理块中，其物理地址的二进制表示为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</a:t>
            </a:r>
            <a:r>
              <a:rPr lang="en-US" altLang="zh-CN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010  11</a:t>
            </a:r>
            <a:r>
              <a:rPr lang="en-US" altLang="zh-CN" sz="180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1111</a:t>
            </a:r>
            <a:r>
              <a:rPr lang="en-US" altLang="zh-CN" sz="1800">
                <a:solidFill>
                  <a:srgbClr val="FF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0011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所以逻辑地址</a:t>
            </a:r>
            <a:r>
              <a:rPr lang="en-US" altLang="zh-CN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1011</a:t>
            </a: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对应的物理地址为</a:t>
            </a:r>
            <a:r>
              <a:rPr lang="en-US" altLang="zh-CN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0BF3H.</a:t>
            </a: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其地址转换图如后所示。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（</a:t>
            </a:r>
            <a:r>
              <a:rPr lang="en-US" altLang="zh-CN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）略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（</a:t>
            </a:r>
            <a:r>
              <a:rPr lang="en-US" altLang="zh-CN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）逻辑地址</a:t>
            </a:r>
            <a:r>
              <a:rPr lang="en-US" altLang="zh-CN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5012</a:t>
            </a: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（十进制）的二进制表示为：</a:t>
            </a:r>
            <a:r>
              <a:rPr lang="en-US" altLang="zh-CN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100 1110010100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可知该逻辑地址的</a:t>
            </a:r>
            <a:r>
              <a:rPr lang="zh-CN" altLang="en-US" sz="180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页号为</a:t>
            </a:r>
            <a:r>
              <a:rPr lang="en-US" altLang="zh-CN" sz="180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，查页表知该页为不合法页，则产生越界中断。</a:t>
            </a:r>
          </a:p>
        </p:txBody>
      </p:sp>
      <p:graphicFrame>
        <p:nvGraphicFramePr>
          <p:cNvPr id="475184" name="Group 1072">
            <a:extLst>
              <a:ext uri="{FF2B5EF4-FFF2-40B4-BE49-F238E27FC236}">
                <a16:creationId xmlns:a16="http://schemas.microsoft.com/office/drawing/2014/main" id="{06C02461-7465-2305-702D-0196740744FD}"/>
              </a:ext>
            </a:extLst>
          </p:cNvPr>
          <p:cNvGraphicFramePr>
            <a:graphicFrameLocks noGrp="1"/>
          </p:cNvGraphicFramePr>
          <p:nvPr/>
        </p:nvGraphicFramePr>
        <p:xfrm>
          <a:off x="3429000" y="2290763"/>
          <a:ext cx="3352800" cy="33496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9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页号</a:t>
                      </a: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2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位</a:t>
                      </a:r>
                    </a:p>
                  </a:txBody>
                  <a:tcPr marT="45645" marB="456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位移量</a:t>
                      </a: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w10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位</a:t>
                      </a:r>
                    </a:p>
                  </a:txBody>
                  <a:tcPr marT="45645" marB="456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183" name="Group 1071">
            <a:extLst>
              <a:ext uri="{FF2B5EF4-FFF2-40B4-BE49-F238E27FC236}">
                <a16:creationId xmlns:a16="http://schemas.microsoft.com/office/drawing/2014/main" id="{685C46D5-D62D-815A-43A7-E1B762D21154}"/>
              </a:ext>
            </a:extLst>
          </p:cNvPr>
          <p:cNvGraphicFramePr>
            <a:graphicFrameLocks noGrp="1"/>
          </p:cNvGraphicFramePr>
          <p:nvPr/>
        </p:nvGraphicFramePr>
        <p:xfrm>
          <a:off x="2895600" y="2752725"/>
          <a:ext cx="3657600" cy="334963"/>
        </p:xfrm>
        <a:graphic>
          <a:graphicData uri="http://schemas.openxmlformats.org/drawingml/2006/table">
            <a:tbl>
              <a:tblPr/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块号</a:t>
                      </a: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b3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位</a:t>
                      </a:r>
                    </a:p>
                  </a:txBody>
                  <a:tcPr marT="45646" marB="4564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块内位移</a:t>
                      </a: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d10</a:t>
                      </a: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位</a:t>
                      </a:r>
                    </a:p>
                  </a:txBody>
                  <a:tcPr marT="45646" marB="456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177" name="Group 1065">
            <a:extLst>
              <a:ext uri="{FF2B5EF4-FFF2-40B4-BE49-F238E27FC236}">
                <a16:creationId xmlns:a16="http://schemas.microsoft.com/office/drawing/2014/main" id="{2E50C1C4-99E5-729F-320A-E764987114AB}"/>
              </a:ext>
            </a:extLst>
          </p:cNvPr>
          <p:cNvGraphicFramePr>
            <a:graphicFrameLocks noGrp="1"/>
          </p:cNvGraphicFramePr>
          <p:nvPr/>
        </p:nvGraphicFramePr>
        <p:xfrm>
          <a:off x="8081963" y="981075"/>
          <a:ext cx="990600" cy="2103438"/>
        </p:xfrm>
        <a:graphic>
          <a:graphicData uri="http://schemas.openxmlformats.org/drawingml/2006/table">
            <a:tbl>
              <a:tblPr/>
              <a:tblGrid>
                <a:gridCol w="52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3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17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页号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块号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1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1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1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1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75185" name="Line 1073">
            <a:extLst>
              <a:ext uri="{FF2B5EF4-FFF2-40B4-BE49-F238E27FC236}">
                <a16:creationId xmlns:a16="http://schemas.microsoft.com/office/drawing/2014/main" id="{6B650361-66A1-690D-DF39-B4A172C8681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1188" y="3357563"/>
            <a:ext cx="647700" cy="6477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75187" name="Rectangle 1075">
            <a:extLst>
              <a:ext uri="{FF2B5EF4-FFF2-40B4-BE49-F238E27FC236}">
                <a16:creationId xmlns:a16="http://schemas.microsoft.com/office/drawing/2014/main" id="{AA2CEA84-69DC-423E-8B1F-3BE5224C8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4005263"/>
            <a:ext cx="720725" cy="23034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600">
                <a:solidFill>
                  <a:srgbClr val="0000CC"/>
                </a:solidFill>
                <a:ea typeface="宋体" panose="02010600030101010101" pitchFamily="2" charset="-122"/>
              </a:rPr>
              <a:t>能否利用其他方法计算页号和页内位移？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5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75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518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71">
            <a:extLst>
              <a:ext uri="{FF2B5EF4-FFF2-40B4-BE49-F238E27FC236}">
                <a16:creationId xmlns:a16="http://schemas.microsoft.com/office/drawing/2014/main" id="{2CD53A83-94EA-6D4F-F8E8-B8B0B169A8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5257800"/>
            <a:ext cx="4648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地址变换过程</a:t>
            </a:r>
          </a:p>
        </p:txBody>
      </p:sp>
      <p:sp>
        <p:nvSpPr>
          <p:cNvPr id="15363" name="Oval 56">
            <a:extLst>
              <a:ext uri="{FF2B5EF4-FFF2-40B4-BE49-F238E27FC236}">
                <a16:creationId xmlns:a16="http://schemas.microsoft.com/office/drawing/2014/main" id="{84218BF8-90E6-B7AD-F169-BB71336551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125" y="2689225"/>
            <a:ext cx="869950" cy="3905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+</a:t>
            </a:r>
          </a:p>
        </p:txBody>
      </p:sp>
      <p:sp>
        <p:nvSpPr>
          <p:cNvPr id="15364" name="Oval 62">
            <a:extLst>
              <a:ext uri="{FF2B5EF4-FFF2-40B4-BE49-F238E27FC236}">
                <a16:creationId xmlns:a16="http://schemas.microsoft.com/office/drawing/2014/main" id="{093D09E9-CDB2-E1C1-80EF-D99A5D4706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6188" y="1839913"/>
            <a:ext cx="723900" cy="39211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&lt;</a:t>
            </a:r>
          </a:p>
        </p:txBody>
      </p:sp>
      <p:sp>
        <p:nvSpPr>
          <p:cNvPr id="15365" name="Rectangle 4">
            <a:extLst>
              <a:ext uri="{FF2B5EF4-FFF2-40B4-BE49-F238E27FC236}">
                <a16:creationId xmlns:a16="http://schemas.microsoft.com/office/drawing/2014/main" id="{DAD72CE1-1EB0-937B-A90B-B321D03D7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4013" y="1774825"/>
            <a:ext cx="143827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页表长度</a:t>
            </a:r>
          </a:p>
        </p:txBody>
      </p:sp>
      <p:sp>
        <p:nvSpPr>
          <p:cNvPr id="15366" name="Rectangle 3">
            <a:extLst>
              <a:ext uri="{FF2B5EF4-FFF2-40B4-BE49-F238E27FC236}">
                <a16:creationId xmlns:a16="http://schemas.microsoft.com/office/drawing/2014/main" id="{F3C29664-361A-EF25-B6F8-754D766C3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1774825"/>
            <a:ext cx="1674813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页表始址</a:t>
            </a:r>
          </a:p>
        </p:txBody>
      </p:sp>
      <p:sp>
        <p:nvSpPr>
          <p:cNvPr id="15367" name="Line 5">
            <a:extLst>
              <a:ext uri="{FF2B5EF4-FFF2-40B4-BE49-F238E27FC236}">
                <a16:creationId xmlns:a16="http://schemas.microsoft.com/office/drawing/2014/main" id="{2DE20556-B4EB-D8B7-38CA-98453275053B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1774825"/>
            <a:ext cx="3113088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368" name="Line 6">
            <a:extLst>
              <a:ext uri="{FF2B5EF4-FFF2-40B4-BE49-F238E27FC236}">
                <a16:creationId xmlns:a16="http://schemas.microsoft.com/office/drawing/2014/main" id="{85A5E356-FCBE-5D06-5007-7140A180D11B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2165350"/>
            <a:ext cx="3113088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369" name="Line 7">
            <a:extLst>
              <a:ext uri="{FF2B5EF4-FFF2-40B4-BE49-F238E27FC236}">
                <a16:creationId xmlns:a16="http://schemas.microsoft.com/office/drawing/2014/main" id="{D66A3D2B-266F-A009-099B-C9BBBFEFFAD4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1774825"/>
            <a:ext cx="0" cy="390525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370" name="Line 8">
            <a:extLst>
              <a:ext uri="{FF2B5EF4-FFF2-40B4-BE49-F238E27FC236}">
                <a16:creationId xmlns:a16="http://schemas.microsoft.com/office/drawing/2014/main" id="{1FDB6F74-A820-0E9C-9E0D-748D636164B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4013" y="1774825"/>
            <a:ext cx="0" cy="3905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371" name="Line 9">
            <a:extLst>
              <a:ext uri="{FF2B5EF4-FFF2-40B4-BE49-F238E27FC236}">
                <a16:creationId xmlns:a16="http://schemas.microsoft.com/office/drawing/2014/main" id="{86C229F3-1609-C650-CD20-A46B78119B54}"/>
              </a:ext>
            </a:extLst>
          </p:cNvPr>
          <p:cNvSpPr>
            <a:spLocks noChangeShapeType="1"/>
          </p:cNvSpPr>
          <p:nvPr/>
        </p:nvSpPr>
        <p:spPr bwMode="auto">
          <a:xfrm>
            <a:off x="4332288" y="1774825"/>
            <a:ext cx="0" cy="390525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372" name="Rectangle 18">
            <a:extLst>
              <a:ext uri="{FF2B5EF4-FFF2-40B4-BE49-F238E27FC236}">
                <a16:creationId xmlns:a16="http://schemas.microsoft.com/office/drawing/2014/main" id="{75260B9B-A0CD-C4A5-FB71-570BFAD3F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3138" y="1774825"/>
            <a:ext cx="700087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3F3</a:t>
            </a:r>
          </a:p>
        </p:txBody>
      </p:sp>
      <p:sp>
        <p:nvSpPr>
          <p:cNvPr id="15373" name="Rectangle 19">
            <a:extLst>
              <a:ext uri="{FF2B5EF4-FFF2-40B4-BE49-F238E27FC236}">
                <a16:creationId xmlns:a16="http://schemas.microsoft.com/office/drawing/2014/main" id="{1EF5A9F7-718A-5C93-A2FE-2A5F9B3E6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3988" y="1774825"/>
            <a:ext cx="819150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0</a:t>
            </a:r>
          </a:p>
        </p:txBody>
      </p:sp>
      <p:sp>
        <p:nvSpPr>
          <p:cNvPr id="15374" name="Line 20">
            <a:extLst>
              <a:ext uri="{FF2B5EF4-FFF2-40B4-BE49-F238E27FC236}">
                <a16:creationId xmlns:a16="http://schemas.microsoft.com/office/drawing/2014/main" id="{A6952496-5274-6B8C-FD3E-977014535D78}"/>
              </a:ext>
            </a:extLst>
          </p:cNvPr>
          <p:cNvSpPr>
            <a:spLocks noChangeShapeType="1"/>
          </p:cNvSpPr>
          <p:nvPr/>
        </p:nvSpPr>
        <p:spPr bwMode="auto">
          <a:xfrm>
            <a:off x="6503988" y="1774825"/>
            <a:ext cx="1519237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375" name="Line 21">
            <a:extLst>
              <a:ext uri="{FF2B5EF4-FFF2-40B4-BE49-F238E27FC236}">
                <a16:creationId xmlns:a16="http://schemas.microsoft.com/office/drawing/2014/main" id="{932ED9B2-3094-91E6-39C5-4BE513FEEDCF}"/>
              </a:ext>
            </a:extLst>
          </p:cNvPr>
          <p:cNvSpPr>
            <a:spLocks noChangeShapeType="1"/>
          </p:cNvSpPr>
          <p:nvPr/>
        </p:nvSpPr>
        <p:spPr bwMode="auto">
          <a:xfrm>
            <a:off x="6503988" y="2165350"/>
            <a:ext cx="1519237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376" name="Line 22">
            <a:extLst>
              <a:ext uri="{FF2B5EF4-FFF2-40B4-BE49-F238E27FC236}">
                <a16:creationId xmlns:a16="http://schemas.microsoft.com/office/drawing/2014/main" id="{11CD41DE-286D-C93D-D876-039C67A8DB1C}"/>
              </a:ext>
            </a:extLst>
          </p:cNvPr>
          <p:cNvSpPr>
            <a:spLocks noChangeShapeType="1"/>
          </p:cNvSpPr>
          <p:nvPr/>
        </p:nvSpPr>
        <p:spPr bwMode="auto">
          <a:xfrm>
            <a:off x="6503988" y="1774825"/>
            <a:ext cx="0" cy="390525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377" name="Line 23">
            <a:extLst>
              <a:ext uri="{FF2B5EF4-FFF2-40B4-BE49-F238E27FC236}">
                <a16:creationId xmlns:a16="http://schemas.microsoft.com/office/drawing/2014/main" id="{E0405B90-0159-2EFA-C1A3-279688ABD9C7}"/>
              </a:ext>
            </a:extLst>
          </p:cNvPr>
          <p:cNvSpPr>
            <a:spLocks noChangeShapeType="1"/>
          </p:cNvSpPr>
          <p:nvPr/>
        </p:nvSpPr>
        <p:spPr bwMode="auto">
          <a:xfrm>
            <a:off x="7323138" y="1774825"/>
            <a:ext cx="0" cy="3905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378" name="Line 24">
            <a:extLst>
              <a:ext uri="{FF2B5EF4-FFF2-40B4-BE49-F238E27FC236}">
                <a16:creationId xmlns:a16="http://schemas.microsoft.com/office/drawing/2014/main" id="{49939C60-30E7-1E39-4904-26AFBAEE9F28}"/>
              </a:ext>
            </a:extLst>
          </p:cNvPr>
          <p:cNvSpPr>
            <a:spLocks noChangeShapeType="1"/>
          </p:cNvSpPr>
          <p:nvPr/>
        </p:nvSpPr>
        <p:spPr bwMode="auto">
          <a:xfrm>
            <a:off x="8023225" y="1774825"/>
            <a:ext cx="0" cy="390525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379" name="Line 54">
            <a:extLst>
              <a:ext uri="{FF2B5EF4-FFF2-40B4-BE49-F238E27FC236}">
                <a16:creationId xmlns:a16="http://schemas.microsoft.com/office/drawing/2014/main" id="{43DF3B63-97A7-1282-15A8-677BC7404EB7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7375" y="2166938"/>
            <a:ext cx="0" cy="717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380" name="Line 55">
            <a:extLst>
              <a:ext uri="{FF2B5EF4-FFF2-40B4-BE49-F238E27FC236}">
                <a16:creationId xmlns:a16="http://schemas.microsoft.com/office/drawing/2014/main" id="{819AB5F5-9E20-974A-5192-D177592C0A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49513" y="2884488"/>
            <a:ext cx="44878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381" name="Line 57">
            <a:extLst>
              <a:ext uri="{FF2B5EF4-FFF2-40B4-BE49-F238E27FC236}">
                <a16:creationId xmlns:a16="http://schemas.microsoft.com/office/drawing/2014/main" id="{C9DC0249-1EA3-AB46-4B8C-A1511D46494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43100" y="2166938"/>
            <a:ext cx="0" cy="522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382" name="Line 59">
            <a:extLst>
              <a:ext uri="{FF2B5EF4-FFF2-40B4-BE49-F238E27FC236}">
                <a16:creationId xmlns:a16="http://schemas.microsoft.com/office/drawing/2014/main" id="{5927700D-9E5C-9763-6497-227C0BDC51D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6576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383" name="Line 61">
            <a:extLst>
              <a:ext uri="{FF2B5EF4-FFF2-40B4-BE49-F238E27FC236}">
                <a16:creationId xmlns:a16="http://schemas.microsoft.com/office/drawing/2014/main" id="{77BB3062-A1C2-0F33-CB24-034AC465CE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18138" y="2232025"/>
            <a:ext cx="0" cy="652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384" name="Line 63">
            <a:extLst>
              <a:ext uri="{FF2B5EF4-FFF2-40B4-BE49-F238E27FC236}">
                <a16:creationId xmlns:a16="http://schemas.microsoft.com/office/drawing/2014/main" id="{A7F9C0B3-E1FD-533D-72CE-B0A16E7EB6CD}"/>
              </a:ext>
            </a:extLst>
          </p:cNvPr>
          <p:cNvSpPr>
            <a:spLocks noChangeShapeType="1"/>
          </p:cNvSpPr>
          <p:nvPr/>
        </p:nvSpPr>
        <p:spPr bwMode="auto">
          <a:xfrm>
            <a:off x="4332288" y="2035175"/>
            <a:ext cx="723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385" name="Line 64">
            <a:extLst>
              <a:ext uri="{FF2B5EF4-FFF2-40B4-BE49-F238E27FC236}">
                <a16:creationId xmlns:a16="http://schemas.microsoft.com/office/drawing/2014/main" id="{AE8CBAA4-E3DB-D59C-A2C2-11F87BD158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18138" y="1317625"/>
            <a:ext cx="0" cy="522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386" name="Line 65">
            <a:extLst>
              <a:ext uri="{FF2B5EF4-FFF2-40B4-BE49-F238E27FC236}">
                <a16:creationId xmlns:a16="http://schemas.microsoft.com/office/drawing/2014/main" id="{FA39E8D0-A287-779C-B3FD-5919A76D0203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3581400"/>
            <a:ext cx="11572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387" name="Text Box 67">
            <a:extLst>
              <a:ext uri="{FF2B5EF4-FFF2-40B4-BE49-F238E27FC236}">
                <a16:creationId xmlns:a16="http://schemas.microsoft.com/office/drawing/2014/main" id="{DB54684E-A943-830C-4582-096B61F4C4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8638" y="1317625"/>
            <a:ext cx="2243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页表寄存器</a:t>
            </a:r>
          </a:p>
        </p:txBody>
      </p:sp>
      <p:sp>
        <p:nvSpPr>
          <p:cNvPr id="15388" name="Text Box 68">
            <a:extLst>
              <a:ext uri="{FF2B5EF4-FFF2-40B4-BE49-F238E27FC236}">
                <a16:creationId xmlns:a16="http://schemas.microsoft.com/office/drawing/2014/main" id="{0D996B6A-73A5-0334-1CE8-1E01550110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1295400"/>
            <a:ext cx="2701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逻辑地址</a:t>
            </a:r>
            <a:r>
              <a:rPr lang="en-US" altLang="zh-CN" sz="1600" b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1011</a:t>
            </a:r>
            <a:r>
              <a:rPr lang="zh-CN" altLang="en-US" sz="1600" b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（</a:t>
            </a:r>
            <a:r>
              <a:rPr lang="en-US" altLang="zh-CN" sz="1600" b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03F3H</a:t>
            </a:r>
            <a:r>
              <a:rPr lang="zh-CN" altLang="en-US" sz="1600" b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）</a:t>
            </a:r>
          </a:p>
        </p:txBody>
      </p:sp>
      <p:sp>
        <p:nvSpPr>
          <p:cNvPr id="15389" name="Text Box 69">
            <a:extLst>
              <a:ext uri="{FF2B5EF4-FFF2-40B4-BE49-F238E27FC236}">
                <a16:creationId xmlns:a16="http://schemas.microsoft.com/office/drawing/2014/main" id="{0C2E3B90-079D-84F3-9F21-542E80AAF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9013" y="3798888"/>
            <a:ext cx="26939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物理地址</a:t>
            </a: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0BF3H</a:t>
            </a:r>
          </a:p>
        </p:txBody>
      </p:sp>
      <p:sp>
        <p:nvSpPr>
          <p:cNvPr id="15390" name="Text Box 70">
            <a:extLst>
              <a:ext uri="{FF2B5EF4-FFF2-40B4-BE49-F238E27FC236}">
                <a16:creationId xmlns:a16="http://schemas.microsoft.com/office/drawing/2014/main" id="{0067E387-C841-2817-3A98-666050FF06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3725" y="990600"/>
            <a:ext cx="2244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越界中断</a:t>
            </a:r>
          </a:p>
        </p:txBody>
      </p:sp>
      <p:sp>
        <p:nvSpPr>
          <p:cNvPr id="15391" name="Text Box 73">
            <a:extLst>
              <a:ext uri="{FF2B5EF4-FFF2-40B4-BE49-F238E27FC236}">
                <a16:creationId xmlns:a16="http://schemas.microsoft.com/office/drawing/2014/main" id="{A7E6A5DF-9605-D3EC-75B9-99107A6C8A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2492375"/>
            <a:ext cx="1157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页合法</a:t>
            </a:r>
          </a:p>
        </p:txBody>
      </p:sp>
      <p:sp>
        <p:nvSpPr>
          <p:cNvPr id="15392" name="Line 79">
            <a:extLst>
              <a:ext uri="{FF2B5EF4-FFF2-40B4-BE49-F238E27FC236}">
                <a16:creationId xmlns:a16="http://schemas.microsoft.com/office/drawing/2014/main" id="{514E91AC-BE93-9AC8-8586-46405E94D21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124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255076" name="Group 100">
            <a:extLst>
              <a:ext uri="{FF2B5EF4-FFF2-40B4-BE49-F238E27FC236}">
                <a16:creationId xmlns:a16="http://schemas.microsoft.com/office/drawing/2014/main" id="{0E3DB42D-E8E0-5AA8-D166-493A4BC666BD}"/>
              </a:ext>
            </a:extLst>
          </p:cNvPr>
          <p:cNvGraphicFramePr>
            <a:graphicFrameLocks noGrp="1"/>
          </p:cNvGraphicFramePr>
          <p:nvPr/>
        </p:nvGraphicFramePr>
        <p:xfrm>
          <a:off x="4038600" y="3048000"/>
          <a:ext cx="1524000" cy="1828800"/>
        </p:xfrm>
        <a:graphic>
          <a:graphicData uri="http://schemas.openxmlformats.org/drawingml/2006/table">
            <a:tbl>
              <a:tblPr/>
              <a:tblGrid>
                <a:gridCol w="8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8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页号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块号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8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2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8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8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55103" name="Group 127">
            <a:extLst>
              <a:ext uri="{FF2B5EF4-FFF2-40B4-BE49-F238E27FC236}">
                <a16:creationId xmlns:a16="http://schemas.microsoft.com/office/drawing/2014/main" id="{7746D2A4-3ECE-CD19-B897-8F91C75E3EF8}"/>
              </a:ext>
            </a:extLst>
          </p:cNvPr>
          <p:cNvGraphicFramePr>
            <a:graphicFrameLocks noGrp="1"/>
          </p:cNvGraphicFramePr>
          <p:nvPr/>
        </p:nvGraphicFramePr>
        <p:xfrm>
          <a:off x="6781800" y="3352800"/>
          <a:ext cx="1219200" cy="396875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3F3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421" name="Line 122">
            <a:extLst>
              <a:ext uri="{FF2B5EF4-FFF2-40B4-BE49-F238E27FC236}">
                <a16:creationId xmlns:a16="http://schemas.microsoft.com/office/drawing/2014/main" id="{65688FF3-9237-D9AA-804C-B513268B071A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21336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3977CA2B-8158-B76F-D9E7-0D949D2B8F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 b="1">
                <a:ea typeface="幼圆" panose="02010509060101010101" pitchFamily="49" charset="-122"/>
              </a:rPr>
              <a:t>四、地址变换机构</a:t>
            </a:r>
            <a:br>
              <a:rPr lang="zh-CN" altLang="en-US" sz="2800" b="1">
                <a:ea typeface="幼圆" panose="02010509060101010101" pitchFamily="49" charset="-122"/>
              </a:rPr>
            </a:br>
            <a:r>
              <a:rPr lang="zh-CN" altLang="en-US" sz="2800" b="1">
                <a:ea typeface="幼圆" panose="02010509060101010101" pitchFamily="49" charset="-122"/>
              </a:rPr>
              <a:t>                </a:t>
            </a:r>
            <a:r>
              <a:rPr lang="en-US" altLang="zh-CN" sz="2800" b="1">
                <a:ea typeface="幼圆" panose="02010509060101010101" pitchFamily="49" charset="-122"/>
              </a:rPr>
              <a:t>-----</a:t>
            </a:r>
            <a:r>
              <a:rPr lang="zh-CN" altLang="en-US" sz="2400"/>
              <a:t>具有快表的地址变换机构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BDDFF742-0ED6-78F5-7E64-879324B386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981200"/>
            <a:ext cx="74676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000" b="0">
                <a:latin typeface="宋体" panose="02010600030101010101" pitchFamily="2" charset="-122"/>
                <a:ea typeface="宋体" panose="02010600030101010101" pitchFamily="2" charset="-122"/>
              </a:rPr>
              <a:t>基本的地址变换机构存在的问题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0">
                <a:latin typeface="宋体" panose="02010600030101010101" pitchFamily="2" charset="-122"/>
                <a:ea typeface="宋体" panose="02010600030101010101" pitchFamily="2" charset="-122"/>
              </a:rPr>
              <a:t>地址变换速度降低（因页表</a:t>
            </a:r>
            <a:r>
              <a:rPr lang="zh-CN" altLang="en-US" sz="200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放于内存</a:t>
            </a:r>
            <a:r>
              <a:rPr lang="zh-CN" altLang="en-US" sz="2000" b="0">
                <a:latin typeface="宋体" panose="02010600030101010101" pitchFamily="2" charset="-122"/>
                <a:ea typeface="宋体" panose="02010600030101010101" pitchFamily="2" charset="-122"/>
              </a:rPr>
              <a:t>中，</a:t>
            </a:r>
            <a:r>
              <a:rPr lang="en-US" altLang="zh-CN" sz="2000" b="0">
                <a:latin typeface="宋体" panose="02010600030101010101" pitchFamily="2" charset="-122"/>
                <a:ea typeface="宋体" panose="02010600030101010101" pitchFamily="2" charset="-122"/>
              </a:rPr>
              <a:t>CPU</a:t>
            </a:r>
            <a:r>
              <a:rPr lang="zh-CN" altLang="en-US" sz="2000" b="0">
                <a:latin typeface="宋体" panose="02010600030101010101" pitchFamily="2" charset="-122"/>
                <a:ea typeface="宋体" panose="02010600030101010101" pitchFamily="2" charset="-122"/>
              </a:rPr>
              <a:t>访问一个字节的数据需两次访问内存）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000" b="0">
                <a:latin typeface="宋体" panose="02010600030101010101" pitchFamily="2" charset="-122"/>
                <a:ea typeface="宋体" panose="02010600030101010101" pitchFamily="2" charset="-122"/>
              </a:rPr>
              <a:t>目的：</a:t>
            </a: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为提高地址变换速度</a:t>
            </a:r>
            <a:r>
              <a:rPr lang="en-US" altLang="zh-CN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加快虚、实变换速度</a:t>
            </a:r>
            <a:r>
              <a:rPr lang="en-US" altLang="zh-CN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zh-CN" altLang="en-US" sz="2000" b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000" b="0">
                <a:latin typeface="宋体" panose="02010600030101010101" pitchFamily="2" charset="-122"/>
                <a:ea typeface="宋体" panose="02010600030101010101" pitchFamily="2" charset="-122"/>
              </a:rPr>
              <a:t>快表（联想寄存器、联想存储器、</a:t>
            </a:r>
            <a:r>
              <a:rPr lang="en-US" altLang="zh-CN" sz="1800" b="0">
                <a:latin typeface="宋体" panose="02010600030101010101" pitchFamily="2" charset="-122"/>
                <a:ea typeface="宋体" panose="02010600030101010101" pitchFamily="2" charset="-122"/>
              </a:rPr>
              <a:t>TLB</a:t>
            </a:r>
            <a:r>
              <a:rPr lang="zh-CN" altLang="en-US" sz="1800" b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Clr>
                <a:srgbClr val="FF0000"/>
              </a:buClr>
              <a:buSzPct val="105000"/>
              <a:buFont typeface="Wingdings" panose="05000000000000000000" pitchFamily="2" charset="2"/>
              <a:buChar char="q"/>
            </a:pPr>
            <a:r>
              <a:rPr lang="zh-CN" altLang="en-US" sz="1800" b="0">
                <a:latin typeface="宋体" panose="02010600030101010101" pitchFamily="2" charset="-122"/>
                <a:ea typeface="宋体" panose="02010600030101010101" pitchFamily="2" charset="-122"/>
              </a:rPr>
              <a:t>为一种</a:t>
            </a:r>
            <a:r>
              <a:rPr lang="zh-CN" altLang="en-US" sz="180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特殊高速缓冲存储器</a:t>
            </a:r>
            <a:r>
              <a:rPr lang="zh-CN" altLang="en-US" sz="1800" b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Clr>
                <a:srgbClr val="FF0000"/>
              </a:buClr>
              <a:buSzPct val="105000"/>
              <a:buFont typeface="Wingdings" panose="05000000000000000000" pitchFamily="2" charset="2"/>
              <a:buChar char="q"/>
            </a:pPr>
            <a:r>
              <a:rPr lang="zh-CN" altLang="en-US" sz="180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内容</a:t>
            </a:r>
            <a:r>
              <a:rPr lang="en-US" altLang="zh-CN" sz="180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--</a:t>
            </a:r>
            <a:r>
              <a:rPr lang="zh-CN" altLang="en-US" sz="1800" b="0">
                <a:latin typeface="宋体" panose="02010600030101010101" pitchFamily="2" charset="-122"/>
                <a:ea typeface="宋体" panose="02010600030101010101" pitchFamily="2" charset="-122"/>
              </a:rPr>
              <a:t>为页表中的一部分或全部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Clr>
                <a:srgbClr val="FF0000"/>
              </a:buClr>
              <a:buSzPct val="105000"/>
              <a:buFont typeface="Wingdings" panose="05000000000000000000" pitchFamily="2" charset="2"/>
              <a:buChar char="q"/>
            </a:pPr>
            <a:r>
              <a:rPr lang="en-US" altLang="zh-CN" sz="180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CPU</a:t>
            </a:r>
            <a:r>
              <a:rPr lang="zh-CN" altLang="en-US" sz="180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产生的逻辑地址的页</a:t>
            </a:r>
            <a:r>
              <a:rPr lang="zh-CN" altLang="en-US" sz="1800" b="0">
                <a:latin typeface="宋体" panose="02010600030101010101" pitchFamily="2" charset="-122"/>
                <a:ea typeface="宋体" panose="02010600030101010101" pitchFamily="2" charset="-122"/>
              </a:rPr>
              <a:t>首先在快表中寻找，若找到（命中），就找出其对应的物理块；若未找到（未命中），再到页表中找其对应的物理块，并将之复制到快表</a:t>
            </a:r>
            <a:r>
              <a:rPr lang="zh-CN" altLang="en-US" sz="2000" b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Clr>
                <a:srgbClr val="FF0000"/>
              </a:buClr>
              <a:buSzPct val="105000"/>
              <a:buFont typeface="Wingdings" panose="05000000000000000000" pitchFamily="2" charset="2"/>
              <a:buChar char="q"/>
            </a:pPr>
            <a:r>
              <a:rPr lang="zh-CN" altLang="en-US" sz="2000" b="0">
                <a:latin typeface="宋体" panose="02010600030101010101" pitchFamily="2" charset="-122"/>
                <a:ea typeface="宋体" panose="02010600030101010101" pitchFamily="2" charset="-122"/>
              </a:rPr>
              <a:t>若快表中内容满，则按某种算法</a:t>
            </a:r>
            <a:r>
              <a:rPr lang="zh-CN" altLang="en-US" sz="200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淘汰某些页</a:t>
            </a:r>
            <a:r>
              <a:rPr lang="zh-CN" altLang="en-US" sz="2000" b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1800" b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56">
            <a:extLst>
              <a:ext uri="{FF2B5EF4-FFF2-40B4-BE49-F238E27FC236}">
                <a16:creationId xmlns:a16="http://schemas.microsoft.com/office/drawing/2014/main" id="{28C8FA64-BD26-91BC-56E4-6E5746D61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6175" y="5545138"/>
            <a:ext cx="6781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>
                <a:solidFill>
                  <a:schemeClr val="folHlink"/>
                </a:solidFill>
                <a:ea typeface="华文隶书" panose="02010800040101010101" pitchFamily="2" charset="-122"/>
              </a:rPr>
              <a:t>具有快表的地址变换机构</a:t>
            </a:r>
          </a:p>
        </p:txBody>
      </p:sp>
      <p:grpSp>
        <p:nvGrpSpPr>
          <p:cNvPr id="17411" name="Group 95">
            <a:extLst>
              <a:ext uri="{FF2B5EF4-FFF2-40B4-BE49-F238E27FC236}">
                <a16:creationId xmlns:a16="http://schemas.microsoft.com/office/drawing/2014/main" id="{820BACD0-92DB-F7FD-782D-ACB9C542F83B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1125538"/>
            <a:ext cx="7924800" cy="4394200"/>
            <a:chOff x="624" y="192"/>
            <a:chExt cx="4992" cy="2768"/>
          </a:xfrm>
        </p:grpSpPr>
        <p:sp>
          <p:nvSpPr>
            <p:cNvPr id="17415" name="Rectangle 83">
              <a:extLst>
                <a:ext uri="{FF2B5EF4-FFF2-40B4-BE49-F238E27FC236}">
                  <a16:creationId xmlns:a16="http://schemas.microsoft.com/office/drawing/2014/main" id="{8C2A2885-7565-EBDC-C499-3AFD28282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1" y="2188"/>
              <a:ext cx="269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800"/>
                <a:t>9</a:t>
              </a:r>
            </a:p>
          </p:txBody>
        </p:sp>
        <p:sp>
          <p:nvSpPr>
            <p:cNvPr id="17416" name="Rectangle 81">
              <a:extLst>
                <a:ext uri="{FF2B5EF4-FFF2-40B4-BE49-F238E27FC236}">
                  <a16:creationId xmlns:a16="http://schemas.microsoft.com/office/drawing/2014/main" id="{0E561C27-93D6-25B5-3601-1DFBD4F02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188"/>
              <a:ext cx="30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800"/>
                <a:t>3</a:t>
              </a:r>
            </a:p>
          </p:txBody>
        </p:sp>
        <p:sp>
          <p:nvSpPr>
            <p:cNvPr id="17417" name="Rectangle 61">
              <a:extLst>
                <a:ext uri="{FF2B5EF4-FFF2-40B4-BE49-F238E27FC236}">
                  <a16:creationId xmlns:a16="http://schemas.microsoft.com/office/drawing/2014/main" id="{B08A56D3-EB6D-3096-D9B1-858E5FFA7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1" y="1958"/>
              <a:ext cx="269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800"/>
                <a:t>7</a:t>
              </a:r>
            </a:p>
          </p:txBody>
        </p:sp>
        <p:sp>
          <p:nvSpPr>
            <p:cNvPr id="17418" name="Rectangle 62">
              <a:extLst>
                <a:ext uri="{FF2B5EF4-FFF2-40B4-BE49-F238E27FC236}">
                  <a16:creationId xmlns:a16="http://schemas.microsoft.com/office/drawing/2014/main" id="{068939E3-529C-5CB2-3B40-DFCB53DB98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1958"/>
              <a:ext cx="30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800"/>
                <a:t>2</a:t>
              </a:r>
            </a:p>
          </p:txBody>
        </p:sp>
        <p:sp>
          <p:nvSpPr>
            <p:cNvPr id="17419" name="Rectangle 63">
              <a:extLst>
                <a:ext uri="{FF2B5EF4-FFF2-40B4-BE49-F238E27FC236}">
                  <a16:creationId xmlns:a16="http://schemas.microsoft.com/office/drawing/2014/main" id="{F1130570-8036-90D0-0A44-59B271C85F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1" y="1728"/>
              <a:ext cx="269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800"/>
                <a:t>2</a:t>
              </a:r>
            </a:p>
          </p:txBody>
        </p:sp>
        <p:sp>
          <p:nvSpPr>
            <p:cNvPr id="17420" name="Rectangle 64">
              <a:extLst>
                <a:ext uri="{FF2B5EF4-FFF2-40B4-BE49-F238E27FC236}">
                  <a16:creationId xmlns:a16="http://schemas.microsoft.com/office/drawing/2014/main" id="{6C71D65A-8BF0-392C-4835-6C79614427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1728"/>
              <a:ext cx="30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800"/>
                <a:t>0</a:t>
              </a:r>
            </a:p>
          </p:txBody>
        </p:sp>
        <p:sp>
          <p:nvSpPr>
            <p:cNvPr id="17421" name="Line 65">
              <a:extLst>
                <a:ext uri="{FF2B5EF4-FFF2-40B4-BE49-F238E27FC236}">
                  <a16:creationId xmlns:a16="http://schemas.microsoft.com/office/drawing/2014/main" id="{BC89808C-DAD3-1EDD-A45E-B43B807FA7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1728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22" name="Line 66">
              <a:extLst>
                <a:ext uri="{FF2B5EF4-FFF2-40B4-BE49-F238E27FC236}">
                  <a16:creationId xmlns:a16="http://schemas.microsoft.com/office/drawing/2014/main" id="{2C18BE56-0A7A-1AEB-DA37-97C2088780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2418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23" name="Line 67">
              <a:extLst>
                <a:ext uri="{FF2B5EF4-FFF2-40B4-BE49-F238E27FC236}">
                  <a16:creationId xmlns:a16="http://schemas.microsoft.com/office/drawing/2014/main" id="{C7D3051E-8A2B-C60F-27B0-87C528A87B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1728"/>
              <a:ext cx="0" cy="69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24" name="Line 68">
              <a:extLst>
                <a:ext uri="{FF2B5EF4-FFF2-40B4-BE49-F238E27FC236}">
                  <a16:creationId xmlns:a16="http://schemas.microsoft.com/office/drawing/2014/main" id="{93958898-2B5A-6CDA-278B-28E40BE70F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1" y="1728"/>
              <a:ext cx="0" cy="6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25" name="Line 69">
              <a:extLst>
                <a:ext uri="{FF2B5EF4-FFF2-40B4-BE49-F238E27FC236}">
                  <a16:creationId xmlns:a16="http://schemas.microsoft.com/office/drawing/2014/main" id="{2BB9DDAF-0179-2D30-534E-CFE0EA929C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728"/>
              <a:ext cx="0" cy="69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26" name="Line 70">
              <a:extLst>
                <a:ext uri="{FF2B5EF4-FFF2-40B4-BE49-F238E27FC236}">
                  <a16:creationId xmlns:a16="http://schemas.microsoft.com/office/drawing/2014/main" id="{59591C5E-BC42-683E-20B3-5B0B989509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1958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27" name="Line 71">
              <a:extLst>
                <a:ext uri="{FF2B5EF4-FFF2-40B4-BE49-F238E27FC236}">
                  <a16:creationId xmlns:a16="http://schemas.microsoft.com/office/drawing/2014/main" id="{3B3A6D54-5BB0-628E-D902-6A70EECE14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2188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28" name="Rectangle 3">
              <a:extLst>
                <a:ext uri="{FF2B5EF4-FFF2-40B4-BE49-F238E27FC236}">
                  <a16:creationId xmlns:a16="http://schemas.microsoft.com/office/drawing/2014/main" id="{28EF45F2-F8CD-101C-6236-2707C2009A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9" y="789"/>
              <a:ext cx="992" cy="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1800"/>
                <a:t>页表长度</a:t>
              </a:r>
            </a:p>
          </p:txBody>
        </p:sp>
        <p:sp>
          <p:nvSpPr>
            <p:cNvPr id="17429" name="Rectangle 4">
              <a:extLst>
                <a:ext uri="{FF2B5EF4-FFF2-40B4-BE49-F238E27FC236}">
                  <a16:creationId xmlns:a16="http://schemas.microsoft.com/office/drawing/2014/main" id="{612FC3AF-51A0-C88D-1894-31E4B6F41C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789"/>
              <a:ext cx="1155" cy="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zh-CN" altLang="en-US" sz="1800"/>
                <a:t>页表始址</a:t>
              </a:r>
            </a:p>
          </p:txBody>
        </p:sp>
        <p:sp>
          <p:nvSpPr>
            <p:cNvPr id="17430" name="Line 5">
              <a:extLst>
                <a:ext uri="{FF2B5EF4-FFF2-40B4-BE49-F238E27FC236}">
                  <a16:creationId xmlns:a16="http://schemas.microsoft.com/office/drawing/2014/main" id="{AF5F7572-90ED-47CB-9918-6F208F5837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789"/>
              <a:ext cx="2147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31" name="Line 6">
              <a:extLst>
                <a:ext uri="{FF2B5EF4-FFF2-40B4-BE49-F238E27FC236}">
                  <a16:creationId xmlns:a16="http://schemas.microsoft.com/office/drawing/2014/main" id="{E626C64D-AF2B-AE5A-CB8C-F441623133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086"/>
              <a:ext cx="2147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32" name="Line 7">
              <a:extLst>
                <a:ext uri="{FF2B5EF4-FFF2-40B4-BE49-F238E27FC236}">
                  <a16:creationId xmlns:a16="http://schemas.microsoft.com/office/drawing/2014/main" id="{25B628B4-DB17-D042-5E88-A88CAB76DC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789"/>
              <a:ext cx="0" cy="29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33" name="Line 8">
              <a:extLst>
                <a:ext uri="{FF2B5EF4-FFF2-40B4-BE49-F238E27FC236}">
                  <a16:creationId xmlns:a16="http://schemas.microsoft.com/office/drawing/2014/main" id="{19821C05-AB9E-0061-9261-FC134400D4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9" y="789"/>
              <a:ext cx="0" cy="29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34" name="Line 9">
              <a:extLst>
                <a:ext uri="{FF2B5EF4-FFF2-40B4-BE49-F238E27FC236}">
                  <a16:creationId xmlns:a16="http://schemas.microsoft.com/office/drawing/2014/main" id="{C0AA7A4D-25A6-D67B-DBA8-2869C6D479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1" y="789"/>
              <a:ext cx="0" cy="29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35" name="Rectangle 11">
              <a:extLst>
                <a:ext uri="{FF2B5EF4-FFF2-40B4-BE49-F238E27FC236}">
                  <a16:creationId xmlns:a16="http://schemas.microsoft.com/office/drawing/2014/main" id="{E7D45C7E-67A7-BA26-F9BB-23A4B8CA9F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3" y="789"/>
              <a:ext cx="483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800"/>
                <a:t>452</a:t>
              </a:r>
            </a:p>
          </p:txBody>
        </p:sp>
        <p:sp>
          <p:nvSpPr>
            <p:cNvPr id="17436" name="Rectangle 12">
              <a:extLst>
                <a:ext uri="{FF2B5EF4-FFF2-40B4-BE49-F238E27FC236}">
                  <a16:creationId xmlns:a16="http://schemas.microsoft.com/office/drawing/2014/main" id="{B09553CD-F5F5-22A2-ADB9-D3718C8348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8" y="789"/>
              <a:ext cx="565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800"/>
                <a:t>2</a:t>
              </a:r>
            </a:p>
          </p:txBody>
        </p:sp>
        <p:sp>
          <p:nvSpPr>
            <p:cNvPr id="17437" name="Line 13">
              <a:extLst>
                <a:ext uri="{FF2B5EF4-FFF2-40B4-BE49-F238E27FC236}">
                  <a16:creationId xmlns:a16="http://schemas.microsoft.com/office/drawing/2014/main" id="{BB462BB5-D6C6-C16C-2A76-FFAFCD89A7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8" y="789"/>
              <a:ext cx="104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38" name="Line 14">
              <a:extLst>
                <a:ext uri="{FF2B5EF4-FFF2-40B4-BE49-F238E27FC236}">
                  <a16:creationId xmlns:a16="http://schemas.microsoft.com/office/drawing/2014/main" id="{C9EFCEEA-BC1F-F6DC-BCF5-99929A6BAF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8" y="1070"/>
              <a:ext cx="104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39" name="Line 15">
              <a:extLst>
                <a:ext uri="{FF2B5EF4-FFF2-40B4-BE49-F238E27FC236}">
                  <a16:creationId xmlns:a16="http://schemas.microsoft.com/office/drawing/2014/main" id="{4F661986-8498-6F06-305C-B14D2598E9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8" y="789"/>
              <a:ext cx="0" cy="28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40" name="Line 16">
              <a:extLst>
                <a:ext uri="{FF2B5EF4-FFF2-40B4-BE49-F238E27FC236}">
                  <a16:creationId xmlns:a16="http://schemas.microsoft.com/office/drawing/2014/main" id="{71CCBF64-F510-0AF5-47B0-AB2BDEDCAB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3" y="789"/>
              <a:ext cx="0" cy="2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41" name="Line 17">
              <a:extLst>
                <a:ext uri="{FF2B5EF4-FFF2-40B4-BE49-F238E27FC236}">
                  <a16:creationId xmlns:a16="http://schemas.microsoft.com/office/drawing/2014/main" id="{678E9E78-97F8-AAEF-6052-968E22C4BF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16" y="789"/>
              <a:ext cx="0" cy="28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42" name="Rectangle 19">
              <a:extLst>
                <a:ext uri="{FF2B5EF4-FFF2-40B4-BE49-F238E27FC236}">
                  <a16:creationId xmlns:a16="http://schemas.microsoft.com/office/drawing/2014/main" id="{3945E18C-BA8D-472E-4B22-B5CA7BC2FC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3" y="2678"/>
              <a:ext cx="484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800"/>
                <a:t>452</a:t>
              </a:r>
            </a:p>
          </p:txBody>
        </p:sp>
        <p:sp>
          <p:nvSpPr>
            <p:cNvPr id="17443" name="Rectangle 20">
              <a:extLst>
                <a:ext uri="{FF2B5EF4-FFF2-40B4-BE49-F238E27FC236}">
                  <a16:creationId xmlns:a16="http://schemas.microsoft.com/office/drawing/2014/main" id="{53EB9C0B-BB3D-1803-50F3-FA391A2A75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2678"/>
              <a:ext cx="565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1800"/>
                <a:t>7</a:t>
              </a:r>
            </a:p>
          </p:txBody>
        </p:sp>
        <p:sp>
          <p:nvSpPr>
            <p:cNvPr id="17444" name="Line 21">
              <a:extLst>
                <a:ext uri="{FF2B5EF4-FFF2-40B4-BE49-F238E27FC236}">
                  <a16:creationId xmlns:a16="http://schemas.microsoft.com/office/drawing/2014/main" id="{51C24E95-08AB-9A03-F4A2-0B4EA06A61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8" y="2678"/>
              <a:ext cx="104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45" name="Line 22">
              <a:extLst>
                <a:ext uri="{FF2B5EF4-FFF2-40B4-BE49-F238E27FC236}">
                  <a16:creationId xmlns:a16="http://schemas.microsoft.com/office/drawing/2014/main" id="{E1633A7F-0472-8F9D-6090-80B958C8F1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8" y="2960"/>
              <a:ext cx="104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46" name="Line 23">
              <a:extLst>
                <a:ext uri="{FF2B5EF4-FFF2-40B4-BE49-F238E27FC236}">
                  <a16:creationId xmlns:a16="http://schemas.microsoft.com/office/drawing/2014/main" id="{6793BA33-52CD-4634-A393-10DAF4CCAD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8" y="2678"/>
              <a:ext cx="0" cy="28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47" name="Line 24">
              <a:extLst>
                <a:ext uri="{FF2B5EF4-FFF2-40B4-BE49-F238E27FC236}">
                  <a16:creationId xmlns:a16="http://schemas.microsoft.com/office/drawing/2014/main" id="{ECDC7BFE-A9D4-EC4E-6868-169C00918E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3" y="2678"/>
              <a:ext cx="0" cy="28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48" name="Line 25">
              <a:extLst>
                <a:ext uri="{FF2B5EF4-FFF2-40B4-BE49-F238E27FC236}">
                  <a16:creationId xmlns:a16="http://schemas.microsoft.com/office/drawing/2014/main" id="{5E8A351A-AE8B-CC18-EB74-9C522A4CD6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7" y="2678"/>
              <a:ext cx="0" cy="28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49" name="Rectangle 27">
              <a:extLst>
                <a:ext uri="{FF2B5EF4-FFF2-40B4-BE49-F238E27FC236}">
                  <a16:creationId xmlns:a16="http://schemas.microsoft.com/office/drawing/2014/main" id="{BD8BBD1B-D627-771B-07B2-44E601F514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0" y="2627"/>
              <a:ext cx="350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800"/>
                <a:t>7</a:t>
              </a:r>
            </a:p>
          </p:txBody>
        </p:sp>
        <p:sp>
          <p:nvSpPr>
            <p:cNvPr id="17450" name="Rectangle 28">
              <a:extLst>
                <a:ext uri="{FF2B5EF4-FFF2-40B4-BE49-F238E27FC236}">
                  <a16:creationId xmlns:a16="http://schemas.microsoft.com/office/drawing/2014/main" id="{F4E4C144-889C-D90E-125A-12056EA6C6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1" y="2627"/>
              <a:ext cx="399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800"/>
                <a:t>2</a:t>
              </a:r>
            </a:p>
          </p:txBody>
        </p:sp>
        <p:sp>
          <p:nvSpPr>
            <p:cNvPr id="17451" name="Rectangle 29">
              <a:extLst>
                <a:ext uri="{FF2B5EF4-FFF2-40B4-BE49-F238E27FC236}">
                  <a16:creationId xmlns:a16="http://schemas.microsoft.com/office/drawing/2014/main" id="{F072C991-A468-5AC2-2B2D-5CAD9BF67B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0" y="2330"/>
              <a:ext cx="350" cy="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800"/>
                <a:t>4</a:t>
              </a:r>
            </a:p>
          </p:txBody>
        </p:sp>
        <p:sp>
          <p:nvSpPr>
            <p:cNvPr id="17452" name="Rectangle 30">
              <a:extLst>
                <a:ext uri="{FF2B5EF4-FFF2-40B4-BE49-F238E27FC236}">
                  <a16:creationId xmlns:a16="http://schemas.microsoft.com/office/drawing/2014/main" id="{0DA3D37E-A045-0EED-B54F-8976F659F0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1" y="2330"/>
              <a:ext cx="399" cy="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folHlink"/>
                  </a:solidFill>
                </a:rPr>
                <a:t>1</a:t>
              </a:r>
            </a:p>
          </p:txBody>
        </p:sp>
        <p:sp>
          <p:nvSpPr>
            <p:cNvPr id="17453" name="Rectangle 31">
              <a:extLst>
                <a:ext uri="{FF2B5EF4-FFF2-40B4-BE49-F238E27FC236}">
                  <a16:creationId xmlns:a16="http://schemas.microsoft.com/office/drawing/2014/main" id="{A606DF38-3DCE-71E2-CD6A-2EAA29127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0" y="2032"/>
              <a:ext cx="350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800"/>
                <a:t>2</a:t>
              </a:r>
            </a:p>
          </p:txBody>
        </p:sp>
        <p:sp>
          <p:nvSpPr>
            <p:cNvPr id="17454" name="Rectangle 32">
              <a:extLst>
                <a:ext uri="{FF2B5EF4-FFF2-40B4-BE49-F238E27FC236}">
                  <a16:creationId xmlns:a16="http://schemas.microsoft.com/office/drawing/2014/main" id="{A35D56F7-648E-261B-AC4E-D578717586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1" y="2032"/>
              <a:ext cx="399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1800"/>
                <a:t>0</a:t>
              </a:r>
            </a:p>
          </p:txBody>
        </p:sp>
        <p:sp>
          <p:nvSpPr>
            <p:cNvPr id="17455" name="Line 33">
              <a:extLst>
                <a:ext uri="{FF2B5EF4-FFF2-40B4-BE49-F238E27FC236}">
                  <a16:creationId xmlns:a16="http://schemas.microsoft.com/office/drawing/2014/main" id="{15B89D71-520F-5399-F4B8-38B001458E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1" y="2032"/>
              <a:ext cx="74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56" name="Line 34">
              <a:extLst>
                <a:ext uri="{FF2B5EF4-FFF2-40B4-BE49-F238E27FC236}">
                  <a16:creationId xmlns:a16="http://schemas.microsoft.com/office/drawing/2014/main" id="{D7340355-67B9-4B67-89C6-A5DB8EE0B1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1" y="2925"/>
              <a:ext cx="74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57" name="Line 35">
              <a:extLst>
                <a:ext uri="{FF2B5EF4-FFF2-40B4-BE49-F238E27FC236}">
                  <a16:creationId xmlns:a16="http://schemas.microsoft.com/office/drawing/2014/main" id="{5E506E8F-1985-E683-B5C9-A8E6EA4AAB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1" y="2032"/>
              <a:ext cx="0" cy="893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58" name="Line 36">
              <a:extLst>
                <a:ext uri="{FF2B5EF4-FFF2-40B4-BE49-F238E27FC236}">
                  <a16:creationId xmlns:a16="http://schemas.microsoft.com/office/drawing/2014/main" id="{ADD0A8DF-6D40-5D0F-399D-E2187DB8BB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0" y="2032"/>
              <a:ext cx="0" cy="89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59" name="Line 37">
              <a:extLst>
                <a:ext uri="{FF2B5EF4-FFF2-40B4-BE49-F238E27FC236}">
                  <a16:creationId xmlns:a16="http://schemas.microsoft.com/office/drawing/2014/main" id="{25E159E4-D8CA-862B-EE75-06997831F7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0" y="2032"/>
              <a:ext cx="0" cy="893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60" name="Line 38">
              <a:extLst>
                <a:ext uri="{FF2B5EF4-FFF2-40B4-BE49-F238E27FC236}">
                  <a16:creationId xmlns:a16="http://schemas.microsoft.com/office/drawing/2014/main" id="{89175A5B-EA70-80DC-28DD-45D85B531A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1" y="2330"/>
              <a:ext cx="74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61" name="Line 39">
              <a:extLst>
                <a:ext uri="{FF2B5EF4-FFF2-40B4-BE49-F238E27FC236}">
                  <a16:creationId xmlns:a16="http://schemas.microsoft.com/office/drawing/2014/main" id="{E355A055-2793-0EFA-F734-95202CE7E6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1" y="2627"/>
              <a:ext cx="74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62" name="Line 40">
              <a:extLst>
                <a:ext uri="{FF2B5EF4-FFF2-40B4-BE49-F238E27FC236}">
                  <a16:creationId xmlns:a16="http://schemas.microsoft.com/office/drawing/2014/main" id="{84605B0C-3B18-EB5A-434E-C8797E33EB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8" y="1087"/>
              <a:ext cx="0" cy="5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63" name="Line 41">
              <a:extLst>
                <a:ext uri="{FF2B5EF4-FFF2-40B4-BE49-F238E27FC236}">
                  <a16:creationId xmlns:a16="http://schemas.microsoft.com/office/drawing/2014/main" id="{EEBC139F-5AE7-23EB-D6C3-E4EE18E5A6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73" y="1634"/>
              <a:ext cx="309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64" name="Oval 42">
              <a:extLst>
                <a:ext uri="{FF2B5EF4-FFF2-40B4-BE49-F238E27FC236}">
                  <a16:creationId xmlns:a16="http://schemas.microsoft.com/office/drawing/2014/main" id="{67F673CD-0FBD-364D-DE26-DBC4249E2E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" y="1485"/>
              <a:ext cx="599" cy="29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>
                  <a:solidFill>
                    <a:schemeClr val="tx1"/>
                  </a:solidFill>
                  <a:latin typeface="Times New Roman" panose="02020603050405020304" pitchFamily="18" charset="0"/>
                  <a:ea typeface="华文隶书" panose="02010800040101010101" pitchFamily="2" charset="-122"/>
                </a:rPr>
                <a:t>+</a:t>
              </a:r>
            </a:p>
          </p:txBody>
        </p:sp>
        <p:sp>
          <p:nvSpPr>
            <p:cNvPr id="17465" name="Line 43">
              <a:extLst>
                <a:ext uri="{FF2B5EF4-FFF2-40B4-BE49-F238E27FC236}">
                  <a16:creationId xmlns:a16="http://schemas.microsoft.com/office/drawing/2014/main" id="{7405F7EE-269E-FD9A-28C7-F0969201D7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3" y="1087"/>
              <a:ext cx="0" cy="3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66" name="Line 44">
              <a:extLst>
                <a:ext uri="{FF2B5EF4-FFF2-40B4-BE49-F238E27FC236}">
                  <a16:creationId xmlns:a16="http://schemas.microsoft.com/office/drawing/2014/main" id="{40970598-24D1-1BF6-9BD3-D04E9025ED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3" y="1783"/>
              <a:ext cx="0" cy="10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67" name="Line 45">
              <a:extLst>
                <a:ext uri="{FF2B5EF4-FFF2-40B4-BE49-F238E27FC236}">
                  <a16:creationId xmlns:a16="http://schemas.microsoft.com/office/drawing/2014/main" id="{4A66DA21-D869-FCAA-FAC4-BACE23A1CD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3" y="2827"/>
              <a:ext cx="15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68" name="Line 46">
              <a:extLst>
                <a:ext uri="{FF2B5EF4-FFF2-40B4-BE49-F238E27FC236}">
                  <a16:creationId xmlns:a16="http://schemas.microsoft.com/office/drawing/2014/main" id="{A481A55D-F0A0-C3D0-C4FA-325165438A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19" y="1137"/>
              <a:ext cx="0" cy="4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69" name="Oval 47">
              <a:extLst>
                <a:ext uri="{FF2B5EF4-FFF2-40B4-BE49-F238E27FC236}">
                  <a16:creationId xmlns:a16="http://schemas.microsoft.com/office/drawing/2014/main" id="{CAFA7DD6-E361-A0A1-6F8B-40D14BCEF0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0" y="838"/>
              <a:ext cx="499" cy="29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>
                  <a:solidFill>
                    <a:schemeClr val="tx1"/>
                  </a:solidFill>
                  <a:latin typeface="Times New Roman" panose="02020603050405020304" pitchFamily="18" charset="0"/>
                  <a:ea typeface="华文隶书" panose="02010800040101010101" pitchFamily="2" charset="-122"/>
                </a:rPr>
                <a:t>&lt;</a:t>
              </a:r>
            </a:p>
          </p:txBody>
        </p:sp>
        <p:sp>
          <p:nvSpPr>
            <p:cNvPr id="17470" name="Line 48">
              <a:extLst>
                <a:ext uri="{FF2B5EF4-FFF2-40B4-BE49-F238E27FC236}">
                  <a16:creationId xmlns:a16="http://schemas.microsoft.com/office/drawing/2014/main" id="{8083696C-FBED-6225-4771-EEBB6560A9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1" y="988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71" name="Line 49">
              <a:extLst>
                <a:ext uri="{FF2B5EF4-FFF2-40B4-BE49-F238E27FC236}">
                  <a16:creationId xmlns:a16="http://schemas.microsoft.com/office/drawing/2014/main" id="{34761BBF-BF8C-DF0F-A676-4A1E206DFC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19" y="441"/>
              <a:ext cx="0" cy="3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72" name="Line 50">
              <a:extLst>
                <a:ext uri="{FF2B5EF4-FFF2-40B4-BE49-F238E27FC236}">
                  <a16:creationId xmlns:a16="http://schemas.microsoft.com/office/drawing/2014/main" id="{FBFFD24A-FAE1-7D1C-1321-76A6D6A0E8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0" y="2778"/>
              <a:ext cx="7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73" name="Line 51">
              <a:extLst>
                <a:ext uri="{FF2B5EF4-FFF2-40B4-BE49-F238E27FC236}">
                  <a16:creationId xmlns:a16="http://schemas.microsoft.com/office/drawing/2014/main" id="{53043525-8F36-E527-5A00-E7537049E5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17" y="1087"/>
              <a:ext cx="0" cy="15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74" name="Text Box 52">
              <a:extLst>
                <a:ext uri="{FF2B5EF4-FFF2-40B4-BE49-F238E27FC236}">
                  <a16:creationId xmlns:a16="http://schemas.microsoft.com/office/drawing/2014/main" id="{11D0A80F-39AE-1B5C-2EC8-2C2CFF9539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3" y="441"/>
              <a:ext cx="15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>
                  <a:solidFill>
                    <a:schemeClr val="tx1"/>
                  </a:solidFill>
                  <a:latin typeface="Times New Roman" panose="02020603050405020304" pitchFamily="18" charset="0"/>
                  <a:ea typeface="华文隶书" panose="02010800040101010101" pitchFamily="2" charset="-122"/>
                </a:rPr>
                <a:t>页表寄存器</a:t>
              </a:r>
            </a:p>
          </p:txBody>
        </p:sp>
        <p:sp>
          <p:nvSpPr>
            <p:cNvPr id="17475" name="Text Box 53">
              <a:extLst>
                <a:ext uri="{FF2B5EF4-FFF2-40B4-BE49-F238E27FC236}">
                  <a16:creationId xmlns:a16="http://schemas.microsoft.com/office/drawing/2014/main" id="{EA9FD9BA-B91E-B25F-99B6-8003EC33E2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8" y="489"/>
              <a:ext cx="15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>
                  <a:solidFill>
                    <a:schemeClr val="tx1"/>
                  </a:solidFill>
                  <a:latin typeface="Times New Roman" panose="02020603050405020304" pitchFamily="18" charset="0"/>
                  <a:ea typeface="华文隶书" panose="02010800040101010101" pitchFamily="2" charset="-122"/>
                </a:rPr>
                <a:t>逻辑地址</a:t>
              </a:r>
            </a:p>
          </p:txBody>
        </p:sp>
        <p:sp>
          <p:nvSpPr>
            <p:cNvPr id="17476" name="Text Box 54">
              <a:extLst>
                <a:ext uri="{FF2B5EF4-FFF2-40B4-BE49-F238E27FC236}">
                  <a16:creationId xmlns:a16="http://schemas.microsoft.com/office/drawing/2014/main" id="{4203CCE3-DC61-0438-F8B9-FA5B8666F0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9" y="2330"/>
              <a:ext cx="154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>
                  <a:solidFill>
                    <a:schemeClr val="tx1"/>
                  </a:solidFill>
                  <a:latin typeface="Times New Roman" panose="02020603050405020304" pitchFamily="18" charset="0"/>
                  <a:ea typeface="华文隶书" panose="02010800040101010101" pitchFamily="2" charset="-122"/>
                </a:rPr>
                <a:t>物理地址</a:t>
              </a:r>
            </a:p>
          </p:txBody>
        </p:sp>
        <p:sp>
          <p:nvSpPr>
            <p:cNvPr id="17477" name="Text Box 55">
              <a:extLst>
                <a:ext uri="{FF2B5EF4-FFF2-40B4-BE49-F238E27FC236}">
                  <a16:creationId xmlns:a16="http://schemas.microsoft.com/office/drawing/2014/main" id="{1566361F-4502-BAA8-6733-343298B79C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0" y="192"/>
              <a:ext cx="15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>
                  <a:solidFill>
                    <a:schemeClr val="tx1"/>
                  </a:solidFill>
                  <a:latin typeface="Times New Roman" panose="02020603050405020304" pitchFamily="18" charset="0"/>
                  <a:ea typeface="华文隶书" panose="02010800040101010101" pitchFamily="2" charset="-122"/>
                </a:rPr>
                <a:t>越界中断</a:t>
              </a:r>
            </a:p>
          </p:txBody>
        </p:sp>
        <p:sp>
          <p:nvSpPr>
            <p:cNvPr id="17478" name="Text Box 57">
              <a:extLst>
                <a:ext uri="{FF2B5EF4-FFF2-40B4-BE49-F238E27FC236}">
                  <a16:creationId xmlns:a16="http://schemas.microsoft.com/office/drawing/2014/main" id="{04B62FE5-08A9-4757-F1D8-1A24A94F49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1" y="1435"/>
              <a:ext cx="79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>
                  <a:solidFill>
                    <a:schemeClr val="tx1"/>
                  </a:solidFill>
                  <a:latin typeface="Times New Roman" panose="02020603050405020304" pitchFamily="18" charset="0"/>
                  <a:ea typeface="华文隶书" panose="02010800040101010101" pitchFamily="2" charset="-122"/>
                </a:rPr>
                <a:t>页合法</a:t>
              </a:r>
            </a:p>
          </p:txBody>
        </p:sp>
        <p:sp>
          <p:nvSpPr>
            <p:cNvPr id="17479" name="Line 72">
              <a:extLst>
                <a:ext uri="{FF2B5EF4-FFF2-40B4-BE49-F238E27FC236}">
                  <a16:creationId xmlns:a16="http://schemas.microsoft.com/office/drawing/2014/main" id="{FDF1C854-3E87-1444-2EA1-9720B166D2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9" y="1634"/>
              <a:ext cx="0" cy="3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80" name="Line 73">
              <a:extLst>
                <a:ext uri="{FF2B5EF4-FFF2-40B4-BE49-F238E27FC236}">
                  <a16:creationId xmlns:a16="http://schemas.microsoft.com/office/drawing/2014/main" id="{0C15C7EE-7C85-9B67-216A-8A842A9EF7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9" y="2032"/>
              <a:ext cx="1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81" name="Line 75">
              <a:extLst>
                <a:ext uri="{FF2B5EF4-FFF2-40B4-BE49-F238E27FC236}">
                  <a16:creationId xmlns:a16="http://schemas.microsoft.com/office/drawing/2014/main" id="{E429C4D2-31EE-B32B-7EBE-57E31E9A21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8" y="2131"/>
              <a:ext cx="1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82" name="Line 76">
              <a:extLst>
                <a:ext uri="{FF2B5EF4-FFF2-40B4-BE49-F238E27FC236}">
                  <a16:creationId xmlns:a16="http://schemas.microsoft.com/office/drawing/2014/main" id="{05641D58-E432-5C11-31A3-F6174D4DFA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8" y="2131"/>
              <a:ext cx="0" cy="5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83" name="Text Box 77">
              <a:extLst>
                <a:ext uri="{FF2B5EF4-FFF2-40B4-BE49-F238E27FC236}">
                  <a16:creationId xmlns:a16="http://schemas.microsoft.com/office/drawing/2014/main" id="{A5E95B92-731E-93A2-1CA8-455DFDBEA9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1" y="1783"/>
              <a:ext cx="44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>
                  <a:solidFill>
                    <a:schemeClr val="tx1"/>
                  </a:solidFill>
                  <a:ea typeface="宋体" panose="02010600030101010101" pitchFamily="2" charset="-122"/>
                </a:rPr>
                <a:t>页表</a:t>
              </a:r>
            </a:p>
          </p:txBody>
        </p:sp>
        <p:sp>
          <p:nvSpPr>
            <p:cNvPr id="17484" name="Text Box 78">
              <a:extLst>
                <a:ext uri="{FF2B5EF4-FFF2-40B4-BE49-F238E27FC236}">
                  <a16:creationId xmlns:a16="http://schemas.microsoft.com/office/drawing/2014/main" id="{86ED0790-1C7E-B074-DBD3-6B5E6E473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536"/>
              <a:ext cx="4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>
                  <a:solidFill>
                    <a:schemeClr val="tx1"/>
                  </a:solidFill>
                  <a:ea typeface="宋体" panose="02010600030101010101" pitchFamily="2" charset="-122"/>
                </a:rPr>
                <a:t>快表</a:t>
              </a:r>
            </a:p>
          </p:txBody>
        </p:sp>
      </p:grpSp>
      <p:sp>
        <p:nvSpPr>
          <p:cNvPr id="17412" name="Line 97">
            <a:extLst>
              <a:ext uri="{FF2B5EF4-FFF2-40B4-BE49-F238E27FC236}">
                <a16:creationId xmlns:a16="http://schemas.microsoft.com/office/drawing/2014/main" id="{BD8E7B7B-7097-976D-022E-12FAB1DB98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56325" y="765175"/>
            <a:ext cx="863600" cy="431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7413" name="Text Box 98">
            <a:extLst>
              <a:ext uri="{FF2B5EF4-FFF2-40B4-BE49-F238E27FC236}">
                <a16:creationId xmlns:a16="http://schemas.microsoft.com/office/drawing/2014/main" id="{FFA7AA16-037D-9DE0-90C2-091B56461A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9925" y="549275"/>
            <a:ext cx="12239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>
                <a:ea typeface="宋体" panose="02010600030101010101" pitchFamily="2" charset="-122"/>
              </a:rPr>
              <a:t>保护方式</a:t>
            </a:r>
          </a:p>
        </p:txBody>
      </p:sp>
      <p:sp>
        <p:nvSpPr>
          <p:cNvPr id="17414" name="Text Box 99">
            <a:extLst>
              <a:ext uri="{FF2B5EF4-FFF2-40B4-BE49-F238E27FC236}">
                <a16:creationId xmlns:a16="http://schemas.microsoft.com/office/drawing/2014/main" id="{B657C52F-CDA9-B54B-6C0C-B7242A9668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3716338"/>
            <a:ext cx="1295400" cy="2236787"/>
          </a:xfrm>
          <a:prstGeom prst="rect">
            <a:avLst/>
          </a:prstGeom>
          <a:noFill/>
          <a:ln w="9525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注意：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zh-CN" altLang="en-US" sz="180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快表不大；</a:t>
            </a:r>
            <a:r>
              <a:rPr kumimoji="0" lang="zh-CN" altLang="en-US" sz="180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设计得当，快表的命中率可以很高。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826D3075-D35A-1EED-BA0E-0CFE03ACAD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 b="1">
                <a:ea typeface="幼圆" panose="02010509060101010101" pitchFamily="49" charset="-122"/>
              </a:rPr>
              <a:t>五、页的保护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BE27FEB6-FFB7-5495-C8C3-C97A12DB4A9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182688" y="2017713"/>
            <a:ext cx="7134225" cy="41148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buClr>
                <a:srgbClr val="FF0000"/>
              </a:buClr>
              <a:buSzPct val="105000"/>
              <a:buFont typeface="Wingdings" panose="05000000000000000000" pitchFamily="2" charset="2"/>
              <a:buChar char="q"/>
            </a:pPr>
            <a:r>
              <a:rPr lang="zh-CN" altLang="en-US" sz="2000">
                <a:ea typeface="幼圆" panose="02010509060101010101" pitchFamily="49" charset="-122"/>
              </a:rPr>
              <a:t>带来的问题</a:t>
            </a:r>
          </a:p>
          <a:p>
            <a:pPr lvl="2" eaLnBrk="1" hangingPunct="1">
              <a:lnSpc>
                <a:spcPct val="140000"/>
              </a:lnSpc>
              <a:buClr>
                <a:srgbClr val="FF0000"/>
              </a:buClr>
              <a:buSzPct val="105000"/>
              <a:buFont typeface="Wingdings" panose="05000000000000000000" pitchFamily="2" charset="2"/>
              <a:buNone/>
            </a:pPr>
            <a:r>
              <a:rPr lang="zh-CN" altLang="en-US" sz="1800" b="0">
                <a:latin typeface="宋体" panose="02010600030101010101" pitchFamily="2" charset="-122"/>
                <a:ea typeface="宋体" panose="02010600030101010101" pitchFamily="2" charset="-122"/>
              </a:rPr>
              <a:t>若共享数据与不共享数据划在同一块中，则：</a:t>
            </a:r>
          </a:p>
          <a:p>
            <a:pPr lvl="2" eaLnBrk="1" hangingPunct="1">
              <a:lnSpc>
                <a:spcPct val="140000"/>
              </a:lnSpc>
              <a:buClr>
                <a:srgbClr val="FF0000"/>
              </a:buClr>
              <a:buSzPct val="105000"/>
              <a:buFont typeface="Wingdings" panose="05000000000000000000" pitchFamily="2" charset="2"/>
              <a:buChar char="q"/>
            </a:pPr>
            <a:r>
              <a:rPr lang="zh-CN" altLang="en-US" sz="1800" b="0">
                <a:latin typeface="宋体" panose="02010600030101010101" pitchFamily="2" charset="-122"/>
                <a:ea typeface="宋体" panose="02010600030101010101" pitchFamily="2" charset="-122"/>
              </a:rPr>
              <a:t>有些不共享的数据也被共享，不易保密。</a:t>
            </a:r>
          </a:p>
          <a:p>
            <a:pPr lvl="1" eaLnBrk="1" hangingPunct="1">
              <a:lnSpc>
                <a:spcPct val="140000"/>
              </a:lnSpc>
              <a:buClr>
                <a:srgbClr val="FF0000"/>
              </a:buClr>
              <a:buSzPct val="105000"/>
              <a:buFont typeface="Wingdings" panose="05000000000000000000" pitchFamily="2" charset="2"/>
              <a:buNone/>
            </a:pPr>
            <a:r>
              <a:rPr lang="zh-CN" altLang="en-US" sz="1800" b="0">
                <a:latin typeface="宋体" panose="02010600030101010101" pitchFamily="2" charset="-122"/>
                <a:ea typeface="宋体" panose="02010600030101010101" pitchFamily="2" charset="-122"/>
              </a:rPr>
              <a:t>    实现数据共享的最好方法</a:t>
            </a:r>
            <a:r>
              <a:rPr lang="en-US" altLang="zh-CN" sz="1800" b="0">
                <a:latin typeface="宋体" panose="02010600030101010101" pitchFamily="2" charset="-122"/>
                <a:ea typeface="宋体" panose="02010600030101010101" pitchFamily="2" charset="-122"/>
              </a:rPr>
              <a:t>---</a:t>
            </a:r>
            <a:r>
              <a:rPr lang="zh-CN" altLang="en-US" sz="1800" b="0">
                <a:latin typeface="宋体" panose="02010600030101010101" pitchFamily="2" charset="-122"/>
                <a:ea typeface="宋体" panose="02010600030101010101" pitchFamily="2" charset="-122"/>
              </a:rPr>
              <a:t>段式存储管理。</a:t>
            </a:r>
          </a:p>
          <a:p>
            <a:pPr eaLnBrk="1" hangingPunct="1">
              <a:lnSpc>
                <a:spcPct val="140000"/>
              </a:lnSpc>
              <a:buClr>
                <a:srgbClr val="FF0000"/>
              </a:buClr>
              <a:buSzPct val="105000"/>
              <a:buFont typeface="Wingdings" panose="05000000000000000000" pitchFamily="2" charset="2"/>
              <a:buChar char="q"/>
            </a:pPr>
            <a:r>
              <a:rPr lang="zh-CN" altLang="en-US" sz="2000">
                <a:ea typeface="幼圆" panose="02010509060101010101" pitchFamily="49" charset="-122"/>
              </a:rPr>
              <a:t>页的保护</a:t>
            </a:r>
          </a:p>
          <a:p>
            <a:pPr eaLnBrk="1" hangingPunct="1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页式存储管理系统提供了</a:t>
            </a:r>
            <a:r>
              <a:rPr lang="zh-CN" altLang="en-US" sz="180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两种方式</a:t>
            </a: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</a:p>
          <a:p>
            <a:pPr lvl="2" eaLnBrk="1" hangingPunct="1">
              <a:lnSpc>
                <a:spcPct val="130000"/>
              </a:lnSpc>
              <a:buClr>
                <a:srgbClr val="FF33CC"/>
              </a:buClr>
              <a:buFont typeface="Wingdings" panose="05000000000000000000" pitchFamily="2" charset="2"/>
              <a:buChar char="v"/>
            </a:pPr>
            <a:r>
              <a:rPr lang="zh-CN" altLang="en-US" sz="1800" b="0">
                <a:latin typeface="宋体" panose="02010600030101010101" pitchFamily="2" charset="-122"/>
                <a:ea typeface="宋体" panose="02010600030101010101" pitchFamily="2" charset="-122"/>
              </a:rPr>
              <a:t>地址越界保护：页号</a:t>
            </a:r>
            <a:r>
              <a:rPr lang="en-US" altLang="zh-CN" sz="1800" b="0">
                <a:latin typeface="宋体" panose="02010600030101010101" pitchFamily="2" charset="-122"/>
                <a:ea typeface="宋体" panose="02010600030101010101" pitchFamily="2" charset="-122"/>
              </a:rPr>
              <a:t>&lt;</a:t>
            </a:r>
            <a:r>
              <a:rPr lang="zh-CN" altLang="en-US" sz="1800" b="0">
                <a:latin typeface="宋体" panose="02010600030101010101" pitchFamily="2" charset="-122"/>
                <a:ea typeface="宋体" panose="02010600030101010101" pitchFamily="2" charset="-122"/>
              </a:rPr>
              <a:t>页表长度（页表寄存器）</a:t>
            </a:r>
          </a:p>
          <a:p>
            <a:pPr lvl="2" eaLnBrk="1" hangingPunct="1">
              <a:lnSpc>
                <a:spcPct val="130000"/>
              </a:lnSpc>
              <a:buClr>
                <a:srgbClr val="FF33CC"/>
              </a:buClr>
              <a:buFont typeface="Wingdings" panose="05000000000000000000" pitchFamily="2" charset="2"/>
              <a:buChar char="v"/>
            </a:pPr>
            <a:r>
              <a:rPr lang="zh-CN" altLang="en-US" sz="1800" b="0">
                <a:latin typeface="宋体" panose="02010600030101010101" pitchFamily="2" charset="-122"/>
                <a:ea typeface="宋体" panose="02010600030101010101" pitchFamily="2" charset="-122"/>
              </a:rPr>
              <a:t>在页表中设置保护位</a:t>
            </a:r>
          </a:p>
          <a:p>
            <a:pPr eaLnBrk="1" hangingPunct="1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（定义操作权限：只读，读写，执行等）</a:t>
            </a:r>
          </a:p>
        </p:txBody>
      </p:sp>
      <p:pic>
        <p:nvPicPr>
          <p:cNvPr id="18436" name="Picture 4" descr="2-1-3">
            <a:extLst>
              <a:ext uri="{FF2B5EF4-FFF2-40B4-BE49-F238E27FC236}">
                <a16:creationId xmlns:a16="http://schemas.microsoft.com/office/drawing/2014/main" id="{11FFB2DA-546C-25EC-9E1C-D2BE4FB6388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381000"/>
            <a:ext cx="1143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79267" name="Group 35">
            <a:extLst>
              <a:ext uri="{FF2B5EF4-FFF2-40B4-BE49-F238E27FC236}">
                <a16:creationId xmlns:a16="http://schemas.microsoft.com/office/drawing/2014/main" id="{9F892C11-40FF-9105-CEFB-190C293F9494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843213" y="6092825"/>
          <a:ext cx="4321175" cy="457200"/>
        </p:xfrm>
        <a:graphic>
          <a:graphicData uri="http://schemas.openxmlformats.org/drawingml/2006/table">
            <a:tbl>
              <a:tblPr/>
              <a:tblGrid>
                <a:gridCol w="1439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98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</a:rPr>
                        <a:t>页号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</a:rPr>
                        <a:t>块号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</a:rPr>
                        <a:t>存取控制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447" name="Text Box 32">
            <a:extLst>
              <a:ext uri="{FF2B5EF4-FFF2-40B4-BE49-F238E27FC236}">
                <a16:creationId xmlns:a16="http://schemas.microsoft.com/office/drawing/2014/main" id="{36490FC3-4AD2-F2AA-2111-A22FD0B00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6092825"/>
            <a:ext cx="9350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zh-CN" sz="2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8448" name="Text Box 33">
            <a:extLst>
              <a:ext uri="{FF2B5EF4-FFF2-40B4-BE49-F238E27FC236}">
                <a16:creationId xmlns:a16="http://schemas.microsoft.com/office/drawing/2014/main" id="{E920E361-A69A-6F70-534C-7E9C32F74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6092825"/>
            <a:ext cx="10080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>
                <a:solidFill>
                  <a:srgbClr val="FF33CC"/>
                </a:solidFill>
                <a:ea typeface="宋体" panose="02010600030101010101" pitchFamily="2" charset="-122"/>
              </a:rPr>
              <a:t>页表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7">
            <a:extLst>
              <a:ext uri="{FF2B5EF4-FFF2-40B4-BE49-F238E27FC236}">
                <a16:creationId xmlns:a16="http://schemas.microsoft.com/office/drawing/2014/main" id="{B1BFC5E5-546A-F917-3129-7CBD8E87D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708275"/>
            <a:ext cx="2012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>
                <a:solidFill>
                  <a:srgbClr val="000099"/>
                </a:solidFill>
                <a:latin typeface="Times New Roman" panose="02020603050405020304" pitchFamily="18" charset="0"/>
              </a:rPr>
              <a:t>作业</a:t>
            </a:r>
            <a:r>
              <a:rPr kumimoji="0" lang="en-US" altLang="zh-CN" sz="2400">
                <a:solidFill>
                  <a:srgbClr val="000099"/>
                </a:solidFill>
                <a:latin typeface="Times New Roman" panose="02020603050405020304" pitchFamily="18" charset="0"/>
              </a:rPr>
              <a:t>1</a:t>
            </a:r>
            <a:r>
              <a:rPr kumimoji="0" lang="zh-CN" altLang="en-US" sz="2400">
                <a:solidFill>
                  <a:srgbClr val="000099"/>
                </a:solidFill>
                <a:latin typeface="Times New Roman" panose="02020603050405020304" pitchFamily="18" charset="0"/>
              </a:rPr>
              <a:t>的页表</a:t>
            </a:r>
            <a:r>
              <a:rPr kumimoji="0" lang="zh-CN" altLang="en-US" sz="10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</a:t>
            </a:r>
            <a:endParaRPr kumimoji="0" lang="zh-CN" altLang="en-US" sz="1800" b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539676" name="Group 28">
            <a:extLst>
              <a:ext uri="{FF2B5EF4-FFF2-40B4-BE49-F238E27FC236}">
                <a16:creationId xmlns:a16="http://schemas.microsoft.com/office/drawing/2014/main" id="{982D4A9D-8CCB-42F6-604B-0AFE297AACF1}"/>
              </a:ext>
            </a:extLst>
          </p:cNvPr>
          <p:cNvGraphicFramePr>
            <a:graphicFrameLocks noGrp="1"/>
          </p:cNvGraphicFramePr>
          <p:nvPr/>
        </p:nvGraphicFramePr>
        <p:xfrm>
          <a:off x="1770063" y="3127375"/>
          <a:ext cx="1944687" cy="1825625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  <a:cs typeface="Times New Roman" pitchFamily="18" charset="0"/>
                        </a:rPr>
                        <a:t>页号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Arial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  <a:cs typeface="Times New Roman" pitchFamily="18" charset="0"/>
                        </a:rPr>
                        <a:t>标志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Arial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  <a:cs typeface="Times New Roman" pitchFamily="18" charset="0"/>
                        </a:rPr>
                        <a:t>块号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Arial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  <a:cs typeface="Times New Roman" pitchFamily="18" charset="0"/>
                        </a:rPr>
                        <a:t>  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Arial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  <a:cs typeface="Times New Roman" pitchFamily="18" charset="0"/>
                        </a:rPr>
                        <a:t>  E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Arial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  <a:cs typeface="Times New Roman" pitchFamily="18" charset="0"/>
                        </a:rPr>
                        <a:t> 12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Arial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  <a:cs typeface="Times New Roman" pitchFamily="18" charset="0"/>
                        </a:rPr>
                        <a:t>  1 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Arial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  <a:cs typeface="Times New Roman" pitchFamily="18" charset="0"/>
                        </a:rPr>
                        <a:t>  E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Arial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  <a:cs typeface="Times New Roman" pitchFamily="18" charset="0"/>
                        </a:rPr>
                        <a:t> 13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Arial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  <a:cs typeface="Times New Roman" pitchFamily="18" charset="0"/>
                        </a:rPr>
                        <a:t>  2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Arial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  <a:cs typeface="Times New Roman" pitchFamily="18" charset="0"/>
                        </a:rPr>
                        <a:t>  W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Arial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  <a:cs typeface="Times New Roman" pitchFamily="18" charset="0"/>
                        </a:rPr>
                        <a:t> 14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Arial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9900CC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  <a:cs typeface="Times New Roman" pitchFamily="18" charset="0"/>
                        </a:rPr>
                        <a:t>  3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9900CC"/>
                        </a:solidFill>
                        <a:effectLst/>
                        <a:latin typeface="Arial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9900CC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  <a:cs typeface="Times New Roman" pitchFamily="18" charset="0"/>
                        </a:rPr>
                        <a:t>  R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9900CC"/>
                        </a:solidFill>
                        <a:effectLst/>
                        <a:latin typeface="Arial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9900CC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  <a:cs typeface="Times New Roman" pitchFamily="18" charset="0"/>
                        </a:rPr>
                        <a:t> 8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9900CC"/>
                        </a:solidFill>
                        <a:effectLst/>
                        <a:latin typeface="Arial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39702" name="Group 54">
            <a:extLst>
              <a:ext uri="{FF2B5EF4-FFF2-40B4-BE49-F238E27FC236}">
                <a16:creationId xmlns:a16="http://schemas.microsoft.com/office/drawing/2014/main" id="{B487088A-F8D4-D369-9800-FEF619ECA8B9}"/>
              </a:ext>
            </a:extLst>
          </p:cNvPr>
          <p:cNvGraphicFramePr>
            <a:graphicFrameLocks noGrp="1"/>
          </p:cNvGraphicFramePr>
          <p:nvPr/>
        </p:nvGraphicFramePr>
        <p:xfrm>
          <a:off x="5227638" y="3127375"/>
          <a:ext cx="1943100" cy="1460500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  <a:cs typeface="Times New Roman" pitchFamily="18" charset="0"/>
                        </a:rPr>
                        <a:t>页号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Arial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  <a:cs typeface="Times New Roman" pitchFamily="18" charset="0"/>
                        </a:rPr>
                        <a:t>标志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Arial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  <a:cs typeface="Times New Roman" pitchFamily="18" charset="0"/>
                        </a:rPr>
                        <a:t>块号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Arial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  <a:cs typeface="Times New Roman" pitchFamily="18" charset="0"/>
                        </a:rPr>
                        <a:t>  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Arial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  <a:cs typeface="Times New Roman" pitchFamily="18" charset="0"/>
                        </a:rPr>
                        <a:t>  E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Arial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  <a:cs typeface="Times New Roman" pitchFamily="18" charset="0"/>
                        </a:rPr>
                        <a:t>  2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Arial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  <a:cs typeface="Times New Roman" pitchFamily="18" charset="0"/>
                        </a:rPr>
                        <a:t>  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Arial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  <a:cs typeface="Times New Roman" pitchFamily="18" charset="0"/>
                        </a:rPr>
                        <a:t>  W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Arial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  <a:cs typeface="Times New Roman" pitchFamily="18" charset="0"/>
                        </a:rPr>
                        <a:t>  3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Arial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9900CC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  <a:cs typeface="Times New Roman" pitchFamily="18" charset="0"/>
                        </a:rPr>
                        <a:t>  2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9900CC"/>
                        </a:solidFill>
                        <a:effectLst/>
                        <a:latin typeface="Arial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9900CC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  <a:cs typeface="Times New Roman" pitchFamily="18" charset="0"/>
                        </a:rPr>
                        <a:t>  R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9900CC"/>
                        </a:solidFill>
                        <a:effectLst/>
                        <a:latin typeface="Arial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9900CC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  <a:cs typeface="Times New Roman" pitchFamily="18" charset="0"/>
                        </a:rPr>
                        <a:t>  8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9900CC"/>
                        </a:solidFill>
                        <a:effectLst/>
                        <a:latin typeface="Arial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507" name="Rectangle 76">
            <a:extLst>
              <a:ext uri="{FF2B5EF4-FFF2-40B4-BE49-F238E27FC236}">
                <a16:creationId xmlns:a16="http://schemas.microsoft.com/office/drawing/2014/main" id="{6A26AFF2-D3A5-FA98-6D83-CA3D895AC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8913" y="2708275"/>
            <a:ext cx="2070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>
                <a:solidFill>
                  <a:srgbClr val="000099"/>
                </a:solidFill>
                <a:latin typeface="Times New Roman" panose="02020603050405020304" pitchFamily="18" charset="0"/>
              </a:rPr>
              <a:t>作业</a:t>
            </a:r>
            <a:r>
              <a:rPr kumimoji="0" lang="en-US" altLang="zh-CN" sz="2400">
                <a:solidFill>
                  <a:srgbClr val="000099"/>
                </a:solidFill>
                <a:latin typeface="Times New Roman" panose="02020603050405020304" pitchFamily="18" charset="0"/>
              </a:rPr>
              <a:t>2</a:t>
            </a:r>
            <a:r>
              <a:rPr kumimoji="0" lang="zh-CN" altLang="en-US" sz="2400">
                <a:solidFill>
                  <a:srgbClr val="000099"/>
                </a:solidFill>
                <a:latin typeface="Times New Roman" panose="02020603050405020304" pitchFamily="18" charset="0"/>
              </a:rPr>
              <a:t>的页表</a:t>
            </a:r>
            <a:r>
              <a:rPr kumimoji="0" lang="zh-CN" altLang="en-US" sz="10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</a:t>
            </a:r>
            <a:endParaRPr kumimoji="0" lang="zh-CN" altLang="en-US" sz="1800" b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508" name="Text Box 77">
            <a:extLst>
              <a:ext uri="{FF2B5EF4-FFF2-40B4-BE49-F238E27FC236}">
                <a16:creationId xmlns:a16="http://schemas.microsoft.com/office/drawing/2014/main" id="{7B12DAA8-9BC3-E26D-4004-0EBE7FD4EB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5250" y="5143500"/>
            <a:ext cx="48244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：只读；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：可写；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：可执行</a:t>
            </a:r>
          </a:p>
        </p:txBody>
      </p:sp>
      <p:sp>
        <p:nvSpPr>
          <p:cNvPr id="19509" name="Line 78">
            <a:extLst>
              <a:ext uri="{FF2B5EF4-FFF2-40B4-BE49-F238E27FC236}">
                <a16:creationId xmlns:a16="http://schemas.microsoft.com/office/drawing/2014/main" id="{64740C5F-52B1-B363-6CAA-08DD3AA6345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77900" y="3416300"/>
            <a:ext cx="1512888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10" name="Oval 79">
            <a:extLst>
              <a:ext uri="{FF2B5EF4-FFF2-40B4-BE49-F238E27FC236}">
                <a16:creationId xmlns:a16="http://schemas.microsoft.com/office/drawing/2014/main" id="{E1488FAE-7D65-2B48-85FE-AF6CE3D9B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00" y="4064000"/>
            <a:ext cx="1433513" cy="7207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存取控制</a:t>
            </a:r>
          </a:p>
        </p:txBody>
      </p:sp>
      <p:sp>
        <p:nvSpPr>
          <p:cNvPr id="19511" name="Rectangle 80">
            <a:extLst>
              <a:ext uri="{FF2B5EF4-FFF2-40B4-BE49-F238E27FC236}">
                <a16:creationId xmlns:a16="http://schemas.microsoft.com/office/drawing/2014/main" id="{1C55328D-2467-8AF4-33A5-9E1AD56A04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600" y="914400"/>
            <a:ext cx="5638800" cy="762000"/>
          </a:xfrm>
          <a:noFill/>
        </p:spPr>
        <p:txBody>
          <a:bodyPr/>
          <a:lstStyle/>
          <a:p>
            <a:pPr eaLnBrk="1" hangingPunct="1"/>
            <a:r>
              <a:rPr lang="zh-CN" altLang="en-US" sz="2800" b="1">
                <a:ea typeface="幼圆" panose="02010509060101010101" pitchFamily="49" charset="-122"/>
              </a:rPr>
              <a:t>五、页的共享保护</a:t>
            </a:r>
          </a:p>
        </p:txBody>
      </p:sp>
      <p:sp>
        <p:nvSpPr>
          <p:cNvPr id="19512" name="AutoShape 81">
            <a:hlinkClick r:id="rId2" action="ppaction://hlinksldjump"/>
            <a:extLst>
              <a:ext uri="{FF2B5EF4-FFF2-40B4-BE49-F238E27FC236}">
                <a16:creationId xmlns:a16="http://schemas.microsoft.com/office/drawing/2014/main" id="{89DEE7A0-9671-5F19-D926-F00F8FE9D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6248400"/>
            <a:ext cx="685800" cy="457200"/>
          </a:xfrm>
          <a:prstGeom prst="irregularSeal1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400" b="0">
                <a:solidFill>
                  <a:schemeClr val="bg1"/>
                </a:solidFill>
                <a:ea typeface="宋体" panose="02010600030101010101" pitchFamily="2" charset="-122"/>
              </a:rPr>
              <a:t>返回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>
            <a:extLst>
              <a:ext uri="{FF2B5EF4-FFF2-40B4-BE49-F238E27FC236}">
                <a16:creationId xmlns:a16="http://schemas.microsoft.com/office/drawing/2014/main" id="{90A22838-DDED-F66C-C540-CB2744F13E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76400" y="1066800"/>
            <a:ext cx="5029200" cy="533400"/>
          </a:xfrm>
        </p:spPr>
        <p:txBody>
          <a:bodyPr/>
          <a:lstStyle/>
          <a:p>
            <a:pPr eaLnBrk="1" hangingPunct="1"/>
            <a:r>
              <a:rPr lang="en-US" altLang="zh-CN" sz="2800" b="1">
                <a:latin typeface="幼圆" panose="02010509060101010101" pitchFamily="49" charset="-122"/>
                <a:ea typeface="幼圆" panose="02010509060101010101" pitchFamily="49" charset="-122"/>
              </a:rPr>
              <a:t>5.6 </a:t>
            </a:r>
            <a:r>
              <a:rPr lang="zh-CN" altLang="en-US" sz="2800" b="1">
                <a:latin typeface="幼圆" panose="02010509060101010101" pitchFamily="49" charset="-122"/>
                <a:ea typeface="幼圆" panose="02010509060101010101" pitchFamily="49" charset="-122"/>
              </a:rPr>
              <a:t>分段存储管理方式</a:t>
            </a:r>
          </a:p>
        </p:txBody>
      </p:sp>
      <p:sp>
        <p:nvSpPr>
          <p:cNvPr id="20483" name="Rectangle 4">
            <a:extLst>
              <a:ext uri="{FF2B5EF4-FFF2-40B4-BE49-F238E27FC236}">
                <a16:creationId xmlns:a16="http://schemas.microsoft.com/office/drawing/2014/main" id="{45A8F396-3D22-60E5-C681-84B56796C2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57400" y="2133600"/>
            <a:ext cx="5970588" cy="4032250"/>
          </a:xfrm>
        </p:spPr>
        <p:txBody>
          <a:bodyPr/>
          <a:lstStyle/>
          <a:p>
            <a:pPr eaLnBrk="1" hangingPunct="1">
              <a:lnSpc>
                <a:spcPct val="170000"/>
              </a:lnSpc>
              <a:spcBef>
                <a:spcPct val="0"/>
              </a:spcBef>
            </a:pPr>
            <a:r>
              <a:rPr lang="zh-CN" altLang="en-US" sz="2400" b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hlinkClick r:id="rId2" action="ppaction://hlinksldjump"/>
              </a:rPr>
              <a:t>分段存储管理方式的引入</a:t>
            </a:r>
            <a:endParaRPr lang="zh-CN" altLang="en-US" sz="2400" b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70000"/>
              </a:lnSpc>
              <a:spcBef>
                <a:spcPct val="0"/>
              </a:spcBef>
            </a:pPr>
            <a:r>
              <a:rPr lang="zh-CN" altLang="en-US" sz="2400" b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hlinkClick r:id="rId3" action="ppaction://hlinksldjump"/>
              </a:rPr>
              <a:t>分段系统的基本原理</a:t>
            </a:r>
            <a:endParaRPr lang="zh-CN" altLang="en-US" sz="2400" b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70000"/>
              </a:lnSpc>
              <a:spcBef>
                <a:spcPct val="0"/>
              </a:spcBef>
            </a:pPr>
            <a:r>
              <a:rPr lang="zh-CN" altLang="en-US" sz="2400" b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信息共享</a:t>
            </a:r>
            <a:endParaRPr lang="en-US" altLang="zh-CN" sz="2400" b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70000"/>
              </a:lnSpc>
              <a:spcBef>
                <a:spcPct val="0"/>
              </a:spcBef>
            </a:pPr>
            <a:r>
              <a:rPr lang="zh-CN" altLang="en-US" sz="2400" b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分段保护</a:t>
            </a:r>
            <a:endParaRPr lang="en-US" altLang="zh-CN" sz="2400" b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70000"/>
              </a:lnSpc>
              <a:spcBef>
                <a:spcPct val="0"/>
              </a:spcBef>
            </a:pPr>
            <a:r>
              <a:rPr lang="zh-CN" altLang="en-US" sz="2400" b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分页与分段的区别</a:t>
            </a:r>
          </a:p>
          <a:p>
            <a:pPr eaLnBrk="1" hangingPunct="1">
              <a:lnSpc>
                <a:spcPct val="170000"/>
              </a:lnSpc>
              <a:spcBef>
                <a:spcPct val="0"/>
              </a:spcBef>
            </a:pPr>
            <a:r>
              <a:rPr lang="zh-CN" altLang="en-US" sz="2400" b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分段管理的优缺点</a:t>
            </a:r>
          </a:p>
        </p:txBody>
      </p:sp>
      <p:pic>
        <p:nvPicPr>
          <p:cNvPr id="20484" name="Picture 43" descr="2-1-3">
            <a:extLst>
              <a:ext uri="{FF2B5EF4-FFF2-40B4-BE49-F238E27FC236}">
                <a16:creationId xmlns:a16="http://schemas.microsoft.com/office/drawing/2014/main" id="{84AD6356-DBB6-98E1-F4C8-510E1C25AF0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381000"/>
            <a:ext cx="1143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C74F1AE8-431C-3589-0BFC-CD367A4499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400" b="1">
                <a:solidFill>
                  <a:schemeClr val="hlin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一、分段存储管理方式的引入</a:t>
            </a:r>
            <a:r>
              <a:rPr lang="en-US" altLang="zh-CN" sz="2400" b="1">
                <a:solidFill>
                  <a:schemeClr val="hlin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-</a:t>
            </a:r>
            <a:r>
              <a:rPr lang="zh-CN" altLang="en-US" sz="2400" b="1">
                <a:latin typeface="幼圆" panose="02010509060101010101" pitchFamily="49" charset="-122"/>
                <a:ea typeface="幼圆" panose="02010509060101010101" pitchFamily="49" charset="-122"/>
              </a:rPr>
              <a:t>满足用户要求</a:t>
            </a:r>
            <a:endParaRPr lang="zh-CN" altLang="en-US" sz="2400" b="1">
              <a:solidFill>
                <a:schemeClr val="hlink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E12210DD-FD05-7368-B4AC-7B23DC8785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1600" y="1981200"/>
            <a:ext cx="7123113" cy="3849688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引入分段存储管理方式，主要是为了</a:t>
            </a:r>
            <a:r>
              <a:rPr lang="zh-CN" altLang="en-US" sz="2000">
                <a:solidFill>
                  <a:srgbClr val="FF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满足用户</a:t>
            </a:r>
            <a:r>
              <a:rPr lang="zh-CN" altLang="en-US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的一系列要求：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000">
                <a:solidFill>
                  <a:schemeClr val="fol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方便编程：</a:t>
            </a: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按逻辑关系分为若干个段，每个段从</a:t>
            </a:r>
            <a:r>
              <a:rPr lang="en-US" altLang="zh-CN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编址，并有</a:t>
            </a:r>
            <a:r>
              <a:rPr lang="zh-CN" altLang="en-US" sz="200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名字和长度</a:t>
            </a: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000">
                <a:solidFill>
                  <a:srgbClr val="FF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访问的逻辑地址</a:t>
            </a: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由段名和段内偏移量决定。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000">
                <a:solidFill>
                  <a:schemeClr val="fol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信息共享：</a:t>
            </a: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共享是以信息为逻辑单位，</a:t>
            </a:r>
            <a:r>
              <a:rPr lang="zh-CN" altLang="en-US" sz="2000">
                <a:solidFill>
                  <a:srgbClr val="FF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页是存储信息的物理单位，段却是信息的逻辑单位。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000">
                <a:solidFill>
                  <a:schemeClr val="fol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信息保护：</a:t>
            </a: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保护也是信息为逻辑单位。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000">
                <a:solidFill>
                  <a:schemeClr val="fol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动态链接：</a:t>
            </a: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动态链接以段为单位。</a:t>
            </a:r>
            <a:endParaRPr lang="zh-CN" altLang="en-US" sz="2000">
              <a:solidFill>
                <a:schemeClr val="folHlin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000">
                <a:solidFill>
                  <a:schemeClr val="fol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动态增长：</a:t>
            </a: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实际应用中，某些段（数据段）会不断增长，前面的存储管理方法均难以实现。</a:t>
            </a:r>
            <a:endParaRPr lang="zh-CN" altLang="en-US" sz="2000">
              <a:solidFill>
                <a:schemeClr val="folHlin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508" name="AutoShape 6">
            <a:hlinkClick r:id="" action="ppaction://noaction"/>
            <a:extLst>
              <a:ext uri="{FF2B5EF4-FFF2-40B4-BE49-F238E27FC236}">
                <a16:creationId xmlns:a16="http://schemas.microsoft.com/office/drawing/2014/main" id="{BA745BBA-312F-A729-53C7-2BABC7574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6248400"/>
            <a:ext cx="685800" cy="457200"/>
          </a:xfrm>
          <a:prstGeom prst="irregularSeal1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400" b="0">
                <a:solidFill>
                  <a:schemeClr val="bg1"/>
                </a:solidFill>
                <a:ea typeface="宋体" panose="02010600030101010101" pitchFamily="2" charset="-122"/>
              </a:rPr>
              <a:t>返回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9">
            <a:extLst>
              <a:ext uri="{FF2B5EF4-FFF2-40B4-BE49-F238E27FC236}">
                <a16:creationId xmlns:a16="http://schemas.microsoft.com/office/drawing/2014/main" id="{E1414512-B5E7-3E0F-9267-83AA385842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5" t="7652" r="49196" b="23172"/>
          <a:stretch>
            <a:fillRect/>
          </a:stretch>
        </p:blipFill>
        <p:spPr bwMode="auto">
          <a:xfrm>
            <a:off x="3419475" y="3068638"/>
            <a:ext cx="4876800" cy="355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Rectangle 2">
            <a:extLst>
              <a:ext uri="{FF2B5EF4-FFF2-40B4-BE49-F238E27FC236}">
                <a16:creationId xmlns:a16="http://schemas.microsoft.com/office/drawing/2014/main" id="{950A008A-3C69-E109-7D61-41EABB3563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457200"/>
            <a:ext cx="5157788" cy="617538"/>
          </a:xfrm>
        </p:spPr>
        <p:txBody>
          <a:bodyPr/>
          <a:lstStyle/>
          <a:p>
            <a:pPr eaLnBrk="1" hangingPunct="1"/>
            <a:r>
              <a:rPr lang="zh-CN" altLang="en-US" sz="2800" b="1">
                <a:latin typeface="幼圆" panose="02010509060101010101" pitchFamily="49" charset="-122"/>
                <a:ea typeface="幼圆" panose="02010509060101010101" pitchFamily="49" charset="-122"/>
              </a:rPr>
              <a:t>二、分段系统的基本原理</a:t>
            </a:r>
            <a:endParaRPr lang="zh-CN" altLang="en-US" sz="2800" b="1">
              <a:solidFill>
                <a:schemeClr val="hlink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19F8A230-026D-06CB-0447-015D23AEA3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5088" y="1143000"/>
            <a:ext cx="7808912" cy="16002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hlink"/>
              </a:buClr>
              <a:buSzPct val="140000"/>
              <a:buFont typeface="Wingdings" panose="05000000000000000000" pitchFamily="2" charset="2"/>
              <a:buChar char="§"/>
            </a:pPr>
            <a:r>
              <a:rPr lang="zh-CN" altLang="en-US" sz="2400">
                <a:solidFill>
                  <a:srgbClr val="FF33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空间划分</a:t>
            </a:r>
            <a:r>
              <a:rPr lang="en-US" altLang="zh-CN" sz="2400">
                <a:solidFill>
                  <a:srgbClr val="FF33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(</a:t>
            </a:r>
            <a:r>
              <a:rPr lang="zh-CN" altLang="en-US" sz="2400">
                <a:solidFill>
                  <a:srgbClr val="FF33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分段</a:t>
            </a:r>
            <a:r>
              <a:rPr lang="en-US" altLang="zh-CN" sz="2400">
                <a:solidFill>
                  <a:srgbClr val="FF33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)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3333FF"/>
              </a:buClr>
              <a:buSzPct val="140000"/>
              <a:buFont typeface="Wingdings" panose="05000000000000000000" pitchFamily="2" charset="2"/>
              <a:buNone/>
            </a:pPr>
            <a:r>
              <a:rPr lang="en-US" altLang="zh-CN" sz="2000" b="0">
                <a:latin typeface="幼圆" panose="02010509060101010101" pitchFamily="49" charset="-122"/>
                <a:ea typeface="幼圆" panose="02010509060101010101" pitchFamily="49" charset="-122"/>
              </a:rPr>
              <a:t>     </a:t>
            </a: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将用户作业的</a:t>
            </a:r>
            <a:r>
              <a:rPr lang="zh-CN" altLang="en-US" sz="200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逻辑地址空间</a:t>
            </a: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划分成若干个大小不等的段（由用户根据</a:t>
            </a:r>
            <a:r>
              <a:rPr lang="zh-CN" altLang="en-US" sz="200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逻辑信息的相对完整</a:t>
            </a: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来划分）。各段有段名（常用段号代替），首地址为</a:t>
            </a:r>
            <a:r>
              <a:rPr lang="en-US" altLang="zh-CN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6">
            <a:extLst>
              <a:ext uri="{FF2B5EF4-FFF2-40B4-BE49-F238E27FC236}">
                <a16:creationId xmlns:a16="http://schemas.microsoft.com/office/drawing/2014/main" id="{8B4B9344-F4F7-F59D-A685-CD9077234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6" t="3847" r="5620" b="870"/>
          <a:stretch>
            <a:fillRect/>
          </a:stretch>
        </p:blipFill>
        <p:spPr bwMode="auto">
          <a:xfrm>
            <a:off x="684213" y="1700213"/>
            <a:ext cx="7924800" cy="450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Rectangle 3">
            <a:extLst>
              <a:ext uri="{FF2B5EF4-FFF2-40B4-BE49-F238E27FC236}">
                <a16:creationId xmlns:a16="http://schemas.microsoft.com/office/drawing/2014/main" id="{338C0EDE-C6CD-20BC-6D35-F2A757A39C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2988" y="333375"/>
            <a:ext cx="7808912" cy="13716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chemeClr val="hlink"/>
              </a:buClr>
              <a:buSzPct val="140000"/>
              <a:buFont typeface="Wingdings" panose="05000000000000000000" pitchFamily="2" charset="2"/>
              <a:buChar char="§"/>
            </a:pPr>
            <a:r>
              <a:rPr lang="zh-CN" altLang="en-US" sz="2400">
                <a:solidFill>
                  <a:schemeClr val="folHlin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内存分配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>
                <a:srgbClr val="3333FF"/>
              </a:buClr>
              <a:buSzPct val="140000"/>
              <a:buFont typeface="Wingdings" panose="05000000000000000000" pitchFamily="2" charset="2"/>
              <a:buNone/>
            </a:pPr>
            <a:r>
              <a:rPr lang="zh-CN" altLang="en-US" sz="2000"/>
              <a:t>        </a:t>
            </a:r>
            <a:r>
              <a:rPr lang="zh-CN" altLang="en-US" sz="2000" b="0">
                <a:latin typeface="宋体" panose="02010600030101010101" pitchFamily="2" charset="-122"/>
                <a:ea typeface="宋体" panose="02010600030101010101" pitchFamily="2" charset="-122"/>
              </a:rPr>
              <a:t>在为作业分配内存时，以</a:t>
            </a:r>
            <a:r>
              <a:rPr lang="zh-CN" altLang="en-US" sz="200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段为单位</a:t>
            </a:r>
            <a:r>
              <a:rPr lang="zh-CN" altLang="en-US" sz="2000" b="0">
                <a:latin typeface="宋体" panose="02010600030101010101" pitchFamily="2" charset="-122"/>
                <a:ea typeface="宋体" panose="02010600030101010101" pitchFamily="2" charset="-122"/>
              </a:rPr>
              <a:t>，分配一段连续的物理地址空间；</a:t>
            </a:r>
            <a:r>
              <a:rPr lang="zh-CN" altLang="en-US" sz="200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段间不必连续</a:t>
            </a:r>
            <a:r>
              <a:rPr lang="zh-CN" altLang="en-US" sz="2000" b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23556" name="Rectangle 8">
            <a:extLst>
              <a:ext uri="{FF2B5EF4-FFF2-40B4-BE49-F238E27FC236}">
                <a16:creationId xmlns:a16="http://schemas.microsoft.com/office/drawing/2014/main" id="{CFE58979-794A-3A7E-A640-BDB577979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410200"/>
            <a:ext cx="63246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3333FF"/>
              </a:buClr>
              <a:buSzPct val="140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chemeClr val="folHlin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注</a:t>
            </a:r>
            <a:r>
              <a:rPr lang="zh-CN" altLang="en-US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、整个作业的逻辑地址空间是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二维</a:t>
            </a:r>
            <a:r>
              <a:rPr lang="zh-CN" altLang="en-US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的，其逻辑地址由段号和段内地址组成；物理地址空间是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一维</a:t>
            </a:r>
            <a:r>
              <a:rPr lang="zh-CN" altLang="en-US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的。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3333FF"/>
              </a:buClr>
              <a:buSzPct val="140000"/>
              <a:buFont typeface="Wingdings" panose="05000000000000000000" pitchFamily="2" charset="2"/>
              <a:buNone/>
            </a:pPr>
            <a:r>
              <a:rPr lang="zh-CN" altLang="en-US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、需要</a:t>
            </a:r>
            <a:r>
              <a:rPr lang="en-US" altLang="zh-CN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CPU</a:t>
            </a:r>
            <a:r>
              <a:rPr lang="zh-CN" altLang="en-US" sz="16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的硬件支持（地址变换机构）</a:t>
            </a:r>
          </a:p>
        </p:txBody>
      </p:sp>
      <p:sp>
        <p:nvSpPr>
          <p:cNvPr id="23557" name="Line 9">
            <a:extLst>
              <a:ext uri="{FF2B5EF4-FFF2-40B4-BE49-F238E27FC236}">
                <a16:creationId xmlns:a16="http://schemas.microsoft.com/office/drawing/2014/main" id="{138A8FB8-C09A-8175-65D0-A63017F3EF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4213" y="4508500"/>
            <a:ext cx="574675" cy="360363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58" name="Text Box 11">
            <a:extLst>
              <a:ext uri="{FF2B5EF4-FFF2-40B4-BE49-F238E27FC236}">
                <a16:creationId xmlns:a16="http://schemas.microsoft.com/office/drawing/2014/main" id="{FF6FED2D-F6F2-79A2-8A16-0066188F9F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4941888"/>
            <a:ext cx="1439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1600">
                <a:solidFill>
                  <a:srgbClr val="000099"/>
                </a:solidFill>
                <a:ea typeface="宋体" panose="02010600030101010101" pitchFamily="2" charset="-122"/>
              </a:rPr>
              <a:t>逻辑地址空间</a:t>
            </a:r>
          </a:p>
        </p:txBody>
      </p:sp>
      <p:sp>
        <p:nvSpPr>
          <p:cNvPr id="23559" name="Text Box 12">
            <a:extLst>
              <a:ext uri="{FF2B5EF4-FFF2-40B4-BE49-F238E27FC236}">
                <a16:creationId xmlns:a16="http://schemas.microsoft.com/office/drawing/2014/main" id="{08DFCB0B-E645-67A5-B511-A033301C9B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0" y="4508500"/>
            <a:ext cx="7921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1600">
                <a:solidFill>
                  <a:srgbClr val="000099"/>
                </a:solidFill>
                <a:ea typeface="宋体" panose="02010600030101010101" pitchFamily="2" charset="-122"/>
              </a:rPr>
              <a:t>段表</a:t>
            </a:r>
          </a:p>
        </p:txBody>
      </p:sp>
      <p:sp>
        <p:nvSpPr>
          <p:cNvPr id="23560" name="Text Box 13">
            <a:extLst>
              <a:ext uri="{FF2B5EF4-FFF2-40B4-BE49-F238E27FC236}">
                <a16:creationId xmlns:a16="http://schemas.microsoft.com/office/drawing/2014/main" id="{2A4691C9-4EA9-9B65-5335-1803735DD2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8850" y="6308725"/>
            <a:ext cx="1439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1600">
                <a:solidFill>
                  <a:srgbClr val="000099"/>
                </a:solidFill>
                <a:ea typeface="宋体" panose="02010600030101010101" pitchFamily="2" charset="-122"/>
              </a:rPr>
              <a:t>主存空间</a:t>
            </a:r>
          </a:p>
        </p:txBody>
      </p:sp>
      <p:sp>
        <p:nvSpPr>
          <p:cNvPr id="23561" name="Text Box 14">
            <a:extLst>
              <a:ext uri="{FF2B5EF4-FFF2-40B4-BE49-F238E27FC236}">
                <a16:creationId xmlns:a16="http://schemas.microsoft.com/office/drawing/2014/main" id="{62504AF6-65A8-3D55-4C83-FBCA45DFA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163" y="2924175"/>
            <a:ext cx="12969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1600">
                <a:solidFill>
                  <a:srgbClr val="000099"/>
                </a:solidFill>
                <a:ea typeface="宋体" panose="02010600030101010101" pitchFamily="2" charset="-122"/>
              </a:rPr>
              <a:t>段长   基址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>
            <a:extLst>
              <a:ext uri="{FF2B5EF4-FFF2-40B4-BE49-F238E27FC236}">
                <a16:creationId xmlns:a16="http://schemas.microsoft.com/office/drawing/2014/main" id="{E1C162D2-4722-6637-324D-E6F1FFD3A3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6800" y="2057400"/>
            <a:ext cx="7123113" cy="4191000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记录了段与内存位置的</a:t>
            </a:r>
            <a:r>
              <a:rPr lang="zh-CN" altLang="en-US" sz="2000">
                <a:solidFill>
                  <a:srgbClr val="FF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对应关系</a:t>
            </a:r>
          </a:p>
          <a:p>
            <a:pPr eaLnBrk="1" hangingPunct="1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段表常保存在</a:t>
            </a:r>
            <a:r>
              <a:rPr lang="zh-CN" altLang="en-US" sz="2000">
                <a:solidFill>
                  <a:srgbClr val="FF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内存中</a:t>
            </a: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（一组寄存器）</a:t>
            </a:r>
          </a:p>
          <a:p>
            <a:pPr eaLnBrk="1" hangingPunct="1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段表的基址及长度由段表寄存器给出</a:t>
            </a:r>
          </a:p>
          <a:p>
            <a:pPr eaLnBrk="1" hangingPunct="1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访问一个字节的数据</a:t>
            </a:r>
            <a:r>
              <a:rPr lang="en-US" altLang="zh-CN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指令需访问内存</a:t>
            </a:r>
            <a:r>
              <a:rPr lang="en-US" altLang="zh-CN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次</a:t>
            </a:r>
            <a:r>
              <a:rPr lang="en-US" altLang="zh-CN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段表一次</a:t>
            </a:r>
            <a:r>
              <a:rPr lang="en-US" altLang="zh-CN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内存一次</a:t>
            </a:r>
            <a:r>
              <a:rPr lang="en-US" altLang="zh-CN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),</a:t>
            </a: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所以也出现内存访问速度降低的问题。</a:t>
            </a:r>
          </a:p>
          <a:p>
            <a:pPr eaLnBrk="1" hangingPunct="1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逻辑地址：</a:t>
            </a: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例：采用段式存储管理的系统中，若地址用</a:t>
            </a:r>
            <a:r>
              <a:rPr lang="en-US" altLang="zh-CN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24</a:t>
            </a: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位表示，其中</a:t>
            </a:r>
            <a:r>
              <a:rPr lang="en-US" altLang="zh-CN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位表示段号，则允许段的最大长度是（    ）</a:t>
            </a:r>
          </a:p>
          <a:p>
            <a:pPr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A.2</a:t>
            </a:r>
            <a:r>
              <a:rPr lang="en-US" altLang="zh-CN" sz="1800" b="0" baseline="30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24</a:t>
            </a:r>
            <a:r>
              <a:rPr lang="en-US" altLang="zh-CN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B. 2</a:t>
            </a:r>
            <a:r>
              <a:rPr lang="en-US" altLang="zh-CN" sz="1800" b="0" baseline="30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en-US" altLang="zh-CN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C. 2</a:t>
            </a:r>
            <a:r>
              <a:rPr lang="en-US" altLang="zh-CN" sz="1800" b="0" baseline="30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en-US" altLang="zh-CN" sz="1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D. 2</a:t>
            </a:r>
            <a:r>
              <a:rPr lang="en-US" altLang="zh-CN" sz="1800" b="0" baseline="30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32</a:t>
            </a:r>
            <a:endParaRPr lang="en-US" altLang="zh-CN" sz="1800" b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760234F5-441E-6E19-D215-42588B564B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95400" y="1219200"/>
            <a:ext cx="5580063" cy="541338"/>
          </a:xfrm>
        </p:spPr>
        <p:txBody>
          <a:bodyPr/>
          <a:lstStyle/>
          <a:p>
            <a:pPr eaLnBrk="1" hangingPunct="1"/>
            <a:r>
              <a:rPr lang="zh-CN" altLang="en-US" sz="2800" b="1">
                <a:latin typeface="幼圆" panose="02010509060101010101" pitchFamily="49" charset="-122"/>
                <a:ea typeface="幼圆" panose="02010509060101010101" pitchFamily="49" charset="-122"/>
              </a:rPr>
              <a:t>分段系统的基本原理</a:t>
            </a:r>
            <a:r>
              <a:rPr lang="en-US" altLang="zh-CN" sz="2800" b="1">
                <a:solidFill>
                  <a:schemeClr val="hlin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---</a:t>
            </a:r>
            <a:r>
              <a:rPr lang="zh-CN" altLang="en-US" sz="2800" b="1">
                <a:solidFill>
                  <a:srgbClr val="FF33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段表</a:t>
            </a:r>
          </a:p>
        </p:txBody>
      </p:sp>
      <p:graphicFrame>
        <p:nvGraphicFramePr>
          <p:cNvPr id="414764" name="Group 44">
            <a:extLst>
              <a:ext uri="{FF2B5EF4-FFF2-40B4-BE49-F238E27FC236}">
                <a16:creationId xmlns:a16="http://schemas.microsoft.com/office/drawing/2014/main" id="{C48DB58D-88BF-E16D-C3FE-B844706C6F6D}"/>
              </a:ext>
            </a:extLst>
          </p:cNvPr>
          <p:cNvGraphicFramePr>
            <a:graphicFrameLocks noGrp="1"/>
          </p:cNvGraphicFramePr>
          <p:nvPr/>
        </p:nvGraphicFramePr>
        <p:xfrm>
          <a:off x="6629400" y="914400"/>
          <a:ext cx="2209800" cy="18288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0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段号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段长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基址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30k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40k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80k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120k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0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150k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14775" name="Group 55">
            <a:extLst>
              <a:ext uri="{FF2B5EF4-FFF2-40B4-BE49-F238E27FC236}">
                <a16:creationId xmlns:a16="http://schemas.microsoft.com/office/drawing/2014/main" id="{9D3804D5-2FF1-6387-C8E7-797C2E8DFA3E}"/>
              </a:ext>
            </a:extLst>
          </p:cNvPr>
          <p:cNvGraphicFramePr>
            <a:graphicFrameLocks noGrp="1"/>
          </p:cNvGraphicFramePr>
          <p:nvPr/>
        </p:nvGraphicFramePr>
        <p:xfrm>
          <a:off x="5715000" y="3124200"/>
          <a:ext cx="2286000" cy="36512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</a:rPr>
                        <a:t>段表始址</a:t>
                      </a:r>
                    </a:p>
                  </a:txBody>
                  <a:tcPr marT="45581" marB="4558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</a:rPr>
                        <a:t>段表长度</a:t>
                      </a:r>
                    </a:p>
                  </a:txBody>
                  <a:tcPr marT="45581" marB="455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4785" name="Group 65">
            <a:extLst>
              <a:ext uri="{FF2B5EF4-FFF2-40B4-BE49-F238E27FC236}">
                <a16:creationId xmlns:a16="http://schemas.microsoft.com/office/drawing/2014/main" id="{88D1CFB9-F55B-DD01-FC2F-BBC23995C5D2}"/>
              </a:ext>
            </a:extLst>
          </p:cNvPr>
          <p:cNvGraphicFramePr>
            <a:graphicFrameLocks noGrp="1"/>
          </p:cNvGraphicFramePr>
          <p:nvPr/>
        </p:nvGraphicFramePr>
        <p:xfrm>
          <a:off x="2819400" y="4343400"/>
          <a:ext cx="1905000" cy="36512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</a:rPr>
                        <a:t>段号</a:t>
                      </a:r>
                    </a:p>
                  </a:txBody>
                  <a:tcPr marT="45581" marB="4558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</a:rPr>
                        <a:t>段内地址</a:t>
                      </a:r>
                    </a:p>
                  </a:txBody>
                  <a:tcPr marT="45581" marB="455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6848" name="Group 80">
            <a:extLst>
              <a:ext uri="{FF2B5EF4-FFF2-40B4-BE49-F238E27FC236}">
                <a16:creationId xmlns:a16="http://schemas.microsoft.com/office/drawing/2014/main" id="{2B8FE314-D8DD-E727-C4D2-59E7DF968D1A}"/>
              </a:ext>
            </a:extLst>
          </p:cNvPr>
          <p:cNvGraphicFramePr>
            <a:graphicFrameLocks noGrp="1"/>
          </p:cNvGraphicFramePr>
          <p:nvPr/>
        </p:nvGraphicFramePr>
        <p:xfrm>
          <a:off x="6019800" y="5029200"/>
          <a:ext cx="1295400" cy="365125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</a:rPr>
                        <a:t>物理地址</a:t>
                      </a:r>
                    </a:p>
                  </a:txBody>
                  <a:tcPr marT="45581" marB="4558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6780" name="Group 12">
            <a:extLst>
              <a:ext uri="{FF2B5EF4-FFF2-40B4-BE49-F238E27FC236}">
                <a16:creationId xmlns:a16="http://schemas.microsoft.com/office/drawing/2014/main" id="{BFDC1652-327F-888C-1F4E-2680B4C0B338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2209800"/>
          <a:ext cx="2286000" cy="36512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</a:rPr>
                        <a:t>段表始址</a:t>
                      </a:r>
                    </a:p>
                  </a:txBody>
                  <a:tcPr marT="45581" marB="4558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</a:rPr>
                        <a:t>段表长度</a:t>
                      </a:r>
                    </a:p>
                  </a:txBody>
                  <a:tcPr marT="45581" marB="455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616" name="Text Box 20">
            <a:extLst>
              <a:ext uri="{FF2B5EF4-FFF2-40B4-BE49-F238E27FC236}">
                <a16:creationId xmlns:a16="http://schemas.microsoft.com/office/drawing/2014/main" id="{7A250709-C8A8-EE50-7F8C-D76C70C68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1752600"/>
            <a:ext cx="1447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1800" b="0">
                <a:solidFill>
                  <a:schemeClr val="tx1"/>
                </a:solidFill>
                <a:ea typeface="黑体" panose="02010609060101010101" pitchFamily="49" charset="-122"/>
              </a:rPr>
              <a:t>段表寄存器</a:t>
            </a:r>
          </a:p>
        </p:txBody>
      </p:sp>
      <p:graphicFrame>
        <p:nvGraphicFramePr>
          <p:cNvPr id="416789" name="Group 21">
            <a:extLst>
              <a:ext uri="{FF2B5EF4-FFF2-40B4-BE49-F238E27FC236}">
                <a16:creationId xmlns:a16="http://schemas.microsoft.com/office/drawing/2014/main" id="{48333226-0D97-47E5-9A31-EEF99DE7D2AA}"/>
              </a:ext>
            </a:extLst>
          </p:cNvPr>
          <p:cNvGraphicFramePr>
            <a:graphicFrameLocks noGrp="1"/>
          </p:cNvGraphicFramePr>
          <p:nvPr/>
        </p:nvGraphicFramePr>
        <p:xfrm>
          <a:off x="5562600" y="2209800"/>
          <a:ext cx="1905000" cy="36512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</a:rPr>
                        <a:t>段号</a:t>
                      </a:r>
                    </a:p>
                  </a:txBody>
                  <a:tcPr marT="45581" marB="4558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</a:rPr>
                        <a:t>段内地址</a:t>
                      </a:r>
                    </a:p>
                  </a:txBody>
                  <a:tcPr marT="45581" marB="455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625" name="Oval 29">
            <a:extLst>
              <a:ext uri="{FF2B5EF4-FFF2-40B4-BE49-F238E27FC236}">
                <a16:creationId xmlns:a16="http://schemas.microsoft.com/office/drawing/2014/main" id="{0129D083-8D56-7EA7-FAA6-2DA32BE59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2286000"/>
            <a:ext cx="3810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25626" name="Line 30">
            <a:extLst>
              <a:ext uri="{FF2B5EF4-FFF2-40B4-BE49-F238E27FC236}">
                <a16:creationId xmlns:a16="http://schemas.microsoft.com/office/drawing/2014/main" id="{0642F3BA-E7A2-0F1F-7696-FFA70E5BFB3B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24384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27" name="Line 31">
            <a:extLst>
              <a:ext uri="{FF2B5EF4-FFF2-40B4-BE49-F238E27FC236}">
                <a16:creationId xmlns:a16="http://schemas.microsoft.com/office/drawing/2014/main" id="{7599F8A3-A55E-04AC-3230-E5D432DD29A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24384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28" name="Text Box 32">
            <a:extLst>
              <a:ext uri="{FF2B5EF4-FFF2-40B4-BE49-F238E27FC236}">
                <a16:creationId xmlns:a16="http://schemas.microsoft.com/office/drawing/2014/main" id="{BCA73AE4-8565-3673-F642-664F2A617F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1752600"/>
            <a:ext cx="1447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1800" b="0">
                <a:solidFill>
                  <a:schemeClr val="tx1"/>
                </a:solidFill>
                <a:ea typeface="黑体" panose="02010609060101010101" pitchFamily="49" charset="-122"/>
              </a:rPr>
              <a:t>逻辑地址</a:t>
            </a:r>
          </a:p>
        </p:txBody>
      </p:sp>
      <p:sp>
        <p:nvSpPr>
          <p:cNvPr id="25629" name="Line 33">
            <a:extLst>
              <a:ext uri="{FF2B5EF4-FFF2-40B4-BE49-F238E27FC236}">
                <a16:creationId xmlns:a16="http://schemas.microsoft.com/office/drawing/2014/main" id="{9ABF68C4-6B82-C5EA-D6FF-EE56EC0991A7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590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30" name="Line 34">
            <a:extLst>
              <a:ext uri="{FF2B5EF4-FFF2-40B4-BE49-F238E27FC236}">
                <a16:creationId xmlns:a16="http://schemas.microsoft.com/office/drawing/2014/main" id="{A011E4A0-0105-29A3-FE1F-CFE9D439E9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09800" y="2971800"/>
            <a:ext cx="3733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31" name="Line 35">
            <a:extLst>
              <a:ext uri="{FF2B5EF4-FFF2-40B4-BE49-F238E27FC236}">
                <a16:creationId xmlns:a16="http://schemas.microsoft.com/office/drawing/2014/main" id="{3D0C956A-B9BD-ED48-13B7-7BD8C8683F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48200" y="2590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32" name="Oval 36">
            <a:extLst>
              <a:ext uri="{FF2B5EF4-FFF2-40B4-BE49-F238E27FC236}">
                <a16:creationId xmlns:a16="http://schemas.microsoft.com/office/drawing/2014/main" id="{104B33EF-225E-5977-6CBE-4C6FE8662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819400"/>
            <a:ext cx="3810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ea typeface="宋体" panose="02010600030101010101" pitchFamily="2" charset="-122"/>
              </a:rPr>
              <a:t>+</a:t>
            </a:r>
          </a:p>
        </p:txBody>
      </p:sp>
      <p:sp>
        <p:nvSpPr>
          <p:cNvPr id="25633" name="Line 37">
            <a:extLst>
              <a:ext uri="{FF2B5EF4-FFF2-40B4-BE49-F238E27FC236}">
                <a16:creationId xmlns:a16="http://schemas.microsoft.com/office/drawing/2014/main" id="{D5B8BB2C-329E-D6B5-614B-CC4DB609901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590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34" name="Line 38">
            <a:extLst>
              <a:ext uri="{FF2B5EF4-FFF2-40B4-BE49-F238E27FC236}">
                <a16:creationId xmlns:a16="http://schemas.microsoft.com/office/drawing/2014/main" id="{3ABA4C50-1E15-5DFC-E2EF-C1BF424DB736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3124200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35" name="Line 39">
            <a:extLst>
              <a:ext uri="{FF2B5EF4-FFF2-40B4-BE49-F238E27FC236}">
                <a16:creationId xmlns:a16="http://schemas.microsoft.com/office/drawing/2014/main" id="{7449AF66-EC14-B22E-D4AB-49A91FFF611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44196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416808" name="Group 40">
            <a:extLst>
              <a:ext uri="{FF2B5EF4-FFF2-40B4-BE49-F238E27FC236}">
                <a16:creationId xmlns:a16="http://schemas.microsoft.com/office/drawing/2014/main" id="{6CD6FCC7-09A5-9DE2-4805-1EA6C5644F78}"/>
              </a:ext>
            </a:extLst>
          </p:cNvPr>
          <p:cNvGraphicFramePr>
            <a:graphicFrameLocks noGrp="1"/>
          </p:cNvGraphicFramePr>
          <p:nvPr/>
        </p:nvGraphicFramePr>
        <p:xfrm>
          <a:off x="3581400" y="3124200"/>
          <a:ext cx="2209800" cy="18288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0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段号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段长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基址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30k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40k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20k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80k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15k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120k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0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10k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150k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662" name="Oval 66">
            <a:extLst>
              <a:ext uri="{FF2B5EF4-FFF2-40B4-BE49-F238E27FC236}">
                <a16:creationId xmlns:a16="http://schemas.microsoft.com/office/drawing/2014/main" id="{0AF91317-3FCE-DB5A-31AB-8E1440651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4267200"/>
            <a:ext cx="3810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ea typeface="宋体" panose="02010600030101010101" pitchFamily="2" charset="-122"/>
              </a:rPr>
              <a:t>+</a:t>
            </a:r>
          </a:p>
        </p:txBody>
      </p:sp>
      <p:sp>
        <p:nvSpPr>
          <p:cNvPr id="25663" name="Line 67">
            <a:extLst>
              <a:ext uri="{FF2B5EF4-FFF2-40B4-BE49-F238E27FC236}">
                <a16:creationId xmlns:a16="http://schemas.microsoft.com/office/drawing/2014/main" id="{19823DD5-EAB6-22AF-F988-2985B931EE9A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64" name="Line 68">
            <a:extLst>
              <a:ext uri="{FF2B5EF4-FFF2-40B4-BE49-F238E27FC236}">
                <a16:creationId xmlns:a16="http://schemas.microsoft.com/office/drawing/2014/main" id="{F9DA8219-8C14-F3D1-72E0-C021032EE4EF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4419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65" name="Line 69">
            <a:extLst>
              <a:ext uri="{FF2B5EF4-FFF2-40B4-BE49-F238E27FC236}">
                <a16:creationId xmlns:a16="http://schemas.microsoft.com/office/drawing/2014/main" id="{99CC3F2E-64F1-A13F-29A7-73A6B0628671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4572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66" name="Rectangle 72">
            <a:extLst>
              <a:ext uri="{FF2B5EF4-FFF2-40B4-BE49-F238E27FC236}">
                <a16:creationId xmlns:a16="http://schemas.microsoft.com/office/drawing/2014/main" id="{8D6B5436-1453-4D5E-DF11-CADBEB5D9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3048000"/>
            <a:ext cx="1219200" cy="3276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5667" name="Line 73">
            <a:extLst>
              <a:ext uri="{FF2B5EF4-FFF2-40B4-BE49-F238E27FC236}">
                <a16:creationId xmlns:a16="http://schemas.microsoft.com/office/drawing/2014/main" id="{B1C78076-F291-7A64-D4A8-C4314342430E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43434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68" name="Line 76">
            <a:extLst>
              <a:ext uri="{FF2B5EF4-FFF2-40B4-BE49-F238E27FC236}">
                <a16:creationId xmlns:a16="http://schemas.microsoft.com/office/drawing/2014/main" id="{8B6F863E-FC09-539C-CC5D-A024DBE8FA6D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51816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69" name="Line 77">
            <a:extLst>
              <a:ext uri="{FF2B5EF4-FFF2-40B4-BE49-F238E27FC236}">
                <a16:creationId xmlns:a16="http://schemas.microsoft.com/office/drawing/2014/main" id="{422E4C0E-A40F-3DCD-861E-87B69726EF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67600" y="43434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70" name="Line 78">
            <a:extLst>
              <a:ext uri="{FF2B5EF4-FFF2-40B4-BE49-F238E27FC236}">
                <a16:creationId xmlns:a16="http://schemas.microsoft.com/office/drawing/2014/main" id="{900C1603-3178-E124-8F32-2659EA32A8B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67600" y="4343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71" name="Line 81">
            <a:extLst>
              <a:ext uri="{FF2B5EF4-FFF2-40B4-BE49-F238E27FC236}">
                <a16:creationId xmlns:a16="http://schemas.microsoft.com/office/drawing/2014/main" id="{C5DA0585-5E06-779E-F496-D61A062D9212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40386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72" name="Line 82">
            <a:extLst>
              <a:ext uri="{FF2B5EF4-FFF2-40B4-BE49-F238E27FC236}">
                <a16:creationId xmlns:a16="http://schemas.microsoft.com/office/drawing/2014/main" id="{288F023D-7794-DB26-065F-C1BE0317357E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47244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73" name="Rectangle 85">
            <a:extLst>
              <a:ext uri="{FF2B5EF4-FFF2-40B4-BE49-F238E27FC236}">
                <a16:creationId xmlns:a16="http://schemas.microsoft.com/office/drawing/2014/main" id="{D69C6E09-09C4-D2C9-9510-7984A9FABF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95400" y="685800"/>
            <a:ext cx="7162800" cy="769938"/>
          </a:xfrm>
          <a:noFill/>
        </p:spPr>
        <p:txBody>
          <a:bodyPr/>
          <a:lstStyle/>
          <a:p>
            <a:pPr eaLnBrk="1" hangingPunct="1"/>
            <a:r>
              <a:rPr lang="zh-CN" altLang="en-US" sz="2800" b="1">
                <a:latin typeface="幼圆" panose="02010509060101010101" pitchFamily="49" charset="-122"/>
                <a:ea typeface="幼圆" panose="02010509060101010101" pitchFamily="49" charset="-122"/>
              </a:rPr>
              <a:t>地址变换机构</a:t>
            </a:r>
            <a:r>
              <a:rPr lang="en-US" altLang="zh-CN" sz="2800" b="1">
                <a:latin typeface="幼圆" panose="02010509060101010101" pitchFamily="49" charset="-122"/>
                <a:ea typeface="幼圆" panose="02010509060101010101" pitchFamily="49" charset="-122"/>
              </a:rPr>
              <a:t>-</a:t>
            </a:r>
            <a:r>
              <a:rPr lang="zh-CN" altLang="en-US" sz="2000" b="1">
                <a:solidFill>
                  <a:srgbClr val="008000"/>
                </a:solidFill>
                <a:ea typeface="宋体" panose="02010600030101010101" pitchFamily="2" charset="-122"/>
              </a:rPr>
              <a:t>实现逻辑地址向物理地址的变换。</a:t>
            </a:r>
          </a:p>
        </p:txBody>
      </p:sp>
      <p:sp>
        <p:nvSpPr>
          <p:cNvPr id="25674" name="Oval 86">
            <a:extLst>
              <a:ext uri="{FF2B5EF4-FFF2-40B4-BE49-F238E27FC236}">
                <a16:creationId xmlns:a16="http://schemas.microsoft.com/office/drawing/2014/main" id="{B5E7F7F0-8735-EEFD-8EC3-F4A75F794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357563"/>
            <a:ext cx="1296988" cy="7207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一对硬件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寄存器</a:t>
            </a:r>
          </a:p>
        </p:txBody>
      </p:sp>
      <p:sp>
        <p:nvSpPr>
          <p:cNvPr id="416855" name="Oval 87">
            <a:extLst>
              <a:ext uri="{FF2B5EF4-FFF2-40B4-BE49-F238E27FC236}">
                <a16:creationId xmlns:a16="http://schemas.microsoft.com/office/drawing/2014/main" id="{5E29F58B-E661-8B0D-0588-F46B815B1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5516563"/>
            <a:ext cx="1619250" cy="9366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检查段内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地址是否越界</a:t>
            </a:r>
          </a:p>
        </p:txBody>
      </p:sp>
      <p:sp>
        <p:nvSpPr>
          <p:cNvPr id="416856" name="Oval 88">
            <a:extLst>
              <a:ext uri="{FF2B5EF4-FFF2-40B4-BE49-F238E27FC236}">
                <a16:creationId xmlns:a16="http://schemas.microsoft.com/office/drawing/2014/main" id="{7FE4A312-875C-9D89-E0F8-ED5967BA7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5157788"/>
            <a:ext cx="1619250" cy="9366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思考：要检查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几次越界？</a:t>
            </a:r>
          </a:p>
        </p:txBody>
      </p:sp>
      <p:sp>
        <p:nvSpPr>
          <p:cNvPr id="25677" name="Line 89">
            <a:extLst>
              <a:ext uri="{FF2B5EF4-FFF2-40B4-BE49-F238E27FC236}">
                <a16:creationId xmlns:a16="http://schemas.microsoft.com/office/drawing/2014/main" id="{60D54F7E-3D00-A28E-FF63-25E707D79D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00113" y="2636838"/>
            <a:ext cx="719137" cy="6477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16859" name="Line 91">
            <a:extLst>
              <a:ext uri="{FF2B5EF4-FFF2-40B4-BE49-F238E27FC236}">
                <a16:creationId xmlns:a16="http://schemas.microsoft.com/office/drawing/2014/main" id="{2D690FD4-B9F6-0FA6-4B3F-8D559E20BA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6463" y="908050"/>
            <a:ext cx="1223962" cy="129698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16860" name="Oval 92">
            <a:extLst>
              <a:ext uri="{FF2B5EF4-FFF2-40B4-BE49-F238E27FC236}">
                <a16:creationId xmlns:a16="http://schemas.microsoft.com/office/drawing/2014/main" id="{3D0A92BA-3997-98DD-45ED-8C6C2B39D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0"/>
            <a:ext cx="1619250" cy="9366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检查段号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是否越界</a:t>
            </a:r>
          </a:p>
        </p:txBody>
      </p:sp>
      <p:sp>
        <p:nvSpPr>
          <p:cNvPr id="416861" name="Line 93">
            <a:extLst>
              <a:ext uri="{FF2B5EF4-FFF2-40B4-BE49-F238E27FC236}">
                <a16:creationId xmlns:a16="http://schemas.microsoft.com/office/drawing/2014/main" id="{C0114F8D-AB5A-7FE1-90EF-4D66B944C4D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59338" y="4437063"/>
            <a:ext cx="288925" cy="10795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68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68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16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16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16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16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6855" grpId="0" animBg="1"/>
      <p:bldP spid="416856" grpId="0" animBg="1"/>
      <p:bldP spid="41686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>
            <a:extLst>
              <a:ext uri="{FF2B5EF4-FFF2-40B4-BE49-F238E27FC236}">
                <a16:creationId xmlns:a16="http://schemas.microsoft.com/office/drawing/2014/main" id="{2559A4E2-3FF1-9264-982E-3661436EDA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6800" y="1066800"/>
            <a:ext cx="7696200" cy="5105400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0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在一个段式存储管理系统中，其段表为：</a:t>
            </a:r>
            <a:endParaRPr lang="zh-CN" altLang="en-US" sz="2000" b="0">
              <a:solidFill>
                <a:schemeClr val="tx1"/>
              </a:solidFill>
              <a:latin typeface="黑体" panose="02010609060101010101" pitchFamily="49" charset="-122"/>
              <a:ea typeface="宋体" panose="02010600030101010101" pitchFamily="2" charset="-122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000" b="0">
                <a:solidFill>
                  <a:schemeClr val="tx1"/>
                </a:solidFill>
                <a:latin typeface="黑体" panose="02010609060101010101" pitchFamily="49" charset="-122"/>
                <a:ea typeface="宋体" panose="02010600030101010101" pitchFamily="2" charset="-122"/>
              </a:rPr>
              <a:t>        </a:t>
            </a:r>
            <a:r>
              <a:rPr lang="zh-CN" altLang="en-US" sz="20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段号</a:t>
            </a:r>
            <a:r>
              <a:rPr lang="zh-CN" altLang="en-US" sz="2000" b="0">
                <a:solidFill>
                  <a:schemeClr val="tx1"/>
                </a:solidFill>
                <a:latin typeface="黑体" panose="02010609060101010101" pitchFamily="49" charset="-122"/>
                <a:ea typeface="宋体" panose="02010600030101010101" pitchFamily="2" charset="-122"/>
              </a:rPr>
              <a:t>      </a:t>
            </a:r>
            <a:r>
              <a:rPr lang="zh-CN" altLang="en-US" sz="20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内存起始地址</a:t>
            </a:r>
            <a:r>
              <a:rPr lang="zh-CN" altLang="en-US" sz="2000" b="0">
                <a:solidFill>
                  <a:schemeClr val="tx1"/>
                </a:solidFill>
                <a:latin typeface="黑体" panose="02010609060101010101" pitchFamily="49" charset="-122"/>
                <a:ea typeface="宋体" panose="02010600030101010101" pitchFamily="2" charset="-122"/>
              </a:rPr>
              <a:t>      </a:t>
            </a:r>
            <a:r>
              <a:rPr lang="zh-CN" altLang="en-US" sz="20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段长</a:t>
            </a:r>
            <a:endParaRPr lang="zh-CN" altLang="en-US" sz="2000" b="0">
              <a:solidFill>
                <a:schemeClr val="tx1"/>
              </a:solidFill>
              <a:latin typeface="黑体" panose="02010609060101010101" pitchFamily="49" charset="-122"/>
              <a:ea typeface="宋体" panose="02010600030101010101" pitchFamily="2" charset="-122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000" b="0">
                <a:solidFill>
                  <a:schemeClr val="tx1"/>
                </a:solidFill>
                <a:latin typeface="黑体" panose="02010609060101010101" pitchFamily="49" charset="-122"/>
                <a:ea typeface="宋体" panose="02010600030101010101" pitchFamily="2" charset="-122"/>
              </a:rPr>
              <a:t>         </a:t>
            </a:r>
            <a:r>
              <a:rPr lang="en-US" altLang="zh-CN" sz="2000" b="0">
                <a:solidFill>
                  <a:schemeClr val="tx1"/>
                </a:solidFill>
                <a:latin typeface="黑体" panose="02010609060101010101" pitchFamily="49" charset="-122"/>
                <a:ea typeface="宋体" panose="02010600030101010101" pitchFamily="2" charset="-122"/>
              </a:rPr>
              <a:t>0           210             500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000" b="0">
                <a:solidFill>
                  <a:schemeClr val="tx1"/>
                </a:solidFill>
                <a:latin typeface="黑体" panose="02010609060101010101" pitchFamily="49" charset="-122"/>
                <a:ea typeface="宋体" panose="02010600030101010101" pitchFamily="2" charset="-122"/>
              </a:rPr>
              <a:t>         1           2350            20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000" b="0">
                <a:solidFill>
                  <a:schemeClr val="tx1"/>
                </a:solidFill>
                <a:latin typeface="黑体" panose="02010609060101010101" pitchFamily="49" charset="-122"/>
                <a:ea typeface="宋体" panose="02010600030101010101" pitchFamily="2" charset="-122"/>
              </a:rPr>
              <a:t>         2           100             90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000" b="0">
                <a:solidFill>
                  <a:schemeClr val="tx1"/>
                </a:solidFill>
                <a:latin typeface="黑体" panose="02010609060101010101" pitchFamily="49" charset="-122"/>
                <a:ea typeface="宋体" panose="02010600030101010101" pitchFamily="2" charset="-122"/>
              </a:rPr>
              <a:t>         3           1350            590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000" b="0">
                <a:solidFill>
                  <a:schemeClr val="tx1"/>
                </a:solidFill>
                <a:latin typeface="黑体" panose="02010609060101010101" pitchFamily="49" charset="-122"/>
                <a:ea typeface="宋体" panose="02010600030101010101" pitchFamily="2" charset="-122"/>
              </a:rPr>
              <a:t>         4           1938            95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0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试求表中逻辑地址对应的物理地址是什么？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解：</a:t>
            </a: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逻辑地址为：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逻辑地址              对应的物理地址为：</a:t>
            </a:r>
            <a:r>
              <a:rPr lang="en-US" altLang="zh-CN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210+430=640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逻辑地址              因为段内地址</a:t>
            </a:r>
            <a:r>
              <a:rPr lang="en-US" altLang="zh-CN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120&gt;</a:t>
            </a: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段长</a:t>
            </a:r>
            <a:r>
              <a:rPr lang="en-US" altLang="zh-CN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90</a:t>
            </a: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，地址越界。</a:t>
            </a:r>
            <a:endParaRPr lang="zh-CN" altLang="en-US" sz="20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zh-CN" sz="2000" b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19844" name="Group 4">
            <a:extLst>
              <a:ext uri="{FF2B5EF4-FFF2-40B4-BE49-F238E27FC236}">
                <a16:creationId xmlns:a16="http://schemas.microsoft.com/office/drawing/2014/main" id="{7EE781CF-50E4-ECD1-96A2-7C5FBDA931B1}"/>
              </a:ext>
            </a:extLst>
          </p:cNvPr>
          <p:cNvGraphicFramePr>
            <a:graphicFrameLocks noGrp="1"/>
          </p:cNvGraphicFramePr>
          <p:nvPr/>
        </p:nvGraphicFramePr>
        <p:xfrm>
          <a:off x="3352800" y="4038600"/>
          <a:ext cx="1905000" cy="36512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</a:rPr>
                        <a:t>段号</a:t>
                      </a:r>
                    </a:p>
                  </a:txBody>
                  <a:tcPr marT="45581" marB="4558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</a:rPr>
                        <a:t>段内地址</a:t>
                      </a:r>
                    </a:p>
                  </a:txBody>
                  <a:tcPr marT="45581" marB="455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9899" name="Group 59">
            <a:extLst>
              <a:ext uri="{FF2B5EF4-FFF2-40B4-BE49-F238E27FC236}">
                <a16:creationId xmlns:a16="http://schemas.microsoft.com/office/drawing/2014/main" id="{B38B7940-CF18-5C6B-3A1D-A67E0CFE0419}"/>
              </a:ext>
            </a:extLst>
          </p:cNvPr>
          <p:cNvGraphicFramePr>
            <a:graphicFrameLocks noGrp="1"/>
          </p:cNvGraphicFramePr>
          <p:nvPr/>
        </p:nvGraphicFramePr>
        <p:xfrm>
          <a:off x="7092950" y="3068638"/>
          <a:ext cx="1060450" cy="731837"/>
        </p:xfrm>
        <a:graphic>
          <a:graphicData uri="http://schemas.openxmlformats.org/drawingml/2006/table">
            <a:tbl>
              <a:tblPr/>
              <a:tblGrid>
                <a:gridCol w="37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91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430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91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120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19900" name="Group 60">
            <a:extLst>
              <a:ext uri="{FF2B5EF4-FFF2-40B4-BE49-F238E27FC236}">
                <a16:creationId xmlns:a16="http://schemas.microsoft.com/office/drawing/2014/main" id="{5F622492-F2D0-7418-0924-154BFF4B4878}"/>
              </a:ext>
            </a:extLst>
          </p:cNvPr>
          <p:cNvGraphicFramePr>
            <a:graphicFrameLocks noGrp="1"/>
          </p:cNvGraphicFramePr>
          <p:nvPr/>
        </p:nvGraphicFramePr>
        <p:xfrm>
          <a:off x="2843213" y="4508500"/>
          <a:ext cx="1143000" cy="365125"/>
        </p:xfrm>
        <a:graphic>
          <a:graphicData uri="http://schemas.openxmlformats.org/drawingml/2006/table">
            <a:tbl>
              <a:tblPr/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641" marB="456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430</a:t>
                      </a:r>
                    </a:p>
                  </a:txBody>
                  <a:tcPr marT="45641" marB="456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9901" name="Group 61">
            <a:extLst>
              <a:ext uri="{FF2B5EF4-FFF2-40B4-BE49-F238E27FC236}">
                <a16:creationId xmlns:a16="http://schemas.microsoft.com/office/drawing/2014/main" id="{BBF1BA27-93F5-23BB-4DB1-A73537526F00}"/>
              </a:ext>
            </a:extLst>
          </p:cNvPr>
          <p:cNvGraphicFramePr>
            <a:graphicFrameLocks noGrp="1"/>
          </p:cNvGraphicFramePr>
          <p:nvPr/>
        </p:nvGraphicFramePr>
        <p:xfrm>
          <a:off x="2843213" y="4941888"/>
          <a:ext cx="1143000" cy="365125"/>
        </p:xfrm>
        <a:graphic>
          <a:graphicData uri="http://schemas.openxmlformats.org/drawingml/2006/table">
            <a:tbl>
              <a:tblPr/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T="45641" marB="456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120</a:t>
                      </a:r>
                    </a:p>
                  </a:txBody>
                  <a:tcPr marT="45641" marB="456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662" name="Rectangle 57">
            <a:extLst>
              <a:ext uri="{FF2B5EF4-FFF2-40B4-BE49-F238E27FC236}">
                <a16:creationId xmlns:a16="http://schemas.microsoft.com/office/drawing/2014/main" id="{8DEBC1AA-7D4D-6AC1-E887-5F8C58525B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0113" y="404813"/>
            <a:ext cx="2895600" cy="541337"/>
          </a:xfrm>
          <a:noFill/>
        </p:spPr>
        <p:txBody>
          <a:bodyPr/>
          <a:lstStyle/>
          <a:p>
            <a:pPr eaLnBrk="1" hangingPunct="1"/>
            <a:r>
              <a:rPr lang="zh-CN" altLang="en-US" b="1">
                <a:ea typeface="幼圆" panose="02010509060101010101" pitchFamily="49" charset="-122"/>
              </a:rPr>
              <a:t>例：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50" name="Group 11">
            <a:extLst>
              <a:ext uri="{FF2B5EF4-FFF2-40B4-BE49-F238E27FC236}">
                <a16:creationId xmlns:a16="http://schemas.microsoft.com/office/drawing/2014/main" id="{5E75B990-3BB9-CCB0-2E60-68B2795C3ADE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1905000"/>
            <a:ext cx="7694613" cy="4724400"/>
            <a:chOff x="720" y="1200"/>
            <a:chExt cx="4847" cy="2976"/>
          </a:xfrm>
        </p:grpSpPr>
        <p:pic>
          <p:nvPicPr>
            <p:cNvPr id="27676" name="Picture 6">
              <a:extLst>
                <a:ext uri="{FF2B5EF4-FFF2-40B4-BE49-F238E27FC236}">
                  <a16:creationId xmlns:a16="http://schemas.microsoft.com/office/drawing/2014/main" id="{39DD0B4E-15AC-39D3-743D-C8B836E660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2" t="848" r="71063" b="57881"/>
            <a:stretch>
              <a:fillRect/>
            </a:stretch>
          </p:blipFill>
          <p:spPr bwMode="auto">
            <a:xfrm>
              <a:off x="720" y="2112"/>
              <a:ext cx="1344" cy="1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677" name="Picture 7">
              <a:extLst>
                <a:ext uri="{FF2B5EF4-FFF2-40B4-BE49-F238E27FC236}">
                  <a16:creationId xmlns:a16="http://schemas.microsoft.com/office/drawing/2014/main" id="{1AA45A02-95B0-391E-C932-1218705311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679" t="25655" r="29759" b="27722"/>
            <a:stretch>
              <a:fillRect/>
            </a:stretch>
          </p:blipFill>
          <p:spPr bwMode="auto">
            <a:xfrm>
              <a:off x="2448" y="1872"/>
              <a:ext cx="1680" cy="1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678" name="Picture 8">
              <a:extLst>
                <a:ext uri="{FF2B5EF4-FFF2-40B4-BE49-F238E27FC236}">
                  <a16:creationId xmlns:a16="http://schemas.microsoft.com/office/drawing/2014/main" id="{84031DD1-843F-19C1-82FF-D54BAC76CA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2" t="56110" r="70236" b="848"/>
            <a:stretch>
              <a:fillRect/>
            </a:stretch>
          </p:blipFill>
          <p:spPr bwMode="auto">
            <a:xfrm>
              <a:off x="2352" y="3024"/>
              <a:ext cx="1440" cy="1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679" name="Picture 9">
              <a:extLst>
                <a:ext uri="{FF2B5EF4-FFF2-40B4-BE49-F238E27FC236}">
                  <a16:creationId xmlns:a16="http://schemas.microsoft.com/office/drawing/2014/main" id="{6D7B7682-667A-6C43-0E3B-A56057BE1B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434" t="848" r="1712" b="848"/>
            <a:stretch>
              <a:fillRect/>
            </a:stretch>
          </p:blipFill>
          <p:spPr bwMode="auto">
            <a:xfrm>
              <a:off x="4704" y="1200"/>
              <a:ext cx="863" cy="26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7651" name="Rectangle 2">
            <a:extLst>
              <a:ext uri="{FF2B5EF4-FFF2-40B4-BE49-F238E27FC236}">
                <a16:creationId xmlns:a16="http://schemas.microsoft.com/office/drawing/2014/main" id="{6616CC52-321F-D892-DDD4-FB8959600A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2988" y="301625"/>
            <a:ext cx="4648200" cy="762000"/>
          </a:xfrm>
        </p:spPr>
        <p:txBody>
          <a:bodyPr/>
          <a:lstStyle/>
          <a:p>
            <a:pPr eaLnBrk="1" hangingPunct="1"/>
            <a:r>
              <a:rPr lang="zh-CN" altLang="en-US" sz="2800" b="1">
                <a:ea typeface="幼圆" panose="02010509060101010101" pitchFamily="49" charset="-122"/>
              </a:rPr>
              <a:t>三、信息共享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9CB2ADB6-C677-570D-5316-D8CE7AF518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95400" y="1752600"/>
            <a:ext cx="5791200" cy="12954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Clr>
                <a:srgbClr val="FF0000"/>
              </a:buClr>
              <a:buSzPct val="105000"/>
              <a:buFont typeface="Wingdings" panose="05000000000000000000" pitchFamily="2" charset="2"/>
              <a:buChar char="q"/>
            </a:pPr>
            <a:r>
              <a:rPr lang="zh-CN" altLang="en-US" sz="2000">
                <a:ea typeface="幼圆" panose="02010509060101010101" pitchFamily="49" charset="-122"/>
              </a:rPr>
              <a:t>共享代码（数据）的实现方法</a:t>
            </a:r>
          </a:p>
          <a:p>
            <a:pPr eaLnBrk="1" hangingPunct="1">
              <a:lnSpc>
                <a:spcPct val="120000"/>
              </a:lnSpc>
              <a:buClr>
                <a:schemeClr val="bg1"/>
              </a:buClr>
              <a:buSzPct val="105000"/>
              <a:buFontTx/>
              <a:buChar char="•"/>
            </a:pPr>
            <a:r>
              <a:rPr lang="zh-CN" altLang="en-US" sz="1800" b="0">
                <a:solidFill>
                  <a:schemeClr val="tx1"/>
                </a:solidFill>
                <a:ea typeface="宋体" panose="02010600030101010101" pitchFamily="2" charset="-122"/>
              </a:rPr>
              <a:t>      由各进程共享的一段代码（数据），要求各进程相应的页存入内存</a:t>
            </a:r>
            <a:r>
              <a:rPr lang="zh-CN" altLang="en-US" sz="1800">
                <a:solidFill>
                  <a:srgbClr val="008000"/>
                </a:solidFill>
                <a:ea typeface="宋体" panose="02010600030101010101" pitchFamily="2" charset="-122"/>
              </a:rPr>
              <a:t>相同物理块</a:t>
            </a:r>
            <a:r>
              <a:rPr lang="zh-CN" altLang="en-US" sz="1800" b="0">
                <a:solidFill>
                  <a:schemeClr val="tx1"/>
                </a:solidFill>
                <a:ea typeface="宋体" panose="02010600030101010101" pitchFamily="2" charset="-122"/>
              </a:rPr>
              <a:t>中。</a:t>
            </a:r>
          </a:p>
        </p:txBody>
      </p:sp>
      <p:pic>
        <p:nvPicPr>
          <p:cNvPr id="27653" name="Picture 4" descr="2-1-3">
            <a:extLst>
              <a:ext uri="{FF2B5EF4-FFF2-40B4-BE49-F238E27FC236}">
                <a16:creationId xmlns:a16="http://schemas.microsoft.com/office/drawing/2014/main" id="{DF8E8D00-7B08-A27E-8822-929F410719C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381000"/>
            <a:ext cx="1143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21">
            <a:extLst>
              <a:ext uri="{FF2B5EF4-FFF2-40B4-BE49-F238E27FC236}">
                <a16:creationId xmlns:a16="http://schemas.microsoft.com/office/drawing/2014/main" id="{9B54B32A-0C5D-7716-ECCD-089B685971F3}"/>
              </a:ext>
            </a:extLst>
          </p:cNvPr>
          <p:cNvGrpSpPr>
            <a:grpSpLocks/>
          </p:cNvGrpSpPr>
          <p:nvPr/>
        </p:nvGrpSpPr>
        <p:grpSpPr bwMode="auto">
          <a:xfrm>
            <a:off x="1116013" y="3213100"/>
            <a:ext cx="2879725" cy="3003550"/>
            <a:chOff x="703" y="2024"/>
            <a:chExt cx="1814" cy="1892"/>
          </a:xfrm>
        </p:grpSpPr>
        <p:sp>
          <p:nvSpPr>
            <p:cNvPr id="27671" name="Line 12">
              <a:extLst>
                <a:ext uri="{FF2B5EF4-FFF2-40B4-BE49-F238E27FC236}">
                  <a16:creationId xmlns:a16="http://schemas.microsoft.com/office/drawing/2014/main" id="{C8CEE07A-6C5F-739A-D333-FBC543621A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10" y="2341"/>
              <a:ext cx="816" cy="1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72" name="Line 13">
              <a:extLst>
                <a:ext uri="{FF2B5EF4-FFF2-40B4-BE49-F238E27FC236}">
                  <a16:creationId xmlns:a16="http://schemas.microsoft.com/office/drawing/2014/main" id="{1CAFBF32-F50F-8BBE-FE5F-924EF4B71E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3566"/>
              <a:ext cx="590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73" name="AutoShape 14">
              <a:extLst>
                <a:ext uri="{FF2B5EF4-FFF2-40B4-BE49-F238E27FC236}">
                  <a16:creationId xmlns:a16="http://schemas.microsoft.com/office/drawing/2014/main" id="{285AFDA0-7AB2-7E1C-CF20-6782585E68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2" y="2024"/>
              <a:ext cx="45" cy="635"/>
            </a:xfrm>
            <a:prstGeom prst="leftBracket">
              <a:avLst>
                <a:gd name="adj" fmla="val 117593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7674" name="AutoShape 15">
              <a:extLst>
                <a:ext uri="{FF2B5EF4-FFF2-40B4-BE49-F238E27FC236}">
                  <a16:creationId xmlns:a16="http://schemas.microsoft.com/office/drawing/2014/main" id="{D6ADACEC-E897-7892-5B98-44541C3F7D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5" y="3203"/>
              <a:ext cx="45" cy="590"/>
            </a:xfrm>
            <a:prstGeom prst="leftBracket">
              <a:avLst>
                <a:gd name="adj" fmla="val 109259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7675" name="Text Box 16">
              <a:extLst>
                <a:ext uri="{FF2B5EF4-FFF2-40B4-BE49-F238E27FC236}">
                  <a16:creationId xmlns:a16="http://schemas.microsoft.com/office/drawing/2014/main" id="{2652C614-52AF-5E3C-0791-7D022C3508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" y="3339"/>
              <a:ext cx="907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>
                  <a:solidFill>
                    <a:srgbClr val="FF33CC"/>
                  </a:solidFill>
                  <a:ea typeface="幼圆" panose="02010509060101010101" pitchFamily="49" charset="-122"/>
                </a:rPr>
                <a:t>共享信息要要占用多个页面</a:t>
              </a:r>
              <a:r>
                <a:rPr lang="zh-CN" altLang="en-US" sz="1800" b="0">
                  <a:solidFill>
                    <a:schemeClr val="tx1"/>
                  </a:solidFill>
                  <a:ea typeface="宋体" panose="02010600030101010101" pitchFamily="2" charset="-122"/>
                </a:rPr>
                <a:t>。</a:t>
              </a:r>
            </a:p>
          </p:txBody>
        </p:sp>
      </p:grpSp>
      <p:grpSp>
        <p:nvGrpSpPr>
          <p:cNvPr id="4" name="Group 22">
            <a:extLst>
              <a:ext uri="{FF2B5EF4-FFF2-40B4-BE49-F238E27FC236}">
                <a16:creationId xmlns:a16="http://schemas.microsoft.com/office/drawing/2014/main" id="{52EEB4B4-CCB0-1210-5C09-59E00CD8BF79}"/>
              </a:ext>
            </a:extLst>
          </p:cNvPr>
          <p:cNvGrpSpPr>
            <a:grpSpLocks/>
          </p:cNvGrpSpPr>
          <p:nvPr/>
        </p:nvGrpSpPr>
        <p:grpSpPr bwMode="auto">
          <a:xfrm>
            <a:off x="6011863" y="2565400"/>
            <a:ext cx="1584325" cy="1584325"/>
            <a:chOff x="3787" y="1616"/>
            <a:chExt cx="998" cy="998"/>
          </a:xfrm>
        </p:grpSpPr>
        <p:sp>
          <p:nvSpPr>
            <p:cNvPr id="27667" name="Line 17">
              <a:extLst>
                <a:ext uri="{FF2B5EF4-FFF2-40B4-BE49-F238E27FC236}">
                  <a16:creationId xmlns:a16="http://schemas.microsoft.com/office/drawing/2014/main" id="{F204395D-F9B1-2143-8D2A-66AD899EDE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78" y="2024"/>
              <a:ext cx="862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68" name="Line 18">
              <a:extLst>
                <a:ext uri="{FF2B5EF4-FFF2-40B4-BE49-F238E27FC236}">
                  <a16:creationId xmlns:a16="http://schemas.microsoft.com/office/drawing/2014/main" id="{DC9D4FBD-394D-27F2-A4F8-CD80CD6E4F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33" y="2205"/>
              <a:ext cx="952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69" name="Line 19">
              <a:extLst>
                <a:ext uri="{FF2B5EF4-FFF2-40B4-BE49-F238E27FC236}">
                  <a16:creationId xmlns:a16="http://schemas.microsoft.com/office/drawing/2014/main" id="{8DBC4E27-DFF2-5277-09BE-7D2C9DB0BF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3" y="2478"/>
              <a:ext cx="861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70" name="Text Box 20">
              <a:extLst>
                <a:ext uri="{FF2B5EF4-FFF2-40B4-BE49-F238E27FC236}">
                  <a16:creationId xmlns:a16="http://schemas.microsoft.com/office/drawing/2014/main" id="{0B6D9D0F-8FEC-F435-E734-E4E37E3B56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7" y="1616"/>
              <a:ext cx="817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00FF"/>
                </a:buClr>
                <a:buFont typeface="Wingdings" panose="05000000000000000000" pitchFamily="2" charset="2"/>
                <a:buChar char="v"/>
                <a:defRPr kumimoji="1" sz="2800" b="1">
                  <a:solidFill>
                    <a:schemeClr val="hlink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600">
                  <a:solidFill>
                    <a:srgbClr val="FF33CC"/>
                  </a:solidFill>
                  <a:ea typeface="幼圆" panose="02010509060101010101" pitchFamily="49" charset="-122"/>
                </a:rPr>
                <a:t>页表中多个指针指向共享信息。</a:t>
              </a:r>
            </a:p>
          </p:txBody>
        </p:sp>
      </p:grpSp>
      <p:sp>
        <p:nvSpPr>
          <p:cNvPr id="27656" name="AutoShape 23">
            <a:extLst>
              <a:ext uri="{FF2B5EF4-FFF2-40B4-BE49-F238E27FC236}">
                <a16:creationId xmlns:a16="http://schemas.microsoft.com/office/drawing/2014/main" id="{6BB34C90-6B4F-EE66-7B6F-9B61912FF80A}"/>
              </a:ext>
            </a:extLst>
          </p:cNvPr>
          <p:cNvSpPr>
            <a:spLocks/>
          </p:cNvSpPr>
          <p:nvPr/>
        </p:nvSpPr>
        <p:spPr bwMode="auto">
          <a:xfrm>
            <a:off x="971550" y="3500438"/>
            <a:ext cx="71438" cy="936625"/>
          </a:xfrm>
          <a:prstGeom prst="leftBracket">
            <a:avLst>
              <a:gd name="adj" fmla="val 109258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7657" name="Line 24">
            <a:extLst>
              <a:ext uri="{FF2B5EF4-FFF2-40B4-BE49-F238E27FC236}">
                <a16:creationId xmlns:a16="http://schemas.microsoft.com/office/drawing/2014/main" id="{A03885F1-4350-2022-B4D8-A62DAA673E33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213" y="2852738"/>
            <a:ext cx="360362" cy="5778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7658" name="Text Box 25">
            <a:extLst>
              <a:ext uri="{FF2B5EF4-FFF2-40B4-BE49-F238E27FC236}">
                <a16:creationId xmlns:a16="http://schemas.microsoft.com/office/drawing/2014/main" id="{CE9AD1A2-DE5A-7270-28DC-DA28EC32A3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205038"/>
            <a:ext cx="755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1800">
                <a:solidFill>
                  <a:srgbClr val="0000CC"/>
                </a:solidFill>
                <a:ea typeface="宋体" panose="02010600030101010101" pitchFamily="2" charset="-122"/>
              </a:rPr>
              <a:t>编辑程序</a:t>
            </a:r>
          </a:p>
        </p:txBody>
      </p:sp>
      <p:sp>
        <p:nvSpPr>
          <p:cNvPr id="27659" name="Text Box 27">
            <a:extLst>
              <a:ext uri="{FF2B5EF4-FFF2-40B4-BE49-F238E27FC236}">
                <a16:creationId xmlns:a16="http://schemas.microsoft.com/office/drawing/2014/main" id="{3F477D20-3A99-1E06-7BE1-501FAC3D52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3357563"/>
            <a:ext cx="3587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27660" name="Text Box 28">
            <a:extLst>
              <a:ext uri="{FF2B5EF4-FFF2-40B4-BE49-F238E27FC236}">
                <a16:creationId xmlns:a16="http://schemas.microsoft.com/office/drawing/2014/main" id="{CBBD4716-C51E-BAFA-E3A5-1D99D34FC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3716338"/>
            <a:ext cx="3587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7661" name="Text Box 29">
            <a:extLst>
              <a:ext uri="{FF2B5EF4-FFF2-40B4-BE49-F238E27FC236}">
                <a16:creationId xmlns:a16="http://schemas.microsoft.com/office/drawing/2014/main" id="{E65E78E6-C64B-383E-E307-4DF9EC0BEF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076700"/>
            <a:ext cx="3587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27662" name="Text Box 30">
            <a:extLst>
              <a:ext uri="{FF2B5EF4-FFF2-40B4-BE49-F238E27FC236}">
                <a16:creationId xmlns:a16="http://schemas.microsoft.com/office/drawing/2014/main" id="{D10DF1A1-F632-5ACA-D018-04D178CE14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508500"/>
            <a:ext cx="3587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27663" name="Oval 31">
            <a:extLst>
              <a:ext uri="{FF2B5EF4-FFF2-40B4-BE49-F238E27FC236}">
                <a16:creationId xmlns:a16="http://schemas.microsoft.com/office/drawing/2014/main" id="{0CD37531-5B20-EEB7-B985-2D046A092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3573463"/>
            <a:ext cx="1008062" cy="792162"/>
          </a:xfrm>
          <a:prstGeom prst="ellipse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7664" name="Line 32">
            <a:extLst>
              <a:ext uri="{FF2B5EF4-FFF2-40B4-BE49-F238E27FC236}">
                <a16:creationId xmlns:a16="http://schemas.microsoft.com/office/drawing/2014/main" id="{DD167028-0EFD-B3CF-19FB-0FCE4E5E55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00338" y="3284538"/>
            <a:ext cx="215900" cy="2889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7665" name="Text Box 33">
            <a:extLst>
              <a:ext uri="{FF2B5EF4-FFF2-40B4-BE49-F238E27FC236}">
                <a16:creationId xmlns:a16="http://schemas.microsoft.com/office/drawing/2014/main" id="{AAD46232-0FE6-9E57-DE3A-FE0631EE1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2924175"/>
            <a:ext cx="21605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1600">
                <a:solidFill>
                  <a:srgbClr val="FF6600"/>
                </a:solidFill>
                <a:ea typeface="幼圆" panose="02010509060101010101" pitchFamily="49" charset="-122"/>
              </a:rPr>
              <a:t>共享代码的虚实对应</a:t>
            </a:r>
          </a:p>
        </p:txBody>
      </p:sp>
      <p:sp>
        <p:nvSpPr>
          <p:cNvPr id="31" name="Rectangle 2">
            <a:extLst>
              <a:ext uri="{FF2B5EF4-FFF2-40B4-BE49-F238E27FC236}">
                <a16:creationId xmlns:a16="http://schemas.microsoft.com/office/drawing/2014/main" id="{C90161DF-59B3-C872-754C-F99651DDA7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2188" y="847725"/>
            <a:ext cx="6302375" cy="7620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fol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folHlink"/>
                </a:solidFill>
                <a:latin typeface="Tahoma" pitchFamily="34" charset="0"/>
                <a:ea typeface="华文隶书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folHlink"/>
                </a:solidFill>
                <a:latin typeface="Tahoma" pitchFamily="34" charset="0"/>
                <a:ea typeface="华文隶书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folHlink"/>
                </a:solidFill>
                <a:latin typeface="Tahoma" pitchFamily="34" charset="0"/>
                <a:ea typeface="华文隶书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folHlink"/>
                </a:solidFill>
                <a:latin typeface="Tahoma" pitchFamily="34" charset="0"/>
                <a:ea typeface="华文隶书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folHlink"/>
                </a:solidFill>
                <a:latin typeface="Tahoma" pitchFamily="34" charset="0"/>
                <a:ea typeface="华文隶书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folHlink"/>
                </a:solidFill>
                <a:latin typeface="Tahoma" pitchFamily="34" charset="0"/>
                <a:ea typeface="华文隶书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folHlink"/>
                </a:solidFill>
                <a:latin typeface="Tahoma" pitchFamily="34" charset="0"/>
                <a:ea typeface="华文隶书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folHlink"/>
                </a:solidFill>
                <a:latin typeface="Tahoma" pitchFamily="34" charset="0"/>
                <a:ea typeface="华文隶书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0" dirty="0">
                <a:solidFill>
                  <a:srgbClr val="FF0000"/>
                </a:solidFill>
                <a:ea typeface="幼圆" panose="02010509060101010101" pitchFamily="49" charset="-122"/>
              </a:rPr>
              <a:t>1</a:t>
            </a:r>
            <a:r>
              <a:rPr lang="zh-CN" altLang="en-US" sz="2400" b="1" kern="0" dirty="0">
                <a:solidFill>
                  <a:srgbClr val="FF0000"/>
                </a:solidFill>
                <a:ea typeface="幼圆" panose="02010509060101010101" pitchFamily="49" charset="-122"/>
              </a:rPr>
              <a:t>、分页系统中对程序和数据的共享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4">
            <a:extLst>
              <a:ext uri="{FF2B5EF4-FFF2-40B4-BE49-F238E27FC236}">
                <a16:creationId xmlns:a16="http://schemas.microsoft.com/office/drawing/2014/main" id="{A7ACDCCF-C024-5E52-E0E9-B99FA0C59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84" t="734" r="12938" b="1469"/>
          <a:stretch>
            <a:fillRect/>
          </a:stretch>
        </p:blipFill>
        <p:spPr bwMode="auto">
          <a:xfrm>
            <a:off x="228600" y="1295400"/>
            <a:ext cx="8915400" cy="531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5" name="Rectangle 5">
            <a:extLst>
              <a:ext uri="{FF2B5EF4-FFF2-40B4-BE49-F238E27FC236}">
                <a16:creationId xmlns:a16="http://schemas.microsoft.com/office/drawing/2014/main" id="{7D6E6683-07FE-76B5-15CF-5EDA4E2D17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2590800"/>
            <a:ext cx="21336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id="{F109E740-EDEF-2D95-1CCD-7AE8CB4ACA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6563" y="128588"/>
            <a:ext cx="6727825" cy="762000"/>
          </a:xfrm>
        </p:spPr>
        <p:txBody>
          <a:bodyPr/>
          <a:lstStyle/>
          <a:p>
            <a:pPr eaLnBrk="1" hangingPunct="1"/>
            <a:r>
              <a:rPr lang="en-US" altLang="zh-CN" sz="2800" b="1">
                <a:solidFill>
                  <a:srgbClr val="FF0000"/>
                </a:solidFill>
                <a:ea typeface="幼圆" panose="02010509060101010101" pitchFamily="49" charset="-122"/>
              </a:rPr>
              <a:t>2</a:t>
            </a:r>
            <a:r>
              <a:rPr lang="zh-CN" altLang="en-US" sz="2800" b="1">
                <a:solidFill>
                  <a:srgbClr val="FF0000"/>
                </a:solidFill>
                <a:ea typeface="幼圆" panose="02010509060101010101" pitchFamily="49" charset="-122"/>
              </a:rPr>
              <a:t>、分段系统中对程序和数据的共享</a:t>
            </a:r>
          </a:p>
        </p:txBody>
      </p:sp>
      <p:sp>
        <p:nvSpPr>
          <p:cNvPr id="28677" name="Rectangle 3">
            <a:extLst>
              <a:ext uri="{FF2B5EF4-FFF2-40B4-BE49-F238E27FC236}">
                <a16:creationId xmlns:a16="http://schemas.microsoft.com/office/drawing/2014/main" id="{91A33EA9-F510-4814-882E-29F37CCB24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0" y="1039813"/>
            <a:ext cx="5715000" cy="498475"/>
          </a:xfrm>
        </p:spPr>
        <p:txBody>
          <a:bodyPr/>
          <a:lstStyle/>
          <a:p>
            <a:pPr eaLnBrk="1" hangingPunct="1">
              <a:buClr>
                <a:srgbClr val="FF0066"/>
              </a:buClr>
              <a:buSzPct val="110000"/>
              <a:buFont typeface="Wingdings" panose="05000000000000000000" pitchFamily="2" charset="2"/>
              <a:buChar char="q"/>
            </a:pPr>
            <a:r>
              <a:rPr lang="zh-CN" altLang="en-US" sz="2000" b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共享代码</a:t>
            </a:r>
            <a:r>
              <a:rPr lang="en-US" altLang="zh-CN" sz="2000" b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/</a:t>
            </a:r>
            <a:r>
              <a:rPr lang="zh-CN" altLang="en-US" sz="2000" b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数据</a:t>
            </a:r>
          </a:p>
        </p:txBody>
      </p:sp>
      <p:sp>
        <p:nvSpPr>
          <p:cNvPr id="28678" name="Text Box 6">
            <a:extLst>
              <a:ext uri="{FF2B5EF4-FFF2-40B4-BE49-F238E27FC236}">
                <a16:creationId xmlns:a16="http://schemas.microsoft.com/office/drawing/2014/main" id="{0FD47665-3E87-1E5C-9B4D-9901ACF017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29718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editor</a:t>
            </a:r>
          </a:p>
        </p:txBody>
      </p:sp>
      <p:sp>
        <p:nvSpPr>
          <p:cNvPr id="28679" name="Rectangle 7">
            <a:extLst>
              <a:ext uri="{FF2B5EF4-FFF2-40B4-BE49-F238E27FC236}">
                <a16:creationId xmlns:a16="http://schemas.microsoft.com/office/drawing/2014/main" id="{D5713FA4-2152-4FCF-94D7-77451F908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048000"/>
            <a:ext cx="152400" cy="76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8680" name="Rectangle 8">
            <a:extLst>
              <a:ext uri="{FF2B5EF4-FFF2-40B4-BE49-F238E27FC236}">
                <a16:creationId xmlns:a16="http://schemas.microsoft.com/office/drawing/2014/main" id="{BD5B50C9-CB2B-1D3E-F1A4-7C3B12428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5791200"/>
            <a:ext cx="152400" cy="76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8681" name="Rectangle 11">
            <a:extLst>
              <a:ext uri="{FF2B5EF4-FFF2-40B4-BE49-F238E27FC236}">
                <a16:creationId xmlns:a16="http://schemas.microsoft.com/office/drawing/2014/main" id="{A7143017-9603-B8D0-8759-2023A4657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600200"/>
            <a:ext cx="13716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8682" name="Rectangle 12">
            <a:extLst>
              <a:ext uri="{FF2B5EF4-FFF2-40B4-BE49-F238E27FC236}">
                <a16:creationId xmlns:a16="http://schemas.microsoft.com/office/drawing/2014/main" id="{FCC9096B-D738-1407-A07F-8CAEB74D6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267200"/>
            <a:ext cx="13716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8683" name="Text Box 13">
            <a:extLst>
              <a:ext uri="{FF2B5EF4-FFF2-40B4-BE49-F238E27FC236}">
                <a16:creationId xmlns:a16="http://schemas.microsoft.com/office/drawing/2014/main" id="{E4CF90F2-998C-0F02-9F9A-B2B2C3CEB8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9050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editor</a:t>
            </a:r>
          </a:p>
        </p:txBody>
      </p:sp>
      <p:sp>
        <p:nvSpPr>
          <p:cNvPr id="28684" name="Text Box 14">
            <a:extLst>
              <a:ext uri="{FF2B5EF4-FFF2-40B4-BE49-F238E27FC236}">
                <a16:creationId xmlns:a16="http://schemas.microsoft.com/office/drawing/2014/main" id="{7F2DD7FB-13B3-E1C0-AACA-194E1E437C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5720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editor</a:t>
            </a:r>
          </a:p>
        </p:txBody>
      </p:sp>
      <p:pic>
        <p:nvPicPr>
          <p:cNvPr id="28685" name="Picture 16" descr="2-1-3">
            <a:extLst>
              <a:ext uri="{FF2B5EF4-FFF2-40B4-BE49-F238E27FC236}">
                <a16:creationId xmlns:a16="http://schemas.microsoft.com/office/drawing/2014/main" id="{E41F2BD7-EA56-124C-071C-F38CD3F4EF2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381000"/>
            <a:ext cx="1143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86" name="AutoShape 19">
            <a:hlinkClick r:id="" action="ppaction://noaction"/>
            <a:extLst>
              <a:ext uri="{FF2B5EF4-FFF2-40B4-BE49-F238E27FC236}">
                <a16:creationId xmlns:a16="http://schemas.microsoft.com/office/drawing/2014/main" id="{EB27BABF-21E4-F5DC-3B5E-356A8CC23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6248400"/>
            <a:ext cx="685800" cy="457200"/>
          </a:xfrm>
          <a:prstGeom prst="irregularSeal1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400" b="0">
                <a:solidFill>
                  <a:schemeClr val="bg1"/>
                </a:solidFill>
                <a:ea typeface="宋体" panose="02010600030101010101" pitchFamily="2" charset="-122"/>
              </a:rPr>
              <a:t>返回</a:t>
            </a:r>
          </a:p>
        </p:txBody>
      </p:sp>
      <p:sp>
        <p:nvSpPr>
          <p:cNvPr id="28687" name="Text Box 20">
            <a:extLst>
              <a:ext uri="{FF2B5EF4-FFF2-40B4-BE49-F238E27FC236}">
                <a16:creationId xmlns:a16="http://schemas.microsoft.com/office/drawing/2014/main" id="{3C8D97C0-8142-2383-9762-ADEE33A20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8400" y="2349500"/>
            <a:ext cx="24479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1800">
                <a:solidFill>
                  <a:srgbClr val="FF33CC"/>
                </a:solidFill>
                <a:ea typeface="宋体" panose="02010600030101010101" pitchFamily="2" charset="-122"/>
              </a:rPr>
              <a:t>段号  段长      基址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6848" name="Group 80">
            <a:extLst>
              <a:ext uri="{FF2B5EF4-FFF2-40B4-BE49-F238E27FC236}">
                <a16:creationId xmlns:a16="http://schemas.microsoft.com/office/drawing/2014/main" id="{7C9C9327-E542-674D-E09D-50680AFA76D9}"/>
              </a:ext>
            </a:extLst>
          </p:cNvPr>
          <p:cNvGraphicFramePr>
            <a:graphicFrameLocks noGrp="1"/>
          </p:cNvGraphicFramePr>
          <p:nvPr/>
        </p:nvGraphicFramePr>
        <p:xfrm>
          <a:off x="6019800" y="5029200"/>
          <a:ext cx="1295400" cy="365125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</a:rPr>
                        <a:t>物理地址</a:t>
                      </a:r>
                    </a:p>
                  </a:txBody>
                  <a:tcPr marT="45581" marB="4558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6780" name="Group 12">
            <a:extLst>
              <a:ext uri="{FF2B5EF4-FFF2-40B4-BE49-F238E27FC236}">
                <a16:creationId xmlns:a16="http://schemas.microsoft.com/office/drawing/2014/main" id="{55DE24D0-3E16-14B0-FA7A-76A37BFBCC35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2209800"/>
          <a:ext cx="2286000" cy="36512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</a:rPr>
                        <a:t>段表始址</a:t>
                      </a:r>
                    </a:p>
                  </a:txBody>
                  <a:tcPr marT="45581" marB="4558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</a:rPr>
                        <a:t>段表长度</a:t>
                      </a:r>
                    </a:p>
                  </a:txBody>
                  <a:tcPr marT="45581" marB="455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712" name="Text Box 20">
            <a:extLst>
              <a:ext uri="{FF2B5EF4-FFF2-40B4-BE49-F238E27FC236}">
                <a16:creationId xmlns:a16="http://schemas.microsoft.com/office/drawing/2014/main" id="{44D3109F-2EEC-365C-05D8-FE64C5595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1752600"/>
            <a:ext cx="1447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1800" b="0">
                <a:solidFill>
                  <a:schemeClr val="tx1"/>
                </a:solidFill>
                <a:ea typeface="黑体" panose="02010609060101010101" pitchFamily="49" charset="-122"/>
              </a:rPr>
              <a:t>段表寄存器</a:t>
            </a:r>
          </a:p>
        </p:txBody>
      </p:sp>
      <p:graphicFrame>
        <p:nvGraphicFramePr>
          <p:cNvPr id="416789" name="Group 21">
            <a:extLst>
              <a:ext uri="{FF2B5EF4-FFF2-40B4-BE49-F238E27FC236}">
                <a16:creationId xmlns:a16="http://schemas.microsoft.com/office/drawing/2014/main" id="{D7D53628-8205-E4F9-31FF-71C3E6703FEF}"/>
              </a:ext>
            </a:extLst>
          </p:cNvPr>
          <p:cNvGraphicFramePr>
            <a:graphicFrameLocks noGrp="1"/>
          </p:cNvGraphicFramePr>
          <p:nvPr/>
        </p:nvGraphicFramePr>
        <p:xfrm>
          <a:off x="5562600" y="2209800"/>
          <a:ext cx="1905000" cy="36512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</a:rPr>
                        <a:t>段号</a:t>
                      </a:r>
                    </a:p>
                  </a:txBody>
                  <a:tcPr marT="45581" marB="4558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楷体_GB2312" pitchFamily="49" charset="-122"/>
                        </a:rPr>
                        <a:t>段内地址</a:t>
                      </a:r>
                    </a:p>
                  </a:txBody>
                  <a:tcPr marT="45581" marB="455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721" name="Oval 29">
            <a:extLst>
              <a:ext uri="{FF2B5EF4-FFF2-40B4-BE49-F238E27FC236}">
                <a16:creationId xmlns:a16="http://schemas.microsoft.com/office/drawing/2014/main" id="{49450631-EA69-732F-F7B3-FFF53B6AC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2286000"/>
            <a:ext cx="3810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29722" name="Line 30">
            <a:extLst>
              <a:ext uri="{FF2B5EF4-FFF2-40B4-BE49-F238E27FC236}">
                <a16:creationId xmlns:a16="http://schemas.microsoft.com/office/drawing/2014/main" id="{2EE7B225-B9A4-7EF0-0DBE-75BB58C7FD7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24384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9723" name="Line 31">
            <a:extLst>
              <a:ext uri="{FF2B5EF4-FFF2-40B4-BE49-F238E27FC236}">
                <a16:creationId xmlns:a16="http://schemas.microsoft.com/office/drawing/2014/main" id="{1C8B277C-A750-C428-D20E-A36FC248E0C8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24384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9724" name="Text Box 32">
            <a:extLst>
              <a:ext uri="{FF2B5EF4-FFF2-40B4-BE49-F238E27FC236}">
                <a16:creationId xmlns:a16="http://schemas.microsoft.com/office/drawing/2014/main" id="{BE636A3B-0AFF-DC21-2BDD-F0F2A5B71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1752600"/>
            <a:ext cx="1447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1800" b="0">
                <a:solidFill>
                  <a:schemeClr val="tx1"/>
                </a:solidFill>
                <a:ea typeface="黑体" panose="02010609060101010101" pitchFamily="49" charset="-122"/>
              </a:rPr>
              <a:t>逻辑地址</a:t>
            </a:r>
          </a:p>
        </p:txBody>
      </p:sp>
      <p:sp>
        <p:nvSpPr>
          <p:cNvPr id="29725" name="Line 33">
            <a:extLst>
              <a:ext uri="{FF2B5EF4-FFF2-40B4-BE49-F238E27FC236}">
                <a16:creationId xmlns:a16="http://schemas.microsoft.com/office/drawing/2014/main" id="{5CDC425A-EF4E-1DEE-70B2-9816428CD83E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590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9726" name="Line 34">
            <a:extLst>
              <a:ext uri="{FF2B5EF4-FFF2-40B4-BE49-F238E27FC236}">
                <a16:creationId xmlns:a16="http://schemas.microsoft.com/office/drawing/2014/main" id="{1B48E361-7CC0-860D-A82D-59053930D0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09800" y="2971800"/>
            <a:ext cx="3733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9727" name="Line 35">
            <a:extLst>
              <a:ext uri="{FF2B5EF4-FFF2-40B4-BE49-F238E27FC236}">
                <a16:creationId xmlns:a16="http://schemas.microsoft.com/office/drawing/2014/main" id="{229951AC-C54C-098F-67F6-FBFE167EFF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48200" y="2590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9728" name="Oval 36">
            <a:extLst>
              <a:ext uri="{FF2B5EF4-FFF2-40B4-BE49-F238E27FC236}">
                <a16:creationId xmlns:a16="http://schemas.microsoft.com/office/drawing/2014/main" id="{8BC3E73D-1C28-776A-BD56-074889DDC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819400"/>
            <a:ext cx="3810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ea typeface="宋体" panose="02010600030101010101" pitchFamily="2" charset="-122"/>
              </a:rPr>
              <a:t>+</a:t>
            </a:r>
          </a:p>
        </p:txBody>
      </p:sp>
      <p:sp>
        <p:nvSpPr>
          <p:cNvPr id="29729" name="Line 37">
            <a:extLst>
              <a:ext uri="{FF2B5EF4-FFF2-40B4-BE49-F238E27FC236}">
                <a16:creationId xmlns:a16="http://schemas.microsoft.com/office/drawing/2014/main" id="{DB0CAE8F-B847-DEBD-569C-0B6B2879943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590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9730" name="Line 38">
            <a:extLst>
              <a:ext uri="{FF2B5EF4-FFF2-40B4-BE49-F238E27FC236}">
                <a16:creationId xmlns:a16="http://schemas.microsoft.com/office/drawing/2014/main" id="{70CE0EEE-4670-AE1C-40C2-E9AFBB4F6A5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3124200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9731" name="Line 39">
            <a:extLst>
              <a:ext uri="{FF2B5EF4-FFF2-40B4-BE49-F238E27FC236}">
                <a16:creationId xmlns:a16="http://schemas.microsoft.com/office/drawing/2014/main" id="{944B9373-92B4-1F69-5DAE-5C36DF84F2B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44196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416808" name="Group 40">
            <a:extLst>
              <a:ext uri="{FF2B5EF4-FFF2-40B4-BE49-F238E27FC236}">
                <a16:creationId xmlns:a16="http://schemas.microsoft.com/office/drawing/2014/main" id="{F5F6C4C5-B287-FE6C-A069-4B5C26033CF4}"/>
              </a:ext>
            </a:extLst>
          </p:cNvPr>
          <p:cNvGraphicFramePr>
            <a:graphicFrameLocks noGrp="1"/>
          </p:cNvGraphicFramePr>
          <p:nvPr/>
        </p:nvGraphicFramePr>
        <p:xfrm>
          <a:off x="3581400" y="3124200"/>
          <a:ext cx="2209800" cy="18288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0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段号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段长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基址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30k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40k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20k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80k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15k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120k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0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10k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00FF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hlink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楷体_GB2312" pitchFamily="49" charset="-122"/>
                        </a:rPr>
                        <a:t>150k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758" name="Oval 66">
            <a:extLst>
              <a:ext uri="{FF2B5EF4-FFF2-40B4-BE49-F238E27FC236}">
                <a16:creationId xmlns:a16="http://schemas.microsoft.com/office/drawing/2014/main" id="{C8438C14-4E55-5ABE-90EE-65A9A90FC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4267200"/>
            <a:ext cx="3810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ea typeface="宋体" panose="02010600030101010101" pitchFamily="2" charset="-122"/>
              </a:rPr>
              <a:t>+</a:t>
            </a:r>
          </a:p>
        </p:txBody>
      </p:sp>
      <p:sp>
        <p:nvSpPr>
          <p:cNvPr id="29759" name="Line 67">
            <a:extLst>
              <a:ext uri="{FF2B5EF4-FFF2-40B4-BE49-F238E27FC236}">
                <a16:creationId xmlns:a16="http://schemas.microsoft.com/office/drawing/2014/main" id="{66AE50B2-6EB4-AC92-496F-62E9D2BFDA7D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9760" name="Line 68">
            <a:extLst>
              <a:ext uri="{FF2B5EF4-FFF2-40B4-BE49-F238E27FC236}">
                <a16:creationId xmlns:a16="http://schemas.microsoft.com/office/drawing/2014/main" id="{0059D621-B0C0-DEF9-2E4B-9AF01C4EC952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4419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9761" name="Line 69">
            <a:extLst>
              <a:ext uri="{FF2B5EF4-FFF2-40B4-BE49-F238E27FC236}">
                <a16:creationId xmlns:a16="http://schemas.microsoft.com/office/drawing/2014/main" id="{29675464-90EC-CF6D-A80A-E2C9C08FECC1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4572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9762" name="Rectangle 72">
            <a:extLst>
              <a:ext uri="{FF2B5EF4-FFF2-40B4-BE49-F238E27FC236}">
                <a16:creationId xmlns:a16="http://schemas.microsoft.com/office/drawing/2014/main" id="{565ED9CF-8B03-E9CB-06B6-405892777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3048000"/>
            <a:ext cx="1219200" cy="3276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9763" name="Line 73">
            <a:extLst>
              <a:ext uri="{FF2B5EF4-FFF2-40B4-BE49-F238E27FC236}">
                <a16:creationId xmlns:a16="http://schemas.microsoft.com/office/drawing/2014/main" id="{8189D3F7-32F0-8E02-EB6D-F307947DFA3D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43434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9764" name="Line 76">
            <a:extLst>
              <a:ext uri="{FF2B5EF4-FFF2-40B4-BE49-F238E27FC236}">
                <a16:creationId xmlns:a16="http://schemas.microsoft.com/office/drawing/2014/main" id="{BD5BD331-BF24-DB3E-E154-67A35088BA37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51816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9765" name="Line 77">
            <a:extLst>
              <a:ext uri="{FF2B5EF4-FFF2-40B4-BE49-F238E27FC236}">
                <a16:creationId xmlns:a16="http://schemas.microsoft.com/office/drawing/2014/main" id="{E145D590-DA96-474D-27A5-01078349C1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67600" y="43434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9766" name="Line 78">
            <a:extLst>
              <a:ext uri="{FF2B5EF4-FFF2-40B4-BE49-F238E27FC236}">
                <a16:creationId xmlns:a16="http://schemas.microsoft.com/office/drawing/2014/main" id="{B8B1830B-D334-23B5-800E-70D1253B01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67600" y="4343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9767" name="Line 81">
            <a:extLst>
              <a:ext uri="{FF2B5EF4-FFF2-40B4-BE49-F238E27FC236}">
                <a16:creationId xmlns:a16="http://schemas.microsoft.com/office/drawing/2014/main" id="{93541F76-6235-14C6-241A-AE4A01B35BE4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40386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9768" name="Line 82">
            <a:extLst>
              <a:ext uri="{FF2B5EF4-FFF2-40B4-BE49-F238E27FC236}">
                <a16:creationId xmlns:a16="http://schemas.microsoft.com/office/drawing/2014/main" id="{FF9B3970-B06E-A27F-3E94-869163914946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47244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16855" name="Oval 87">
            <a:extLst>
              <a:ext uri="{FF2B5EF4-FFF2-40B4-BE49-F238E27FC236}">
                <a16:creationId xmlns:a16="http://schemas.microsoft.com/office/drawing/2014/main" id="{6D7106B5-5909-D8A4-C360-BD8A7A60F6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5516563"/>
            <a:ext cx="1619250" cy="9366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检查段内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地址是否越界</a:t>
            </a:r>
          </a:p>
        </p:txBody>
      </p:sp>
      <p:sp>
        <p:nvSpPr>
          <p:cNvPr id="416856" name="Oval 88">
            <a:extLst>
              <a:ext uri="{FF2B5EF4-FFF2-40B4-BE49-F238E27FC236}">
                <a16:creationId xmlns:a16="http://schemas.microsoft.com/office/drawing/2014/main" id="{3209ACDF-1368-895C-1222-3965BC6F9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5157788"/>
            <a:ext cx="1619250" cy="9366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思考：要检查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几次越界？</a:t>
            </a:r>
          </a:p>
        </p:txBody>
      </p:sp>
      <p:sp>
        <p:nvSpPr>
          <p:cNvPr id="416859" name="Line 91">
            <a:extLst>
              <a:ext uri="{FF2B5EF4-FFF2-40B4-BE49-F238E27FC236}">
                <a16:creationId xmlns:a16="http://schemas.microsoft.com/office/drawing/2014/main" id="{C8A6B808-C36C-BEF0-5136-F9E4382472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6463" y="908050"/>
            <a:ext cx="1223962" cy="129698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16860" name="Oval 92">
            <a:extLst>
              <a:ext uri="{FF2B5EF4-FFF2-40B4-BE49-F238E27FC236}">
                <a16:creationId xmlns:a16="http://schemas.microsoft.com/office/drawing/2014/main" id="{51C12A00-2997-B955-7CF2-924012A15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0"/>
            <a:ext cx="1619250" cy="9366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检查段号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是否越界</a:t>
            </a:r>
          </a:p>
        </p:txBody>
      </p:sp>
      <p:sp>
        <p:nvSpPr>
          <p:cNvPr id="416861" name="Line 93">
            <a:extLst>
              <a:ext uri="{FF2B5EF4-FFF2-40B4-BE49-F238E27FC236}">
                <a16:creationId xmlns:a16="http://schemas.microsoft.com/office/drawing/2014/main" id="{9D358F4A-C98F-E8AE-0C72-CBC64CAC539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59338" y="4437063"/>
            <a:ext cx="288925" cy="10795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7" name="Rectangle 2">
            <a:extLst>
              <a:ext uri="{FF2B5EF4-FFF2-40B4-BE49-F238E27FC236}">
                <a16:creationId xmlns:a16="http://schemas.microsoft.com/office/drawing/2014/main" id="{9D2173F7-7904-44CE-EB59-776BFD44F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9213"/>
            <a:ext cx="4648200" cy="7620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folHlink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folHlink"/>
                </a:solidFill>
                <a:latin typeface="Tahoma" pitchFamily="34" charset="0"/>
                <a:ea typeface="华文隶书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folHlink"/>
                </a:solidFill>
                <a:latin typeface="Tahoma" pitchFamily="34" charset="0"/>
                <a:ea typeface="华文隶书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folHlink"/>
                </a:solidFill>
                <a:latin typeface="Tahoma" pitchFamily="34" charset="0"/>
                <a:ea typeface="华文隶书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folHlink"/>
                </a:solidFill>
                <a:latin typeface="Tahoma" pitchFamily="34" charset="0"/>
                <a:ea typeface="华文隶书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folHlink"/>
                </a:solidFill>
                <a:latin typeface="Tahoma" pitchFamily="34" charset="0"/>
                <a:ea typeface="华文隶书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folHlink"/>
                </a:solidFill>
                <a:latin typeface="Tahoma" pitchFamily="34" charset="0"/>
                <a:ea typeface="华文隶书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folHlink"/>
                </a:solidFill>
                <a:latin typeface="Tahoma" pitchFamily="34" charset="0"/>
                <a:ea typeface="华文隶书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folHlink"/>
                </a:solidFill>
                <a:latin typeface="Tahoma" pitchFamily="34" charset="0"/>
                <a:ea typeface="华文隶书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b="1" kern="0" dirty="0">
                <a:ea typeface="幼圆" panose="02010509060101010101" pitchFamily="49" charset="-122"/>
              </a:rPr>
              <a:t>四、分段保护</a:t>
            </a:r>
          </a:p>
        </p:txBody>
      </p:sp>
      <p:sp>
        <p:nvSpPr>
          <p:cNvPr id="29775" name="文本框 39">
            <a:extLst>
              <a:ext uri="{FF2B5EF4-FFF2-40B4-BE49-F238E27FC236}">
                <a16:creationId xmlns:a16="http://schemas.microsoft.com/office/drawing/2014/main" id="{DB37354E-AF76-3F29-62DE-5E8CF5640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5675" y="1077913"/>
            <a:ext cx="66262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0066"/>
              </a:buClr>
              <a:buSzPct val="110000"/>
              <a:buFont typeface="Wingdings" panose="05000000000000000000" pitchFamily="2" charset="2"/>
              <a:buChar char="q"/>
            </a:pPr>
            <a:r>
              <a:rPr lang="zh-CN" altLang="en-US" sz="2000">
                <a:latin typeface="幼圆" panose="02010509060101010101" pitchFamily="49" charset="-122"/>
                <a:ea typeface="幼圆" panose="02010509060101010101" pitchFamily="49" charset="-122"/>
              </a:rPr>
              <a:t>保护</a:t>
            </a:r>
            <a:r>
              <a:rPr lang="en-US" altLang="zh-CN" sz="2000">
                <a:latin typeface="幼圆" panose="02010509060101010101" pitchFamily="49" charset="-122"/>
                <a:ea typeface="幼圆" panose="02010509060101010101" pitchFamily="49" charset="-122"/>
              </a:rPr>
              <a:t>:   </a:t>
            </a:r>
            <a:r>
              <a:rPr lang="zh-CN" altLang="en-US" sz="2000">
                <a:latin typeface="幼圆" panose="02010509060101010101" pitchFamily="49" charset="-122"/>
                <a:ea typeface="幼圆" panose="02010509060101010101" pitchFamily="49" charset="-122"/>
              </a:rPr>
              <a:t>地址越界保护；*存取控制保护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68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68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16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16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16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16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6855" grpId="0" animBg="1"/>
      <p:bldP spid="416856" grpId="0" animBg="1"/>
      <p:bldP spid="41686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AFB2C156-D694-ACB8-CE99-8C46F5C6AF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600" y="990600"/>
            <a:ext cx="5859463" cy="693738"/>
          </a:xfrm>
        </p:spPr>
        <p:txBody>
          <a:bodyPr/>
          <a:lstStyle/>
          <a:p>
            <a:pPr eaLnBrk="1" hangingPunct="1"/>
            <a:r>
              <a:rPr lang="zh-CN" altLang="en-US" sz="2800" b="1">
                <a:latin typeface="幼圆" panose="02010509060101010101" pitchFamily="49" charset="-122"/>
                <a:ea typeface="幼圆" panose="02010509060101010101" pitchFamily="49" charset="-122"/>
              </a:rPr>
              <a:t>五、分页和分段的主要区别</a:t>
            </a:r>
          </a:p>
        </p:txBody>
      </p:sp>
      <p:graphicFrame>
        <p:nvGraphicFramePr>
          <p:cNvPr id="420906" name="Group 42">
            <a:extLst>
              <a:ext uri="{FF2B5EF4-FFF2-40B4-BE49-F238E27FC236}">
                <a16:creationId xmlns:a16="http://schemas.microsoft.com/office/drawing/2014/main" id="{697A3D7D-294E-F7DF-AC75-FAA6675299BC}"/>
              </a:ext>
            </a:extLst>
          </p:cNvPr>
          <p:cNvGraphicFramePr>
            <a:graphicFrameLocks noGrp="1"/>
          </p:cNvGraphicFramePr>
          <p:nvPr/>
        </p:nvGraphicFramePr>
        <p:xfrm>
          <a:off x="755650" y="1989138"/>
          <a:ext cx="7924800" cy="4017971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3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2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6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页式存储管理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段式存储管理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5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目的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实现非连续分配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解决碎片问题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页内碎片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)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更好满足用户需要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信息单位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页（物理单位）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段（逻辑单位）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大小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固定（由系统定）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不定（由用户程序定）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内存分配单位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页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段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作业地址空间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一维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二维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241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优点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有效解决了碎片问题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有效提高内存的利用率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更好地实现数据共享与保护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段长可动态增长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便于动态链接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0757" name="Text Box 43">
            <a:extLst>
              <a:ext uri="{FF2B5EF4-FFF2-40B4-BE49-F238E27FC236}">
                <a16:creationId xmlns:a16="http://schemas.microsoft.com/office/drawing/2014/main" id="{FEBFF0B6-F584-4244-DF4E-ED92A5EDD6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6096000"/>
            <a:ext cx="579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二者优点的结合</a:t>
            </a:r>
            <a:r>
              <a:rPr lang="en-US" altLang="zh-CN" sz="200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----</a:t>
            </a:r>
            <a:r>
              <a:rPr lang="zh-CN" altLang="en-US" sz="200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段页式存储管理</a:t>
            </a:r>
            <a:endParaRPr lang="zh-CN" altLang="en-US" sz="2000">
              <a:solidFill>
                <a:srgbClr val="FF00FF"/>
              </a:solidFill>
              <a:latin typeface="Times New Roman" panose="02020603050405020304" pitchFamily="18" charset="0"/>
              <a:ea typeface="华文隶书" panose="02010800040101010101" pitchFamily="2" charset="-122"/>
            </a:endParaRPr>
          </a:p>
        </p:txBody>
      </p:sp>
      <p:sp>
        <p:nvSpPr>
          <p:cNvPr id="30758" name="AutoShape 44">
            <a:hlinkClick r:id="" action="ppaction://noaction"/>
            <a:extLst>
              <a:ext uri="{FF2B5EF4-FFF2-40B4-BE49-F238E27FC236}">
                <a16:creationId xmlns:a16="http://schemas.microsoft.com/office/drawing/2014/main" id="{2348AA75-2E0D-3542-5E58-8D6212351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6248400"/>
            <a:ext cx="685800" cy="457200"/>
          </a:xfrm>
          <a:prstGeom prst="irregularSeal1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400" b="0">
                <a:solidFill>
                  <a:schemeClr val="bg1"/>
                </a:solidFill>
                <a:ea typeface="宋体" panose="02010600030101010101" pitchFamily="2" charset="-122"/>
              </a:rPr>
              <a:t>返回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592589AA-0466-84A2-946A-CC7C49AA6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133600"/>
            <a:ext cx="8229600" cy="4356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zh-CN" sz="2000">
                <a:solidFill>
                  <a:srgbClr val="0000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     </a:t>
            </a:r>
            <a:r>
              <a:rPr lang="zh-CN" altLang="en-US" sz="2000">
                <a:solidFill>
                  <a:srgbClr val="0000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优点：</a:t>
            </a:r>
          </a:p>
          <a:p>
            <a:pPr eaLnBrk="1" hangingPunct="1">
              <a:buClrTx/>
              <a:buFontTx/>
              <a:buNone/>
            </a:pP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）便于程序模块化处理；段的保护容易。</a:t>
            </a:r>
          </a:p>
          <a:p>
            <a:pPr eaLnBrk="1" hangingPunct="1">
              <a:buClrTx/>
              <a:buFontTx/>
              <a:buNone/>
            </a:pP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）便于处理动态的数据结构；可增、减分段长度；</a:t>
            </a:r>
          </a:p>
          <a:p>
            <a:pPr eaLnBrk="1" hangingPunct="1">
              <a:buClrTx/>
              <a:buFontTx/>
              <a:buNone/>
            </a:pP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）便于动态链接。每一分段是一组有意义的信息或具有独立功能的程序段。</a:t>
            </a:r>
          </a:p>
          <a:p>
            <a:pPr eaLnBrk="1" hangingPunct="1">
              <a:buClrTx/>
              <a:buFontTx/>
              <a:buNone/>
            </a:pP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）便于共享分段。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0000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    缺点：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）和分页管理一样，处理机要为地址变换花费时间，要为段表提供附加的存储空间，这使操作系统复杂化。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）为满足分段的动态增长和减少外零头，要采用拼接手段。</a:t>
            </a:r>
          </a:p>
          <a:p>
            <a:pPr eaLnBrk="1" hangingPunct="1">
              <a:buClrTx/>
              <a:buFontTx/>
              <a:buNone/>
            </a:pP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）产生碎片</a:t>
            </a:r>
            <a:r>
              <a:rPr lang="en-US" altLang="zh-CN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外部碎片</a:t>
            </a:r>
            <a:r>
              <a:rPr lang="en-US" altLang="zh-CN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 b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思考：与可变分区存储管理方案的相同点与不同点？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33F5AD44-4D6D-1C31-6B2B-947CDA341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1052513"/>
            <a:ext cx="41513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FF"/>
              </a:buClr>
              <a:buFont typeface="Wingdings" panose="05000000000000000000" pitchFamily="2" charset="2"/>
              <a:buChar char="v"/>
              <a:defRPr kumimoji="1" sz="2800" b="1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六、分段管理主要优缺点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ends">
  <a:themeElements>
    <a:clrScheme name="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FFFFCC"/>
      </a:accent1>
      <a:accent2>
        <a:srgbClr val="FFCF01"/>
      </a:accent2>
      <a:accent3>
        <a:srgbClr val="FFFFFF"/>
      </a:accent3>
      <a:accent4>
        <a:srgbClr val="000000"/>
      </a:accent4>
      <a:accent5>
        <a:srgbClr val="FFFFE2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华文隶书"/>
        <a:cs typeface=""/>
      </a:majorFont>
      <a:minorFont>
        <a:latin typeface="Tahoma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11339</TotalTime>
  <Words>4454</Words>
  <Application>Microsoft Office PowerPoint</Application>
  <PresentationFormat>全屏显示(4:3)</PresentationFormat>
  <Paragraphs>545</Paragraphs>
  <Slides>27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8" baseType="lpstr">
      <vt:lpstr>Tahoma</vt:lpstr>
      <vt:lpstr>宋体</vt:lpstr>
      <vt:lpstr>Arial</vt:lpstr>
      <vt:lpstr>华文隶书</vt:lpstr>
      <vt:lpstr>楷体_GB2312</vt:lpstr>
      <vt:lpstr>Wingdings</vt:lpstr>
      <vt:lpstr>Times New Roman</vt:lpstr>
      <vt:lpstr>幼圆</vt:lpstr>
      <vt:lpstr>黑体</vt:lpstr>
      <vt:lpstr>Blends</vt:lpstr>
      <vt:lpstr>Microsoft 公式 3.0</vt:lpstr>
      <vt:lpstr>5.5  分页存储管理方式</vt:lpstr>
      <vt:lpstr>5.5  分页存储管理方式</vt:lpstr>
      <vt:lpstr>一、基本思想</vt:lpstr>
      <vt:lpstr>一、基本思想</vt:lpstr>
      <vt:lpstr>一、基本思想</vt:lpstr>
      <vt:lpstr>二、页表</vt:lpstr>
      <vt:lpstr>三、地址结构</vt:lpstr>
      <vt:lpstr>三、地址结构例题</vt:lpstr>
      <vt:lpstr>四、地址变换机构</vt:lpstr>
      <vt:lpstr>四、地址变换例题</vt:lpstr>
      <vt:lpstr>PowerPoint 演示文稿</vt:lpstr>
      <vt:lpstr>四、地址变换机构                 -----具有快表的地址变换机构</vt:lpstr>
      <vt:lpstr>PowerPoint 演示文稿</vt:lpstr>
      <vt:lpstr>五、页的保护</vt:lpstr>
      <vt:lpstr>五、页的共享保护</vt:lpstr>
      <vt:lpstr>5.6 分段存储管理方式</vt:lpstr>
      <vt:lpstr>一、分段存储管理方式的引入-满足用户要求</vt:lpstr>
      <vt:lpstr>二、分段系统的基本原理</vt:lpstr>
      <vt:lpstr>PowerPoint 演示文稿</vt:lpstr>
      <vt:lpstr>分段系统的基本原理---段表</vt:lpstr>
      <vt:lpstr>地址变换机构-实现逻辑地址向物理地址的变换。</vt:lpstr>
      <vt:lpstr>例：</vt:lpstr>
      <vt:lpstr>三、信息共享</vt:lpstr>
      <vt:lpstr>2、分段系统中对程序和数据的共享</vt:lpstr>
      <vt:lpstr>PowerPoint 演示文稿</vt:lpstr>
      <vt:lpstr>五、分页和分段的主要区别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4.4  基本分页存储管理方式</dc:title>
  <dc:creator/>
  <cp:lastModifiedBy>Huixuan Zhou</cp:lastModifiedBy>
  <cp:revision>685</cp:revision>
  <dcterms:created xsi:type="dcterms:W3CDTF">1999-05-27T04:26:24Z</dcterms:created>
  <dcterms:modified xsi:type="dcterms:W3CDTF">2026-10-29T13:59:14Z</dcterms:modified>
</cp:coreProperties>
</file>