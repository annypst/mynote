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42" r:id="rId3"/>
    <p:sldId id="371" r:id="rId5"/>
    <p:sldId id="380" r:id="rId6"/>
    <p:sldId id="401" r:id="rId7"/>
    <p:sldId id="421" r:id="rId8"/>
    <p:sldId id="373" r:id="rId9"/>
    <p:sldId id="423" r:id="rId10"/>
    <p:sldId id="424" r:id="rId11"/>
    <p:sldId id="425" r:id="rId12"/>
    <p:sldId id="426" r:id="rId13"/>
    <p:sldId id="427" r:id="rId14"/>
    <p:sldId id="428" r:id="rId15"/>
    <p:sldId id="429" r:id="rId16"/>
    <p:sldId id="394" r:id="rId17"/>
    <p:sldId id="431" r:id="rId18"/>
  </p:sldIdLst>
  <p:sldSz cx="12198350" cy="6859270"/>
  <p:notesSz cx="6858000" cy="9144000"/>
  <p:custDataLst>
    <p:tags r:id="rId22"/>
  </p:custDataLst>
  <p:defaultTextStyle>
    <a:defPPr>
      <a:defRPr lang="zh-CN"/>
    </a:defPPr>
    <a:lvl1pPr marL="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2" userDrawn="1">
          <p15:clr>
            <a:srgbClr val="A4A3A4"/>
          </p15:clr>
        </p15:guide>
        <p15:guide id="3" pos="304" userDrawn="1">
          <p15:clr>
            <a:srgbClr val="A4A3A4"/>
          </p15:clr>
        </p15:guide>
        <p15:guide id="4" pos="1891" userDrawn="1">
          <p15:clr>
            <a:srgbClr val="A4A3A4"/>
          </p15:clr>
        </p15:guide>
        <p15:guide id="5" pos="1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005DA2"/>
    <a:srgbClr val="FFC400"/>
    <a:srgbClr val="FFD347"/>
    <a:srgbClr val="FFC91D"/>
    <a:srgbClr val="0071C1"/>
    <a:srgbClr val="414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59" autoAdjust="0"/>
    <p:restoredTop sz="92638" autoAdjust="0"/>
  </p:normalViewPr>
  <p:slideViewPr>
    <p:cSldViewPr showGuides="1">
      <p:cViewPr varScale="1">
        <p:scale>
          <a:sx n="65" d="100"/>
          <a:sy n="65" d="100"/>
        </p:scale>
        <p:origin x="-834" y="-114"/>
      </p:cViewPr>
      <p:guideLst>
        <p:guide orient="horz" pos="2159"/>
        <p:guide pos="3842"/>
        <p:guide pos="304"/>
        <p:guide pos="1891"/>
        <p:guide pos="12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2AE03-6EE8-41FD-8A37-86C6BC5E26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1562671" y="693490"/>
            <a:ext cx="10635679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11" y="0"/>
            <a:ext cx="1155204" cy="110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20" y="273112"/>
            <a:ext cx="4013173" cy="116232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9216" y="273114"/>
            <a:ext cx="6819216" cy="5854469"/>
          </a:xfrm>
          <a:prstGeom prst="rect">
            <a:avLst/>
          </a:prstGeom>
        </p:spPr>
        <p:txBody>
          <a:bodyPr lIns="121963" tIns="60981" rIns="121963" bIns="60981"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920" y="1435434"/>
            <a:ext cx="4013173" cy="46921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962" y="4801712"/>
            <a:ext cx="7319010" cy="56687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962" y="612916"/>
            <a:ext cx="7319010" cy="4115753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962" y="5368581"/>
            <a:ext cx="7319010" cy="8050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600572"/>
            <a:ext cx="10978515" cy="4527011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804" y="206422"/>
            <a:ext cx="2744629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206422"/>
            <a:ext cx="8030580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 advTm="0">
    <p:wipe/>
  </p:transition>
  <p:timing>
    <p:tnLst>
      <p:par>
        <p:cTn id="1" dur="indefinite" restart="never" nodeType="tmRoot"/>
      </p:par>
    </p:tnLst>
  </p:timing>
  <p:txStyles>
    <p:titleStyle>
      <a:lvl1pPr algn="ctr" defTabSz="1219835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1235" indent="-3810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6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2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4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40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-616" y="-26590"/>
            <a:ext cx="12193647" cy="6860642"/>
          </a:xfrm>
          <a:prstGeom prst="rect">
            <a:avLst/>
          </a:prstGeom>
        </p:spPr>
      </p:pic>
      <p:cxnSp>
        <p:nvCxnSpPr>
          <p:cNvPr id="25" name="直接连接符 24"/>
          <p:cNvCxnSpPr/>
          <p:nvPr/>
        </p:nvCxnSpPr>
        <p:spPr>
          <a:xfrm>
            <a:off x="5327222" y="4390123"/>
            <a:ext cx="602891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2825" y="455097"/>
            <a:ext cx="2152446" cy="861974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Eras Bold ITC" panose="020B0907030504020204" pitchFamily="34" charset="0"/>
              </a:rPr>
              <a:t>LOGO</a:t>
            </a:r>
            <a:endParaRPr lang="zh-CN" altLang="en-US" sz="48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26385" y="5197738"/>
            <a:ext cx="2353310" cy="612775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软件学院  </a:t>
            </a:r>
            <a:endParaRPr lang="en-US" altLang="zh-CN" sz="3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48997" y="2709714"/>
            <a:ext cx="6260682" cy="1785100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en-US" altLang="zh-CN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OOP</a:t>
            </a:r>
            <a:r>
              <a:rPr lang="zh-CN" altLang="en-US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编程原则        </a:t>
            </a:r>
            <a:endParaRPr lang="en-US" altLang="zh-CN" sz="5400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en-US" altLang="zh-CN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迪米特法则</a:t>
            </a:r>
            <a:endParaRPr lang="zh-CN" altLang="en-US" sz="5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86607" y="933321"/>
            <a:ext cx="57606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迪米特</a:t>
            </a:r>
            <a:r>
              <a:rPr lang="zh-CN" altLang="en-US" sz="28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法则</a:t>
            </a:r>
            <a:endParaRPr lang="fr-FR" altLang="zh-CN" sz="2800" b="1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Law of Demeter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，</a:t>
            </a:r>
            <a:r>
              <a:rPr lang="en-US" altLang="zh-CN" sz="2800" b="1" kern="1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LoD</a:t>
            </a:r>
            <a:endParaRPr lang="en-US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</a:endParaRPr>
          </a:p>
        </p:txBody>
      </p:sp>
      <p:sp>
        <p:nvSpPr>
          <p:cNvPr id="7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https://timgsa.baidu.com/timg?image&amp;quality=80&amp;size=b9999_10000&amp;sec=1582888170863&amp;di=f429d0248f4e2c0fb23ec2a7ae910bb8&amp;imgtype=jpg&amp;src=http%3A%2F%2Fimg.autohome.com.cn%2Falbum%2F2010%2F5%2F5%2F500_22aebd42-0f34-418f-8908-b9d1cee987a3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111" y="1125538"/>
            <a:ext cx="3583941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698575" y="3573810"/>
            <a:ext cx="626469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最少知识原则</a:t>
            </a:r>
            <a:endParaRPr lang="fr-FR" altLang="zh-CN" sz="2800" b="1" kern="1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Least Knowledge Principle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，</a:t>
            </a: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LKP</a:t>
            </a:r>
            <a:endParaRPr lang="en-US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迪米特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法则的定义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770583" y="2925738"/>
          <a:ext cx="10585176" cy="2560320"/>
        </p:xfrm>
        <a:graphic>
          <a:graphicData uri="http://schemas.openxmlformats.org/drawingml/2006/table">
            <a:tbl>
              <a:tblPr/>
              <a:tblGrid>
                <a:gridCol w="10585176"/>
              </a:tblGrid>
              <a:tr h="1512168"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2800" b="1" kern="1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迪米特法则</a:t>
                      </a:r>
                      <a:r>
                        <a:rPr lang="zh-CN" altLang="en-US" sz="2800" b="1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：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每一个软件单位对其他的单位都只有最少的知识，而且局限于那些与本单位密切相关的软件单位。</a:t>
                      </a:r>
                      <a:endParaRPr lang="en-US" altLang="zh-CN" sz="2800" b="0" kern="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marL="457200" indent="-45720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2800" b="1" kern="100" dirty="0" err="1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LoD</a:t>
                      </a:r>
                      <a:r>
                        <a:rPr lang="zh-CN" altLang="en-US" sz="2800" b="1" kern="1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altLang="zh-CN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Each unit should have only limited knowledge about other units: only units "closely" related to the current unit.</a:t>
                      </a:r>
                      <a:endParaRPr lang="zh-CN" sz="2800" kern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986607" y="1341562"/>
            <a:ext cx="100091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迪米特法则来自于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1987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年美国东北大学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(Northeastern University)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一个名为“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Demeter”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的研究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迪米特法则分析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4559" y="909514"/>
            <a:ext cx="10873208" cy="4875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迪米特法则要求一个软件实体应当</a:t>
            </a:r>
            <a:r>
              <a:rPr lang="zh-CN" altLang="en-US" sz="2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尽可能少地与其他实体发生</a:t>
            </a:r>
            <a:r>
              <a:rPr lang="zh-CN" altLang="en-US" sz="2800" b="1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相互作用</a:t>
            </a:r>
            <a:endParaRPr lang="en-US" altLang="zh-CN" sz="2800" b="1" kern="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zh-CN" altLang="en-US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对象应该对其他对象有</a:t>
            </a:r>
            <a:r>
              <a:rPr lang="zh-CN" altLang="en-US" sz="2800" b="1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最少的了解</a:t>
            </a:r>
            <a:r>
              <a:rPr lang="zh-CN" altLang="en-US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一个类对其他自己需要耦合或者调用的类</a:t>
            </a:r>
            <a:r>
              <a:rPr lang="zh-CN" altLang="en-US" sz="2800" b="1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知道的尽量少</a:t>
            </a:r>
            <a:r>
              <a:rPr lang="zh-CN" altLang="en-US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，只管调用其方法即可。</a:t>
            </a:r>
            <a:endParaRPr lang="zh-CN" altLang="en-US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应用迪米特法则可</a:t>
            </a:r>
            <a:r>
              <a:rPr lang="zh-CN" altLang="en-US" sz="2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降低系统的耦合度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，使类与类之间保持松散的耦合关系</a:t>
            </a:r>
            <a:endParaRPr lang="zh-CN" altLang="en-US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迪米特法则分析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4559" y="856894"/>
            <a:ext cx="10873208" cy="5669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不要和“陌生人”说话（</a:t>
            </a:r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Do not talk to strangers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与你的“直接朋友”通信（</a:t>
            </a:r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Talk only to your immediate friends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对于一个对象，其朋友包含：</a:t>
            </a:r>
            <a:endParaRPr lang="en-US" altLang="zh-CN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09700" lvl="2" indent="-34290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当前对象本身；</a:t>
            </a:r>
            <a:endParaRPr lang="en-US" altLang="zh-CN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09700" lvl="2" indent="-34290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以参数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形式传入到当前对象方法中的对象；</a:t>
            </a:r>
            <a:endParaRPr lang="en-US" altLang="zh-CN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09700" lvl="2" indent="-34290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当前对象的成员对象；</a:t>
            </a:r>
            <a:endParaRPr lang="en-US" altLang="zh-CN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09700" lvl="2" indent="-34290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当前对象的成员对象是一个集合，集合中的元素也是朋友；</a:t>
            </a:r>
            <a:endParaRPr lang="en-US" altLang="zh-CN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09700" lvl="2" indent="-34290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当前对象所创建的对象。</a:t>
            </a:r>
            <a:endParaRPr lang="en-US" altLang="zh-CN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其余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都是“陌生人”！！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迪米特法则实例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82551" y="1125538"/>
            <a:ext cx="5184576" cy="1420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老师：班长，去把全班女生数量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清点一下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20" y="2493690"/>
            <a:ext cx="5616623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5832648" y="981522"/>
            <a:ext cx="6099175" cy="489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altLang="zh-CN" dirty="0"/>
              <a:t>public class Teacher {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//</a:t>
            </a:r>
            <a:r>
              <a:rPr lang="zh-CN" altLang="en-US" dirty="0"/>
              <a:t>老师对学生发布命令</a:t>
            </a:r>
            <a:r>
              <a:rPr lang="en-US" altLang="zh-CN" dirty="0"/>
              <a:t>,</a:t>
            </a:r>
            <a:r>
              <a:rPr lang="zh-CN" altLang="en-US" dirty="0" smtClean="0"/>
              <a:t>清点一下</a:t>
            </a:r>
            <a:r>
              <a:rPr lang="zh-CN" altLang="en-US" dirty="0"/>
              <a:t>女生</a:t>
            </a:r>
            <a:endParaRPr lang="zh-CN" altLang="en-US" dirty="0"/>
          </a:p>
          <a:p>
            <a:r>
              <a:rPr lang="en-US" altLang="zh-CN" dirty="0" smtClean="0"/>
              <a:t>  public </a:t>
            </a:r>
            <a:r>
              <a:rPr lang="en-US" altLang="zh-CN" dirty="0"/>
              <a:t>void </a:t>
            </a:r>
            <a:r>
              <a:rPr lang="en-US" altLang="zh-CN" dirty="0" err="1"/>
              <a:t>commond</a:t>
            </a:r>
            <a:r>
              <a:rPr lang="en-US" altLang="zh-CN" dirty="0"/>
              <a:t>(</a:t>
            </a:r>
            <a:r>
              <a:rPr lang="en-US" altLang="zh-CN" dirty="0" err="1"/>
              <a:t>GroupLeader</a:t>
            </a:r>
            <a:r>
              <a:rPr lang="en-US" altLang="zh-CN" dirty="0"/>
              <a:t> </a:t>
            </a:r>
            <a:r>
              <a:rPr lang="en-US" altLang="zh-CN" dirty="0" err="1"/>
              <a:t>groupLeader</a:t>
            </a:r>
            <a:r>
              <a:rPr lang="en-US" altLang="zh-CN" dirty="0"/>
              <a:t>){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List&lt;Girl</a:t>
            </a:r>
            <a:r>
              <a:rPr lang="en-US" altLang="zh-CN" dirty="0"/>
              <a:t>&gt; </a:t>
            </a:r>
            <a:r>
              <a:rPr lang="en-US" altLang="zh-CN" dirty="0" err="1"/>
              <a:t>listGirls</a:t>
            </a:r>
            <a:r>
              <a:rPr lang="en-US" altLang="zh-CN" dirty="0"/>
              <a:t> = new </a:t>
            </a:r>
            <a:r>
              <a:rPr lang="en-US" altLang="zh-CN" dirty="0" err="1"/>
              <a:t>ArrayList</a:t>
            </a:r>
            <a:r>
              <a:rPr lang="en-US" altLang="zh-CN" dirty="0"/>
              <a:t>();</a:t>
            </a:r>
            <a:endParaRPr lang="en-US" altLang="zh-CN" dirty="0"/>
          </a:p>
          <a:p>
            <a:r>
              <a:rPr lang="en-US" altLang="zh-CN" dirty="0" smtClean="0"/>
              <a:t>        //</a:t>
            </a:r>
            <a:r>
              <a:rPr lang="zh-CN" altLang="en-US" dirty="0"/>
              <a:t>初始化女生</a:t>
            </a:r>
            <a:endParaRPr lang="zh-CN" altLang="en-US" dirty="0"/>
          </a:p>
          <a:p>
            <a:r>
              <a:rPr lang="en-US" altLang="zh-CN" dirty="0" smtClean="0"/>
              <a:t>        for(int </a:t>
            </a:r>
            <a:r>
              <a:rPr lang="en-US" altLang="zh-CN" dirty="0" err="1"/>
              <a:t>i</a:t>
            </a:r>
            <a:r>
              <a:rPr lang="en-US" altLang="zh-CN" dirty="0"/>
              <a:t>=0;i&lt;20;i++){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listGirls.add</a:t>
            </a:r>
            <a:r>
              <a:rPr lang="en-US" altLang="zh-CN" dirty="0"/>
              <a:t>(new Girl());</a:t>
            </a:r>
            <a:endParaRPr lang="en-US" altLang="zh-CN" dirty="0"/>
          </a:p>
          <a:p>
            <a:r>
              <a:rPr lang="en-US" altLang="zh-CN" dirty="0"/>
              <a:t>		}</a:t>
            </a:r>
            <a:endParaRPr lang="en-US" altLang="zh-CN" dirty="0"/>
          </a:p>
          <a:p>
            <a:r>
              <a:rPr lang="en-US" altLang="zh-CN" dirty="0" smtClean="0"/>
              <a:t>        //</a:t>
            </a:r>
            <a:r>
              <a:rPr lang="zh-CN" altLang="en-US" dirty="0" smtClean="0"/>
              <a:t>告诉开始</a:t>
            </a:r>
            <a:r>
              <a:rPr lang="zh-CN" altLang="en-US" dirty="0"/>
              <a:t>执行清查任务</a:t>
            </a:r>
            <a:endParaRPr lang="zh-CN" altLang="en-US" dirty="0"/>
          </a:p>
          <a:p>
            <a:r>
              <a:rPr lang="en-US" altLang="zh-CN" dirty="0" smtClean="0"/>
              <a:t>        </a:t>
            </a:r>
            <a:r>
              <a:rPr lang="en-US" altLang="zh-CN" dirty="0" err="1" smtClean="0"/>
              <a:t>groupLeader.countGirls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listGirls</a:t>
            </a:r>
            <a:r>
              <a:rPr lang="en-US" altLang="zh-CN" dirty="0"/>
              <a:t>);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迪米特法则实例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20" y="1197546"/>
            <a:ext cx="5616623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5832648" y="896154"/>
            <a:ext cx="6099175" cy="26776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GroupLeader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有清查女生的工作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countGirls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(List&lt;Girl&gt;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listGirls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System.out.println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女生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数量是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"+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listGirls.size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}}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4559" y="4581922"/>
            <a:ext cx="4104456" cy="120032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Girl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39135" y="3789834"/>
            <a:ext cx="6099175" cy="267765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Client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static void main(String[]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Teacher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teacher= new Teacher();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老师发布命令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teacher.commond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(new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GroupLeader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4559" y="6166098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女生数量是：</a:t>
            </a:r>
            <a:r>
              <a:rPr lang="en-US" altLang="zh-CN" b="1" dirty="0" smtClean="0">
                <a:solidFill>
                  <a:srgbClr val="FF0000"/>
                </a:solidFill>
              </a:rPr>
              <a:t>20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迪米特法则实例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70583" y="2383180"/>
            <a:ext cx="10441160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是否符合迪米特法则？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Teacher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类有几个朋友类？只有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GroupLeader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Girl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不是朋友类！！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出现在成员变量、方法输入输出参数中的类才是成员朋友类！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出现在方法体内部的类不是朋友类！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Girl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出现在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command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方法体内。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command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Girl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类有了交流，声明了一个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List&lt;Girl&gt;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动态数组，破坏了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Teacher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的健壮性！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符合迪米特法则！！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623" y="1197546"/>
            <a:ext cx="39243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迪米特法则实例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8615" y="1003275"/>
            <a:ext cx="37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重新设计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645" y="2545060"/>
            <a:ext cx="6768752" cy="4341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4040833" y="909514"/>
            <a:ext cx="8035006" cy="26776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Teacher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老师对学生发布命令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清一下女生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commond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GroupLeader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groupLeader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//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告诉开始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执行清查任务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groupLeader.countGirls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迪米特法则实例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2631" y="863272"/>
            <a:ext cx="2304256" cy="478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重新设计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645" y="2545060"/>
            <a:ext cx="5686772" cy="4341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5120953" y="765498"/>
            <a:ext cx="6666854" cy="45243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GroupLeader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private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List&lt;Girl&gt;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listGirls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传递全班的女生进来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public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GroupLeader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(List&lt;Girl&gt; _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listGirls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this.listGirls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_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listGirls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有清查女生的工作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countGirls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System.out.println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女生数量是：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"+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this.listGirls.size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87207" y="5397817"/>
            <a:ext cx="3816424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Girl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 flipV="1">
            <a:off x="4082951" y="1989634"/>
            <a:ext cx="144016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38535" y="1413570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构造函数中对</a:t>
            </a:r>
            <a:r>
              <a:rPr lang="en-US" altLang="zh-CN" dirty="0" smtClean="0"/>
              <a:t>Girl</a:t>
            </a:r>
            <a:r>
              <a:rPr lang="zh-CN" altLang="en-US" dirty="0" smtClean="0"/>
              <a:t>注入</a:t>
            </a:r>
            <a:endParaRPr lang="zh-CN" altLang="en-US" dirty="0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迪米特法则实例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645" y="2545060"/>
            <a:ext cx="5686772" cy="4341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5379095" y="765498"/>
            <a:ext cx="6738862" cy="563231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Client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static void main(String[]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产生一个女生群体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List&lt;Girl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listGirls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new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ArrayList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&lt;Girl&gt;();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初始化女生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for(int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=0;i&lt;20;i++){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listGirls.add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(new Girl());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Teacher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teacher= new Teacher();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老师发布命令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teacher.commond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(new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GroupLeader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listGirls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535" y="1125538"/>
            <a:ext cx="4608512" cy="1827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Teacher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中对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List&lt;Girl&gt;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的初始化移动到场景中，避开了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Teacher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类对陌生类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Girl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的访问，降低了类间耦合。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迪米特法则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74639" y="1053530"/>
            <a:ext cx="9289032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某系统界面类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Form1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Form2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与数据访问类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DAO1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DAO2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之间的调用关系较为复杂，如图所示：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679" y="2709714"/>
            <a:ext cx="8761977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迪米特法则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594" y="1701602"/>
            <a:ext cx="7344816" cy="332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338535" y="1185724"/>
            <a:ext cx="439248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引入合理的“第三者”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降低现有对象之间的耦合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专门用于控制界面控件交互的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中间类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Mediator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）降低界面控件之间的耦合度。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完成控件之间的调用。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增加或删除控件时，只需要修改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中间类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，原有控件无需修改。中介者模式详细介绍。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8575" y="1257935"/>
            <a:ext cx="10945216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迪米特法则根本思想强调类之间的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松耦合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类的划分应该尽量创建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松耦合的类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，类之间耦合度越低，越有利于复用。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松耦合中的类被修改时，不会对被关联的类造成太多影响。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类的结构设计上，尽量降低其成员变量和成员函数的访问权限。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6627" y="3573810"/>
            <a:ext cx="98650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一句话点评：</a:t>
            </a:r>
            <a:endParaRPr lang="en-US" altLang="zh-CN" sz="28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不要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和陌生人说话，若两国交战要尽量避免正面冲突，多派使者协商调度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4879" y="874635"/>
            <a:ext cx="6480720" cy="3635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ULTRA_SCORM_SLIDE_COUNT" val="4"/>
  <p:tag name="ISPRING_PRESENTATION_TITLE" val="PowerPoint 演示文稿"/>
  <p:tag name="ISPRING_RESOURCE_PATHS_HASH_PRESENTER" val="af3f2d575d923f6e4ff64f325e7b41567660d7"/>
  <p:tag name="commondata" val="eyJoZGlkIjoiZmIwNTgzN2VkODcyMGZjYmE5ZDczYWZmOTUyYTJjOTMifQ=="/>
</p:tagLst>
</file>

<file path=ppt/theme/theme1.xml><?xml version="1.0" encoding="utf-8"?>
<a:theme xmlns:a="http://schemas.openxmlformats.org/drawingml/2006/main" name="第一PPT，www.1ppt.com">
  <a:themeElements>
    <a:clrScheme name="自定义 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C000"/>
      </a:accent2>
      <a:accent3>
        <a:srgbClr val="BFBFBF"/>
      </a:accent3>
      <a:accent4>
        <a:srgbClr val="BFBFBF"/>
      </a:accent4>
      <a:accent5>
        <a:srgbClr val="BFBFB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2700</Words>
  <Application>WPS 演示</Application>
  <PresentationFormat>自定义</PresentationFormat>
  <Paragraphs>165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Eras Bold ITC</vt:lpstr>
      <vt:lpstr>微软雅黑</vt:lpstr>
      <vt:lpstr>Times New Roman</vt:lpstr>
      <vt:lpstr>Arial Unicode MS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蓝色简洁</dc:title>
  <dc:creator>第一PPT</dc:creator>
  <cp:keywords>www.1ppt.com</cp:keywords>
  <cp:lastModifiedBy>i-sugars</cp:lastModifiedBy>
  <cp:revision>242</cp:revision>
  <dcterms:created xsi:type="dcterms:W3CDTF">2014-08-23T07:50:00Z</dcterms:created>
  <dcterms:modified xsi:type="dcterms:W3CDTF">2025-09-10T18:01:25Z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947477CDCD994759933FC1BD281E5664_12</vt:lpwstr>
  </property>
  <property fmtid="{D5CDD505-2E9C-101B-9397-08002B2CF9AE}" pid="3" name="KSOProductBuildVer">
    <vt:lpwstr>2052-12.1.0.22529</vt:lpwstr>
  </property>
</Properties>
</file>