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42" r:id="rId3"/>
    <p:sldId id="371" r:id="rId5"/>
    <p:sldId id="416" r:id="rId6"/>
    <p:sldId id="380" r:id="rId7"/>
    <p:sldId id="401" r:id="rId8"/>
    <p:sldId id="415" r:id="rId9"/>
    <p:sldId id="373" r:id="rId10"/>
    <p:sldId id="417" r:id="rId11"/>
    <p:sldId id="418" r:id="rId12"/>
    <p:sldId id="419" r:id="rId13"/>
    <p:sldId id="427" r:id="rId14"/>
    <p:sldId id="394" r:id="rId15"/>
    <p:sldId id="420" r:id="rId16"/>
    <p:sldId id="421" r:id="rId17"/>
  </p:sldIdLst>
  <p:sldSz cx="12198350" cy="6859270"/>
  <p:notesSz cx="6858000" cy="9144000"/>
  <p:custDataLst>
    <p:tags r:id="rId21"/>
  </p:custDataLst>
  <p:defaultTextStyle>
    <a:defPPr>
      <a:defRPr lang="zh-CN"/>
    </a:defPPr>
    <a:lvl1pPr marL="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  <p15:guide id="3" pos="304" userDrawn="1">
          <p15:clr>
            <a:srgbClr val="A4A3A4"/>
          </p15:clr>
        </p15:guide>
        <p15:guide id="4" pos="1892" userDrawn="1">
          <p15:clr>
            <a:srgbClr val="A4A3A4"/>
          </p15:clr>
        </p15:guide>
        <p15:guide id="5" pos="1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005DA2"/>
    <a:srgbClr val="FFC400"/>
    <a:srgbClr val="FFD347"/>
    <a:srgbClr val="FFC91D"/>
    <a:srgbClr val="0071C1"/>
    <a:srgbClr val="414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59" autoAdjust="0"/>
    <p:restoredTop sz="92638" autoAdjust="0"/>
  </p:normalViewPr>
  <p:slideViewPr>
    <p:cSldViewPr showGuides="1">
      <p:cViewPr varScale="1">
        <p:scale>
          <a:sx n="105" d="100"/>
          <a:sy n="105" d="100"/>
        </p:scale>
        <p:origin x="-678" y="-96"/>
      </p:cViewPr>
      <p:guideLst>
        <p:guide orient="horz" pos="2160"/>
        <p:guide pos="3842"/>
        <p:guide pos="304"/>
        <p:guide pos="1892"/>
        <p:guide pos="12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2AE03-6EE8-41FD-8A37-86C6BC5E26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1562671" y="693490"/>
            <a:ext cx="10635679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11" y="0"/>
            <a:ext cx="1155204" cy="110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20" y="273112"/>
            <a:ext cx="4013173" cy="116232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9216" y="273114"/>
            <a:ext cx="6819216" cy="5854469"/>
          </a:xfrm>
          <a:prstGeom prst="rect">
            <a:avLst/>
          </a:prstGeom>
        </p:spPr>
        <p:txBody>
          <a:bodyPr lIns="121963" tIns="60981" rIns="121963" bIns="60981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920" y="1435434"/>
            <a:ext cx="4013173" cy="46921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962" y="4801712"/>
            <a:ext cx="7319010" cy="56687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962" y="612916"/>
            <a:ext cx="7319010" cy="4115753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962" y="5368581"/>
            <a:ext cx="7319010" cy="8050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600572"/>
            <a:ext cx="10978515" cy="4527011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804" y="206422"/>
            <a:ext cx="2744629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206422"/>
            <a:ext cx="8030580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Tm="0">
    <p:wipe/>
  </p:transition>
  <p:timing>
    <p:tnLst>
      <p:par>
        <p:cTn id="1" dur="indefinite" restart="never" nodeType="tmRoot"/>
      </p:par>
    </p:tnLst>
  </p:timing>
  <p:txStyles>
    <p:titleStyle>
      <a:lvl1pPr algn="ctr" defTabSz="1219835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1235" indent="-3810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6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-616" y="-26590"/>
            <a:ext cx="12193647" cy="6860642"/>
          </a:xfrm>
          <a:prstGeom prst="rect">
            <a:avLst/>
          </a:prstGeom>
        </p:spPr>
      </p:pic>
      <p:cxnSp>
        <p:nvCxnSpPr>
          <p:cNvPr id="25" name="直接连接符 24"/>
          <p:cNvCxnSpPr/>
          <p:nvPr/>
        </p:nvCxnSpPr>
        <p:spPr>
          <a:xfrm>
            <a:off x="5327222" y="4390123"/>
            <a:ext cx="602891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2825" y="455097"/>
            <a:ext cx="2152446" cy="86197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Eras Bold ITC" panose="020B0907030504020204" pitchFamily="34" charset="0"/>
              </a:rPr>
              <a:t>LOGO</a:t>
            </a:r>
            <a:endParaRPr lang="zh-CN" altLang="en-US" sz="48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26385" y="5197738"/>
            <a:ext cx="2353310" cy="612775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软件学院  </a:t>
            </a:r>
            <a:endParaRPr lang="en-US" altLang="zh-CN" sz="3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48997" y="2709714"/>
            <a:ext cx="6260682" cy="1785100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en-US" altLang="zh-CN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OOP</a:t>
            </a:r>
            <a:r>
              <a:rPr lang="zh-CN" altLang="en-US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编程原则        </a:t>
            </a:r>
            <a:endParaRPr lang="en-US" altLang="zh-CN" sz="5400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en-US" altLang="zh-CN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5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合成复用</a:t>
            </a:r>
            <a:r>
              <a:rPr lang="zh-CN" altLang="en-US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</a:t>
            </a:r>
            <a:endParaRPr lang="zh-CN" altLang="en-US" sz="5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86607" y="854580"/>
            <a:ext cx="109452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合成复用原则，</a:t>
            </a:r>
            <a:r>
              <a:rPr lang="fr-FR" altLang="zh-CN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Composition </a:t>
            </a:r>
            <a:r>
              <a:rPr lang="fr-FR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Reuse Principle, </a:t>
            </a:r>
            <a:r>
              <a:rPr lang="fr-FR" altLang="zh-CN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CRP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  <a:p>
            <a:pPr>
              <a:lnSpc>
                <a:spcPct val="150000"/>
              </a:lnSpc>
            </a:pPr>
            <a:r>
              <a:rPr lang="zh-CN" altLang="en-US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组合</a:t>
            </a:r>
            <a:r>
              <a:rPr lang="en-US" altLang="zh-CN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/</a:t>
            </a:r>
            <a:r>
              <a:rPr lang="zh-CN" altLang="en-US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聚合原则，</a:t>
            </a:r>
            <a:r>
              <a:rPr lang="fr-FR" altLang="zh-CN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Composition</a:t>
            </a:r>
            <a:r>
              <a:rPr lang="fr-FR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/ Aggregate Reuse Principle, </a:t>
            </a:r>
            <a:r>
              <a:rPr lang="fr-FR" altLang="zh-CN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C</a:t>
            </a:r>
            <a:r>
              <a:rPr lang="en-US" altLang="zh-CN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A</a:t>
            </a:r>
            <a:r>
              <a:rPr lang="fr-FR" altLang="zh-CN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RP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</p:txBody>
      </p:sp>
      <p:sp>
        <p:nvSpPr>
          <p:cNvPr id="7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98575" y="2035414"/>
            <a:ext cx="10441160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聚合（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Aggregation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关联关系的一种，用来表示一种整体和部分的拥有关系。整体持有对部分的引用，可以调用部分的能够被访问的方法和属性等，这种访问往往是对接口和抽象类的访问。作为部分可以同时被多个新的对象引用，同时为多个新的对象提供服务。代码中通过实例化变量实现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0583" y="4050514"/>
            <a:ext cx="10441160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Composition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也是关联关系的一种，比聚合关联程度更强。合成关系中，部分和整体的生命周期是一样的。作为整体的新对象完全拥有对部分的支配权，包括负责和支配部分的创建和销毁等，即要负责部分的内存分配的释放等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中也通过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实例化变量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实现，通过语义与聚合区分。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462" y="1701602"/>
            <a:ext cx="7192377" cy="4794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42591" y="1167929"/>
            <a:ext cx="31683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聚合（整机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配件）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625278" y="1125538"/>
            <a:ext cx="21659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组合（国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家）</a:t>
            </a:r>
            <a:endParaRPr lang="zh-CN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51" y="1917626"/>
            <a:ext cx="3960440" cy="37480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合成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原则的定义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14599" y="1512920"/>
          <a:ext cx="10585176" cy="2560320"/>
        </p:xfrm>
        <a:graphic>
          <a:graphicData uri="http://schemas.openxmlformats.org/drawingml/2006/table">
            <a:tbl>
              <a:tblPr/>
              <a:tblGrid>
                <a:gridCol w="10585176"/>
              </a:tblGrid>
              <a:tr h="1512168"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2800" b="1" kern="1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合成复用原则</a:t>
                      </a:r>
                      <a:r>
                        <a:rPr lang="zh-CN" altLang="en-US" sz="2800" b="1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：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优先使用对象组合，而不是通过继承来达到复用的目的</a:t>
                      </a:r>
                      <a:r>
                        <a:rPr lang="zh-CN" altLang="en-US" sz="2800" b="1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。</a:t>
                      </a:r>
                      <a:endParaRPr lang="en-US" altLang="zh-CN" sz="2800" b="0" kern="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2800" b="1" kern="1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CRP</a:t>
                      </a:r>
                      <a:r>
                        <a:rPr lang="zh-CN" altLang="en-US" sz="2800" b="1" kern="1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Favor composition of objects over inheritance as a reuse mechanism.</a:t>
                      </a:r>
                      <a:endParaRPr lang="zh-CN" sz="2800" kern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合成复用原则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4559" y="909514"/>
            <a:ext cx="10873208" cy="3420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合成复用原则就是在一个新的对象里通过</a:t>
            </a:r>
            <a:r>
              <a:rPr lang="zh-CN" altLang="en-US" sz="2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关联关系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（包括组合关系和聚合关系）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来使用一些已有的对象，使之成为新对象的一部分</a:t>
            </a:r>
            <a:endParaRPr lang="zh-CN" altLang="en-US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新对象</a:t>
            </a:r>
            <a:r>
              <a:rPr lang="zh-CN" altLang="en-US" sz="2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通过委派调用已有对象的方法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达到复用功能的目的</a:t>
            </a:r>
            <a:endParaRPr lang="zh-CN" altLang="en-US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复用时要</a:t>
            </a:r>
            <a:r>
              <a:rPr lang="zh-CN" altLang="en-US" sz="2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尽量使用组合</a:t>
            </a:r>
            <a:r>
              <a:rPr lang="en-US" altLang="zh-CN" sz="2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聚合关系（关联关系），少用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</a:t>
            </a:r>
            <a:endParaRPr lang="zh-CN" altLang="en-US" sz="28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合成复用原则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4559" y="909514"/>
            <a:ext cx="10873208" cy="5435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OOP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设计中，两种基本方法在不同的环境中复用已有的设计和实现：组合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聚合关系或者继承</a:t>
            </a:r>
            <a:r>
              <a:rPr lang="zh-CN" altLang="en-US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b="1" kern="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b="1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</a:t>
            </a:r>
            <a:r>
              <a:rPr lang="zh-CN" altLang="en-US" sz="2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：实现简单，易于扩展。破坏系统的封装性；从基类继承而来的实现是静态的，不可能在运行时发生改变，没有足够的灵活性；只能在有限的环境中使用。（“白箱”复用 ）</a:t>
            </a:r>
            <a:endParaRPr lang="zh-CN" altLang="en-US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</a:t>
            </a:r>
            <a:r>
              <a:rPr lang="en-US" altLang="zh-CN" sz="2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聚合复用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：耦合度相对较低，有选择性地调用成员对象的操作；可以在运行时动态进行，新对象可以动态地引用与成员对象类型相同的其他对象。（“黑箱”复用 ）</a:t>
            </a:r>
            <a:endParaRPr lang="zh-CN" altLang="en-US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合成复用原则实例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963271" y="1054568"/>
            <a:ext cx="4824536" cy="4967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系统初期设计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，系统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Access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作为数据库，与数据库操作有关的类，例如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CustomerDAO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类等都需要连接数据库，连接数据库的方法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getConnection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封装在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DBUtil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类中，由于需要重用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DBUtil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getConnection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方法，设计人员将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CustomerDAO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DBUtil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类的子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583" y="1341562"/>
            <a:ext cx="6411331" cy="5084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合成复用原则实例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963271" y="693490"/>
            <a:ext cx="4968552" cy="5853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客户数量增加，数据库升级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Oracle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，系统如何应对？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一个新的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OracleDBUtil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类来连接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Oracle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数据库，由于在初始设计方案中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CustomerDAO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DBUtil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之间是继承关系，因此在更换数据库连接方式时需要修改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CustomerDAO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类的源代码，将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CustomerDAO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OracleDBUtil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的子类，这将违背开闭原则。当然也可以直接修改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DBUtil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类的源代码，这同样也违背了开闭原则。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583" y="1341562"/>
            <a:ext cx="6411331" cy="5084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合成复用原则实例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82551" y="4384130"/>
            <a:ext cx="10729192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CustomerDAO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DBUtil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之间的关系变成关联关系，采用注入方式将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DBUtil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对象依赖注入的方式（构造注入或者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Setter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注入）注入到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CustomerDAO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中。如果需要对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DBUtil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功能进行扩展，可通过其子类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实现。如通过子类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OracleDBUtil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来连接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Oracle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790" y="765498"/>
            <a:ext cx="6957977" cy="3463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410543" y="1917626"/>
            <a:ext cx="4031873" cy="4979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用合成复用原则对其重构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合成复用原则实例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10543" y="1326870"/>
            <a:ext cx="4032448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用合成复用原则对其重构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1063" y="837506"/>
            <a:ext cx="5328592" cy="317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410543" y="4077866"/>
            <a:ext cx="110892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CustomerDAO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DBUtil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编程，根据里氏代换原则，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DBUtil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子类的对象可以覆盖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DBUtil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对象，只需在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CustomerDAO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中注入子类对象即可使用子类所扩展的方法。例如在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CustomerDAO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中注入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OracleDBUtil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对象，即可实现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Oracle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数据库连接，原有代码无须进行修改，而且还可以很灵活地增加新的数据库连接方式。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445" y="909320"/>
            <a:ext cx="4675505" cy="54864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165" y="981710"/>
            <a:ext cx="3750945" cy="5349240"/>
          </a:xfrm>
          <a:prstGeom prst="rect">
            <a:avLst/>
          </a:prstGeom>
        </p:spPr>
      </p:pic>
    </p:spTree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8575" y="909514"/>
            <a:ext cx="1094521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由于合成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聚合可以将已有对象纳入到新对象中，使之成为新对象的一部分，所以新对象可以调用已有对象的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功能。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合成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聚合复用的优点：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    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复用支持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封装；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复用所需的依赖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较少；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新的任务可将焦点集中在一个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任务上。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合成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聚合复用的缺点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这种复用建造的系统会有较多的对象需要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管理；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      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能将多个不同的对象作为组合块来使用，必须仔细地对接口进行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定义。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82551" y="981522"/>
            <a:ext cx="11377264" cy="541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要正确的选择合成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复用和继承，必须透彻地理解里氏替换原则和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Coad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法则。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Peter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Coad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提出的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Coad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法则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只有当以下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Coad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全部被满足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时，才应当使用继承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关系进行复用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类是基类的一个特殊种类，而不是基类的一个角色。区分“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Has-A”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Is-A”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。只有“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Is-A”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关系才符合继承关系，“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Has-A”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关系应当用聚合来描述。 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永远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不会出现需要将子类换成另外一个类的子类的情况。如果不能肯定将来是否会变成另外一个子类的话，就不要使用继承。 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类具有扩展基类的责任，而不是具有置换掉（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override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）或注销掉（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Nullify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）基类的责任。如果一个子类需要大量的置换掉基类的行为，那么这个类就不应该是这个基类的子类。 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525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只有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在分类学角度上有意义时，才可以使用继承。不要从工具类继承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8615" y="3717826"/>
            <a:ext cx="98650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一句话点评：</a:t>
            </a:r>
            <a:endParaRPr lang="en-US" altLang="zh-CN" sz="28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优生优育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，不要盲目繁衍。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2951" y="909514"/>
            <a:ext cx="4567777" cy="3477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ULTRA_SCORM_SLIDE_COUNT" val="4"/>
  <p:tag name="ISPRING_PRESENTATION_TITLE" val="PowerPoint 演示文稿"/>
  <p:tag name="ISPRING_RESOURCE_PATHS_HASH_PRESENTER" val="af3f2d575d923f6e4ff64f325e7b41567660d7"/>
  <p:tag name="commondata" val="eyJoZGlkIjoiZmIwNTgzN2VkODcyMGZjYmE5ZDczYWZmOTUyYTJjOTMifQ=="/>
</p:tagLst>
</file>

<file path=ppt/theme/theme1.xml><?xml version="1.0" encoding="utf-8"?>
<a:theme xmlns:a="http://schemas.openxmlformats.org/drawingml/2006/main" name="第一PPT，www.1ppt.com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2169</Words>
  <Application>WPS 演示</Application>
  <PresentationFormat>自定义</PresentationFormat>
  <Paragraphs>82</Paragraphs>
  <Slides>14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Eras Bold ITC</vt:lpstr>
      <vt:lpstr>微软雅黑</vt:lpstr>
      <vt:lpstr>Times New Roman</vt:lpstr>
      <vt:lpstr>Arial Unicode MS</vt:lpstr>
      <vt:lpstr>Calibri</vt:lpstr>
      <vt:lpstr>ui-monospace</vt:lpstr>
      <vt:lpstr>Segoe Print</vt:lpstr>
      <vt:lpstr>-apple-system</vt:lpstr>
      <vt:lpstr>Arial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蓝色简洁</dc:title>
  <dc:creator>第一PPT</dc:creator>
  <cp:keywords>www.1ppt.com</cp:keywords>
  <cp:lastModifiedBy>i-sugars</cp:lastModifiedBy>
  <cp:revision>225</cp:revision>
  <dcterms:created xsi:type="dcterms:W3CDTF">2014-08-23T07:50:00Z</dcterms:created>
  <dcterms:modified xsi:type="dcterms:W3CDTF">2024-09-04T05:08:22Z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61557A1C4B074EEEB564108764493B16_12</vt:lpwstr>
  </property>
  <property fmtid="{D5CDD505-2E9C-101B-9397-08002B2CF9AE}" pid="3" name="KSOProductBuildVer">
    <vt:lpwstr>2052-12.1.0.17827</vt:lpwstr>
  </property>
</Properties>
</file>