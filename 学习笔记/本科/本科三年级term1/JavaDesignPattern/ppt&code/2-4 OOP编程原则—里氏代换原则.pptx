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42" r:id="rId3"/>
    <p:sldId id="320" r:id="rId5"/>
    <p:sldId id="371" r:id="rId6"/>
    <p:sldId id="392" r:id="rId7"/>
    <p:sldId id="380" r:id="rId8"/>
    <p:sldId id="393" r:id="rId9"/>
    <p:sldId id="372" r:id="rId10"/>
    <p:sldId id="396" r:id="rId11"/>
    <p:sldId id="373" r:id="rId12"/>
    <p:sldId id="382" r:id="rId13"/>
    <p:sldId id="395" r:id="rId14"/>
    <p:sldId id="397" r:id="rId15"/>
    <p:sldId id="398" r:id="rId16"/>
    <p:sldId id="399" r:id="rId17"/>
    <p:sldId id="400" r:id="rId18"/>
    <p:sldId id="394" r:id="rId19"/>
    <p:sldId id="401" r:id="rId20"/>
  </p:sldIdLst>
  <p:sldSz cx="12198350" cy="6859270"/>
  <p:notesSz cx="6858000" cy="9144000"/>
  <p:custDataLst>
    <p:tags r:id="rId24"/>
  </p:custDataLst>
  <p:defaultTextStyle>
    <a:defPPr>
      <a:defRPr lang="zh-CN"/>
    </a:defPPr>
    <a:lvl1pPr marL="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8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94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90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92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88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84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870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2" userDrawn="1">
          <p15:clr>
            <a:srgbClr val="A4A3A4"/>
          </p15:clr>
        </p15:guide>
        <p15:guide id="3" pos="304" userDrawn="1">
          <p15:clr>
            <a:srgbClr val="A4A3A4"/>
          </p15:clr>
        </p15:guide>
        <p15:guide id="4" pos="1892" userDrawn="1">
          <p15:clr>
            <a:srgbClr val="A4A3A4"/>
          </p15:clr>
        </p15:guide>
        <p15:guide id="5" pos="12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005DA2"/>
    <a:srgbClr val="FFC400"/>
    <a:srgbClr val="FFD347"/>
    <a:srgbClr val="FFC91D"/>
    <a:srgbClr val="0071C1"/>
    <a:srgbClr val="4144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59" autoAdjust="0"/>
    <p:restoredTop sz="92638" autoAdjust="0"/>
  </p:normalViewPr>
  <p:slideViewPr>
    <p:cSldViewPr showGuides="1">
      <p:cViewPr varScale="1">
        <p:scale>
          <a:sx n="105" d="100"/>
          <a:sy n="105" d="100"/>
        </p:scale>
        <p:origin x="-678" y="-96"/>
      </p:cViewPr>
      <p:guideLst>
        <p:guide orient="horz" pos="2160"/>
        <p:guide pos="3842"/>
        <p:guide pos="304"/>
        <p:guide pos="1892"/>
        <p:guide pos="121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gs" Target="tags/tag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62AE03-6EE8-41FD-8A37-86C6BC5E26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83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943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903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927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887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847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870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1562671" y="693490"/>
            <a:ext cx="10635679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11" y="0"/>
            <a:ext cx="1155204" cy="110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274702"/>
            <a:ext cx="10978515" cy="1143265"/>
          </a:xfrm>
          <a:prstGeom prst="rect">
            <a:avLst/>
          </a:prstGeom>
        </p:spPr>
        <p:txBody>
          <a:bodyPr lIns="121963" tIns="60981" rIns="121963" bIns="6098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20" y="273112"/>
            <a:ext cx="4013173" cy="1162320"/>
          </a:xfrm>
          <a:prstGeom prst="rect">
            <a:avLst/>
          </a:prstGeom>
        </p:spPr>
        <p:txBody>
          <a:bodyPr lIns="121963" tIns="60981" rIns="121963" bIns="60981" anchor="b"/>
          <a:lstStyle>
            <a:lvl1pPr algn="l">
              <a:defRPr sz="27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9216" y="273114"/>
            <a:ext cx="6819216" cy="5854469"/>
          </a:xfrm>
          <a:prstGeom prst="rect">
            <a:avLst/>
          </a:prstGeom>
        </p:spPr>
        <p:txBody>
          <a:bodyPr lIns="121963" tIns="60981" rIns="121963" bIns="60981"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920" y="1435434"/>
            <a:ext cx="4013173" cy="4692149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835" indent="0">
              <a:buNone/>
              <a:defRPr sz="1300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9270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8705" indent="0">
              <a:buNone/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962" y="4801712"/>
            <a:ext cx="7319010" cy="566870"/>
          </a:xfrm>
          <a:prstGeom prst="rect">
            <a:avLst/>
          </a:prstGeom>
        </p:spPr>
        <p:txBody>
          <a:bodyPr lIns="121963" tIns="60981" rIns="121963" bIns="60981" anchor="b"/>
          <a:lstStyle>
            <a:lvl1pPr algn="l">
              <a:defRPr sz="27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962" y="612916"/>
            <a:ext cx="7319010" cy="4115753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4300"/>
            </a:lvl1pPr>
            <a:lvl2pPr marL="609600" indent="0">
              <a:buNone/>
              <a:defRPr sz="3700"/>
            </a:lvl2pPr>
            <a:lvl3pPr marL="1219835" indent="0">
              <a:buNone/>
              <a:defRPr sz="3200"/>
            </a:lvl3pPr>
            <a:lvl4pPr marL="1829435" indent="0">
              <a:buNone/>
              <a:defRPr sz="2700"/>
            </a:lvl4pPr>
            <a:lvl5pPr marL="2439035" indent="0">
              <a:buNone/>
              <a:defRPr sz="2700"/>
            </a:lvl5pPr>
            <a:lvl6pPr marL="3049270" indent="0">
              <a:buNone/>
              <a:defRPr sz="2700"/>
            </a:lvl6pPr>
            <a:lvl7pPr marL="3658870" indent="0">
              <a:buNone/>
              <a:defRPr sz="2700"/>
            </a:lvl7pPr>
            <a:lvl8pPr marL="4268470" indent="0">
              <a:buNone/>
              <a:defRPr sz="2700"/>
            </a:lvl8pPr>
            <a:lvl9pPr marL="4878705" indent="0">
              <a:buNone/>
              <a:defRPr sz="27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962" y="5368581"/>
            <a:ext cx="7319010" cy="805049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835" indent="0">
              <a:buNone/>
              <a:defRPr sz="1300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9270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8705" indent="0">
              <a:buNone/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274702"/>
            <a:ext cx="10978515" cy="1143265"/>
          </a:xfrm>
          <a:prstGeom prst="rect">
            <a:avLst/>
          </a:prstGeom>
        </p:spPr>
        <p:txBody>
          <a:bodyPr lIns="121963" tIns="60981" rIns="121963" bIns="6098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918" y="1600572"/>
            <a:ext cx="10978515" cy="4527011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804" y="206422"/>
            <a:ext cx="2744629" cy="4388867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918" y="206422"/>
            <a:ext cx="8030580" cy="4388867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slow" advTm="0">
    <p:wipe/>
  </p:transition>
  <p:timing>
    <p:tnLst>
      <p:par>
        <p:cTn id="1" dur="indefinite" restart="never" nodeType="tmRoot"/>
      </p:par>
    </p:tnLst>
  </p:timing>
  <p:txStyles>
    <p:titleStyle>
      <a:lvl1pPr algn="ctr" defTabSz="1219835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1235" indent="-3810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63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423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44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40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6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390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350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8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4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92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4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870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-616" y="-26590"/>
            <a:ext cx="12193647" cy="6860642"/>
          </a:xfrm>
          <a:prstGeom prst="rect">
            <a:avLst/>
          </a:prstGeom>
        </p:spPr>
      </p:pic>
      <p:cxnSp>
        <p:nvCxnSpPr>
          <p:cNvPr id="25" name="直接连接符 24"/>
          <p:cNvCxnSpPr/>
          <p:nvPr/>
        </p:nvCxnSpPr>
        <p:spPr>
          <a:xfrm>
            <a:off x="5327222" y="4390123"/>
            <a:ext cx="6028912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82825" y="455097"/>
            <a:ext cx="2152446" cy="861974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en-US" altLang="zh-CN" sz="4800" dirty="0">
                <a:solidFill>
                  <a:schemeClr val="bg1"/>
                </a:solidFill>
                <a:latin typeface="Eras Bold ITC" panose="020B0907030504020204" pitchFamily="34" charset="0"/>
              </a:rPr>
              <a:t>LOGO</a:t>
            </a:r>
            <a:endParaRPr lang="zh-CN" altLang="en-US" sz="48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5319" y="117426"/>
            <a:ext cx="4313055" cy="2880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extBox 29"/>
          <p:cNvSpPr txBox="1"/>
          <p:nvPr/>
        </p:nvSpPr>
        <p:spPr>
          <a:xfrm>
            <a:off x="8426385" y="5197738"/>
            <a:ext cx="2353310" cy="612775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pPr algn="r"/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软件学院  </a:t>
            </a:r>
            <a:endParaRPr lang="en-US" altLang="zh-CN" sz="3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948997" y="2709714"/>
            <a:ext cx="6260682" cy="1785100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pPr algn="r"/>
            <a:r>
              <a:rPr lang="en-US" altLang="zh-CN" sz="5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OOP</a:t>
            </a:r>
            <a:r>
              <a:rPr lang="zh-CN" altLang="en-US" sz="5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编程原则        </a:t>
            </a:r>
            <a:endParaRPr lang="en-US" altLang="zh-CN" sz="5400" b="1" dirty="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r>
              <a:rPr lang="en-US" altLang="zh-CN" sz="5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5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里氏代换原则</a:t>
            </a:r>
            <a:endParaRPr lang="zh-CN" altLang="en-US" sz="5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38535" y="3717826"/>
            <a:ext cx="1166529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里氏代换</a:t>
            </a:r>
            <a:r>
              <a:rPr lang="zh-CN" altLang="en-US" b="1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原则，</a:t>
            </a:r>
            <a:r>
              <a:rPr lang="en-US" altLang="zh-CN" b="1" kern="1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Liskov</a:t>
            </a:r>
            <a:r>
              <a:rPr lang="en-US" altLang="zh-CN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 Substitution Principle (</a:t>
            </a:r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LS</a:t>
            </a:r>
            <a:r>
              <a:rPr lang="en-US" altLang="zh-CN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P)</a:t>
            </a:r>
            <a:endParaRPr lang="en-US" altLang="zh-CN" b="1" kern="100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Barbara </a:t>
            </a:r>
            <a:r>
              <a:rPr lang="en-US" altLang="zh-CN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Liskov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，麻省理工教授，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2008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年图灵奖得主，美国第一位计算机科学女博士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Jeannette Wing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（周以真），卡内基梅隆大学教授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1994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年提出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Picture 4" descr="Barbara_Liskov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2751" y="1135460"/>
            <a:ext cx="2574167" cy="2145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9375" y="1103624"/>
            <a:ext cx="1800200" cy="2484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父子关系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继承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4519" y="1269554"/>
            <a:ext cx="7128792" cy="4553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solidFill>
                  <a:srgbClr val="FF0000"/>
                </a:solidFill>
              </a:rPr>
              <a:t>继承优点：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pPr marL="10668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代码</a:t>
            </a:r>
            <a:r>
              <a:rPr lang="zh-CN" altLang="en-US" dirty="0" smtClean="0"/>
              <a:t>共享、减少创建类的工作量，每个子类拥有父类的方法和属性；</a:t>
            </a:r>
            <a:endParaRPr lang="en-US" altLang="zh-CN" dirty="0" smtClean="0"/>
          </a:p>
          <a:p>
            <a:pPr marL="10668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提高代码</a:t>
            </a:r>
            <a:r>
              <a:rPr lang="zh-CN" altLang="en-US" dirty="0" smtClean="0"/>
              <a:t>复用；</a:t>
            </a:r>
            <a:endParaRPr lang="en-US" altLang="zh-CN" dirty="0" smtClean="0"/>
          </a:p>
          <a:p>
            <a:pPr marL="10668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子</a:t>
            </a:r>
            <a:r>
              <a:rPr lang="zh-CN" altLang="en-US" dirty="0" smtClean="0"/>
              <a:t>类可以形似父类，但又异于父类；</a:t>
            </a:r>
            <a:endParaRPr lang="en-US" altLang="zh-CN" dirty="0" smtClean="0"/>
          </a:p>
          <a:p>
            <a:pPr marL="10668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提高</a:t>
            </a:r>
            <a:r>
              <a:rPr lang="zh-CN" altLang="en-US" dirty="0" smtClean="0"/>
              <a:t>代码可扩展性，很多开源框架的扩展接口都是通过继承父类完成；</a:t>
            </a:r>
            <a:endParaRPr lang="en-US" altLang="zh-CN" dirty="0" smtClean="0"/>
          </a:p>
          <a:p>
            <a:pPr marL="10668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/>
              <a:t>提高产品或者项目的开放性。</a:t>
            </a:r>
            <a:endParaRPr lang="zh-CN" altLang="en-US" dirty="0"/>
          </a:p>
        </p:txBody>
      </p:sp>
      <p:pic>
        <p:nvPicPr>
          <p:cNvPr id="2050" name="Picture 2" descr="https://ss1.bdstatic.com/70cFvXSh_Q1YnxGkpoWK1HF6hhy/it/u=1381606707,3233630234&amp;fm=26&amp;gp=0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0028" y="1062005"/>
            <a:ext cx="4287779" cy="4888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父子关系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继承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4519" y="1125538"/>
            <a:ext cx="648072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solidFill>
                  <a:srgbClr val="FF0000"/>
                </a:solidFill>
              </a:rPr>
              <a:t>继承缺点（鸡蛋挑骨头）：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pPr marL="10668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/>
              <a:t>继承是侵入式的。只要继承，就必须拥有父类的所有属性和方法；</a:t>
            </a:r>
            <a:endParaRPr lang="en-US" altLang="zh-CN" dirty="0" smtClean="0"/>
          </a:p>
          <a:p>
            <a:pPr marL="10668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/>
              <a:t>降低代码的灵活性。子类必须拥有父类的属性和方法，让子类多了些约束。</a:t>
            </a:r>
            <a:endParaRPr lang="en-US" altLang="zh-CN" dirty="0" smtClean="0"/>
          </a:p>
          <a:p>
            <a:pPr marL="10668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增强</a:t>
            </a:r>
            <a:r>
              <a:rPr lang="zh-CN" altLang="en-US" dirty="0" smtClean="0"/>
              <a:t>了耦合性。当父类的常量、变量和方法被修改时，需要考虑子类的修改。</a:t>
            </a:r>
            <a:endParaRPr lang="en-US" altLang="zh-CN" dirty="0" smtClean="0"/>
          </a:p>
          <a:p>
            <a:pPr marL="10668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 smtClean="0"/>
              <a:t>Java</a:t>
            </a:r>
            <a:r>
              <a:rPr lang="zh-CN" altLang="en-US" dirty="0" smtClean="0"/>
              <a:t>单一继承，</a:t>
            </a:r>
            <a:r>
              <a:rPr lang="en-US" altLang="zh-CN" dirty="0" smtClean="0"/>
              <a:t>C++</a:t>
            </a:r>
            <a:r>
              <a:rPr lang="zh-CN" altLang="en-US" dirty="0"/>
              <a:t>多重</a:t>
            </a:r>
            <a:r>
              <a:rPr lang="zh-CN" altLang="en-US" dirty="0" smtClean="0"/>
              <a:t>继承。</a:t>
            </a:r>
            <a:endParaRPr lang="zh-CN" altLang="en-US" dirty="0"/>
          </a:p>
        </p:txBody>
      </p:sp>
      <p:pic>
        <p:nvPicPr>
          <p:cNvPr id="3074" name="Picture 2" descr="https://timgsa.baidu.com/timg?image&amp;quality=80&amp;size=b9999_10000&amp;sec=1582705804183&amp;di=8c3a379ae8295a249ce5a50ad8f4ae3f&amp;imgtype=0&amp;src=http%3A%2F%2F5b0988e595225.cdn.sohucs.com%2Fimages%2F20180504%2F57d707f8613f4f20bd496562793a34df.jpe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7287" y="1413570"/>
            <a:ext cx="4530488" cy="4282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1886549" y="5692727"/>
            <a:ext cx="853310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zh-CN" alt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利大于弊！！扬长避短！</a:t>
            </a:r>
            <a:r>
              <a:rPr lang="zh-CN" altLang="en-US" sz="5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！</a:t>
            </a:r>
            <a:endParaRPr lang="zh-CN" altLang="en-U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里氏代换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原则的定义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770583" y="1341562"/>
          <a:ext cx="10585176" cy="4405186"/>
        </p:xfrm>
        <a:graphic>
          <a:graphicData uri="http://schemas.openxmlformats.org/drawingml/2006/table">
            <a:tbl>
              <a:tblPr/>
              <a:tblGrid>
                <a:gridCol w="10585176"/>
              </a:tblGrid>
              <a:tr h="1512168">
                <a:tc>
                  <a:txBody>
                    <a:bodyPr/>
                    <a:lstStyle/>
                    <a:p>
                      <a:pPr marL="457200" indent="-457200" algn="l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2800" b="1" kern="100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里氏代换原则</a:t>
                      </a:r>
                      <a:r>
                        <a:rPr lang="zh-CN" altLang="en-US" sz="2800" b="1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：</a:t>
                      </a:r>
                      <a:r>
                        <a:rPr lang="zh-CN" altLang="en-US" sz="2800" b="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如果对每一个类型为</a:t>
                      </a:r>
                      <a:r>
                        <a:rPr lang="en-US" altLang="zh-CN" sz="2800" b="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</a:t>
                      </a:r>
                      <a:r>
                        <a:rPr lang="zh-CN" altLang="en-US" sz="2800" b="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的对象</a:t>
                      </a:r>
                      <a:r>
                        <a:rPr lang="en-US" altLang="zh-CN" sz="2800" b="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o1</a:t>
                      </a:r>
                      <a:r>
                        <a:rPr lang="zh-CN" altLang="en-US" sz="2800" b="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，都有类型为</a:t>
                      </a:r>
                      <a:r>
                        <a:rPr lang="en-US" altLang="zh-CN" sz="2800" b="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T</a:t>
                      </a:r>
                      <a:r>
                        <a:rPr lang="zh-CN" altLang="en-US" sz="2800" b="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的对象</a:t>
                      </a:r>
                      <a:r>
                        <a:rPr lang="en-US" altLang="zh-CN" sz="2800" b="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o2</a:t>
                      </a:r>
                      <a:r>
                        <a:rPr lang="zh-CN" altLang="en-US" sz="2800" b="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，使得以</a:t>
                      </a:r>
                      <a:r>
                        <a:rPr lang="en-US" altLang="zh-CN" sz="2800" b="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T</a:t>
                      </a:r>
                      <a:r>
                        <a:rPr lang="zh-CN" altLang="en-US" sz="2800" b="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定义的所有程序</a:t>
                      </a:r>
                      <a:r>
                        <a:rPr lang="en-US" altLang="zh-CN" sz="2800" b="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P</a:t>
                      </a:r>
                      <a:r>
                        <a:rPr lang="zh-CN" altLang="en-US" sz="2800" b="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在所有的对象</a:t>
                      </a:r>
                      <a:r>
                        <a:rPr lang="en-US" altLang="zh-CN" sz="2800" b="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o1</a:t>
                      </a:r>
                      <a:r>
                        <a:rPr lang="zh-CN" altLang="en-US" sz="2800" b="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都代换成</a:t>
                      </a:r>
                      <a:r>
                        <a:rPr lang="en-US" altLang="zh-CN" sz="2800" b="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o2</a:t>
                      </a:r>
                      <a:r>
                        <a:rPr lang="zh-CN" altLang="en-US" sz="2800" b="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时，程序</a:t>
                      </a:r>
                      <a:r>
                        <a:rPr lang="en-US" altLang="zh-CN" sz="2800" b="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P</a:t>
                      </a:r>
                      <a:r>
                        <a:rPr lang="zh-CN" altLang="en-US" sz="2800" b="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的行为没有发生变化，那么类型</a:t>
                      </a:r>
                      <a:r>
                        <a:rPr lang="en-US" altLang="zh-CN" sz="2800" b="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</a:t>
                      </a:r>
                      <a:r>
                        <a:rPr lang="zh-CN" altLang="en-US" sz="2800" b="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是类型</a:t>
                      </a:r>
                      <a:r>
                        <a:rPr lang="en-US" altLang="zh-CN" sz="2800" b="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T</a:t>
                      </a:r>
                      <a:r>
                        <a:rPr lang="zh-CN" altLang="en-US" sz="2800" b="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的子类型。</a:t>
                      </a:r>
                      <a:endParaRPr lang="en-US" altLang="zh-CN" sz="2800" b="0" kern="1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  <a:p>
                      <a:pPr marL="457200" indent="-457200" algn="l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US" altLang="zh-CN" sz="2800" b="1" kern="100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LSP</a:t>
                      </a:r>
                      <a:r>
                        <a:rPr lang="zh-CN" altLang="en-US" sz="2800" b="1" kern="100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：</a:t>
                      </a:r>
                      <a:r>
                        <a:rPr lang="en-US" altLang="zh-CN" sz="2800" b="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If for each object o1 of type S there is an object o2 of type T such that for all programs P defined in terms of </a:t>
                      </a:r>
                      <a:r>
                        <a:rPr lang="en-US" altLang="zh-CN" sz="2800" b="0" kern="100" dirty="0" err="1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T,the</a:t>
                      </a:r>
                      <a:r>
                        <a:rPr lang="en-US" altLang="zh-CN" sz="2800" b="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 behavior of P is unchanged when o1 is substituted for o2 then S is a subtype of T.</a:t>
                      </a:r>
                      <a:endParaRPr lang="zh-CN" sz="2800" kern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里氏代换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原则的定义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70583" y="1341562"/>
            <a:ext cx="10153128" cy="33239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里氏代换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原则</a:t>
            </a:r>
            <a:r>
              <a:rPr lang="zh-CN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：</a:t>
            </a:r>
            <a:r>
              <a:rPr lang="zh-CN" altLang="en-US" sz="28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所有引用</a:t>
            </a:r>
            <a:r>
              <a:rPr lang="zh-CN" altLang="en-US" sz="28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基类</a:t>
            </a:r>
            <a:r>
              <a:rPr lang="zh-CN" altLang="en-US" sz="28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的地方必须能透明地使用其</a:t>
            </a:r>
            <a:r>
              <a:rPr lang="zh-CN" altLang="en-US" sz="28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子类</a:t>
            </a:r>
            <a:r>
              <a:rPr lang="zh-CN" altLang="en-US" sz="28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的对象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(</a:t>
            </a:r>
            <a:r>
              <a:rPr lang="en-US" altLang="zh-CN" sz="28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LS</a:t>
            </a: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P</a:t>
            </a:r>
            <a:r>
              <a:rPr lang="en-US" altLang="zh-CN" sz="28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):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Functions that use pointers or references to 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base classes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must be able to use objects of 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derived classes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without knowing it.</a:t>
            </a:r>
            <a:endParaRPr lang="en-US" altLang="zh-CN" sz="2800" i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里氏代换原则分析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54559" y="909514"/>
            <a:ext cx="10873208" cy="55215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8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在软件中</a:t>
            </a:r>
            <a:r>
              <a:rPr lang="zh-CN" altLang="en-US" sz="2800" kern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将一个基类对象替换成它的子类对象，程序将不会产生任何错误和异常</a:t>
            </a:r>
            <a:r>
              <a:rPr lang="zh-CN" altLang="en-US" sz="28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，反过来则不成立</a:t>
            </a:r>
            <a:r>
              <a:rPr lang="zh-CN" altLang="en-US" sz="2800" kern="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。例如我喜欢动物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我喜欢狗，反之不一定成立。</a:t>
            </a:r>
            <a:endParaRPr lang="en-US" altLang="zh-CN" sz="2800" kern="0" dirty="0" smtClean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800" kern="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8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程序中</a:t>
            </a:r>
            <a:r>
              <a:rPr lang="zh-CN" altLang="en-US" sz="2800" kern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尽量使用基类类型来对对象进行定义</a:t>
            </a:r>
            <a:r>
              <a:rPr lang="zh-CN" altLang="en-US" sz="28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，而在运行时再确定其子类</a:t>
            </a:r>
            <a:r>
              <a:rPr lang="zh-CN" altLang="en-US" sz="2800" kern="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类型，用子类对象替换父类对象。</a:t>
            </a:r>
            <a:endParaRPr lang="en-US" altLang="zh-CN" sz="2800" kern="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800" kern="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运用时应该将</a:t>
            </a:r>
            <a:r>
              <a:rPr lang="zh-CN" altLang="en-US" sz="2800" kern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父类设计为抽象类或者接口</a:t>
            </a:r>
            <a:r>
              <a:rPr lang="zh-CN" altLang="en-US" sz="2800" kern="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，让</a:t>
            </a:r>
            <a:r>
              <a:rPr lang="zh-CN" altLang="en-US" sz="2800" kern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子类继承</a:t>
            </a:r>
            <a:r>
              <a:rPr lang="zh-CN" altLang="en-US" sz="2800" kern="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父类或者实现父接口，并实现父类中的方法。</a:t>
            </a:r>
            <a:endParaRPr lang="en-US" altLang="zh-CN" sz="2800" kern="0" dirty="0" smtClean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800" kern="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无需修改原有子类代码。增加新功能可通过增加新的子类实现。</a:t>
            </a:r>
            <a:endParaRPr lang="zh-CN" altLang="en-US" sz="2800" kern="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墨子的智慧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10543" y="837506"/>
            <a:ext cx="7920880" cy="26015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8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8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墨子</a:t>
            </a:r>
            <a:r>
              <a:rPr lang="en-US" altLang="zh-CN" sz="28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8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小取</a:t>
            </a:r>
            <a:r>
              <a:rPr lang="en-US" altLang="zh-CN" sz="28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8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中说，“白马，马也；乘白马，乘马也。骊马，马也；乘骊马，乘马也”。文中的骊马是黑的马。意思就是白马和黑马都是马，乘白马或者乘黑马就是乘马</a:t>
            </a:r>
            <a:r>
              <a:rPr lang="zh-CN" altLang="en-US" sz="2800" kern="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kern="0" dirty="0" smtClean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122" name="Picture 2" descr="https://timgsa.baidu.com/timg?image&amp;quality=80&amp;size=b9999_10000&amp;sec=1582710073606&amp;di=77d911ef21f8d2b0615baa38f93c6bd6&amp;imgtype=0&amp;src=http%3A%2F%2Fimg3.doubanio.com%2Flpic%2Fs4543549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415" y="949078"/>
            <a:ext cx="3457575" cy="3457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266527" y="3546280"/>
            <a:ext cx="11593288" cy="27638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800" kern="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墨子</a:t>
            </a:r>
            <a:r>
              <a:rPr lang="zh-CN" altLang="en-US" sz="28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同时还指出了反过来是不能成立的</a:t>
            </a:r>
            <a:r>
              <a:rPr lang="zh-CN" altLang="en-US" sz="2800" kern="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kern="0" dirty="0" smtClean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</a:pPr>
            <a:r>
              <a:rPr lang="en-US" altLang="zh-CN" sz="2800" kern="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8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墨子</a:t>
            </a:r>
            <a:r>
              <a:rPr lang="en-US" altLang="zh-CN" sz="28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8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小取</a:t>
            </a:r>
            <a:r>
              <a:rPr lang="en-US" altLang="zh-CN" sz="28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8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中说：“娣，美人也，爱娣，非爱美人也”。娣是指妹妹，也就是说我的妹妹</a:t>
            </a:r>
            <a:r>
              <a:rPr lang="zh-CN" altLang="en-US" sz="2800" kern="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是美人</a:t>
            </a:r>
            <a:r>
              <a:rPr lang="zh-CN" altLang="en-US" sz="28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，我爱我的妹妹（出于兄妹感情），但是不等于我爱美人</a:t>
            </a:r>
            <a:r>
              <a:rPr lang="zh-CN" altLang="en-US" sz="2800" kern="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800" kern="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587007" y="5590034"/>
            <a:ext cx="7129982" cy="1008112"/>
            <a:chOff x="4587007" y="5590034"/>
            <a:chExt cx="7129982" cy="1008112"/>
          </a:xfrm>
        </p:grpSpPr>
        <p:pic>
          <p:nvPicPr>
            <p:cNvPr id="5124" name="Picture 4" descr="https://ss1.bdstatic.com/70cFuXSh_Q1YnxGkpoWK1HF6hhy/it/u=3073113631,3862385768&amp;fm=26&amp;gp=0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7007" y="5590034"/>
              <a:ext cx="4456112" cy="10081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/>
            <p:cNvSpPr txBox="1"/>
            <p:nvPr/>
          </p:nvSpPr>
          <p:spPr>
            <a:xfrm>
              <a:off x="9267526" y="6026681"/>
              <a:ext cx="24494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latin typeface="华文隶书" panose="02010800040101010101" pitchFamily="2" charset="-122"/>
                  <a:ea typeface="华文隶书" panose="02010800040101010101" pitchFamily="2" charset="-122"/>
                </a:rPr>
                <a:t>——《</a:t>
              </a:r>
              <a:r>
                <a:rPr lang="zh-CN" altLang="en-US" b="1" dirty="0" smtClean="0">
                  <a:latin typeface="华文隶书" panose="02010800040101010101" pitchFamily="2" charset="-122"/>
                  <a:ea typeface="华文隶书" panose="02010800040101010101" pitchFamily="2" charset="-122"/>
                </a:rPr>
                <a:t>礼记</a:t>
              </a:r>
              <a:r>
                <a:rPr lang="zh-CN" altLang="en-US" b="1" dirty="0" smtClean="0">
                  <a:latin typeface="华文隶书" panose="02010800040101010101" pitchFamily="2" charset="-122"/>
                  <a:ea typeface="华文隶书" panose="02010800040101010101" pitchFamily="2" charset="-122"/>
                  <a:sym typeface="Wingdings 2" panose="05020102010507070707"/>
                </a:rPr>
                <a:t></a:t>
              </a:r>
              <a:r>
                <a:rPr lang="zh-CN" altLang="en-US" b="1" dirty="0" smtClean="0">
                  <a:latin typeface="华文隶书" panose="02010800040101010101" pitchFamily="2" charset="-122"/>
                  <a:ea typeface="华文隶书" panose="02010800040101010101" pitchFamily="2" charset="-122"/>
                </a:rPr>
                <a:t>大学</a:t>
              </a:r>
              <a:r>
                <a:rPr lang="en-US" altLang="zh-CN" b="1" dirty="0" smtClean="0">
                  <a:latin typeface="华文隶书" panose="02010800040101010101" pitchFamily="2" charset="-122"/>
                  <a:ea typeface="华文隶书" panose="02010800040101010101" pitchFamily="2" charset="-122"/>
                </a:rPr>
                <a:t>》</a:t>
              </a:r>
              <a:endParaRPr lang="zh-CN" altLang="en-US" b="1" dirty="0">
                <a:latin typeface="华文隶书" panose="02010800040101010101" pitchFamily="2" charset="-122"/>
                <a:ea typeface="华文隶书" panose="02010800040101010101" pitchFamily="2" charset="-122"/>
              </a:endParaRPr>
            </a:p>
          </p:txBody>
        </p:sp>
      </p:grp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里氏代换原则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02631" y="1185927"/>
            <a:ext cx="10009112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举个例子，有个很厉害的老木匠，周边的邻居都找他做家具，老木匠还有个大徒弟，不但学全了老木匠的本事还青出于蓝而胜于蓝。后来老木匠干不动了，所以每次有人找上门来都是老木匠接活儿，大徒弟去做家具，而对做家具的人来说，他们并不关心具体谁做的，只要能拿到家具就好。</a:t>
            </a:r>
            <a:endParaRPr lang="zh-CN" altLang="en-US" sz="2800" dirty="0"/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里氏代换原则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714799" y="693490"/>
            <a:ext cx="9001000" cy="60016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 class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OldCarpenter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public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void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MakeFurniture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(){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System.out.println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做家具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");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public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YoungFurniture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extends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oldCarpenter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@Override	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public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void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MakeFurniture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(){	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super.MakeFurniture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();		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System.out.println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对家具进行装饰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");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}}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public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 Client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public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staic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void main(String[]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args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){	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OldCarpenter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carpenter =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new 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OldCarpenter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();		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System.out.println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原来老木匠做椅子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");		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carpenter.MakeFurniture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();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System.out.println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后来老木匠接活儿让徒弟来做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");		carpenter =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new 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YoungFurniture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(); 	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carpenter.MakeFurniture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          }}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94519" y="1617975"/>
            <a:ext cx="237626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在这个过程中，邻居们并没有发现是谁做的家具，徒弟替代了师傅。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里氏代换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原则反例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02631" y="981522"/>
            <a:ext cx="792088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著名的（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臭名昭著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）的正方形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长方形问题。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4559" y="2151648"/>
            <a:ext cx="633670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上过数学课的人都知道，正方形是一种特殊的长方形，只不过是它的长和宽是一样的，也就是说我们在面向对象里我们应当将长方形设计成父类，将正方形设计成长方形的子类，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但是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不符合里氏替换原则的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5279" y="2176427"/>
            <a:ext cx="4974354" cy="2546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里氏代换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原则反例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02631" y="981522"/>
            <a:ext cx="7920880" cy="662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长方形类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559" y="2205658"/>
            <a:ext cx="3672408" cy="3333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5019055" y="981522"/>
            <a:ext cx="6912768" cy="537313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 class Rectangle {   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protected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long width;   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protected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long height;   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public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void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setWidth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(long width) { 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	   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this.width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width;    }   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public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long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getWidth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 {    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	    return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this.width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;    }   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public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void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setHeight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(long height) {  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	   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this.height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height;    }   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public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long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getHeight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 {       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    return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this.height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;  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里氏代换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原则反例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02631" y="981522"/>
            <a:ext cx="792088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正方形类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559" y="2205658"/>
            <a:ext cx="3672408" cy="3333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5019055" y="837506"/>
            <a:ext cx="6912768" cy="541071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 class Square extends Rectangle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   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public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void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setWidth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(long width)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    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	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this.height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width;        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</a:t>
            </a:r>
            <a:r>
              <a:rPr lang="en-US" altLang="zh-CN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this.width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width;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}   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public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long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getWidth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     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	    return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width;    }  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	public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void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setHeight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(long height) {   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	     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this.height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height;    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	     </a:t>
            </a:r>
            <a:r>
              <a:rPr lang="en-US" altLang="zh-CN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this.width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height;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}   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public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long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getHeight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 {   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	     return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height;  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里氏代换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原则反例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019055" y="1315193"/>
            <a:ext cx="6912768" cy="319472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 class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SmartTest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{  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/*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长方形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的高不断的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增加直到超过宽  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*/  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 void resize(Rectangle r)    {   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 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r.getHeight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 &lt;=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r.getWidth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 )        {       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r.setHeight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r.getHeight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 + 1);        } 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}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38535" y="1080992"/>
            <a:ext cx="4248472" cy="53731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定义了一个长方形和一个继承自长方形的正方形，看着是非常符合逻辑的，但是当我们调用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SmartTest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类中的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resize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方法时，长方形是可以的，但是正方形就会一直增大，一直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溢出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但是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我们按照我们的里氏替换原则，父类可以的地方，换成子类一定也可以，所以上边的这个例子是不符合里氏替换原则的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里氏代换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原则反例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42591" y="1269554"/>
            <a:ext cx="10369152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改进：</a:t>
            </a:r>
            <a:endParaRPr lang="en-US" altLang="zh-CN" sz="28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我们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构造一个抽象的四边形类，把长方形和正方形共同的行为放到这个四边形类里面，让长方形和正方形都是它的子类，问题就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了。对于长方形和正方形，取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width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height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是它们共同的行为，但是给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width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height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赋值，两者行为不同，因此，这个抽象的四边形的类只有取值方法，没有赋值方法。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98575" y="981522"/>
            <a:ext cx="1094521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只有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满足了里氏替换原则之后，也就是子类可以代替父类出现，并且不影响程序的功能时，父类才能真正得到复用，并且子类可以在父类的基础上添加新的行为，面向对象思想中，父类和子类的继承关系是抽象化的具体实现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里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氏替换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原则反映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了父类和子类的关系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里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氏代换原则的面向对象设计中最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重要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也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是最基本的原则之一，是对实现类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抽象化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实施步骤的规范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2888" y="3357786"/>
            <a:ext cx="3290863" cy="2695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599" y="3429794"/>
            <a:ext cx="986509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8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4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92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8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4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70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一句话点评：</a:t>
            </a:r>
            <a:endParaRPr lang="en-US" altLang="zh-CN" sz="28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长辈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给了你继承的权利就一定要做赡养的义务，把长辈的职责都要承担起来。。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2951" y="981522"/>
            <a:ext cx="5246373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ISPRING_ULTRA_SCORM_SLIDE_COUNT" val="4"/>
  <p:tag name="ISPRING_PRESENTATION_TITLE" val="PowerPoint 演示文稿"/>
  <p:tag name="ISPRING_RESOURCE_PATHS_HASH_PRESENTER" val="af3f2d575d923f6e4ff64f325e7b41567660d7"/>
  <p:tag name="commondata" val="eyJoZGlkIjoiZmIwNTgzN2VkODcyMGZjYmE5ZDczYWZmOTUyYTJjOTMifQ=="/>
</p:tagLst>
</file>

<file path=ppt/theme/theme1.xml><?xml version="1.0" encoding="utf-8"?>
<a:theme xmlns:a="http://schemas.openxmlformats.org/drawingml/2006/main" name="第一PPT，www.1ppt.com">
  <a:themeElements>
    <a:clrScheme name="自定义 10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FFC000"/>
      </a:accent2>
      <a:accent3>
        <a:srgbClr val="BFBFBF"/>
      </a:accent3>
      <a:accent4>
        <a:srgbClr val="BFBFBF"/>
      </a:accent4>
      <a:accent5>
        <a:srgbClr val="BFBFB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3601</Words>
  <Application>WPS 演示</Application>
  <PresentationFormat>自定义</PresentationFormat>
  <Paragraphs>148</Paragraphs>
  <Slides>17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宋体</vt:lpstr>
      <vt:lpstr>Wingdings</vt:lpstr>
      <vt:lpstr>Eras Bold ITC</vt:lpstr>
      <vt:lpstr>微软雅黑</vt:lpstr>
      <vt:lpstr>Times New Roman</vt:lpstr>
      <vt:lpstr>华文隶书</vt:lpstr>
      <vt:lpstr>Wingdings 2</vt:lpstr>
      <vt:lpstr>Arial Unicode MS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蓝色简洁</dc:title>
  <dc:creator>第一PPT</dc:creator>
  <cp:keywords>www.1ppt.com</cp:keywords>
  <cp:lastModifiedBy>i-sugars</cp:lastModifiedBy>
  <cp:revision>193</cp:revision>
  <dcterms:created xsi:type="dcterms:W3CDTF">2014-08-23T07:50:00Z</dcterms:created>
  <dcterms:modified xsi:type="dcterms:W3CDTF">2024-09-01T14:54:09Z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8CA2BDADFFB04D7C99F0B5A1FEC68E79_12</vt:lpwstr>
  </property>
  <property fmtid="{D5CDD505-2E9C-101B-9397-08002B2CF9AE}" pid="3" name="KSOProductBuildVer">
    <vt:lpwstr>2052-12.1.0.17827</vt:lpwstr>
  </property>
</Properties>
</file>