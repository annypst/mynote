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20" r:id="rId5"/>
    <p:sldId id="371" r:id="rId6"/>
    <p:sldId id="372" r:id="rId7"/>
    <p:sldId id="373" r:id="rId8"/>
    <p:sldId id="374" r:id="rId9"/>
    <p:sldId id="377" r:id="rId10"/>
    <p:sldId id="378" r:id="rId11"/>
    <p:sldId id="379" r:id="rId12"/>
    <p:sldId id="375" r:id="rId13"/>
    <p:sldId id="380" r:id="rId14"/>
  </p:sldIdLst>
  <p:sldSz cx="12198350" cy="6859270"/>
  <p:notesSz cx="6858000" cy="9144000"/>
  <p:custDataLst>
    <p:tags r:id="rId18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59" autoAdjust="0"/>
    <p:restoredTop sz="92638" autoAdjust="0"/>
  </p:normalViewPr>
  <p:slideViewPr>
    <p:cSldViewPr showGuides="1">
      <p:cViewPr varScale="1">
        <p:scale>
          <a:sx n="105" d="100"/>
          <a:sy n="105" d="100"/>
        </p:scale>
        <p:origin x="-138" y="-96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-26590"/>
            <a:ext cx="12193647" cy="6860642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663" y="189434"/>
            <a:ext cx="3470176" cy="2741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4948997" y="2709714"/>
            <a:ext cx="6260682" cy="178510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编程原则        </a:t>
            </a:r>
            <a:endParaRPr lang="en-US" altLang="zh-CN" sz="5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8575" y="1413570"/>
            <a:ext cx="698477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单一职责</a:t>
            </a:r>
            <a:r>
              <a:rPr lang="zh-CN" altLang="zh-CN" sz="28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原则</a:t>
            </a:r>
            <a:r>
              <a:rPr lang="zh-CN" altLang="en-US" sz="28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：</a:t>
            </a:r>
            <a:endParaRPr lang="en-US" altLang="zh-CN" sz="2800" b="1" kern="1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Single </a:t>
            </a:r>
            <a:r>
              <a:rPr lang="en-US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Responsibility Principle (SRP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)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，</a:t>
            </a:r>
            <a:endParaRPr lang="en-US" altLang="zh-CN" sz="2800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单一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职责原则是最简单的面向对象设计原则，用于控制类的粒度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大小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854" y="1053530"/>
            <a:ext cx="3745945" cy="488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30623" y="1053530"/>
          <a:ext cx="10225136" cy="3125026"/>
        </p:xfrm>
        <a:graphic>
          <a:graphicData uri="http://schemas.openxmlformats.org/drawingml/2006/table">
            <a:tbl>
              <a:tblPr/>
              <a:tblGrid>
                <a:gridCol w="10225136"/>
              </a:tblGrid>
              <a:tr h="2193925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单一职责原则：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一个对象应该</a:t>
                      </a:r>
                      <a:r>
                        <a:rPr lang="zh-CN" sz="2800" b="1" kern="100" dirty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只包含单一的职责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，并且该职责被完整地封装在一个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类中。</a:t>
                      </a:r>
                      <a:endParaRPr lang="zh-CN" sz="280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(SRP): </a:t>
                      </a:r>
                      <a:r>
                        <a:rPr 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Every object should have </a:t>
                      </a:r>
                      <a:r>
                        <a:rPr lang="en-US" sz="2800" b="1" kern="100" dirty="0" smtClean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 single responsibility</a:t>
                      </a:r>
                      <a:r>
                        <a:rPr 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, and that responsibility should be entirely encapsulated by the class. </a:t>
                      </a:r>
                      <a:endParaRPr lang="zh-CN" sz="2800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130623" y="4437906"/>
            <a:ext cx="10225136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单一职责原则：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一个类而言，应该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仅有一个引起它变化的原因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(SRP):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There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should never be more than one reason for a class to change.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8615" y="909514"/>
            <a:ext cx="1029714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一个类（大到模块，小到方法）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承担的职责越多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被复用的可能性就越</a:t>
            </a:r>
            <a:r>
              <a:rPr lang="zh-CN" altLang="en-US" sz="2800" kern="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小。</a:t>
            </a:r>
            <a:endParaRPr lang="en-US" altLang="zh-CN" sz="2800" kern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当一个职责变化时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，可能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会影响其他职责的</a:t>
            </a:r>
            <a:r>
              <a:rPr lang="zh-CN" altLang="en-US" sz="2800" kern="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运作，则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这些职责进行分离，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将不同的职责封装在不同的类</a:t>
            </a:r>
            <a:r>
              <a:rPr lang="zh-CN" altLang="en-US" sz="2800" kern="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中，即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不同的变化原因封装在不同的类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sz="2800" kern="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多个职责总是同时发生改变则可将它们封装在同一类中。</a:t>
            </a:r>
            <a:endParaRPr lang="zh-CN" altLang="en-US" sz="2800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是实现高内聚、低耦合的指导</a:t>
            </a:r>
            <a:r>
              <a:rPr lang="zh-CN" altLang="en-US" sz="2800" kern="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方针。</a:t>
            </a:r>
            <a:endParaRPr lang="en-US" altLang="zh-CN" sz="2800" kern="0" dirty="0" smtClean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例如单独</a:t>
            </a:r>
            <a:r>
              <a:rPr lang="en-US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JSP</a:t>
            </a: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实现所有功能发展为</a:t>
            </a:r>
            <a:r>
              <a:rPr lang="en-US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98575" y="1053530"/>
          <a:ext cx="10873208" cy="1920240"/>
        </p:xfrm>
        <a:graphic>
          <a:graphicData uri="http://schemas.openxmlformats.org/drawingml/2006/table">
            <a:tbl>
              <a:tblPr/>
              <a:tblGrid>
                <a:gridCol w="10873208"/>
              </a:tblGrid>
              <a:tr h="1368152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indent="2667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某软件公司开发人员针对</a:t>
                      </a:r>
                      <a:r>
                        <a:rPr lang="en-US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CRM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Customer Relationship Management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，客户关系管理）系统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中</a:t>
                      </a:r>
                      <a:r>
                        <a:rPr lang="zh-CN" alt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的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客户信息</a:t>
                      </a:r>
                      <a:r>
                        <a:rPr lang="zh-CN" alt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图表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统计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模块提出了如图</a:t>
                      </a:r>
                      <a:r>
                        <a:rPr lang="en-US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2-1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所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示</a:t>
                      </a:r>
                      <a:r>
                        <a:rPr lang="zh-CN" alt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的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初始设计方案</a:t>
                      </a:r>
                      <a:r>
                        <a:rPr lang="zh-CN" alt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。</a:t>
                      </a:r>
                      <a:endParaRPr lang="en-US" altLang="zh-CN" sz="280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38535" y="3357786"/>
          <a:ext cx="6566420" cy="2560320"/>
        </p:xfrm>
        <a:graphic>
          <a:graphicData uri="http://schemas.openxmlformats.org/drawingml/2006/table">
            <a:tbl>
              <a:tblPr/>
              <a:tblGrid>
                <a:gridCol w="6566420"/>
              </a:tblGrid>
              <a:tr h="1901825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getConnection</a:t>
                      </a:r>
                      <a:r>
                        <a:rPr lang="en-US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()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方法用于连接数据库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2800" kern="1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findCustomers</a:t>
                      </a:r>
                      <a:r>
                        <a:rPr lang="en-US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()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用于查询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所有客户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信息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2800" kern="1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createChart</a:t>
                      </a:r>
                      <a:r>
                        <a:rPr lang="en-US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()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用于创建图表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，</a:t>
                      </a:r>
                      <a:endParaRPr lang="en-US" altLang="zh-CN" sz="280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displayChart</a:t>
                      </a:r>
                      <a:r>
                        <a:rPr lang="en-US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()</a:t>
                      </a:r>
                      <a:r>
                        <a:rPr lang="zh-CN" sz="28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用于显示图表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。</a:t>
                      </a:r>
                      <a:endParaRPr lang="zh-CN" sz="2800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302" y="3141761"/>
            <a:ext cx="4392489" cy="2396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445969" y="5776441"/>
            <a:ext cx="3765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b="1" kern="100" dirty="0" smtClean="0">
                <a:latin typeface="Times New Roman" panose="02020603050405020304"/>
                <a:cs typeface="Times New Roman" panose="02020603050405020304"/>
              </a:rPr>
              <a:t>图</a:t>
            </a:r>
            <a:r>
              <a:rPr lang="en-US" altLang="zh-CN" b="1" kern="100" dirty="0" smtClean="0">
                <a:latin typeface="Times New Roman" panose="02020603050405020304"/>
                <a:cs typeface="Times New Roman" panose="02020603050405020304"/>
              </a:rPr>
              <a:t>2-1 </a:t>
            </a:r>
            <a:r>
              <a:rPr lang="zh-CN" altLang="zh-CN" b="1" kern="100" dirty="0">
                <a:latin typeface="Times New Roman" panose="02020603050405020304"/>
                <a:cs typeface="Times New Roman" panose="02020603050405020304"/>
              </a:rPr>
              <a:t>初始设计方案结构图</a:t>
            </a:r>
            <a:endParaRPr lang="zh-CN" altLang="zh-CN" kern="1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432" y="1125538"/>
            <a:ext cx="10292343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82551" y="2986127"/>
            <a:ext cx="532859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原设计中的难以复用，不符合单一职责原则。进行拆分。</a:t>
            </a:r>
            <a:endParaRPr lang="en-US" alt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CustomerDataChart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55349" y="5776441"/>
            <a:ext cx="31470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b="1" kern="100" dirty="0">
                <a:latin typeface="Times New Roman" panose="02020603050405020304"/>
                <a:cs typeface="Times New Roman" panose="02020603050405020304"/>
              </a:rPr>
              <a:t>图</a:t>
            </a:r>
            <a:r>
              <a:rPr lang="en-US" altLang="zh-CN" b="1" kern="100" dirty="0" smtClean="0">
                <a:latin typeface="Times New Roman" panose="02020603050405020304"/>
                <a:cs typeface="Times New Roman" panose="02020603050405020304"/>
              </a:rPr>
              <a:t>2-2 </a:t>
            </a:r>
            <a:r>
              <a:rPr lang="zh-CN" altLang="en-US" b="1" kern="100" dirty="0" smtClean="0">
                <a:latin typeface="Times New Roman" panose="02020603050405020304"/>
                <a:cs typeface="Times New Roman" panose="02020603050405020304"/>
              </a:rPr>
              <a:t>重构后的</a:t>
            </a:r>
            <a:r>
              <a:rPr lang="zh-CN" altLang="zh-CN" b="1" kern="100" dirty="0" smtClean="0">
                <a:latin typeface="Times New Roman" panose="02020603050405020304"/>
                <a:cs typeface="Times New Roman" panose="02020603050405020304"/>
              </a:rPr>
              <a:t>结构图</a:t>
            </a:r>
            <a:endParaRPr lang="zh-CN" altLang="zh-CN" kern="1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43" y="2781722"/>
            <a:ext cx="4252262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30623" y="909514"/>
            <a:ext cx="9865096" cy="1384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设计个电话类图，电话通话有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个过程发生，拨号，通话（数据交换），挂断。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47047" y="2709714"/>
            <a:ext cx="6882879" cy="33239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Public interface 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Iphone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public void dial(String 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phoneNumber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public void chat(Object o);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public void 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hangup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0623" y="909514"/>
            <a:ext cx="60486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Dial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hangup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通信协议管理。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Chat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实现的是数据交换。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71383" y="1269554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接口拆分！！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2277666"/>
            <a:ext cx="10610850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单一职责原则好处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86607" y="1413570"/>
            <a:ext cx="95050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类的复杂性降低，实现什么职责都有清晰明确的定义；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可读性提高；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可维护性提高；变更引起的风险降低；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单一职责适用于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接口设计、类的设计、方法的设计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越单纯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快乐？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8575" y="909514"/>
            <a:ext cx="10945216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中，受限于项目工期、成本、人员技术、垄断协议等，有的时候确实很难实现。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接口设计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时一定做到单一；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类就需要多方面考虑。生搬硬套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职责会引起类的剧增，为维护带来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些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不便，过分细分类也会增加系统复杂性。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接口一定做到单一职责，类的设计尽量做到只有一个原因引起变化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375" y="1917745"/>
            <a:ext cx="36195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8615" y="3702144"/>
            <a:ext cx="100091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一句话点评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内聚低耦合的绝佳体现，不要乱拉关系，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独善其身也挺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671" y="1053530"/>
            <a:ext cx="9040462" cy="2576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1337</Words>
  <Application>WPS 演示</Application>
  <PresentationFormat>自定义</PresentationFormat>
  <Paragraphs>81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Eras Bold ITC</vt:lpstr>
      <vt:lpstr>微软雅黑</vt:lpstr>
      <vt:lpstr>Times New Roman</vt:lpstr>
      <vt:lpstr>Tahoma</vt:lpstr>
      <vt:lpstr>隶书</vt:lpstr>
      <vt:lpstr>Arial Unicode MS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i-sugars</cp:lastModifiedBy>
  <cp:revision>172</cp:revision>
  <dcterms:created xsi:type="dcterms:W3CDTF">2014-08-23T07:50:00Z</dcterms:created>
  <dcterms:modified xsi:type="dcterms:W3CDTF">2024-09-01T17:09:59Z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6308633190074299ABEE639CA0D1216F_12</vt:lpwstr>
  </property>
  <property fmtid="{D5CDD505-2E9C-101B-9397-08002B2CF9AE}" pid="3" name="KSOProductBuildVer">
    <vt:lpwstr>2052-12.1.0.17827</vt:lpwstr>
  </property>
</Properties>
</file>