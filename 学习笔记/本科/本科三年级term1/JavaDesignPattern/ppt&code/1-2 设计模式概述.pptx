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342" r:id="rId3"/>
    <p:sldId id="320" r:id="rId5"/>
    <p:sldId id="309" r:id="rId6"/>
    <p:sldId id="321" r:id="rId7"/>
    <p:sldId id="367" r:id="rId8"/>
    <p:sldId id="369" r:id="rId9"/>
    <p:sldId id="368" r:id="rId10"/>
    <p:sldId id="352" r:id="rId11"/>
    <p:sldId id="361" r:id="rId12"/>
    <p:sldId id="371" r:id="rId13"/>
    <p:sldId id="372" r:id="rId14"/>
    <p:sldId id="373" r:id="rId15"/>
    <p:sldId id="374" r:id="rId16"/>
    <p:sldId id="376" r:id="rId17"/>
    <p:sldId id="375" r:id="rId18"/>
    <p:sldId id="362" r:id="rId19"/>
    <p:sldId id="377" r:id="rId20"/>
    <p:sldId id="379" r:id="rId21"/>
  </p:sldIdLst>
  <p:sldSz cx="12198350" cy="6859270"/>
  <p:notesSz cx="6858000" cy="9144000"/>
  <p:custDataLst>
    <p:tags r:id="rId26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2638" autoAdjust="0"/>
  </p:normalViewPr>
  <p:slideViewPr>
    <p:cSldViewPr showGuides="1">
      <p:cViewPr varScale="1">
        <p:scale>
          <a:sx n="81" d="100"/>
          <a:sy n="81" d="100"/>
        </p:scale>
        <p:origin x="670" y="36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536C8-BA33-4D33-B828-9B47C265FC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735EB-0A24-4371-89DE-051D5E6351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hf hdr="0" ftr="0" dt="0"/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25536"/>
            <a:ext cx="12193647" cy="68606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63118" y="3392234"/>
            <a:ext cx="4607986" cy="95410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5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设计模式概述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软件模式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Straight Connector 59"/>
          <p:cNvCxnSpPr/>
          <p:nvPr/>
        </p:nvCxnSpPr>
        <p:spPr>
          <a:xfrm flipV="1">
            <a:off x="6365702" y="1629594"/>
            <a:ext cx="0" cy="4483417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463208" y="1388130"/>
          <a:ext cx="5180583" cy="458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1" imgW="7120890" imgH="4620895" progId="Visio.Drawing.11">
                  <p:embed/>
                </p:oleObj>
              </mc:Choice>
              <mc:Fallback>
                <p:oleObj name="Visio" r:id="rId1" imgW="7120890" imgH="462089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208" y="1388130"/>
                        <a:ext cx="5180583" cy="458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-93513" y="5175060"/>
            <a:ext cx="61926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软件模式：</a:t>
            </a:r>
            <a:r>
              <a:rPr lang="zh-CN" altLang="en-US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在一定条件下的软件开发问题及其解法</a:t>
            </a:r>
            <a:endParaRPr lang="en-US" altLang="zh-CN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4558" y="1115660"/>
            <a:ext cx="55446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将模式的概念引入软件工程领域，标志着软件模式的诞生，是软件开发的总体指导思路或者参照模板。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软件模式不仅限于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，还包括架构模式、分析模式和过程模式等。软件生存期的每个阶段都存在一些被认同的模式。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设计模式的诞生和发展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82551" y="1125538"/>
            <a:ext cx="1108923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设计模式的发展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1987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Kent Beck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Ward Cunningham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借鉴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Alexander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的模式思想在程序开发中开始应用一些模式 ，在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OOPSLA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会议上发表了他们的成果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1990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OOPSLA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ECOOP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联合举办，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Erich Gamma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Richard Helm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等人开始讨论有关模式的话题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(Bruce Anderson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主持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，“四人组” 正式成立，并开始着手进行设计模式的分类整理工作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OOPSLA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Bruce Anderson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主持了首次针对设计模式的研讨会 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OOPSLA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Anderson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再度主持研讨会，模式已经逐渐成为人们讨论的话题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OOPSLA (Object-Oriented Programming, Systems, Languages &amp; Applications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面向对象编程、系统、语言和应用大会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，编程语言及软件工程国际顶级会议，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年改为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SPLASH --- Systems, Programming, Languages and Applications: Software for Humanity 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98575" y="1125538"/>
            <a:ext cx="10513168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设计模式的发展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1993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Kent Beck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Grady </a:t>
            </a:r>
            <a:r>
              <a:rPr kumimoji="1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Booch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赞助了第一次关于设计模式的会议，这个设计模式研究组织发展成为著名的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Hillside Group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研究组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Hillside Group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发起，在美国伊利诺伊州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(Illinois)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Allerton Park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召开了第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届关于面向对象模式的世界性会议，名为</a:t>
            </a:r>
            <a:r>
              <a:rPr kumimoji="1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PLoP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(Pattern Languages of Programs,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编程语言模式会议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，简称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PLoP‘94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PLoP‘95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仍在伊利诺伊州的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Allerton Park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举行 ，“四人组”出版了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设计模式：可复用面向对象软件的基础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》(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Design Patterns: Elements of Reusable Object-Oriented Software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一书，本书成为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年最抢手的面向对象书籍，也成为设计模式的经典书籍 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设计模式的诞生和发展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54559" y="1197546"/>
            <a:ext cx="10800952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设计模式的发展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年至今，设计模式在软件开发中得以广泛应用，在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Sun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Java SE/Java EE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Microsoft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.NET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设计中应用了大量的设计模式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轻量级框架：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Struts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Hibernate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JUnit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NHibernate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NUnit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……</a:t>
            </a:r>
            <a:endParaRPr kumimoji="1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C#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Objective-C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VB.net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Smalltalk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Delphi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Ruby……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得到越来越多的企业和高校的关注与重视</a:t>
            </a:r>
            <a:endParaRPr kumimoji="1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越来越多的书籍和网站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设计模式的诞生和发展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082951" y="1269554"/>
          <a:ext cx="7776864" cy="5045266"/>
        </p:xfrm>
        <a:graphic>
          <a:graphicData uri="http://schemas.openxmlformats.org/drawingml/2006/table">
            <a:tbl>
              <a:tblPr/>
              <a:tblGrid>
                <a:gridCol w="7776864"/>
              </a:tblGrid>
              <a:tr h="2560638">
                <a:tc>
                  <a:txBody>
                    <a:bodyPr/>
                    <a:lstStyle/>
                    <a:p>
                      <a:pPr indent="2622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设计模式是</a:t>
                      </a:r>
                      <a:r>
                        <a:rPr lang="zh-CN" altLang="en-US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在特定环境下</a:t>
                      </a:r>
                      <a:r>
                        <a:rPr lang="zh-CN" alt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为解决</a:t>
                      </a:r>
                      <a:r>
                        <a:rPr lang="zh-CN" altLang="en-US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某一通用软件设计问题</a:t>
                      </a:r>
                      <a:r>
                        <a:rPr lang="zh-CN" alt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提供的</a:t>
                      </a:r>
                      <a:r>
                        <a:rPr lang="zh-CN" altLang="en-US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一套定制的解决方案</a:t>
                      </a:r>
                      <a:r>
                        <a:rPr lang="zh-CN" alt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，该方案描述了对象和类之间的相互作用。</a:t>
                      </a:r>
                      <a:endParaRPr lang="en-US" altLang="zh-CN" sz="28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22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altLang="en-US" sz="28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2255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Design patterns are descriptions of communicating objects and classes that are customized to </a:t>
                      </a:r>
                      <a:r>
                        <a:rPr lang="en-US" altLang="zh-CN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solve</a:t>
                      </a:r>
                      <a:r>
                        <a:rPr lang="en-US" altLang="zh-CN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a general </a:t>
                      </a:r>
                      <a:r>
                        <a:rPr lang="en-US" altLang="zh-CN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design</a:t>
                      </a:r>
                      <a:r>
                        <a:rPr lang="en-US" altLang="zh-CN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</a:t>
                      </a:r>
                      <a:r>
                        <a:rPr lang="en-US" altLang="zh-CN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problem</a:t>
                      </a:r>
                      <a:r>
                        <a:rPr lang="en-US" altLang="zh-CN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in a particular </a:t>
                      </a:r>
                      <a:r>
                        <a:rPr lang="en-US" altLang="zh-CN" sz="2800" b="1" kern="100" dirty="0">
                          <a:solidFill>
                            <a:srgbClr val="FF33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context</a:t>
                      </a:r>
                      <a:r>
                        <a:rPr lang="en-US" altLang="zh-CN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.</a:t>
                      </a:r>
                      <a:endParaRPr lang="zh-CN" sz="28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" name="Picture 2" descr="https://img1.doubanio.com/view/subject/l/public/s2726240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0" y="1413570"/>
            <a:ext cx="3384376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59"/>
          <p:cNvCxnSpPr/>
          <p:nvPr/>
        </p:nvCxnSpPr>
        <p:spPr>
          <a:xfrm flipV="1">
            <a:off x="3794919" y="1197547"/>
            <a:ext cx="0" cy="5400599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26567" y="1125538"/>
            <a:ext cx="108012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1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设计模式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(Design Pattern)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Tahoma" panose="020B0604030504040204" pitchFamily="34" charset="0"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一套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被反复使用的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多数人知晓的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经过分类别的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代码设计经验的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defTabSz="914400" eaLnBrk="1" hangingPunct="1">
              <a:lnSpc>
                <a:spcPct val="150000"/>
              </a:lnSpc>
              <a:spcBef>
                <a:spcPts val="0"/>
              </a:spcBef>
              <a:buFont typeface="Tahoma" panose="020B0604030504040204" pitchFamily="34" charset="0"/>
              <a:buChar char="•"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设计模式解决在特定的环境中反复出现的设计问题，并且为其提供了解决方案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defTabSz="914400" eaLnBrk="1" hangingPunct="1">
              <a:lnSpc>
                <a:spcPct val="150000"/>
              </a:lnSpc>
              <a:spcBef>
                <a:spcPts val="0"/>
              </a:spcBef>
              <a:buFont typeface="Tahoma" panose="020B0604030504040204" pitchFamily="34" charset="0"/>
              <a:buChar char="•"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共享专家设计经验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的技术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Tahoma" panose="020B0604030504040204" pitchFamily="34" charset="0"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目的：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为了可重用代码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让代码更容易被他人理解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提高代码可靠性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59"/>
          <p:cNvCxnSpPr/>
          <p:nvPr/>
        </p:nvCxnSpPr>
        <p:spPr>
          <a:xfrm flipV="1">
            <a:off x="3650903" y="1125538"/>
            <a:ext cx="0" cy="1656185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82551" y="1701602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软件设计模式</a:t>
            </a:r>
            <a:endParaRPr lang="zh-CN" altLang="en-US" sz="3600" b="1" dirty="0">
              <a:solidFill>
                <a:schemeClr val="accen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" name="Text Placeholder 8"/>
          <p:cNvSpPr txBox="1"/>
          <p:nvPr/>
        </p:nvSpPr>
        <p:spPr>
          <a:xfrm>
            <a:off x="3218855" y="3645818"/>
            <a:ext cx="8136656" cy="2232248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800" kern="1200" baseline="0">
                <a:solidFill>
                  <a:schemeClr val="bg1">
                    <a:lumMod val="50000"/>
                  </a:schemeClr>
                </a:solidFill>
                <a:latin typeface="Roboto condensed"/>
                <a:ea typeface="+mn-ea"/>
                <a:cs typeface="Roboto condensed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9000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年以前</a:t>
            </a:r>
            <a:r>
              <a:rPr lang="en-US" altLang="zh-CN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有人分明了轮子</a:t>
            </a:r>
            <a:r>
              <a:rPr lang="en-US" altLang="zh-CN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en-US" altLang="zh-CN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今天我们不必重新设计轮子了 </a:t>
            </a:r>
            <a:endParaRPr lang="zh-CN" altLang="en-US" sz="28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我们只需要复制第一个轮子的设计方法，而设计出许许多多的不同类型的轮子</a:t>
            </a:r>
            <a:endParaRPr lang="zh-CN" altLang="en-US" sz="28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15199" y="1472309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设计复用！</a:t>
            </a:r>
            <a:endParaRPr lang="zh-CN" alt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grpSp>
        <p:nvGrpSpPr>
          <p:cNvPr id="10" name="Group 6"/>
          <p:cNvGrpSpPr/>
          <p:nvPr/>
        </p:nvGrpSpPr>
        <p:grpSpPr bwMode="auto">
          <a:xfrm>
            <a:off x="468313" y="3932436"/>
            <a:ext cx="1800225" cy="1800225"/>
            <a:chOff x="521" y="3022"/>
            <a:chExt cx="1134" cy="1134"/>
          </a:xfrm>
        </p:grpSpPr>
        <p:sp>
          <p:nvSpPr>
            <p:cNvPr id="11" name="AutoShape 4"/>
            <p:cNvSpPr>
              <a:spLocks noChangeArrowheads="1"/>
            </p:cNvSpPr>
            <p:nvPr/>
          </p:nvSpPr>
          <p:spPr bwMode="auto">
            <a:xfrm>
              <a:off x="521" y="3022"/>
              <a:ext cx="1134" cy="1134"/>
            </a:xfrm>
            <a:custGeom>
              <a:avLst/>
              <a:gdLst>
                <a:gd name="T0" fmla="*/ 567 w 21600"/>
                <a:gd name="T1" fmla="*/ 0 h 21600"/>
                <a:gd name="T2" fmla="*/ 166 w 21600"/>
                <a:gd name="T3" fmla="*/ 166 h 21600"/>
                <a:gd name="T4" fmla="*/ 0 w 21600"/>
                <a:gd name="T5" fmla="*/ 567 h 21600"/>
                <a:gd name="T6" fmla="*/ 166 w 21600"/>
                <a:gd name="T7" fmla="*/ 968 h 21600"/>
                <a:gd name="T8" fmla="*/ 567 w 21600"/>
                <a:gd name="T9" fmla="*/ 1134 h 21600"/>
                <a:gd name="T10" fmla="*/ 968 w 21600"/>
                <a:gd name="T11" fmla="*/ 968 h 21600"/>
                <a:gd name="T12" fmla="*/ 1134 w 21600"/>
                <a:gd name="T13" fmla="*/ 567 h 21600"/>
                <a:gd name="T14" fmla="*/ 968 w 21600"/>
                <a:gd name="T15" fmla="*/ 166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2 h 21600"/>
                <a:gd name="T26" fmla="*/ 18438 w 21600"/>
                <a:gd name="T27" fmla="*/ 1843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019" y="10800"/>
                  </a:moveTo>
                  <a:cubicBezTo>
                    <a:pt x="2019" y="15650"/>
                    <a:pt x="5950" y="19581"/>
                    <a:pt x="10800" y="19581"/>
                  </a:cubicBezTo>
                  <a:cubicBezTo>
                    <a:pt x="15650" y="19581"/>
                    <a:pt x="19581" y="15650"/>
                    <a:pt x="19581" y="10800"/>
                  </a:cubicBezTo>
                  <a:cubicBezTo>
                    <a:pt x="19581" y="5950"/>
                    <a:pt x="15650" y="2019"/>
                    <a:pt x="10800" y="2019"/>
                  </a:cubicBezTo>
                  <a:cubicBezTo>
                    <a:pt x="5950" y="2019"/>
                    <a:pt x="2019" y="5950"/>
                    <a:pt x="2019" y="10800"/>
                  </a:cubicBezTo>
                  <a:close/>
                </a:path>
              </a:pathLst>
            </a:custGeom>
            <a:solidFill>
              <a:srgbClr val="9933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1038" y="3520"/>
              <a:ext cx="113" cy="113"/>
            </a:xfrm>
            <a:prstGeom prst="ellipse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8"/>
          <p:cNvSpPr txBox="1"/>
          <p:nvPr/>
        </p:nvSpPr>
        <p:spPr>
          <a:xfrm>
            <a:off x="3938935" y="1125538"/>
            <a:ext cx="7704856" cy="1440160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800" kern="1200" baseline="0">
                <a:solidFill>
                  <a:schemeClr val="bg1">
                    <a:lumMod val="50000"/>
                  </a:schemeClr>
                </a:solidFill>
                <a:latin typeface="Roboto condensed"/>
                <a:ea typeface="+mn-ea"/>
                <a:cs typeface="Roboto condensed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对软件设计经验的总结，是对软件设计中反复出现的设计问题的成功解决方案的描述。</a:t>
            </a:r>
            <a:endParaRPr lang="en-US" altLang="zh-CN" sz="28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Straight Connector 59"/>
          <p:cNvCxnSpPr/>
          <p:nvPr/>
        </p:nvCxnSpPr>
        <p:spPr>
          <a:xfrm flipV="1">
            <a:off x="3650903" y="1256285"/>
            <a:ext cx="0" cy="1309413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82551" y="1485578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软件设计模式</a:t>
            </a:r>
            <a:endParaRPr lang="zh-CN" altLang="en-US" sz="3600" b="1" dirty="0">
              <a:solidFill>
                <a:schemeClr val="accen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" name="Text Placeholder 8"/>
          <p:cNvSpPr txBox="1"/>
          <p:nvPr/>
        </p:nvSpPr>
        <p:spPr>
          <a:xfrm>
            <a:off x="770583" y="2565698"/>
            <a:ext cx="10440912" cy="3744416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800" kern="1200" baseline="0">
                <a:solidFill>
                  <a:schemeClr val="bg1">
                    <a:lumMod val="50000"/>
                  </a:schemeClr>
                </a:solidFill>
                <a:latin typeface="Roboto condensed"/>
                <a:ea typeface="+mn-ea"/>
                <a:cs typeface="Roboto condensed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模式名称</a:t>
            </a:r>
            <a:r>
              <a:rPr lang="en-US" altLang="zh-CN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(Pattern Name)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：抽象描述一个设计</a:t>
            </a:r>
            <a:endParaRPr lang="en-US" altLang="zh-CN" sz="28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(Problem)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：描述了应用场景，可以解决哪些问题</a:t>
            </a:r>
            <a:endParaRPr lang="en-US" altLang="zh-CN" sz="28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r>
              <a:rPr lang="en-US" altLang="zh-CN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(Solution)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：设计的细节，给出原理图示（参与者、类图、时序图、程序示例等）</a:t>
            </a:r>
            <a:endParaRPr lang="en-US" altLang="zh-CN" sz="28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2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 </a:t>
            </a:r>
            <a:r>
              <a:rPr lang="en-US" altLang="zh-CN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(Consequences) </a:t>
            </a:r>
            <a:r>
              <a:rPr lang="zh-CN" altLang="en-US" sz="28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：优缺点。面向软件的质量属性，如可扩展性、可复用性</a:t>
            </a:r>
            <a:endParaRPr lang="en-US" altLang="zh-CN" sz="28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设计模式的基本要素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0999" y="1259210"/>
            <a:ext cx="10974759" cy="4474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（模式是用来做什么的）可分为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创建型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(Creational)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结构型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(Structural)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行为型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(Behavioral)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三类：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Tahoma" panose="020B0604030504040204" pitchFamily="34" charset="0"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创建型模式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主要用于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创建对象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Tahoma" panose="020B0604030504040204" pitchFamily="34" charset="0"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结构型模式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主要用于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处理类或对象的组合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Tahoma" panose="020B0604030504040204" pitchFamily="34" charset="0"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行为型模式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主要用于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描述类或对象如何交互和怎样分配职责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0999" y="1259210"/>
            <a:ext cx="10974759" cy="4474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defTabSz="914400" eaLnBrk="1" hangingPunct="1">
              <a:lnSpc>
                <a:spcPct val="150000"/>
              </a:lnSpc>
            </a:pPr>
            <a:r>
              <a:rPr lang="zh-CN" altLang="en-US" sz="2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2800" b="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zh-CN" altLang="en-US" sz="2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，即模式主要是</a:t>
            </a:r>
            <a:r>
              <a:rPr lang="zh-CN" altLang="en-US" sz="2800" b="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处理类之间的关系</a:t>
            </a:r>
            <a:r>
              <a:rPr lang="zh-CN" altLang="en-US" sz="2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zh-CN" altLang="en-US" sz="2800" b="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处理对象之间的关系</a:t>
            </a:r>
            <a:r>
              <a:rPr lang="zh-CN" altLang="en-US" sz="2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，可分为</a:t>
            </a:r>
            <a:r>
              <a:rPr lang="zh-CN" altLang="en-US" sz="2800" b="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类模式</a:t>
            </a:r>
            <a:r>
              <a:rPr lang="zh-CN" altLang="en-US" sz="2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对象模式</a:t>
            </a:r>
            <a:r>
              <a:rPr lang="zh-CN" altLang="en-US" sz="2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两种：</a:t>
            </a:r>
            <a:endParaRPr lang="zh-CN" altLang="en-US" sz="28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defTabSz="914400" eaLnBrk="1" hangingPunct="1">
              <a:lnSpc>
                <a:spcPct val="150000"/>
              </a:lnSpc>
              <a:buFont typeface="Tahoma" panose="020B0604030504040204" pitchFamily="34" charset="0"/>
              <a:buChar char="•"/>
            </a:pPr>
            <a:r>
              <a:rPr lang="zh-CN" altLang="en-US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类模式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处理类和子类之间的关系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，这些关系通过继承建立，在编译时刻就被确定下来，是一种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defTabSz="914400" eaLnBrk="1" hangingPunct="1">
              <a:lnSpc>
                <a:spcPct val="150000"/>
              </a:lnSpc>
              <a:buFont typeface="Tahoma" panose="020B0604030504040204" pitchFamily="34" charset="0"/>
              <a:buChar char="•"/>
            </a:pPr>
            <a:r>
              <a:rPr lang="zh-CN" altLang="en-US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对象模式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处理对象间的关系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，这些关系在运行时变化，更具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408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Group 83"/>
          <p:cNvGraphicFramePr/>
          <p:nvPr/>
        </p:nvGraphicFramePr>
        <p:xfrm>
          <a:off x="626567" y="1557586"/>
          <a:ext cx="11017224" cy="4684180"/>
        </p:xfrm>
        <a:graphic>
          <a:graphicData uri="http://schemas.openxmlformats.org/drawingml/2006/table">
            <a:tbl>
              <a:tblPr/>
              <a:tblGrid>
                <a:gridCol w="2436501"/>
                <a:gridCol w="2542437"/>
                <a:gridCol w="3495849"/>
                <a:gridCol w="2542437"/>
              </a:tblGrid>
              <a:tr h="477912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范围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\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目的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创建型模式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结构型模式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行为型模式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</a:tr>
              <a:tr h="776408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类模式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工厂方法模式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2C1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（类）适配器模式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解释器模式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模板方法模式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>
                        <a:alpha val="5000"/>
                      </a:srgbClr>
                    </a:solidFill>
                  </a:tcPr>
                </a:tc>
              </a:tr>
              <a:tr h="2835080"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对象模式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抽象工厂模式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建造者模式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原型模式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单例模式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2C1"/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（对象）适配器模式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桥接模式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组合模式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装饰模式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外观模式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享元模式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代理模式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1pPr>
                      <a:lvl2pPr marL="60960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2pPr>
                      <a:lvl3pPr marL="12198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3pPr>
                      <a:lvl4pPr marL="18294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4pPr>
                      <a:lvl5pPr marL="243903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5pPr>
                      <a:lvl6pPr marL="30492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6pPr>
                      <a:lvl7pPr marL="36588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7pPr>
                      <a:lvl8pPr marL="4268470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8pPr>
                      <a:lvl9pPr marL="4878705" algn="l" defTabSz="121983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Tahoma" panose="020B0604030504040204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职责链模式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命令模式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迭代器模式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中介者模式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备忘录模式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观察者模式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状态模式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策略模式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访问者模式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346647" y="909514"/>
            <a:ext cx="51379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设计模式简介（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种） 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6889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模式使用频率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1058615" y="1341562"/>
            <a:ext cx="936104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Tahoma" panose="020B0604030504040204" pitchFamily="34" charset="0"/>
                <a:ea typeface="隶书" panose="020105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Tahoma" panose="020B0604030504040204" pitchFamily="34" charset="0"/>
                <a:ea typeface="黑体" panose="0201060906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创建型模式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抽象工厂模式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(Abstract Factory)</a:t>
            </a:r>
            <a:r>
              <a:rPr lang="en-US" altLang="zh-CN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★★★★★</a:t>
            </a:r>
            <a:endParaRPr lang="en-US" altLang="zh-CN" sz="2800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建造者模式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(Builder)</a:t>
            </a:r>
            <a:r>
              <a:rPr lang="en-US" altLang="zh-CN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★★☆☆☆</a:t>
            </a:r>
            <a:endParaRPr lang="en-US" altLang="zh-CN" sz="2800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工厂方法模式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(Factory Method) </a:t>
            </a:r>
            <a:r>
              <a:rPr lang="zh-CN" altLang="en-US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★★★★★</a:t>
            </a:r>
            <a:endParaRPr lang="en-US" altLang="zh-CN" sz="2800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原型模式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(Prototype)</a:t>
            </a:r>
            <a:r>
              <a:rPr lang="en-US" altLang="zh-CN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★★★☆☆</a:t>
            </a:r>
            <a:endParaRPr lang="en-US" altLang="zh-CN" sz="2800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单例模式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(Singleton) </a:t>
            </a:r>
            <a:r>
              <a:rPr lang="zh-CN" altLang="en-US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★★★★☆</a:t>
            </a:r>
            <a:r>
              <a:rPr lang="en-US" altLang="zh-CN" sz="2800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800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6889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模式使用频率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9503" y="1197546"/>
            <a:ext cx="946212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Tahoma" panose="020B0604030504040204" pitchFamily="34" charset="0"/>
                <a:ea typeface="隶书" panose="020105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Tahoma" panose="020B0604030504040204" pitchFamily="34" charset="0"/>
                <a:ea typeface="黑体" panose="0201060906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结构型模式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适配器模式(Adapter)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★★★★☆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桥接模式(Bridge)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★★★☆☆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组合模式(Composite)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★★★★☆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装饰模式(Decorator)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★★★☆☆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外观模式(Facade)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★★★★★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享元模式(Flyweight)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★☆☆☆☆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代理模式(Proxy)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★★★★☆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1730103" y="170270"/>
            <a:ext cx="6889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设计模式的分类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模式使用频率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86607" y="981522"/>
            <a:ext cx="10369152" cy="5359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Tahoma" panose="020B0604030504040204" pitchFamily="34" charset="0"/>
                <a:ea typeface="隶书" panose="020105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Tahoma" panose="020B0604030504040204" pitchFamily="34" charset="0"/>
                <a:ea typeface="黑体" panose="0201060906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行为型模式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职责链模式(Chain of Responsibility)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★★☆☆☆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命令模式(Command)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解释器模式(Interpreter)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★☆☆☆☆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迭代器模式(Iterator)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★★★★★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中介者模式(Mediator)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★★☆☆☆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备忘录模式(Memento)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★★☆☆☆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观察者模式(Observer)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★★★★★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状态模式(State)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★★★☆☆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策略模式(Strategy)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★★★★☆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模板方法模式(Template Method)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★★★☆☆</a:t>
            </a:r>
            <a:endParaRPr lang="zh-CN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访问者模式(Visitor)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★☆☆☆☆</a:t>
            </a:r>
            <a:endParaRPr lang="en-US" altLang="zh-CN" b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2059964" y="170270"/>
            <a:ext cx="9295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软件设计模式的优点和意义   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2551" y="1197546"/>
            <a:ext cx="11017224" cy="5084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融合了众多专家的经验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，并以一种标准的形式供广大开发人员所用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提供了一套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通用的设计词汇和一种通用的语言，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以方便开发人员之间进行沟通和交流，使得设计方案更加通俗易懂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让人们可以更加简单方便地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复用成功的设计和体系结构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使得设计方案更加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灵活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易于修改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将提高软件系统的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开发效率和软件质量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，且在一定程度上节约设计成本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有助于初学者更深入地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理解面向对象思想，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方便阅读和学习现有类库与其他系统中的源代码，还可以提高软件的设计水平和代码质量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2059964" y="170270"/>
            <a:ext cx="9295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软件设计模式的优点和意义   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2551" y="1197546"/>
            <a:ext cx="11017224" cy="5084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w"/>
              <a:defRPr sz="3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  <a:defRPr sz="2400" b="1">
                <a:solidFill>
                  <a:srgbClr val="333333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"/>
              <a:defRPr sz="2000">
                <a:solidFill>
                  <a:srgbClr val="333333"/>
                </a:solidFill>
                <a:latin typeface="+mn-lt"/>
                <a:ea typeface="黑体" panose="0201060906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无编程经验的感觉雾里看花、听天书？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适合具有一定编程经验的人员。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lang="zh-CN" altLang="en-US" sz="2800" kern="0" noProof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如果想成为一名更优秀的软件设计师，了解优秀软件设计的演变过程比学习优秀设计本身更有价值。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——《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重构与模式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面向对象程序设计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大设计原则是“口号”，设计模式是具体指导方法。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设计模式不是工具，是软件开发的哲学，能指导你如何去设计一个优秀的架构、编写一段健壮的代码，解决一个复杂的需求。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2059964" y="170270"/>
            <a:ext cx="9295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软件设计模式的优点和意义   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2" descr="data:image/jpeg;base64,/9j/4AAQSkZJRgABAQEAYABgAAD/2wBDAAgGBgcGBQgHBwcJCQgKDBQNDAsLDBkSEw8UHRofHh0aHBwgJC4nICIsIxwcKDcpLDAxNDQ0Hyc5PTgyPC4zNDL/2wBDAQkJCQwLDBgNDRgyIRwhMjIyMjIyMjIyMjIyMjIyMjIyMjIyMjIyMjIyMjIyMjIyMjIyMjIyMjIyMjIyMjIyMjL/wAARCAEmAgsDASIAAhEBAxEB/8QAHAAAAwACAwEAAAAAAAAAAAAAAAECAwgFBgcE/8QATBAAAQIFAgMFBAUKAwQKAwAAAQACAwQRITEFEgZBUQciYXGBEzJCsRQ2g6GzFSMkNFJyc4KRwTNiYzeSwtEIFhclQ1OistLwJ+Hi/8QAGgEBAAMBAQEAAAAAAAAAAAAAAAECAwQFBv/EACURAQACAgIDAAICAwEAAAAAAAABAgMRBDESITIiQRNRBRRCYf/aAAwDAQACEQMRAD8A9QmbT0wOsR3zKwLPNj9NjfxHfMrEBQlfP3+pehTqAO96IAvcJh10y5VSW2t+iVE0IBrUydoKWLlCCBWhPVFK3NiqOUjeyLJ5FINqKqhjqit0SGhNpIceifeRR1KdUE2p3UttbphtEYRBZsqaaWSOFIygZtU+KXMKiNwq3llAaeQQI931TaLJbaZN024KCj7nqhFO4hBPqqGCgNujqgTb2GOaaTWqtqBITDbp02oqSEx3gT0SogRyg4TSxc4QDeaEW97nyRVxuiwxdAde6O8bIrSyAJINRhBdUFHvN8lKBXTFzRCbUDQjkaG6kbgCUAkg2FUmit0SaQbdNKneQWDtZnmkAHPPeSIqaHPJAa5tUQC0EUDrc0gA0d1AymaIkDCQyhobQp5sEB5oAJBoLJbaXVCougGjaFBsSVW5xBCBuoUQlo31KE+lMptFXHl4okmuqCEzWybTt508UVDr5RBJAgHCPjWRuTZBG7v+i8A7SPr9qf2X4TFsB+96LX/tI+v2p/ZfhMXRx+5ZXbFTP65H/iO+ZWE4WWZbScjn/Ud8ysHVY3+pWp8jGEVpdJprZM92xwqrguqKoJ3C2VJaKWSQhbeaGtq4mvJS2l0AGtkFZR8CKUsMlFdvdQSLXQHXKPe7tMIBugNx3KtwNipQgod0+aCKlSMqgO8UBt655JDKYbdPbS6BUQ1uUEkFUDuBRVJaKJNTDboApVFlCtCkN3PCYwkipIbzQiiBtT5FJuChAIQMoQMNFCkhCAQiiEBRG1CEAkmhAgQ0HxRt+JG2xRixRZOU2/8A2qe2iNtLoD4j5KTt2WzVULGnVAbc3QTzFUCm40VUAcbckhhAtpN+XNFaKm81NK1QT3S6pseqq4vuSFgQgCpCJG5CHWNEIEMrI3Jp0WJZGUAqiE2NyLhMYSPvJ0uiSHOiptaXUlor08U9tL7kQC2hqk61hzTDiTRBrWyCAnzTO7cg5RKm0AJS3dEDCW2lwiDq4clr/wBpBrx9qZ/hfhMXv+5xsvAO0j6/an9l+ExdHG7lS7YeatOxzf8AxHfMrFuqss3adjn/AFHfMrCTyrlY3+pKdQRsadVVNpupCoGxVVxyKj3vRW3n5KWto2vihAaFTQRVMZTIQS3mpdlU1tKlGLoE2vJMc6i6kqhhAN5oohCAQLAlCO6gQcnuQLAlJqB95FXdEA3KC6thlAxhLJoi/LKBg1RUA0qE6VUtVVQDRSqEJIGjmgUQgBkpnKVUIBCfwJAWQCEKhhBKEIQCEIogRwgeOE0r8kDSTFhU5SRYUPVG0C5QiiAFygNN0bUNsSgk5uih3WwnSt0xcEIEWoaaJqdqBOyUqKq0sgOvdAs2oqbYUz4JOrluFW6o5IJLSTXomHVNE/VAzhAHBspb7x8lTfeck1qBUJwm1u3Ke2lxlHe6IA0KnajyyqGEAMJUskqFaIJ29Fr/ANpH1+1P7L8Ji2CG7nha+9pP1/1P7L8Ji6OP3LK7Yib/AFyP/Ed8ysNKrLNupOxx/qO+ZWLasb/UrU+RtTFAhI5uqpBFbnCA1oFQhwR5ZQDb1PRNrvBJMVAqgebqd3VUcKSLIDJQWpVombiqBC9k+qFVO6iyKVontQm1ANpzTJ24wVPMp5v0RUsXTAqKpV3JhtkCTaEIrRA9vkklm6YIQAF0Ftij1QBdAN91CDlAyUFAWQivdQHWU1AM3RRAwVKCkKc2VbcKPESiipSgOaEIQCVVRNlOTUY5oDcgCpQMlOqBIR1QMIsdUeWVG3zVtJAoipHKEEB3vJiwoMIsQwUDCDhJtroEhUXBSgplyR4IG2imnNPdWiBKm80Vq5PFkVMYUh1DRURtCQsKoEgG58kIOEWSE+aQyqogkmhRm9EYQMoBa/8AaR9ftT+y/CYtgqLX3tJ+v+p/ZfhMXRxu5ZXbDzn65H/iO+awtWabcTORx/qO+ZWIF1Vjf6lavUHmwRzQgmlFVJOoTRAq0EDBQakoO4miBj3b5Q02KTrnaDjKBY1a7zQUbi+eSk8qZQbGo6IGEA1taj1RRMZTwSUCahMYKTUCNr0SaSLpuF0CxQGbosbIJc43wjyQNDTSqXeQMoDchUG2OFKLBNt79EgboFyaoKskhCKhCEDKAVDCAb2QXIAWBKEuSY91TUAQpVDCCQLlUgIUAUoQgKpjBSp4oDb4QCRc2u2or5rFMxxLw3HqKDzXCe2eXuduJINSFMRs27BYZygC98LDLRjFhNe5pFeZWRQso4TaENuKIGUVCVaKsXUkcxzQFK3SNUNTN7Isx0qVkDbI2lvqguttQRQhU0VuUNAanuygC417qQ96+Uw6ynKCzYE5UtqgNursgk5RY36IRcOr4IJq0XS3KzYVKkZQCEIr4IKGFr72k/X/AFP7L8Ji2BrgdV4B2k/X/U/svwmLo43csrthpv8AXI/8R3zKxNWSab+mR/4rvmVAwVjf6lanyRzZJxdWvRNqFVJZvVMNqK9CltpdMVQIi5RmyomxUNqLoKak5tDVvqgOuVXw06oJFa2T7yGjanXcgSG2cT4JJoBvNCG80gLlAUqntQ1CAFimKXUoqgEBt0bkw6yA2opTKYqQUqVsgBlCAKGiEAhAN0HKARzunmoSrSgQM7UDCOtEggoYQhSgEIGVSCUKkttLoElVNL2jGu2lwqRiqDj9SdVrW7a869Fx4wV98+0OitDjsAYaD1XHF1jXK0r0iX1yERwjhhJ2Pt6rlgGhoHRcTJN91xFDvG13W11zDacm2VLdrVJNvNOxskMqEHdJrXXV8iori6BFvzVbVJdcph1kCNrDKim1WXKQNxRYAbhlMNtZO7HUTLaAmqCPi2qttFN1TRWqBhoIr0SplPahFQKUwkdtfdTGUwMoJOFKulbJOaW2xXmiyThAwilcZVBtkCa2t14B2k/X/U/svwmL39vitf8AtJ+v+p/ZfhMW/H7lldsPN/rkf993zKxDN8LLN/rkf993zKxLK/1K1Pkd3xQDdM4QMKqRlIZQcWymMIEhIZKeLoAZtjmnzNMKQ65R8V88kFZbRIDaE6VRQhtEEnKYzfCSaAGShGLoQHNCZwpofXkgDlA5pDN8qtoF0CS5q2+8fJSPeRY0xgpDJXy6hqUlpUD6RPzLIMGtC5/XkkRM9Ey+pvNHNTAjw5qXZGgxBEhxLseMFU3wwio5lCEIBAbYoVDCAGEuRVD3UlITUGxJSQM5UA3IDrp0SQAyVSlULigygRqsET2THe1iBoIFNxyVmXEajF3TAa11dmQprGzbHNzHt4tW+4BZfM2nO4OQmgZKvH4oZ/pTwxkMNa1jOnNcrAmWTDQWuFae6uEQCWndUg8qKLR5ES7DcHFPBMOdVcRA1CKwARBvbXJyuQZNQHioiba/tKk10ttnSSbEhuFntcnuQgDJQSgOujF8okqVS295G5NqBjJQRYjqnXokd1UEhpJoqq5qE9oAqioFxVCBzTLqigygTRlFSMIzQKggVt180SFxRM5KQygW2mUZVHKk7aoJ+Na/9pP1/wBT+y/CYtgq3Wv3aT9f9T+y/CYujjdypdsPM3nY56RHfMrHSt1lmf12P/Ed8ysIyVjf6lanyNt0ILamtUHKqkUTFwQjF0hWqA2oQhAbboRtpdAN0AMoQMlCBnCSALpj3j5IFmyZwlzSNUDojndDDSvkhoqCUAW3QilE67moJBvdPnbCSNvVBQALqUtWg6G1TXyWt3aXxI/iDimKxjy6Uk3GBBDTmho53m4j/dDV73xHqZ0XhjUtRaaPl5eI6H+/Tu/eQtTHVLiSb1uvR4GLe7ufNaY9Of0Hi7WeHYpfpk6+E1xG+EaOhu82m3rSvitjODNei8TcLSmqxoIhRooLXtYe6SHbSQOQ7q1VHedQVryHUrajgaR/JvAmjQKUP0VsSgyHOq8/+9W5taxSJiPaMMzLsIsLIojyQvMdIQhCA+EoB7qFKeQEJnCSCgLIQLBCCVTcFLNl801NfRmH4nGwb0SI2FNzfsGlrT3yKU/uuHJ3Ouanqm97nxC97qE8/wCycCE6NEawCrnZPRaVrpCEK4kMwo21wrtuCpopCxQdSuSh6eyLAD9xDnc+i43GMrm5PcZNhcPhNFWZ0irio8s+BFO4VZyidVh8jddhexsUOa9ouuJmZF0JxcwFzKY6KK2/tPi+Vri13vGovlctKzQjwgCKPFqriPWq5HTGtHtHnOFMwirkA26NqaOaosRbZLFFdEFtkCB3FPakhADKALlCoYQSkMlVyKSCQaBUHAjKEvLKB+tUzi2UhYVQ0VrdAhlCYbdI3JCABFDZa+9pH1+1P7L8Ji2C20WvvaT9f9T+y/CYujj9ypdsRN/rkf8Afd8ysSyzf65H/fd8ysSxv9StT5M4tlIWNUI8lVJk7ikcoBunuQJP4EhlAyUA1HohP4ECqjOMpKhhAjegOUU2oqiiAxcY5pFzVQIAIUl1kCDjyt4p7iKjIOSjkgtoKjHNA2t64TLUmuqKIQLam1qEA2KLMM5JyuoSsWTnIEOPLRG7YkJ43McK1qQb1BFaj9lascXwpeX4v1aXlIIgQIM1EhQ4beQaSP7LayrQHl5o0Cp8iB/cLUDUpt09qk3OPNXR4z4p83En+69L/H79uXkdnIyr5+fl5aEPzkeK2G0eJIA+8rb+FCZAhMhQxSGxoa0dALBazdmch+UOPdNaWkw4JdHd4bWkg/7wC2cJub18VXnW3MVTx6+tkBdCA66FwN0jJVDBQhQBCG80sVKBKmoFhVSgZyUqqmhG1BhjxmwIRiOPkPFcLFiOjRDEcTXkOi+nUHO+k7K9wCvqvkFCKHkr1hEpFxRcnpsEtaX7aOd7p8F8MCA6NEDGtq0G56Bc4yGxkMBoxZRMoq+PUWNMIRhSrceS4oZXK6lFAhiEPedlcUrV6TKuS5qT/UWfulcGDdc3Iua6TbTIB+arZFWcXJCdBeoBBFCmhVWfHE0+G94LSWHmF9EKGyG0w2jawfeVQNynuTy2FZFOuFQxlH8yAakfeTxYc1KAGSqUobzQOiSFQwgkZTubBNK6Cdo5m6aYwUkBSpRSjqIpeyCKFA7Ak3S9U9ylzkBSvxLX/tJbTj/U/svwmL3/AJrX7tJ+v+p/ZfhMXRx+5Us2HmrTkc/6rvmVjWSatOxx1iO+ZWMZysb/AFK1PkI9E6VSxaiqkWqhCBlANpe6E8XSGUAkcJp93bbKBN91DUNKED5FI2FUDKrLaIJFxVAFQShAsUB5hFE67kkAGgGqqikZQgExgpeeEDaTSiDg+L578m8HaxNA0e2VeGHo5wLG/eQtUne8b18VsN2y6h9D4KbKMNHTcyxhH+UVcfvDVruV6/CrrHty5rbl7D2G6aXTup6oW2hwmy7XeLjVw/oGj1XtQ5VXmvZbqWlaR2b/AEyYnIMANmIjo7ojhRr+60eJO3bQBRqXbRoks97JCTnZotqGvNIYcaWsTuA9KnqufPivlyzMQ0paKUh6RMzctIy8SZnJmHLS7LPixXiG1vK7jjNuq4aHxxwtFi+ybr0jvJpeI0Y8TYLXbX+MdZ4mik6jOF0GtWS7KthM8mg8upqV16p3EnK0pwY8fyn2pbPP6bYwuLeHI02ZeFrmnvjE0DRMtuegvQnyuuZAaCR/ai01qQckGtV7T2Q8ZTExGPDmoRzEZ7LdJue6pbtu5h6tDauA5AFUzcPxr5VWpm3OrPYUZsi/PKBgrz24Rk0SGCl0QNwLUg5N1rdVPxHyQYJqDDiw3vLQXjBrhcOxpe8N+Imi5iaeIUBx5kAMHUnKwSck6E4xHAE/s9FNZ1Br2+uXgCWghlRXJP8AZZqgm+DUlSxtsLFNxfZSziPeHu/3UR+UjiZqKY0y9zeVmrAMmiLC6BtqtIQBkrltNNZZzehXErlNLNWPb0cPkq2RV9yBlUMJUVVhyKW6tkIogXqj+ayNqfRAW5YRVLmUIHlAaapXF0d6qC/LKO8pqjcgpSgc0bq2CA3UNEie8qFCCTWoUh1j7yAIqU2lwrXCB7qVXcsIGMp23HyUh10YqUBz5LX7tJ+v+p/ZfhMWwQwtfu0n6/6n9l+Exb8fuVLthZltJ2YP+o75lYlnmR+mR/4rvmVhPKmVlf6lanUBvjhCMGqDlVSZFkmjaqBNcKTkoD0QhCATvtSRt80ACaYQHOqhCAVDCBhAzlBKFSW3KBA3wnuSpTmvkldV06dm48pLT0CLMwCRGhwntLoZBp3gLpFbTGx9YyqCkZOPTCpAjkpbQb1tzVAWJ9F5h2j9o7dFZF0bRoodqJ7seM01EvalGn/zKc/hwtcOKclvSLXiKuq9svEEtqGtyumSsT2jZFrxFLcb3UqPMBoHqvLTXcamprlNzi95c4kkmpJNV9ulyEXVdVk9Pg19rMxWQm05FzqfMr2qVjHTThmfKWWQltS1NgkZGDMzIrvECCxzxuI21IFh5rt+l9j/ABNqBD5lsCQhk39s6r6ddra/eQvetI0qU0TSoGnSDGQ4MOHsa4NoCebiepyvtrV1evVcGTmzE6pDorhj9vLNO7EdGgNadR1GbmXjlB2w2n0IJ/oV2aW7M+DpcNA0WHEI+KJFefm6i7bzKOa5p5WW37a1xVj9OnzPZfwfMw3j8kthFzae0gx4jdtBkDcG9K2K8FgvmOFOM2uLi6Pps4agW3lj8eTqfetqhkrWntQl2y3aPqrWjuvMN4p4saT99V1cPJbJutp2yy1rGphstDe1zQ5jg5pFQ4YI6quq4bhSY+l8I6PHcbxJGEXfvbBVcxc3quHJXxtpvUsW6oQgVqqAPJKm2rq2oqLeq63xnxBG4e4bmp+XhQosaGWDbErtNXBty24ND4DzU0rN7eMEzqrnGNMWIYxbVrLMH91nDbLrnCPF2n8XaeY8oTBmIQHtpdzu9D8uo8V2MZNMeVFNq2pPjYrbyjcGLArjNSeSAyviuSc/a0nnSjf7rg5qJvjupgWUU7JYTi4UixqrOSkKUKvCAK0OFyOlHvRG+AK45ffpn+JE8gpnpFXJ7kbkKhhZLEKUKVVQFikcWxzQKiExhLFB1QMYKlM5TdXkgVEIBsa5RSqBeeE2pJtwa4QCEIQLbQElIeqsGx5+CXRAqIAaQQK1QaAkoRYU24yilb1RXaaHBRuQG6tgtfe0n6/6n9l+ExbBDPRa/dpP1/1P7L8Ji6ON3LK7YiaP6ZH/AIjvmVhWWb/XI/8AEd8ysTVjf6lanyZwkhCqkVVclKEAK1KebJA2KpuEEjKPVUkUCVDClUMIJGUzlNAuU8gBM4KSVUCXgQ1CZ4e7bJqLKguEbUDDiQwffbEcKg/1qPEBe+96q191doh9ujfbN7n5TgONfEtoV2cP35xLPL+mwWDy9FQwp55r4rFNTMCRlY03NRGwoEKGXRHvNmtGXeYFaea5fGZt41aROodI7SeNWcPaXE06QnBD1ePtDWtaS5kM7qurgG1G8+9g5GusRzojy5xq4kkkk3PquW4m1iJr/Ek9qb9w9vEJY12Wtw1p8QAF6RwlwVCl+zzV9d1KVhxJiY0+MZWHEb/hsEMuD/3i4Agi4AqLuXsYqxhpEOO272mXjnNcppOqRtG1GV1CU9n7eXeIjd4qPXB/oVxZyULpmNwzidPVP+2/Xan/ALt009QGxP8A5LkJHtyjCNt1DR4RhkUc6XiEOaK9HVr5VC8cX2yEhN6nNQ5SRl4keYiXZCYKl3X5LnnBj10vGS+212jazIa/psPUNPje1l32IcKOYehHI/3ouQGF572VcLatw3pc7E1RggPmnMMOXNSW7K1JpYV3CoF6NuvQW1vStPFeTmrWuSYr07aWtMezqKA+HPl1WsHaDqY1Tj3VZiGS2E2N7FpA5MAbX/019Vs+O6SaixBNfCn/ADWqc5pwdxzH04ULfyk6XFP4hC6+DERuWGf9Q90k+JdP4O4F4d/LDIzDHl4cKkNu7ZRoJcRuBFAaVFTewou0t1rTImnw9RGoSolIl2R3xQGu8A4kUI5igXA9ougDiDg6ZY2HWZlf0iDtyS27m+ragf5iFrIXO90uJHgrxx6ZtzCJyTSdNsIXFXDkaIYUHXtMe6tAGzUOrj4DdU+i5cUI7pBHIjC02BoV7Z2La1PxxOaXGeYsjBhCLC3ur7N5O3aOgIqfDbX4iqZuHWtfKJTTNudS9bixBDhihqTYN6FdU7QtPdOdnurwxd7YbY5d+48OcP6Ars8JpiOESvKjB18V8XEMKHF4Z1WFEcNr5KMx1TTulpHzK48M+OSG1o9S1l4Z16Z4b1yW1OVd3oXvsLqe0bgtPn91AeS2mkJyBqGny05Lv3wJiGHscBSxFRVaen3j5ruB7QuIPyLJaTKTf0GVloIhD6NVjn0vUvHer4AgL1ORx/5dS5aZPGNNkZl9GvNbNFfVcLUm5yV4DLcc8TQIrXN1qaiUJIbHd7VriRS4fUHGeXJeo8I8byvElZaMGS8+2/sw4kRR1ZW5P+U5z4jkvxZxx5dtq5Yl20G6FLbimVQG0Fc7QYuvu0w/nneIXw0rdfZpxpHP7p+aT0irlhlUpOSqGFksEDBsgIzZAh7x8km3sntSQCEeqKoBvOyEWTsglNGLo5oDyRRxQBcoQADgaIOUxgpU8UCp3kd2qrbW/RSag1QFGuQW7aJpFoIJQNtFr/2k/X/U/svwmL34WIK8A7Sv9oGqfZfhMW/H7lS7YWbH6bG/iO+ZWOm1ZJu07GHWI75lY6bVlf6lanQQLFFQLph24E9FVJ35KTuqmMJj3cIAYKlUhKiaIrtVJFAhc1OFTfePkpANCqZS9eiVCunhFPFCASxdNLNkCDrrxOYbX/pBhk2yHFAjBzWvaA0n2FYdfEHavbF4HMah9I7emx28tSZLjzaBDK6+JH2yyfp75tAsHEDkSvG+2Pi0lw4Zk4hDWlsWbc05Iu1h+539F6dxPr8Lhnhyc1OLsLoTR7KGcviEUaPU5/ygrVmNGmtV1J8SIXxpmZi7i4+85xPP1K24mLc+cq5r69Q7FwBwueJ+I4UCJDLpKXpFmSBloNmV6uNh4EnktkZ+RhT2jzemGI2DBjy74G5tg1rmkVHWla08VwnAfDX/AFX4Wl5GKxsOceDEmnAfG7/4jaF2QHcdxFD0WPJzzbJqv6Xw0iI1ZrfxX2c6twpBdOxXQ5qRB2mNDaRsrYbmuAofKowujm73E9V7L2m65q2v6u/hbSJOaiQoJb7cQYbj7V/vCw+Fta3y6p5BfHw12Mzk24THEMYScGm76PDcHPPgXYb6V9F30zRFPK8ue2OZtqrq/CPAOpcYtiRpV0KXlYTmw3x4gNNxGGgAlxxUWAqvbuEeBdI4The2lvz885m1028NJb4MFSGehJ6rsGn6dJ6TIw5DT5dsvKwm7WMbQbQc+JcTklfUa1NRQ9Fw5eVNvUdN6Yor32Hc7U8OiQxfCKoyuNq+efnIenaXNz0X/Dl4T4z/AADR/wAgVrPwUyJqvaNpRi9+LEnBGeepBLj8l7n2j6pI6bwTPwpx7mum4boMBrTdzzYfyggl3kOoXh3Z1GdA7QtHfCaTWPt2+Dmlp+4lelxK6xWs58lt2hs+O8akGhuPC1D5jqF03Uey/hXUp9s1FkzBcTWJDl3+zhP82gEt/lIJ5ruQwUDkPC9eQ6rjrlvWdVlvNYntrR2kSWn6XxjMafpkoyWl5aFCaGtJoTsBJNb1O6l+i7z2JSrhpurTFT7OLFYzc4Z2gn/iXnPHs19O461mM2J7QCZcwOPPbRlPSi9A0jjLSOAeBpGRl2MndVmYX0mNDhOG0GIAR7R3KgDLUJ8W5XqZa2tiisOWsxF5mXrGpanI6RJOm9QmoMtBbh0VwaK8gMVNOQBK8c427WDqEOa0vQWASMRjoMaae074rDZwaHe6CCRUgk15Lo3EnFmr8UzDYupzIiBjnOhw2t2sh7qVAA/dFySeq68Glz9rQSeVFTDxYx/lbsvlmfTKGF8ba2nfdalaV5Z81sZwx2baDomlwvp+mwJ2e9nWYiTEMPAdzABq2gPOlV4lwLpjtT440qUcwlomGxIjerWHc4HzAI9Vs1ORfYy7wHDc6m2n3qnMy2rERErYaRMbl51xrwXpuqyEZ2mycCWnZdpdC+jw2tETntIHvbhYdCfNeHyszFlpuFMwXERITg4OBpcGv9lsjqUx9E0udmiaCDBfFr+63/8AS1rlYBmp2DBabxYgYPUgf3V+Na1qT5K5a1iY8Wz4yc+pqgZKL8880hlcFu5dT6JaAI8ZrCTQ3K+mRZsn3sb7oRprPzu4m9DRVKjdqEayymfQ5FCe1LzwqJAN09ySBc0QMkgVS3GmE82SDboD+VBNroRXqgRwgV9eSfokb3vZFgHEGhyn5ZSG6iPNFTQhqBkoBDRlPb0TGEE4sjb1CpSgNv8Alp4o2p324SAqPdQI4K197SPr9qf2X4TFsFSllr92k/X/AFP7L8Ji6OP3Kl2xE0A6cj+ER3zKwLLNEfTo/wDEd8yoPd9Vjf6lanUJDqAg3Takiqqk0IDwBchAc15qDVBQwhKoF60QXWQNClrgQTUFuK9Cj1r4oGaIakKV6qggM2U1o6ipCkSclGLqkjgqAg66184kECQ7cQ+DaG3UZaK8+LtjnfeXLYMYWsPaIf8A8gayakER+tDgUXdwY3MwwzTqIl27tp14zGryuhQogMOVZ7WMBgxHWG7ybQ/zLhOyvQ4uq8YSs06C98pIn20Q0tvodg/eJoR5LpceajzUcxY0Z8SIaVfEduJIFBfyWxfZVo/5I4ElHuaGxZysy/yd7v8ARoYf5l15Z/ixTEMqR5327r3eoPiMLzTi/tNm+GeLm6WNOhOk2Bj4sR5dviNNCSwg0bQVbcOuDheljdQ2p4Lz/tY0GX1HhGPqXsW/TZHZEbFaO+WFwa5viACXeFF53GmJt+UdurJuK+nf2uB2kEEdRgoGF5l2bcfy+oykDQtYjeznobRCgRXHuxm0sCf2rW/ayLr06l+nkq5sdsdtSUtFq7gkIVNWKwascaJDgQ4sWLEZCawEmLEwwUqSfL5EJTUxBlJeJMTEWHChQ2lz3vcGtYB1cbA+JvyC8c4z7VZLVNJ1PSNLl47WRQ2HDm3EN9o3cN9WG7QRUCpNQTYLow4LXt66UteIh0jjbiiJxbxA+YG9snDJZKQXGu1g8P2jk9TQclzvY1pJneMHzzxWDIwXPqPie4bQ31BJ9F5sbuNDW/Si2I7HtIGn8GGeiQ/zs/EMT3aOMNvdA8q7nfzL0c8xjw6hzUjyvuXf4saDKwHR5mLDgwmgl8R7trRT9o8v7ryvirtklZcRZXhxgjRgSPpkQUYDajmty4i9zQClg7K5btb1uU0/hZ2lR4MSLG1EH2bv/DBY5hJJ3A1xZo8/HXY5NFhxePE1i9u2mXJMTqDe8viOcSSSa1Jqf6pC+EgLrv3ZXokhrnGAg6jCZHgwZd8YQH4e4bQAa5sSaf5V32t413LniNzp0HaVzk7pw0/QdMe9v6XO7pih+GCDtZ/UtiE+Aatm4vDuhxmbYmkac9ooRulWbRTwpla79o8+ye441D2Pcl5V4lYbWt2hgYNtAOVw5Y4s9cs+ml6eDtnYlpAj6rqGqub3YEJsBjnixc91SfMBtP5l7RFgw5gAPDnUuDVdU7LtHOj8ByRe3bFnKzMQdQ7H/pDV3Ei//JebyrzOWYdGGNQ877UpiDpHBscQ4jhHnHiCwc6Zd6bQf95ePcESRneMtMhcmRhFNP8AJf8Asuxdrmuu1Xip2nwzSX04FgobOiGm8+fut/lX0dkemGLqGo6o5rtkvCbCY45DnuuR5NaQf3l3Y6/x4NsLW3d6yAAABhNZZdodMBtAKGtsYWMihI6rzfJ1OX04BksHU7xJ/ovqY1rCS1rRbIWKTbSVh+Sy7qW6rJIyhCEBRCMXCGtrUoCiFSlAIQLmiEBTl1TptakilUC3AoRt2oLaipwixiqoYKxtobjkrG6hRUC4IBSb5ItzRk16IKSokgC6Cu7RSnQBLdXGEDOFr52k/X/U/svwmLYJa+9pP1/1P7L8Ji6OP3Kl2w0zafjmnxu+ZWIOFCs80G/S49M+0d8ysAysb/UrU6gI88IFyQEF1AT0VV2KO1r2UtUXWKBMwTMOl2R4f0lrQ4w93fofDosc/qMpIQWxptz2Ne/Y0sbWrsj7l0TWtabqOswJ3S2xIcSFDaGEjvlwLjXaL0AstMePyj2pM6dh1PX5iBqEaFKBrRDBhnc33iL7gPAWXY5eYZNS8KYhglr21FBQU5g+q6uNBm9UZBnjslYsYF0Vj2uaWGu0Gnlf1XZIcH8naYGQGGI6BC7rfEXJoLhTesROkV8v242W1iLF1FslMQGtLomxxa6lOYtzX1Nmp86lMMfBJgNh9w7du41tQ+JsR4LJJwIMUMn40BkGZe0gl5oQeVPML7w4EkV546Ks6/pMJYKQxucN5uaYqqJDWudXwqsUSLsBJo1gNNxzXwV1BibaguArt5gKqTa43q0eCGu7xHdSBDnkbqNbdwHPokIYFu8DWtQb+XkoFbaWRSllDojyS2EwE9Se6PX+yTIXfrFdufTNO4PIcvNBlzQdcV5moFvGhWqXFmpt1fizU9QhQ3Q4caM4ta41IHu386La3pnPM1Wnc7+vR/4jvmV6P+Pr3LDkdQcrBiTc1Dl4TaviPDGjxJoPvIW3cjLQ5KRl5SEKQ4ENsNnk0UHyWsfZ9JGf470iBkCOIp/k7/8AwraM0qaYTn26hGGv7Oq+TUZKHqelzcjF/wAOZhOhP8iKfcCXei+pC4KzqYmHRMbrpqBMwIslNxpeINkaC8seP2XNNLHrZegcM9rOr6JChyuosGoSjRRu99IzB4OGR+8D4FoS7V+GI+mcSx9Tgy7jIztIhiBtWMiGzmuPwmve8dy82OSL+q9uK0y1/JwzM0s2Qlu13hGPAc+JMx5d4H+FFl3Em/VgcLeYWQdrHBrojx+UogDfiMs/vADAO03J60HitaULP/TxL/zWd6424/nuLY/sYb3S2mQ3fm5e3ev7z6WJ505eOV0Y5KS5TSNJndbnoUlp8s6PMPFmtFbVuT0A6reta0hnMzaV6Fo81r+qS+mycPdGjO21dZrBze48mgXPktrNPkYGm6bLSMBpZBl4bYbA67qNFBU9bLrfA3BMtwhph3hsfUYzPz0UDP8AptP7HX9rN8DtnrXx6ryuVm/knxr1DrxU1Dyntzk3P0TS53bX2Ud7Cem4f/wvC+a251vRZLiDSI2nagx7oMS4cxxa6GRcPa42Dhip5W8HeR6p2I6k2M92m6nKTDKkhsZpgu9A0OH3hdPFz08IiZZZMczO3kWF6L2Mv2cdNb/5ktEb/wC0/wBlcLsg4uiDY8ScOG0uLd8xVuLkAA3t0Xo3Z/2dM4TMSdnozJnUYjTDaYYq2EytTTcKk925AtihuVtmzU8ZiJVx0tFtzDtWvarD0Th+e1OJtIloLojGvNnup3W+riAPNarNe6amnPiiLGc9xe+nvnJccGlrk0K9j7bNf9lJSmgwInfmHCPHaw4YCdo9XX9Ar7IeEDJSJ4gn4e2LMQ9so0t9yGcvNf2sDoKn4ljgmuLFN5/a14m99Q+WW7bZKEIcE8OxIUFjdoDJkO2gWAHcavk1TtsmJiUiQNM0wQIjwW+1jRi+lcnaAPTvGnz7vr/Zjw5r0R8YSzpGZdWsWUG0V6uae6fQeq841bsa12TbEfp8eW1Bgu1jT7OK8Wr3XW/o6vgmO3Htbc9lq3rGnm8eJFmZh8WK98SLFeXOc67nuJua8zVbBcB6P+ROBZGC9obHnKzUTr3sA/yhq6Twn2T6nPTcOZ1yH9EkWkfmNwc+Pf3RtrtqRk38DlewT5d9IaGjuhtGUpT7lHKzV14VMVJj3LFK2judtptaVgyHHoV9siwOMW/e22C+Yw4jfeYW+i4KuhzEo4Ol2U5ZWYCpBOFwstMulohIBLTYtPzXLS8ZseDvbUDFlnauk1llGSlVVTwSpy6pWAtyBzQG0KEBVH3IDbFAqgBn3k9tLpDdUoQCFQwlyKBX5JG9ihCAv4J25lIZKaA8kJmwqkCHICpCM3QgUJogExz8kkUQDQtf+0n6/wCp/ZfhMWwArVa/9pP1/wBT+y/CYt+P3Kl2w00P0yP/ABHfMrEW2ssk3+uR/wB93zKxLK/1K1Pkg11VD7mhCyZsoefZhzib4CqlgJgsbGMwGGA0Fz2uAILaXBr4VXTNNM4/TJ6f00wWzkWPuLGFodChgOcdn7Na08aLm+JIsSHw3NbGmryIbyB7rCak+v8AxLh4MrBgcR6XClw6HulN8ctvvq11a+YoPRdWKPTO0+3I8KatqGowo30qOIkOAGtc97bnduI+S7ESDvfu2t2mrrACh94nlTC880V/spaeduO1rob7Gn7QWTUYOoPMGVhTr4sCO0kQCXDY2ty4CxHQlTbHFp2tW06c5xOxmoyx9m0OMGE6IyI0k7Xd2ra+LaFY9BjR590nHiRIhaITt53OIAaaD+q4/R9OdKzrGRZ2IYMQOhPbCa4tO4UIJNBzGAVzHDcRsLRnQK7Y0GPEZFa407xxRLV8a6KxM2cxNPbLkxNwYGs2srdrL3o3kfFfRCLBBqHAA5duu6q4H6ARqD5iBNu+iRCTMSzxuHm08jXauQZHbLB8R5Aa2HvLnGgAFljNP6a1pbW5cmxghs2sFA01VC1QTuHyXyMZ9L9nH9u18D3mthGgcDg7ua+ptDcGo69VlKgptw5MYKDVAwgmpuSQL1BPIgf3BWu/aPwfG4a1t85Bgl+mzUYvgvAuxxJJhnp4dRi4ctiBc0WGckJbUJKNKTkFkaXiikRkRtQ7xve3IjG1dGDPbFb30rkx+VWvPZEN3aFKu/04vKnwFbGrrmgcDaDw3OxJvTpWIyZLDDER73RCwE17tfmux+QAHQGv3pyctctt1VxV8Y1IGVSkZQudowT8hKapJRpOfl2RpSIAIkN+HAOBrbFwKH/KvGeKexqalXPmuHYn0mDTd9Eike0Z12k2d60PSq9tTGCtcOe+OfXSl8cWafTUnMycw+BMwIkGM33mRWFrh6G6+mQ0jUdVimHp0lMTMQADbBhueR50rT1oFtjGk5SacwzMrAj7Lj2kMPI9SLLLBhw4LA1jGtYBQNY0U87Lsnnxr1DKOP8A+vE+GexmZjuZM8Qxfo8ACv0aE4GI7wcbho8qk+C9g03SdO0eWEvpsnBlYIAH5pgYT58yfEr7eaZFly5M98nctq4616TfqmDa6TuSCcLBY8XRuSa7Kn40FnksE7OQNPkY03MvayBBYYsR7vhDb1HiLf1WYG5XQuPtM4h4qm4GgafKvg6WXNiTU694DSegbuFQBelO8QP2arXDWLW99ImZiPTonD2izPaVxzN6xqMN7dNZFrEBtYWZCr4ADd0AJ5he7sa1jGtaAGtAAAGAvg0XRJTQdIl9NkYRbCgtLakbi9xy537RP3LkQCTUYOFbPlm86r8ox11GxmwQMoDrlqBQEhYLHtyvmmpQzJZRwDh16L6KkOoqSPQ46XkYsKM14e07chvML76A2IFE+tEgnkFsYXEbG46JsY1o2htOadU+SCRlUhtLoQCRymMFHxeiAAFCpDb81TcFCCRkoTqluQUMKUJipqPBAfCaKWitapta6iYNAUCaNqEBye4GyBbroLr4S7qbQ13PCB7ktvxJ7aXS3VsgZuEkVPRUMIJGVr/2lf7QNU+y/CYtgNt1r/2k/X/U/svwmLfj9ypdsNNN/S4/8R3zKw7Vmm/1uPf43fMrCsr/AFK1PkJ+yLmgk0Ya56rFFiw5aG6NHiMhQm03PcQB4VqsTtf0mHDO/UpU7HCweK+gblTSm07hwfFo+jcPRGF4L4sVrGknI94/0ouJnPZsnYc9Lxi6FISzRFjN90vDCGwx4kuJK+ziHU9N16UMlIwpuZmW1dDdCh0aHG3e8CB09UTcDUp7SYWnukZOQhj84BV1O7gWBFSdxuV1V1WPbO0bn06/p0SHJ6RMRYsJ0R0SIGs2OztaTfqO8LLkmTsCJFdC02WjzEy8EuO0MaSMWvRoHiFcDR5+DKCA3VYLYcMlrWeyLm1NzfblYnQ9WhiJKwdUhvd7IxHMhtcDtpz7qtW1ZPG0OPlY2qTuoPMrG9m5gJcWu2thsBp6hc9IQpmRjz0rORGRZhxbMOeMPDrH1quPgy81EkzOyMzCfGZE2xoO1tIhpQZzY0oc0qF9cWIxs5KxnO7r/wBGjODqgB1w70dUKZjbXDX/ALl9E5PRZfTXNhCK6ajuEKEBlzq3d6YPmFyE1Cm3wZj2X0NjIbCyYiRQ407u4hjRawNanquvvmZiX1WFqUUshy0CZEs32g3BovueB1pUVWfU44HDknOOgOiOiB8T2b2ksZuLtzzTJFWi9hVV8dLZMkzM+LlOGIsyyBDk5qdhvcJdkSHLNhUMJhwS6macl2Frgcfcur6Jp87pP56NFhtL4VHwmuLi48nPdiwtQWXPwola0JHQDksMkRv0jHS3j7fUN1SqOFhhuJcQXXWUELKa6jZNdEKA1KDc902VFrTdSqqnVAddK/VFUFqUNcqQI4SqmSk01BQAyhJCBjKEN94+SKIDmk7KaVOiAGCpxdVtRStkWA20R3UbUID/AO3QRbKbeaPRFUgUVAVNUr/spjF0AmMFIZsqQTVHllArUoQCYwUt1bISoFQwhqDlWkCV01KqKb4oQ3BQgVEE0CSXxHyQAdYptcaJV5IAoaFA0BtigFrSmXNQJre8fJAbdG2grXKED2oFQCLJc0IBo25Sc4cgqOFIbeyBt3UugVqjcBZxQNtUAtfu0n6/6n9l+ExbArX7tJ+v+p/ZfhMW/H7lS7YWbdSdjj/Ud8ysQuaLNN/rkf8Afd8ysKyv9StT5dc4ubBiwZWFMRYrGb3PDWgFr6Np3v629VwuiSOix52FDiNiRy5wZtiupU0r7ot/VdyntPgahAMKZZubyNaEeS+XTdHltJ9o4P3OcbRIgu0efNaUyeNdHhudvn18PlZKWg6fCbBZFjta5jGBrQzJ3Bub0r4VXJTUGFq8s1rhWXcNxibKmnPYeRrlVPNgGTiPjQTFYxpfsaO8aClvAc19EB0KJLtfCDfZFopswFWb7rBEOqTX5Y0IiLB/TNOe4j2URo3Mr7odzpW4I9VxrtUk9OhvoZiYm4r/AGkYtoC8g90br1AHQLtuuSjJzSIsD85dzSPZ+8b3XESWhybXw2y0F8KYdDERxjN3OYCdoNcCv9VtXJGvaKxPlrbgwzVY+pPnoEtDlxGaG7HANa4G3um9fFckZBzpSLBiM9jEjizj8MXLaetVj1bTJiSf7WM8uY41c7FCvjfORopbujOcGmoq6qRlnfrp3Y8NfepfU/ZrGiwxHcIT2vo40uyILOPqCuQivgTUlLyxeWSrXNc+GxtTEa0WaTyHNcUHtZPNMQ/mJ9tHH9mKMH1/4l9ohQg4QX7i5trYPmt6/kYKUtuLR7cm/VGxNsw4h0IvDXuH/hn4XfuVt5q4Mb86W1o4Wp0XwthtdBiwWQC9haQ4NFiaVH9EQowbGO60R/M4WXhEW9y1ri/rp2KWPtGHdtqOizWbndUr5NPDnQTELtxfgZsvrDrlY5batMV6cmT1aYFw2oSDrWyr95vKyiixZGHOrdPBqkmiQnU7UHCk1oio+G6TcIbeybbOcKIGKIQ1UgkC+U9vinzQfFBKYsCUxhI3sgQoqUhtlXJAilRVbml3UCGVVE2ocgnam1ShBVMoCBhT6IKwhTRFaIHyKVFXJBwmwNQMlTRVyUyBK6SFAExgorRqQduFkBWiW6l0G9khRA83GUxhFEIAm10NRSpTt7qBC5IToW4uppSyaAGbpm9+iQzfCduaBDF8Jd0ghMZsni9ECbcEJjBQHNoaZSFBcoCi1+7Sfr/qf2X4TFsDzstf+0r/AGgap9l+Exb8fuVLthJs/psf+I75lYuSELKfqVqfJAXC+eclWTBY+K59IL/aANOaBCFEdr/8s8tEbMyrYoB2vaDtd4rKIYYwbbACwQhFUGrWEihIBz5rCwu+nFrg3eYY7w6bsIQlSOlRJaHMu2xBuJFgfd9Qul8RSMjJTZgwoJhxiC95hmjM8m9UIWuPtpDjpVhn4T5SIbRKvhn9ghZxPRWy0o+K1j4hc1j3ftAOoEIXTHSaT+bs89JmWlWshvo009qP262XGQZer42924h4oUIWE9O+ny5jTaS0tHiOG4hwpS3JfVKzzI59kWOBItR1vVCFlPcuS/1L7QKhGEIVHMYwUqIQgOaZQhBOQSmz3/RCED5lKvdCEIDohCEqBM2FUIQJvNCEIGMFJqEIBFEIQM4Q1CEATcoAQhA6IQhBKoYQhAqpIQgEIQgDySzfohCAGfNCEIDPohpyhCBoQhAjhAwhCChhJCEAgZQhACxKEIQC1+7Sfr/qf2X4TEIW/H7lS7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83948" y="2472889"/>
            <a:ext cx="1798803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设计模式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四个境界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90863" y="5229994"/>
            <a:ext cx="7776864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没学之前一点不懂，想不到用设计模式，代码质量差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90863" y="4005858"/>
            <a:ext cx="7776864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学了几个，刻意追求使用，误用而不自知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90863" y="2781722"/>
            <a:ext cx="7776864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全部学完，容易混淆，有困惑，不敢乱用，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不识庐山真面目，只缘身在此山中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90863" y="1485578"/>
            <a:ext cx="7776864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灵活应用，此时无招胜有招，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会当凌绝顶，一览众山小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7" grpId="0" animBg="1"/>
    </p:bld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3503</Words>
  <Application>WPS 演示</Application>
  <PresentationFormat>Custom</PresentationFormat>
  <Paragraphs>204</Paragraphs>
  <Slides>18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Eras Bold ITC</vt:lpstr>
      <vt:lpstr>楷体_GB2312</vt:lpstr>
      <vt:lpstr>新宋体</vt:lpstr>
      <vt:lpstr>黑体</vt:lpstr>
      <vt:lpstr>Times New Roman</vt:lpstr>
      <vt:lpstr>Tahoma</vt:lpstr>
      <vt:lpstr>隶书</vt:lpstr>
      <vt:lpstr>Arial</vt:lpstr>
      <vt:lpstr>Roboto condensed</vt:lpstr>
      <vt:lpstr>Segoe Print</vt:lpstr>
      <vt:lpstr>Tahoma</vt:lpstr>
      <vt:lpstr>Times New Roman</vt:lpstr>
      <vt:lpstr>Arial Unicode MS</vt:lpstr>
      <vt:lpstr>Calibri</vt:lpstr>
      <vt:lpstr>第一PPT，www.1ppt.com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156</cp:revision>
  <dcterms:created xsi:type="dcterms:W3CDTF">2014-08-23T07:50:00Z</dcterms:created>
  <dcterms:modified xsi:type="dcterms:W3CDTF">2024-09-01T15:29:43Z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C1CB5DFFCD3249DCBD9130F7253A8292_12</vt:lpwstr>
  </property>
  <property fmtid="{D5CDD505-2E9C-101B-9397-08002B2CF9AE}" pid="3" name="KSOProductBuildVer">
    <vt:lpwstr>2052-12.1.0.17827</vt:lpwstr>
  </property>
</Properties>
</file>