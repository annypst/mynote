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2" r:id="rId3"/>
    <p:sldId id="437" r:id="rId5"/>
    <p:sldId id="436" r:id="rId6"/>
    <p:sldId id="456" r:id="rId7"/>
    <p:sldId id="457" r:id="rId8"/>
    <p:sldId id="458" r:id="rId9"/>
    <p:sldId id="459" r:id="rId10"/>
    <p:sldId id="455" r:id="rId11"/>
    <p:sldId id="460" r:id="rId12"/>
    <p:sldId id="438" r:id="rId13"/>
    <p:sldId id="439" r:id="rId14"/>
    <p:sldId id="440" r:id="rId15"/>
    <p:sldId id="441" r:id="rId16"/>
    <p:sldId id="442" r:id="rId17"/>
    <p:sldId id="443" r:id="rId18"/>
    <p:sldId id="444" r:id="rId19"/>
    <p:sldId id="445" r:id="rId20"/>
    <p:sldId id="446" r:id="rId21"/>
    <p:sldId id="447" r:id="rId22"/>
    <p:sldId id="461" r:id="rId23"/>
    <p:sldId id="462" r:id="rId24"/>
    <p:sldId id="464" r:id="rId25"/>
    <p:sldId id="469" r:id="rId26"/>
    <p:sldId id="448" r:id="rId27"/>
    <p:sldId id="467" r:id="rId28"/>
    <p:sldId id="466" r:id="rId29"/>
    <p:sldId id="465" r:id="rId30"/>
    <p:sldId id="449" r:id="rId31"/>
    <p:sldId id="450" r:id="rId32"/>
    <p:sldId id="451" r:id="rId33"/>
    <p:sldId id="452" r:id="rId34"/>
    <p:sldId id="453" r:id="rId35"/>
    <p:sldId id="454" r:id="rId36"/>
    <p:sldId id="468" r:id="rId37"/>
  </p:sldIdLst>
  <p:sldSz cx="12198350" cy="6859270"/>
  <p:notesSz cx="6858000" cy="9144000"/>
  <p:custDataLst>
    <p:tags r:id="rId41"/>
  </p:custDataLst>
  <p:defaultText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guide id="3" pos="304" userDrawn="1">
          <p15:clr>
            <a:srgbClr val="A4A3A4"/>
          </p15:clr>
        </p15:guide>
        <p15:guide id="4" pos="1892" userDrawn="1">
          <p15:clr>
            <a:srgbClr val="A4A3A4"/>
          </p15:clr>
        </p15:guide>
        <p15:guide id="5" pos="12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A"/>
    <a:srgbClr val="005DA2"/>
    <a:srgbClr val="FFC400"/>
    <a:srgbClr val="FFD347"/>
    <a:srgbClr val="FFC91D"/>
    <a:srgbClr val="0071C1"/>
    <a:srgbClr val="4144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9" autoAdjust="0"/>
    <p:restoredTop sz="92638" autoAdjust="0"/>
  </p:normalViewPr>
  <p:slideViewPr>
    <p:cSldViewPr showGuides="1">
      <p:cViewPr varScale="1">
        <p:scale>
          <a:sx n="105" d="100"/>
          <a:sy n="105" d="100"/>
        </p:scale>
        <p:origin x="-684" y="-96"/>
      </p:cViewPr>
      <p:guideLst>
        <p:guide orient="horz" pos="2160"/>
        <p:guide pos="3842"/>
        <p:guide pos="304"/>
        <p:guide pos="1892"/>
        <p:guide pos="1211"/>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7.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62AE03-6EE8-41FD-8A37-86C6BC5E264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21FD59-C920-460C-B1C9-0346C59420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835" rtl="0" eaLnBrk="1" latinLnBrk="0" hangingPunct="1">
      <a:defRPr sz="1600" kern="1200">
        <a:solidFill>
          <a:schemeClr val="tx1"/>
        </a:solidFill>
        <a:latin typeface="+mn-lt"/>
        <a:ea typeface="+mn-ea"/>
        <a:cs typeface="+mn-cs"/>
      </a:defRPr>
    </a:lvl1pPr>
    <a:lvl2pPr marL="609600" algn="l" defTabSz="1219835" rtl="0" eaLnBrk="1" latinLnBrk="0" hangingPunct="1">
      <a:defRPr sz="1600" kern="1200">
        <a:solidFill>
          <a:schemeClr val="tx1"/>
        </a:solidFill>
        <a:latin typeface="+mn-lt"/>
        <a:ea typeface="+mn-ea"/>
        <a:cs typeface="+mn-cs"/>
      </a:defRPr>
    </a:lvl2pPr>
    <a:lvl3pPr marL="1219835" algn="l" defTabSz="1219835" rtl="0" eaLnBrk="1" latinLnBrk="0" hangingPunct="1">
      <a:defRPr sz="1600" kern="1200">
        <a:solidFill>
          <a:schemeClr val="tx1"/>
        </a:solidFill>
        <a:latin typeface="+mn-lt"/>
        <a:ea typeface="+mn-ea"/>
        <a:cs typeface="+mn-cs"/>
      </a:defRPr>
    </a:lvl3pPr>
    <a:lvl4pPr marL="1829435" algn="l" defTabSz="1219835" rtl="0" eaLnBrk="1" latinLnBrk="0" hangingPunct="1">
      <a:defRPr sz="1600" kern="1200">
        <a:solidFill>
          <a:schemeClr val="tx1"/>
        </a:solidFill>
        <a:latin typeface="+mn-lt"/>
        <a:ea typeface="+mn-ea"/>
        <a:cs typeface="+mn-cs"/>
      </a:defRPr>
    </a:lvl4pPr>
    <a:lvl5pPr marL="2439035" algn="l" defTabSz="1219835" rtl="0" eaLnBrk="1" latinLnBrk="0" hangingPunct="1">
      <a:defRPr sz="1600" kern="1200">
        <a:solidFill>
          <a:schemeClr val="tx1"/>
        </a:solidFill>
        <a:latin typeface="+mn-lt"/>
        <a:ea typeface="+mn-ea"/>
        <a:cs typeface="+mn-cs"/>
      </a:defRPr>
    </a:lvl5pPr>
    <a:lvl6pPr marL="3049270" algn="l" defTabSz="1219835" rtl="0" eaLnBrk="1" latinLnBrk="0" hangingPunct="1">
      <a:defRPr sz="1600" kern="1200">
        <a:solidFill>
          <a:schemeClr val="tx1"/>
        </a:solidFill>
        <a:latin typeface="+mn-lt"/>
        <a:ea typeface="+mn-ea"/>
        <a:cs typeface="+mn-cs"/>
      </a:defRPr>
    </a:lvl6pPr>
    <a:lvl7pPr marL="3658870" algn="l" defTabSz="1219835" rtl="0" eaLnBrk="1" latinLnBrk="0" hangingPunct="1">
      <a:defRPr sz="1600" kern="1200">
        <a:solidFill>
          <a:schemeClr val="tx1"/>
        </a:solidFill>
        <a:latin typeface="+mn-lt"/>
        <a:ea typeface="+mn-ea"/>
        <a:cs typeface="+mn-cs"/>
      </a:defRPr>
    </a:lvl7pPr>
    <a:lvl8pPr marL="4268470" algn="l" defTabSz="1219835" rtl="0" eaLnBrk="1" latinLnBrk="0" hangingPunct="1">
      <a:defRPr sz="1600" kern="1200">
        <a:solidFill>
          <a:schemeClr val="tx1"/>
        </a:solidFill>
        <a:latin typeface="+mn-lt"/>
        <a:ea typeface="+mn-ea"/>
        <a:cs typeface="+mn-cs"/>
      </a:defRPr>
    </a:lvl8pPr>
    <a:lvl9pPr marL="4878705" algn="l" defTabSz="121983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5" name="直接连接符 4"/>
          <p:cNvCxnSpPr/>
          <p:nvPr userDrawn="1"/>
        </p:nvCxnSpPr>
        <p:spPr>
          <a:xfrm>
            <a:off x="1562671" y="693490"/>
            <a:ext cx="10635679"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2511" y="0"/>
            <a:ext cx="1155204" cy="1100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advTm="0">
    <p:wip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4" name="页脚占位符 3"/>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5" name="灯片编号占位符 4"/>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3" name="页脚占位符 2"/>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4" name="灯片编号占位符 3"/>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920" y="273112"/>
            <a:ext cx="4013173" cy="116232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9216" y="273114"/>
            <a:ext cx="6819216" cy="5854469"/>
          </a:xfrm>
          <a:prstGeom prst="rect">
            <a:avLst/>
          </a:prstGeom>
        </p:spPr>
        <p:txBody>
          <a:bodyPr lIns="121963" tIns="60981" rIns="121963" bIns="60981"/>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920" y="1435434"/>
            <a:ext cx="4013173" cy="46921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962" y="4801712"/>
            <a:ext cx="7319010" cy="566870"/>
          </a:xfrm>
          <a:prstGeom prst="rect">
            <a:avLst/>
          </a:prstGeom>
        </p:spPr>
        <p:txBody>
          <a:bodyPr lIns="121963" tIns="60981" rIns="121963" bIns="60981" anchor="b"/>
          <a:lstStyle>
            <a:lvl1pPr algn="l">
              <a:defRPr sz="27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90962" y="612916"/>
            <a:ext cx="7319010" cy="4115753"/>
          </a:xfrm>
          <a:prstGeom prst="rect">
            <a:avLst/>
          </a:prstGeom>
        </p:spPr>
        <p:txBody>
          <a:bodyPr lIns="121963" tIns="60981" rIns="121963" bIns="60981"/>
          <a:lstStyle>
            <a:lvl1pPr marL="0" indent="0">
              <a:buNone/>
              <a:defRPr sz="4300"/>
            </a:lvl1pPr>
            <a:lvl2pPr marL="609600" indent="0">
              <a:buNone/>
              <a:defRPr sz="3700"/>
            </a:lvl2pPr>
            <a:lvl3pPr marL="1219835" indent="0">
              <a:buNone/>
              <a:defRPr sz="3200"/>
            </a:lvl3pPr>
            <a:lvl4pPr marL="1829435" indent="0">
              <a:buNone/>
              <a:defRPr sz="2700"/>
            </a:lvl4pPr>
            <a:lvl5pPr marL="2439035" indent="0">
              <a:buNone/>
              <a:defRPr sz="2700"/>
            </a:lvl5pPr>
            <a:lvl6pPr marL="3049270" indent="0">
              <a:buNone/>
              <a:defRPr sz="2700"/>
            </a:lvl6pPr>
            <a:lvl7pPr marL="3658870" indent="0">
              <a:buNone/>
              <a:defRPr sz="2700"/>
            </a:lvl7pPr>
            <a:lvl8pPr marL="4268470" indent="0">
              <a:buNone/>
              <a:defRPr sz="2700"/>
            </a:lvl8pPr>
            <a:lvl9pPr marL="4878705" indent="0">
              <a:buNone/>
              <a:defRPr sz="2700"/>
            </a:lvl9pPr>
          </a:lstStyle>
          <a:p>
            <a:endParaRPr lang="zh-CN" altLang="en-US"/>
          </a:p>
        </p:txBody>
      </p:sp>
      <p:sp>
        <p:nvSpPr>
          <p:cNvPr id="4" name="文本占位符 3"/>
          <p:cNvSpPr>
            <a:spLocks noGrp="1"/>
          </p:cNvSpPr>
          <p:nvPr>
            <p:ph type="body" sz="half" idx="2"/>
          </p:nvPr>
        </p:nvSpPr>
        <p:spPr>
          <a:xfrm>
            <a:off x="2390962" y="5368581"/>
            <a:ext cx="7319010" cy="805049"/>
          </a:xfrm>
          <a:prstGeom prst="rect">
            <a:avLst/>
          </a:prstGeom>
        </p:spPr>
        <p:txBody>
          <a:bodyPr lIns="121963" tIns="60981" rIns="121963" bIns="60981"/>
          <a:lstStyle>
            <a:lvl1pPr marL="0" indent="0">
              <a:buNone/>
              <a:defRPr sz="1900"/>
            </a:lvl1pPr>
            <a:lvl2pPr marL="609600" indent="0">
              <a:buNone/>
              <a:defRPr sz="1600"/>
            </a:lvl2pPr>
            <a:lvl3pPr marL="1219835" indent="0">
              <a:buNone/>
              <a:defRPr sz="1300"/>
            </a:lvl3pPr>
            <a:lvl4pPr marL="1829435" indent="0">
              <a:buNone/>
              <a:defRPr sz="1200"/>
            </a:lvl4pPr>
            <a:lvl5pPr marL="2439035" indent="0">
              <a:buNone/>
              <a:defRPr sz="1200"/>
            </a:lvl5pPr>
            <a:lvl6pPr marL="3049270" indent="0">
              <a:buNone/>
              <a:defRPr sz="1200"/>
            </a:lvl6pPr>
            <a:lvl7pPr marL="3658870" indent="0">
              <a:buNone/>
              <a:defRPr sz="1200"/>
            </a:lvl7pPr>
            <a:lvl8pPr marL="4268470" indent="0">
              <a:buNone/>
              <a:defRPr sz="1200"/>
            </a:lvl8pPr>
            <a:lvl9pPr marL="4878705" indent="0">
              <a:buNone/>
              <a:defRPr sz="12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6" name="页脚占位符 5"/>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7" name="灯片编号占位符 6"/>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918" y="274702"/>
            <a:ext cx="10978515" cy="1143265"/>
          </a:xfrm>
          <a:prstGeom prst="rect">
            <a:avLst/>
          </a:prstGeom>
        </p:spPr>
        <p:txBody>
          <a:bodyPr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1600572"/>
            <a:ext cx="10978515" cy="4527011"/>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804" y="206422"/>
            <a:ext cx="2744629" cy="4388867"/>
          </a:xfrm>
          <a:prstGeom prst="rect">
            <a:avLst/>
          </a:prstGeom>
        </p:spPr>
        <p:txBody>
          <a:bodyPr vert="eaVert" lIns="121963" tIns="60981" rIns="121963" bIns="60981"/>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918" y="206422"/>
            <a:ext cx="8030580" cy="4388867"/>
          </a:xfrm>
          <a:prstGeom prst="rect">
            <a:avLst/>
          </a:prstGeom>
        </p:spPr>
        <p:txBody>
          <a:bodyPr vert="eaVert" lIns="121963" tIns="60981" rIns="121963" bIns="6098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609917" y="6357822"/>
            <a:ext cx="2846282" cy="365210"/>
          </a:xfrm>
          <a:prstGeom prst="rect">
            <a:avLst/>
          </a:prstGeom>
        </p:spPr>
        <p:txBody>
          <a:bodyPr lIns="121963" tIns="60981" rIns="121963" bIns="60981"/>
          <a:lstStyle/>
          <a:p>
            <a:fld id="{DF659192-60C8-49F5-94DF-1E29C3FCC85C}" type="datetimeFigureOut">
              <a:rPr lang="zh-CN" altLang="en-US" smtClean="0"/>
            </a:fld>
            <a:endParaRPr lang="zh-CN" altLang="en-US"/>
          </a:p>
        </p:txBody>
      </p:sp>
      <p:sp>
        <p:nvSpPr>
          <p:cNvPr id="5" name="页脚占位符 4"/>
          <p:cNvSpPr>
            <a:spLocks noGrp="1"/>
          </p:cNvSpPr>
          <p:nvPr>
            <p:ph type="ftr" sz="quarter" idx="11"/>
          </p:nvPr>
        </p:nvSpPr>
        <p:spPr>
          <a:xfrm>
            <a:off x="4167770" y="6357822"/>
            <a:ext cx="3862811" cy="365210"/>
          </a:xfrm>
          <a:prstGeom prst="rect">
            <a:avLst/>
          </a:prstGeom>
        </p:spPr>
        <p:txBody>
          <a:bodyPr lIns="121963" tIns="60981" rIns="121963" bIns="60981"/>
          <a:lstStyle/>
          <a:p>
            <a:endParaRPr lang="zh-CN" altLang="en-US"/>
          </a:p>
        </p:txBody>
      </p:sp>
      <p:sp>
        <p:nvSpPr>
          <p:cNvPr id="6" name="灯片编号占位符 5"/>
          <p:cNvSpPr>
            <a:spLocks noGrp="1"/>
          </p:cNvSpPr>
          <p:nvPr>
            <p:ph type="sldNum" sz="quarter" idx="12"/>
          </p:nvPr>
        </p:nvSpPr>
        <p:spPr>
          <a:xfrm>
            <a:off x="8742151" y="6357822"/>
            <a:ext cx="2846282" cy="365210"/>
          </a:xfrm>
          <a:prstGeom prst="rect">
            <a:avLst/>
          </a:prstGeom>
        </p:spPr>
        <p:txBody>
          <a:bodyPr lIns="121963" tIns="60981" rIns="121963" bIns="60981"/>
          <a:lstStyle/>
          <a:p>
            <a:fld id="{EB730883-2733-4EB0-9793-894FF9D50112}" type="slidenum">
              <a:rPr lang="zh-CN" altLang="en-US" smtClean="0"/>
            </a:fld>
            <a:endParaRPr lang="zh-CN" altLang="en-US"/>
          </a:p>
        </p:txBody>
      </p:sp>
    </p:spTree>
  </p:cSld>
  <p:clrMapOvr>
    <a:masterClrMapping/>
  </p:clrMapOvr>
  <p:transition spd="slow" advTm="0">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spd="slow" advTm="0">
    <p:wip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slow" advTm="0">
    <p:wipe/>
  </p:transition>
  <p:timing>
    <p:tnLst>
      <p:par>
        <p:cTn id="1" dur="indefinite" restart="never" nodeType="tmRoot"/>
      </p:par>
    </p:tnLst>
  </p:timing>
  <p:txStyles>
    <p:titleStyle>
      <a:lvl1pPr algn="ctr" defTabSz="1219835"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835" rtl="0" eaLnBrk="1" latinLnBrk="0" hangingPunct="1">
        <a:defRPr sz="2400" kern="1200">
          <a:solidFill>
            <a:schemeClr val="tx1"/>
          </a:solidFill>
          <a:latin typeface="+mn-lt"/>
          <a:ea typeface="+mn-ea"/>
          <a:cs typeface="+mn-cs"/>
        </a:defRPr>
      </a:lvl1pPr>
      <a:lvl2pPr marL="609600" algn="l" defTabSz="1219835" rtl="0" eaLnBrk="1" latinLnBrk="0" hangingPunct="1">
        <a:defRPr sz="2400" kern="1200">
          <a:solidFill>
            <a:schemeClr val="tx1"/>
          </a:solidFill>
          <a:latin typeface="+mn-lt"/>
          <a:ea typeface="+mn-ea"/>
          <a:cs typeface="+mn-cs"/>
        </a:defRPr>
      </a:lvl2pPr>
      <a:lvl3pPr marL="1219835" algn="l" defTabSz="1219835" rtl="0" eaLnBrk="1" latinLnBrk="0" hangingPunct="1">
        <a:defRPr sz="2400" kern="1200">
          <a:solidFill>
            <a:schemeClr val="tx1"/>
          </a:solidFill>
          <a:latin typeface="+mn-lt"/>
          <a:ea typeface="+mn-ea"/>
          <a:cs typeface="+mn-cs"/>
        </a:defRPr>
      </a:lvl3pPr>
      <a:lvl4pPr marL="1829435" algn="l" defTabSz="1219835" rtl="0" eaLnBrk="1" latinLnBrk="0" hangingPunct="1">
        <a:defRPr sz="2400" kern="1200">
          <a:solidFill>
            <a:schemeClr val="tx1"/>
          </a:solidFill>
          <a:latin typeface="+mn-lt"/>
          <a:ea typeface="+mn-ea"/>
          <a:cs typeface="+mn-cs"/>
        </a:defRPr>
      </a:lvl4pPr>
      <a:lvl5pPr marL="2439035" algn="l" defTabSz="1219835" rtl="0" eaLnBrk="1" latinLnBrk="0" hangingPunct="1">
        <a:defRPr sz="2400" kern="1200">
          <a:solidFill>
            <a:schemeClr val="tx1"/>
          </a:solidFill>
          <a:latin typeface="+mn-lt"/>
          <a:ea typeface="+mn-ea"/>
          <a:cs typeface="+mn-cs"/>
        </a:defRPr>
      </a:lvl5pPr>
      <a:lvl6pPr marL="3049270" algn="l" defTabSz="1219835" rtl="0" eaLnBrk="1" latinLnBrk="0" hangingPunct="1">
        <a:defRPr sz="2400" kern="1200">
          <a:solidFill>
            <a:schemeClr val="tx1"/>
          </a:solidFill>
          <a:latin typeface="+mn-lt"/>
          <a:ea typeface="+mn-ea"/>
          <a:cs typeface="+mn-cs"/>
        </a:defRPr>
      </a:lvl6pPr>
      <a:lvl7pPr marL="3658870" algn="l" defTabSz="1219835" rtl="0" eaLnBrk="1" latinLnBrk="0" hangingPunct="1">
        <a:defRPr sz="2400" kern="1200">
          <a:solidFill>
            <a:schemeClr val="tx1"/>
          </a:solidFill>
          <a:latin typeface="+mn-lt"/>
          <a:ea typeface="+mn-ea"/>
          <a:cs typeface="+mn-cs"/>
        </a:defRPr>
      </a:lvl7pPr>
      <a:lvl8pPr marL="4268470" algn="l" defTabSz="1219835" rtl="0" eaLnBrk="1" latinLnBrk="0" hangingPunct="1">
        <a:defRPr sz="2400" kern="1200">
          <a:solidFill>
            <a:schemeClr val="tx1"/>
          </a:solidFill>
          <a:latin typeface="+mn-lt"/>
          <a:ea typeface="+mn-ea"/>
          <a:cs typeface="+mn-cs"/>
        </a:defRPr>
      </a:lvl8pPr>
      <a:lvl9pPr marL="4878705" algn="l" defTabSz="121983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screen"/>
          <a:stretch>
            <a:fillRect/>
          </a:stretch>
        </p:blipFill>
        <p:spPr>
          <a:xfrm>
            <a:off x="-616" y="-26590"/>
            <a:ext cx="12193647" cy="6860642"/>
          </a:xfrm>
          <a:prstGeom prst="rect">
            <a:avLst/>
          </a:prstGeom>
        </p:spPr>
      </p:pic>
      <p:cxnSp>
        <p:nvCxnSpPr>
          <p:cNvPr id="25" name="直接连接符 24"/>
          <p:cNvCxnSpPr/>
          <p:nvPr/>
        </p:nvCxnSpPr>
        <p:spPr>
          <a:xfrm>
            <a:off x="5327222" y="4390123"/>
            <a:ext cx="6028912"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582825" y="455097"/>
            <a:ext cx="2152446" cy="861974"/>
          </a:xfrm>
          <a:prstGeom prst="rect">
            <a:avLst/>
          </a:prstGeom>
          <a:noFill/>
        </p:spPr>
        <p:txBody>
          <a:bodyPr wrap="none" lIns="121917" tIns="60958" rIns="121917" bIns="60958" rtlCol="0">
            <a:spAutoFit/>
          </a:bodyPr>
          <a:lstStyle/>
          <a:p>
            <a:r>
              <a:rPr lang="en-US" altLang="zh-CN" sz="4800" dirty="0">
                <a:solidFill>
                  <a:schemeClr val="bg1"/>
                </a:solidFill>
                <a:latin typeface="Eras Bold ITC" panose="020B0907030504020204" pitchFamily="34" charset="0"/>
              </a:rPr>
              <a:t>LOGO</a:t>
            </a:r>
            <a:endParaRPr lang="zh-CN" altLang="en-US" sz="4800" dirty="0">
              <a:solidFill>
                <a:schemeClr val="bg1"/>
              </a:solidFill>
              <a:latin typeface="Eras Bold ITC" panose="020B0907030504020204" pitchFamily="34" charset="0"/>
            </a:endParaRPr>
          </a:p>
        </p:txBody>
      </p:sp>
      <p:sp>
        <p:nvSpPr>
          <p:cNvPr id="30" name="TextBox 29"/>
          <p:cNvSpPr txBox="1"/>
          <p:nvPr/>
        </p:nvSpPr>
        <p:spPr>
          <a:xfrm>
            <a:off x="8426385" y="5197738"/>
            <a:ext cx="2353310" cy="612775"/>
          </a:xfrm>
          <a:prstGeom prst="rect">
            <a:avLst/>
          </a:prstGeom>
          <a:noFill/>
        </p:spPr>
        <p:txBody>
          <a:bodyPr wrap="none" lIns="121917" tIns="60958" rIns="121917" bIns="60958" rtlCol="0">
            <a:spAutoFit/>
          </a:bodyPr>
          <a:lstStyle/>
          <a:p>
            <a:pPr algn="r"/>
            <a:r>
              <a:rPr lang="zh-CN" altLang="en-US" sz="3200" b="1" dirty="0" smtClean="0">
                <a:solidFill>
                  <a:schemeClr val="tx1">
                    <a:lumMod val="75000"/>
                    <a:lumOff val="25000"/>
                  </a:schemeClr>
                </a:solidFill>
                <a:latin typeface="微软雅黑" panose="020B0503020204020204" pitchFamily="34" charset="-122"/>
                <a:ea typeface="微软雅黑" panose="020B0503020204020204" pitchFamily="34" charset="-122"/>
              </a:rPr>
              <a:t>  软件学院  </a:t>
            </a:r>
            <a:endParaRPr lang="en-US" altLang="zh-CN" sz="32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TextBox 23"/>
          <p:cNvSpPr txBox="1"/>
          <p:nvPr/>
        </p:nvSpPr>
        <p:spPr>
          <a:xfrm>
            <a:off x="5978125" y="2709714"/>
            <a:ext cx="5231554" cy="954103"/>
          </a:xfrm>
          <a:prstGeom prst="rect">
            <a:avLst/>
          </a:prstGeom>
          <a:noFill/>
        </p:spPr>
        <p:txBody>
          <a:bodyPr wrap="none" lIns="121917" tIns="60958" rIns="121917" bIns="60958" rtlCol="0">
            <a:spAutoFit/>
          </a:bodyPr>
          <a:lstStyle/>
          <a:p>
            <a:pPr algn="r"/>
            <a:r>
              <a:rPr lang="en-US" altLang="zh-CN" sz="5400" b="1" dirty="0" smtClean="0">
                <a:solidFill>
                  <a:schemeClr val="accent1"/>
                </a:solidFill>
                <a:latin typeface="微软雅黑" panose="020B0503020204020204" pitchFamily="34" charset="-122"/>
                <a:ea typeface="微软雅黑" panose="020B0503020204020204" pitchFamily="34" charset="-122"/>
              </a:rPr>
              <a:t>4 </a:t>
            </a:r>
            <a:r>
              <a:rPr lang="zh-CN" altLang="en-US" sz="5400" b="1" dirty="0" smtClean="0">
                <a:solidFill>
                  <a:schemeClr val="accent1"/>
                </a:solidFill>
                <a:latin typeface="微软雅黑" panose="020B0503020204020204" pitchFamily="34" charset="-122"/>
                <a:ea typeface="微软雅黑" panose="020B0503020204020204" pitchFamily="34" charset="-122"/>
              </a:rPr>
              <a:t>简单</a:t>
            </a:r>
            <a:r>
              <a:rPr lang="zh-CN" altLang="en-US" sz="5400" b="1" dirty="0">
                <a:solidFill>
                  <a:schemeClr val="accent1"/>
                </a:solidFill>
                <a:latin typeface="微软雅黑" panose="020B0503020204020204" pitchFamily="34" charset="-122"/>
                <a:ea typeface="微软雅黑" panose="020B0503020204020204" pitchFamily="34" charset="-122"/>
              </a:rPr>
              <a:t>工厂模式</a:t>
            </a:r>
            <a:endParaRPr lang="zh-CN" altLang="en-US" sz="54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722911" cy="68595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5091063" y="2581838"/>
            <a:ext cx="853453"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4.2</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68" name="组合 67"/>
          <p:cNvGrpSpPr/>
          <p:nvPr/>
        </p:nvGrpSpPr>
        <p:grpSpPr>
          <a:xfrm>
            <a:off x="6313103" y="2587724"/>
            <a:ext cx="5114664" cy="554038"/>
            <a:chOff x="6339097" y="1579613"/>
            <a:chExt cx="3744416" cy="554038"/>
          </a:xfrm>
        </p:grpSpPr>
        <p:sp>
          <p:nvSpPr>
            <p:cNvPr id="69" name="圆角矩形 68"/>
            <p:cNvSpPr/>
            <p:nvPr/>
          </p:nvSpPr>
          <p:spPr>
            <a:xfrm>
              <a:off x="6339097" y="1622147"/>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0" name="矩形 69"/>
            <p:cNvSpPr/>
            <p:nvPr/>
          </p:nvSpPr>
          <p:spPr>
            <a:xfrm>
              <a:off x="6723350" y="1579613"/>
              <a:ext cx="3202013"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模式动机与定义</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1" name="圆角矩形 70"/>
          <p:cNvSpPr/>
          <p:nvPr/>
        </p:nvSpPr>
        <p:spPr>
          <a:xfrm>
            <a:off x="5091063" y="3418290"/>
            <a:ext cx="853453"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4.3</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2" name="组合 71"/>
          <p:cNvGrpSpPr/>
          <p:nvPr/>
        </p:nvGrpSpPr>
        <p:grpSpPr>
          <a:xfrm>
            <a:off x="6289221" y="3418290"/>
            <a:ext cx="5114664" cy="565542"/>
            <a:chOff x="6315199" y="2410178"/>
            <a:chExt cx="3744416" cy="565542"/>
          </a:xfrm>
        </p:grpSpPr>
        <p:sp>
          <p:nvSpPr>
            <p:cNvPr id="73" name="圆角矩形 72"/>
            <p:cNvSpPr/>
            <p:nvPr/>
          </p:nvSpPr>
          <p:spPr>
            <a:xfrm>
              <a:off x="6315199" y="2410178"/>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4" name="矩形 73"/>
            <p:cNvSpPr/>
            <p:nvPr/>
          </p:nvSpPr>
          <p:spPr>
            <a:xfrm>
              <a:off x="6747248" y="2421682"/>
              <a:ext cx="265307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5" name="圆角矩形 74"/>
          <p:cNvSpPr/>
          <p:nvPr/>
        </p:nvSpPr>
        <p:spPr>
          <a:xfrm>
            <a:off x="5091063" y="4304144"/>
            <a:ext cx="853453"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4.4</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76" name="组合 75"/>
          <p:cNvGrpSpPr/>
          <p:nvPr/>
        </p:nvGrpSpPr>
        <p:grpSpPr>
          <a:xfrm>
            <a:off x="6313103" y="4293890"/>
            <a:ext cx="5114664" cy="554038"/>
            <a:chOff x="6339097" y="3285779"/>
            <a:chExt cx="3744416" cy="554038"/>
          </a:xfrm>
        </p:grpSpPr>
        <p:sp>
          <p:nvSpPr>
            <p:cNvPr id="77" name="圆角矩形 76"/>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78" name="矩形 77"/>
            <p:cNvSpPr/>
            <p:nvPr/>
          </p:nvSpPr>
          <p:spPr>
            <a:xfrm>
              <a:off x="6723349" y="3285779"/>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TextBox 86"/>
          <p:cNvSpPr txBox="1"/>
          <p:nvPr/>
        </p:nvSpPr>
        <p:spPr>
          <a:xfrm>
            <a:off x="338535" y="2219568"/>
            <a:ext cx="2806485" cy="1354243"/>
          </a:xfrm>
          <a:prstGeom prst="rect">
            <a:avLst/>
          </a:prstGeom>
          <a:noFill/>
        </p:spPr>
        <p:txBody>
          <a:bodyPr wrap="square" lIns="121880" tIns="60938" rIns="121880" bIns="60938">
            <a:spAutoFit/>
          </a:bodyPr>
          <a:lstStyle/>
          <a:p>
            <a:pPr algn="r">
              <a:defRPr/>
            </a:pPr>
            <a:r>
              <a:rPr lang="zh-CN" altLang="en-US" sz="4800" b="1" spc="200" dirty="0">
                <a:solidFill>
                  <a:schemeClr val="bg1"/>
                </a:solidFill>
                <a:latin typeface="微软雅黑" panose="020B0503020204020204" pitchFamily="34" charset="-122"/>
                <a:ea typeface="微软雅黑" panose="020B0503020204020204" pitchFamily="34" charset="-122"/>
              </a:rPr>
              <a:t>目录 </a:t>
            </a:r>
            <a:endParaRPr lang="en-US" altLang="zh-CN" sz="4800" b="1" spc="200" dirty="0">
              <a:solidFill>
                <a:schemeClr val="bg1"/>
              </a:solidFill>
              <a:latin typeface="微软雅黑" panose="020B0503020204020204" pitchFamily="34" charset="-122"/>
              <a:ea typeface="微软雅黑" panose="020B0503020204020204" pitchFamily="34" charset="-122"/>
            </a:endParaRPr>
          </a:p>
          <a:p>
            <a:pPr algn="r">
              <a:defRPr/>
            </a:pPr>
            <a:r>
              <a:rPr lang="en-US" altLang="zh-CN" sz="3200" b="1" spc="200" dirty="0">
                <a:solidFill>
                  <a:schemeClr val="bg1"/>
                </a:solidFill>
                <a:latin typeface="微软雅黑" panose="020B0503020204020204" pitchFamily="34" charset="-122"/>
                <a:ea typeface="微软雅黑" panose="020B0503020204020204" pitchFamily="34" charset="-122"/>
              </a:rPr>
              <a:t>CONTENTS</a:t>
            </a:r>
            <a:endParaRPr lang="zh-CN" altLang="en-US" sz="3200" b="1" spc="200" dirty="0">
              <a:solidFill>
                <a:schemeClr val="bg1"/>
              </a:solidFill>
              <a:latin typeface="微软雅黑" panose="020B0503020204020204" pitchFamily="34" charset="-122"/>
              <a:ea typeface="微软雅黑" panose="020B0503020204020204" pitchFamily="34" charset="-122"/>
            </a:endParaRPr>
          </a:p>
        </p:txBody>
      </p:sp>
      <p:sp>
        <p:nvSpPr>
          <p:cNvPr id="17" name="圆角矩形 16"/>
          <p:cNvSpPr/>
          <p:nvPr/>
        </p:nvSpPr>
        <p:spPr>
          <a:xfrm>
            <a:off x="5091063" y="5211734"/>
            <a:ext cx="853453"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4.5</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18" name="组合 17"/>
          <p:cNvGrpSpPr/>
          <p:nvPr/>
        </p:nvGrpSpPr>
        <p:grpSpPr>
          <a:xfrm>
            <a:off x="6313103" y="5180012"/>
            <a:ext cx="5114664" cy="554038"/>
            <a:chOff x="6339097" y="3264311"/>
            <a:chExt cx="3744416" cy="554038"/>
          </a:xfrm>
        </p:grpSpPr>
        <p:sp>
          <p:nvSpPr>
            <p:cNvPr id="19" name="圆角矩形 18"/>
            <p:cNvSpPr/>
            <p:nvPr/>
          </p:nvSpPr>
          <p:spPr>
            <a:xfrm>
              <a:off x="6339097" y="3296031"/>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0" name="矩形 19"/>
            <p:cNvSpPr/>
            <p:nvPr/>
          </p:nvSpPr>
          <p:spPr>
            <a:xfrm>
              <a:off x="6723349" y="3264311"/>
              <a:ext cx="2736305" cy="554038"/>
            </a:xfrm>
            <a:prstGeom prst="rect">
              <a:avLst/>
            </a:prstGeom>
          </p:spPr>
          <p:txBody>
            <a:bodyPr wrap="square" lIns="121960" tIns="60980" rIns="121960" bIns="60980">
              <a:spAutoFit/>
            </a:bodyPr>
            <a:lstStyle/>
            <a:p>
              <a:pPr>
                <a:defRPr/>
              </a:pP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4" name="圆角矩形 3"/>
          <p:cNvSpPr/>
          <p:nvPr/>
        </p:nvSpPr>
        <p:spPr>
          <a:xfrm>
            <a:off x="4010943" y="549474"/>
            <a:ext cx="6384830" cy="7200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000" b="1" dirty="0" smtClean="0">
                <a:latin typeface="黑体" panose="02010609060101010101" pitchFamily="49" charset="-122"/>
                <a:ea typeface="黑体" panose="02010609060101010101" pitchFamily="49" charset="-122"/>
              </a:rPr>
              <a:t>4 </a:t>
            </a:r>
            <a:r>
              <a:rPr lang="zh-CN" altLang="en-US" sz="4000" b="1" dirty="0" smtClean="0">
                <a:latin typeface="黑体" panose="02010609060101010101" pitchFamily="49" charset="-122"/>
                <a:ea typeface="黑体" panose="02010609060101010101" pitchFamily="49" charset="-122"/>
              </a:rPr>
              <a:t>简单工厂模式</a:t>
            </a:r>
            <a:endParaRPr lang="zh-CN" altLang="en-US" sz="4000" b="1" dirty="0">
              <a:latin typeface="黑体" panose="02010609060101010101" pitchFamily="49" charset="-122"/>
              <a:ea typeface="黑体" panose="02010609060101010101" pitchFamily="49" charset="-122"/>
            </a:endParaRPr>
          </a:p>
        </p:txBody>
      </p:sp>
      <p:sp>
        <p:nvSpPr>
          <p:cNvPr id="21" name="圆角矩形 20"/>
          <p:cNvSpPr/>
          <p:nvPr/>
        </p:nvSpPr>
        <p:spPr>
          <a:xfrm>
            <a:off x="5091063" y="1773610"/>
            <a:ext cx="853453"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892" tIns="60946" rIns="121892" bIns="60946" anchor="ctr"/>
          <a:lstStyle/>
          <a:p>
            <a:pPr algn="ctr">
              <a:defRPr/>
            </a:pPr>
            <a:r>
              <a:rPr lang="en-US" altLang="zh-CN" sz="3200" dirty="0" smtClean="0">
                <a:latin typeface="+mj-lt"/>
                <a:ea typeface="Arial Unicode MS" panose="020B0604020202020204" pitchFamily="34" charset="-122"/>
                <a:cs typeface="Arial Unicode MS" panose="020B0604020202020204" pitchFamily="34" charset="-122"/>
              </a:rPr>
              <a:t>4.1</a:t>
            </a:r>
            <a:endParaRPr lang="zh-CN" altLang="en-US" sz="3200" dirty="0">
              <a:latin typeface="+mj-lt"/>
              <a:ea typeface="Arial Unicode MS" panose="020B0604020202020204" pitchFamily="34" charset="-122"/>
              <a:cs typeface="Arial Unicode MS" panose="020B0604020202020204" pitchFamily="34" charset="-122"/>
            </a:endParaRPr>
          </a:p>
        </p:txBody>
      </p:sp>
      <p:grpSp>
        <p:nvGrpSpPr>
          <p:cNvPr id="22" name="组合 21"/>
          <p:cNvGrpSpPr/>
          <p:nvPr/>
        </p:nvGrpSpPr>
        <p:grpSpPr>
          <a:xfrm>
            <a:off x="6313103" y="1779496"/>
            <a:ext cx="5114664" cy="554038"/>
            <a:chOff x="6339097" y="1579613"/>
            <a:chExt cx="3744416" cy="554038"/>
          </a:xfrm>
        </p:grpSpPr>
        <p:sp>
          <p:nvSpPr>
            <p:cNvPr id="23" name="圆角矩形 22"/>
            <p:cNvSpPr/>
            <p:nvPr/>
          </p:nvSpPr>
          <p:spPr>
            <a:xfrm>
              <a:off x="6339097" y="1622147"/>
              <a:ext cx="3744416" cy="511504"/>
            </a:xfrm>
            <a:prstGeom prst="roundRect">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60" tIns="60980" rIns="121960" bIns="60980" anchor="ctr"/>
            <a:lstStyle/>
            <a:p>
              <a:pPr algn="ctr">
                <a:defRPr/>
              </a:pPr>
              <a:endParaRPr lang="zh-CN" altLang="en-US" sz="2800" dirty="0">
                <a:latin typeface="+mj-lt"/>
                <a:ea typeface="Arial Unicode MS" panose="020B0604020202020204" pitchFamily="34" charset="-122"/>
                <a:cs typeface="Arial Unicode MS" panose="020B0604020202020204" pitchFamily="34" charset="-122"/>
              </a:endParaRPr>
            </a:p>
          </p:txBody>
        </p:sp>
        <p:sp>
          <p:nvSpPr>
            <p:cNvPr id="24" name="矩形 23"/>
            <p:cNvSpPr/>
            <p:nvPr/>
          </p:nvSpPr>
          <p:spPr>
            <a:xfrm>
              <a:off x="6723350" y="1579613"/>
              <a:ext cx="3202013" cy="554038"/>
            </a:xfrm>
            <a:prstGeom prst="rect">
              <a:avLst/>
            </a:prstGeom>
          </p:spPr>
          <p:txBody>
            <a:bodyPr wrap="square" lIns="121960" tIns="60980" rIns="121960" bIns="60980">
              <a:spAutoFit/>
            </a:bodyPr>
            <a:lstStyle/>
            <a:p>
              <a:pPr>
                <a:defRPr/>
              </a:pPr>
              <a:r>
                <a:rPr lang="zh-CN" altLang="en-US"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创建</a:t>
              </a:r>
              <a:r>
                <a:rPr lang="zh-CN" altLang="en-US" sz="2800" b="1" kern="100" dirty="0" smtClean="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型模式</a:t>
              </a:r>
              <a:endParaRPr lang="zh-CN" altLang="zh-CN" sz="2800" b="1"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cSld>
  <p:clrMapOvr>
    <a:masterClrMapping/>
  </p:clrMapOvr>
  <p:transition spd="slow" advTm="0">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创建型设计模式</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p:cNvSpPr/>
          <p:nvPr/>
        </p:nvSpPr>
        <p:spPr>
          <a:xfrm>
            <a:off x="770583" y="1341562"/>
            <a:ext cx="10945216" cy="4315027"/>
          </a:xfrm>
          <a:prstGeom prst="rect">
            <a:avLst/>
          </a:prstGeom>
        </p:spPr>
        <p:txBody>
          <a:bodyPr wrap="square">
            <a:spAutoFit/>
          </a:bodyPr>
          <a:lstStyle/>
          <a:p>
            <a:pPr marL="342900" lvl="0" indent="-342900" defTabSz="914400" fontAlgn="base">
              <a:lnSpc>
                <a:spcPct val="150000"/>
              </a:lnSpc>
              <a:spcBef>
                <a:spcPct val="20000"/>
              </a:spcBef>
              <a:spcAft>
                <a:spcPct val="0"/>
              </a:spcAft>
              <a:buClr>
                <a:srgbClr val="FF3300"/>
              </a:buClr>
              <a:buFont typeface="Wingdings" panose="05000000000000000000" pitchFamily="2" charset="2"/>
              <a:buChar char="w"/>
              <a:defRPr/>
            </a:pPr>
            <a:r>
              <a:rPr lang="zh-CN" altLang="en-US" sz="2800" b="1" kern="0" dirty="0">
                <a:solidFill>
                  <a:srgbClr val="080808"/>
                </a:solidFill>
                <a:latin typeface="微软雅黑" panose="020B0503020204020204" pitchFamily="34" charset="-122"/>
                <a:ea typeface="微软雅黑" panose="020B0503020204020204" pitchFamily="34" charset="-122"/>
              </a:rPr>
              <a:t>设计模式的分类</a:t>
            </a:r>
            <a:endParaRPr lang="zh-CN" altLang="en-US" sz="2800" b="1" kern="0" dirty="0">
              <a:solidFill>
                <a:srgbClr val="080808"/>
              </a:solidFill>
              <a:latin typeface="微软雅黑" panose="020B0503020204020204" pitchFamily="34" charset="-122"/>
              <a:ea typeface="微软雅黑" panose="020B0503020204020204" pitchFamily="34" charset="-122"/>
            </a:endParaRPr>
          </a:p>
          <a:p>
            <a:pPr marL="742950" lvl="1" indent="-285750" defTabSz="914400" fontAlgn="base">
              <a:lnSpc>
                <a:spcPct val="150000"/>
              </a:lnSpc>
              <a:spcBef>
                <a:spcPct val="20000"/>
              </a:spcBef>
              <a:spcAft>
                <a:spcPct val="0"/>
              </a:spcAft>
              <a:buClr>
                <a:srgbClr val="0000FF"/>
              </a:buClr>
              <a:buFont typeface="Wingdings" panose="05000000000000000000" pitchFamily="2" charset="2"/>
              <a:buChar char="ü"/>
              <a:defRPr/>
            </a:pPr>
            <a:r>
              <a:rPr lang="zh-CN" altLang="en-US" sz="2800" kern="0" dirty="0">
                <a:solidFill>
                  <a:srgbClr val="333333"/>
                </a:solidFill>
                <a:latin typeface="微软雅黑" panose="020B0503020204020204" pitchFamily="34" charset="-122"/>
                <a:ea typeface="微软雅黑" panose="020B0503020204020204" pitchFamily="34" charset="-122"/>
              </a:rPr>
              <a:t>根据</a:t>
            </a:r>
            <a:r>
              <a:rPr lang="zh-CN" altLang="en-US" sz="2800" kern="0" dirty="0">
                <a:solidFill>
                  <a:srgbClr val="FF3300"/>
                </a:solidFill>
                <a:latin typeface="微软雅黑" panose="020B0503020204020204" pitchFamily="34" charset="-122"/>
                <a:ea typeface="微软雅黑" panose="020B0503020204020204" pitchFamily="34" charset="-122"/>
              </a:rPr>
              <a:t>目的</a:t>
            </a:r>
            <a:r>
              <a:rPr lang="zh-CN" altLang="en-US" sz="2800" kern="0" dirty="0">
                <a:solidFill>
                  <a:srgbClr val="333333"/>
                </a:solidFill>
                <a:latin typeface="微软雅黑" panose="020B0503020204020204" pitchFamily="34" charset="-122"/>
                <a:ea typeface="微软雅黑" panose="020B0503020204020204" pitchFamily="34" charset="-122"/>
              </a:rPr>
              <a:t>（模式是用来做什么的）可分为</a:t>
            </a:r>
            <a:r>
              <a:rPr lang="zh-CN" altLang="en-US" sz="2800" kern="0" dirty="0">
                <a:solidFill>
                  <a:srgbClr val="FF3300"/>
                </a:solidFill>
                <a:latin typeface="微软雅黑" panose="020B0503020204020204" pitchFamily="34" charset="-122"/>
                <a:ea typeface="微软雅黑" panose="020B0503020204020204" pitchFamily="34" charset="-122"/>
              </a:rPr>
              <a:t>创建型</a:t>
            </a:r>
            <a:r>
              <a:rPr lang="en-US" altLang="zh-CN" sz="2800" kern="0" dirty="0">
                <a:solidFill>
                  <a:srgbClr val="FF3300"/>
                </a:solidFill>
                <a:latin typeface="微软雅黑" panose="020B0503020204020204" pitchFamily="34" charset="-122"/>
                <a:ea typeface="微软雅黑" panose="020B0503020204020204" pitchFamily="34" charset="-122"/>
              </a:rPr>
              <a:t>(Creational)</a:t>
            </a:r>
            <a:r>
              <a:rPr lang="zh-CN" altLang="en-US" sz="2800" kern="0" dirty="0">
                <a:solidFill>
                  <a:srgbClr val="333333"/>
                </a:solidFill>
                <a:latin typeface="微软雅黑" panose="020B0503020204020204" pitchFamily="34" charset="-122"/>
                <a:ea typeface="微软雅黑" panose="020B0503020204020204" pitchFamily="34" charset="-122"/>
              </a:rPr>
              <a:t>，</a:t>
            </a:r>
            <a:r>
              <a:rPr lang="zh-CN" altLang="en-US" sz="2800" kern="0" dirty="0">
                <a:solidFill>
                  <a:srgbClr val="FF3300"/>
                </a:solidFill>
                <a:latin typeface="微软雅黑" panose="020B0503020204020204" pitchFamily="34" charset="-122"/>
                <a:ea typeface="微软雅黑" panose="020B0503020204020204" pitchFamily="34" charset="-122"/>
              </a:rPr>
              <a:t>结构型</a:t>
            </a:r>
            <a:r>
              <a:rPr lang="en-US" altLang="zh-CN" sz="2800" kern="0" dirty="0">
                <a:solidFill>
                  <a:srgbClr val="FF3300"/>
                </a:solidFill>
                <a:latin typeface="微软雅黑" panose="020B0503020204020204" pitchFamily="34" charset="-122"/>
                <a:ea typeface="微软雅黑" panose="020B0503020204020204" pitchFamily="34" charset="-122"/>
              </a:rPr>
              <a:t>(Structural)</a:t>
            </a:r>
            <a:r>
              <a:rPr lang="zh-CN" altLang="en-US" sz="2800" kern="0" dirty="0">
                <a:solidFill>
                  <a:srgbClr val="333333"/>
                </a:solidFill>
                <a:latin typeface="微软雅黑" panose="020B0503020204020204" pitchFamily="34" charset="-122"/>
                <a:ea typeface="微软雅黑" panose="020B0503020204020204" pitchFamily="34" charset="-122"/>
              </a:rPr>
              <a:t>和</a:t>
            </a:r>
            <a:r>
              <a:rPr lang="zh-CN" altLang="en-US" sz="2800" kern="0" dirty="0">
                <a:solidFill>
                  <a:srgbClr val="FF3300"/>
                </a:solidFill>
                <a:latin typeface="微软雅黑" panose="020B0503020204020204" pitchFamily="34" charset="-122"/>
                <a:ea typeface="微软雅黑" panose="020B0503020204020204" pitchFamily="34" charset="-122"/>
              </a:rPr>
              <a:t>行为型</a:t>
            </a:r>
            <a:r>
              <a:rPr lang="en-US" altLang="zh-CN" sz="2800" kern="0" dirty="0">
                <a:solidFill>
                  <a:srgbClr val="FF3300"/>
                </a:solidFill>
                <a:latin typeface="微软雅黑" panose="020B0503020204020204" pitchFamily="34" charset="-122"/>
                <a:ea typeface="微软雅黑" panose="020B0503020204020204" pitchFamily="34" charset="-122"/>
              </a:rPr>
              <a:t>(Behavioral)</a:t>
            </a:r>
            <a:r>
              <a:rPr lang="zh-CN" altLang="en-US" sz="2800" kern="0" dirty="0">
                <a:solidFill>
                  <a:srgbClr val="333333"/>
                </a:solidFill>
                <a:latin typeface="微软雅黑" panose="020B0503020204020204" pitchFamily="34" charset="-122"/>
                <a:ea typeface="微软雅黑" panose="020B0503020204020204" pitchFamily="34" charset="-122"/>
              </a:rPr>
              <a:t>三类：</a:t>
            </a:r>
            <a:endParaRPr lang="zh-CN" altLang="en-US" sz="2800" kern="0" dirty="0">
              <a:solidFill>
                <a:srgbClr val="333333"/>
              </a:solidFill>
              <a:latin typeface="微软雅黑" panose="020B0503020204020204" pitchFamily="34" charset="-122"/>
              <a:ea typeface="微软雅黑" panose="020B0503020204020204" pitchFamily="34" charset="-122"/>
            </a:endParaRPr>
          </a:p>
          <a:p>
            <a:pPr marL="1143000" lvl="2" indent="-228600" defTabSz="914400" fontAlgn="base">
              <a:lnSpc>
                <a:spcPct val="150000"/>
              </a:lnSpc>
              <a:spcBef>
                <a:spcPct val="20000"/>
              </a:spcBef>
              <a:spcAft>
                <a:spcPct val="0"/>
              </a:spcAft>
              <a:buClr>
                <a:srgbClr val="FF3300"/>
              </a:buClr>
              <a:buFont typeface="Tahoma" panose="020B0604030504040204" pitchFamily="34" charset="0"/>
              <a:buChar char="•"/>
              <a:defRPr/>
            </a:pPr>
            <a:r>
              <a:rPr lang="zh-CN" altLang="en-US" sz="2800" kern="0" dirty="0">
                <a:solidFill>
                  <a:srgbClr val="0070C0"/>
                </a:solidFill>
                <a:latin typeface="微软雅黑" panose="020B0503020204020204" pitchFamily="34" charset="-122"/>
                <a:ea typeface="微软雅黑" panose="020B0503020204020204" pitchFamily="34" charset="-122"/>
              </a:rPr>
              <a:t> 创建型模式</a:t>
            </a:r>
            <a:r>
              <a:rPr lang="zh-CN" altLang="en-US" sz="2800" kern="0" dirty="0">
                <a:solidFill>
                  <a:srgbClr val="333333"/>
                </a:solidFill>
                <a:latin typeface="微软雅黑" panose="020B0503020204020204" pitchFamily="34" charset="-122"/>
                <a:ea typeface="微软雅黑" panose="020B0503020204020204" pitchFamily="34" charset="-122"/>
              </a:rPr>
              <a:t>主要用于</a:t>
            </a:r>
            <a:r>
              <a:rPr lang="zh-CN" altLang="en-US" sz="2800" kern="0" dirty="0">
                <a:solidFill>
                  <a:srgbClr val="FF3300"/>
                </a:solidFill>
                <a:latin typeface="微软雅黑" panose="020B0503020204020204" pitchFamily="34" charset="-122"/>
                <a:ea typeface="微软雅黑" panose="020B0503020204020204" pitchFamily="34" charset="-122"/>
              </a:rPr>
              <a:t>创建对象</a:t>
            </a:r>
            <a:endParaRPr lang="zh-CN" altLang="en-US" sz="2800" kern="0" dirty="0">
              <a:solidFill>
                <a:srgbClr val="333333"/>
              </a:solidFill>
              <a:latin typeface="微软雅黑" panose="020B0503020204020204" pitchFamily="34" charset="-122"/>
              <a:ea typeface="微软雅黑" panose="020B0503020204020204" pitchFamily="34" charset="-122"/>
            </a:endParaRPr>
          </a:p>
          <a:p>
            <a:pPr marL="1143000" lvl="2" indent="-228600" defTabSz="914400" fontAlgn="base">
              <a:lnSpc>
                <a:spcPct val="150000"/>
              </a:lnSpc>
              <a:spcBef>
                <a:spcPct val="20000"/>
              </a:spcBef>
              <a:spcAft>
                <a:spcPct val="0"/>
              </a:spcAft>
              <a:buClr>
                <a:srgbClr val="FF3300"/>
              </a:buClr>
              <a:buFont typeface="Tahoma" panose="020B0604030504040204" pitchFamily="34" charset="0"/>
              <a:buChar char="•"/>
              <a:defRPr/>
            </a:pPr>
            <a:r>
              <a:rPr lang="zh-CN" altLang="en-US" sz="2800" kern="0" dirty="0">
                <a:solidFill>
                  <a:srgbClr val="0070C0"/>
                </a:solidFill>
                <a:latin typeface="微软雅黑" panose="020B0503020204020204" pitchFamily="34" charset="-122"/>
                <a:ea typeface="微软雅黑" panose="020B0503020204020204" pitchFamily="34" charset="-122"/>
              </a:rPr>
              <a:t> 结构型模式</a:t>
            </a:r>
            <a:r>
              <a:rPr lang="zh-CN" altLang="en-US" sz="2800" kern="0" dirty="0">
                <a:solidFill>
                  <a:srgbClr val="333333"/>
                </a:solidFill>
                <a:latin typeface="微软雅黑" panose="020B0503020204020204" pitchFamily="34" charset="-122"/>
                <a:ea typeface="微软雅黑" panose="020B0503020204020204" pitchFamily="34" charset="-122"/>
              </a:rPr>
              <a:t>主要用于</a:t>
            </a:r>
            <a:r>
              <a:rPr lang="zh-CN" altLang="en-US" sz="2800" kern="0" dirty="0">
                <a:solidFill>
                  <a:srgbClr val="FF3300"/>
                </a:solidFill>
                <a:latin typeface="微软雅黑" panose="020B0503020204020204" pitchFamily="34" charset="-122"/>
                <a:ea typeface="微软雅黑" panose="020B0503020204020204" pitchFamily="34" charset="-122"/>
              </a:rPr>
              <a:t>处理类或对象的组合</a:t>
            </a:r>
            <a:endParaRPr lang="zh-CN" altLang="en-US" sz="2800" kern="0" dirty="0">
              <a:solidFill>
                <a:srgbClr val="333333"/>
              </a:solidFill>
              <a:latin typeface="微软雅黑" panose="020B0503020204020204" pitchFamily="34" charset="-122"/>
              <a:ea typeface="微软雅黑" panose="020B0503020204020204" pitchFamily="34" charset="-122"/>
            </a:endParaRPr>
          </a:p>
          <a:p>
            <a:pPr marL="1143000" lvl="2" indent="-228600" defTabSz="914400" fontAlgn="base">
              <a:lnSpc>
                <a:spcPct val="150000"/>
              </a:lnSpc>
              <a:spcBef>
                <a:spcPct val="20000"/>
              </a:spcBef>
              <a:spcAft>
                <a:spcPct val="0"/>
              </a:spcAft>
              <a:buClr>
                <a:srgbClr val="FF3300"/>
              </a:buClr>
              <a:buFont typeface="Tahoma" panose="020B0604030504040204" pitchFamily="34" charset="0"/>
              <a:buChar char="•"/>
              <a:defRPr/>
            </a:pPr>
            <a:r>
              <a:rPr lang="zh-CN" altLang="en-US" sz="2800" kern="0" dirty="0">
                <a:solidFill>
                  <a:srgbClr val="0070C0"/>
                </a:solidFill>
                <a:latin typeface="微软雅黑" panose="020B0503020204020204" pitchFamily="34" charset="-122"/>
                <a:ea typeface="微软雅黑" panose="020B0503020204020204" pitchFamily="34" charset="-122"/>
              </a:rPr>
              <a:t> 行为型模式</a:t>
            </a:r>
            <a:r>
              <a:rPr lang="zh-CN" altLang="en-US" sz="2800" kern="0" dirty="0">
                <a:solidFill>
                  <a:srgbClr val="333333"/>
                </a:solidFill>
                <a:latin typeface="微软雅黑" panose="020B0503020204020204" pitchFamily="34" charset="-122"/>
                <a:ea typeface="微软雅黑" panose="020B0503020204020204" pitchFamily="34" charset="-122"/>
              </a:rPr>
              <a:t>主要用于</a:t>
            </a:r>
            <a:r>
              <a:rPr lang="zh-CN" altLang="en-US" sz="2800" kern="0" dirty="0">
                <a:solidFill>
                  <a:srgbClr val="FF3300"/>
                </a:solidFill>
                <a:latin typeface="微软雅黑" panose="020B0503020204020204" pitchFamily="34" charset="-122"/>
                <a:ea typeface="微软雅黑" panose="020B0503020204020204" pitchFamily="34" charset="-122"/>
              </a:rPr>
              <a:t>描述类或对象如何交互和怎样分配职责</a:t>
            </a:r>
            <a:endParaRPr lang="zh-CN" altLang="en-US" sz="2800" kern="0" dirty="0">
              <a:solidFill>
                <a:srgbClr val="333333"/>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83"/>
          <p:cNvGraphicFramePr/>
          <p:nvPr/>
        </p:nvGraphicFramePr>
        <p:xfrm>
          <a:off x="626567" y="1557586"/>
          <a:ext cx="11017224" cy="4684180"/>
        </p:xfrm>
        <a:graphic>
          <a:graphicData uri="http://schemas.openxmlformats.org/drawingml/2006/table">
            <a:tbl>
              <a:tblPr/>
              <a:tblGrid>
                <a:gridCol w="2436501"/>
                <a:gridCol w="2542437"/>
                <a:gridCol w="3495849"/>
                <a:gridCol w="2542437"/>
              </a:tblGrid>
              <a:tr h="477912">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范围</a:t>
                      </a:r>
                      <a:r>
                        <a:rPr kumimoji="0" lang="en-US" altLang="zh-CN"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目的</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创建型模式</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结构型模式</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行为型模式</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3F3F3"/>
                    </a:solidFill>
                  </a:tcPr>
                </a:tc>
              </a:tr>
              <a:tr h="776408">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类模式</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工厂方法模式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BE2C1"/>
                    </a:solid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（类）适配器模式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alpha val="22000"/>
                      </a:srgbClr>
                    </a:solid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解释器模式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模板方法模式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alpha val="5000"/>
                      </a:srgbClr>
                    </a:solidFill>
                  </a:tcPr>
                </a:tc>
              </a:tr>
              <a:tr h="2835080">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对象模式</a:t>
                      </a:r>
                      <a:endParaRPr kumimoji="0" lang="zh-CN" altLang="en-US" sz="2400" b="1"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抽象工厂模式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建造者模式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原型模式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单例模式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BE2C1"/>
                    </a:solid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（对象）适配器模式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桥接模式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组合模式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装饰模式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外观模式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享元模式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代理模式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2D050">
                        <a:alpha val="22000"/>
                      </a:srgbClr>
                    </a:solidFill>
                  </a:tcPr>
                </a:tc>
                <a:tc>
                  <a:txBody>
                    <a:bodyPr/>
                    <a:lstStyle>
                      <a:lvl1pPr marL="0" algn="l" defTabSz="1219835" rtl="0" eaLnBrk="1" latinLnBrk="0" hangingPunct="1">
                        <a:defRPr sz="2400" kern="1200">
                          <a:solidFill>
                            <a:schemeClr val="tx1"/>
                          </a:solidFill>
                          <a:latin typeface="Tahoma" panose="020B0604030504040204"/>
                          <a:ea typeface="隶书" panose="02010509060101010101" charset="-122"/>
                        </a:defRPr>
                      </a:lvl1pPr>
                      <a:lvl2pPr marL="609600" algn="l" defTabSz="1219835" rtl="0" eaLnBrk="1" latinLnBrk="0" hangingPunct="1">
                        <a:defRPr sz="2400" kern="1200">
                          <a:solidFill>
                            <a:schemeClr val="tx1"/>
                          </a:solidFill>
                          <a:latin typeface="Tahoma" panose="020B0604030504040204"/>
                          <a:ea typeface="隶书" panose="02010509060101010101" charset="-122"/>
                        </a:defRPr>
                      </a:lvl2pPr>
                      <a:lvl3pPr marL="1219835" algn="l" defTabSz="1219835" rtl="0" eaLnBrk="1" latinLnBrk="0" hangingPunct="1">
                        <a:defRPr sz="2400" kern="1200">
                          <a:solidFill>
                            <a:schemeClr val="tx1"/>
                          </a:solidFill>
                          <a:latin typeface="Tahoma" panose="020B0604030504040204"/>
                          <a:ea typeface="隶书" panose="02010509060101010101" charset="-122"/>
                        </a:defRPr>
                      </a:lvl3pPr>
                      <a:lvl4pPr marL="1829435" algn="l" defTabSz="1219835" rtl="0" eaLnBrk="1" latinLnBrk="0" hangingPunct="1">
                        <a:defRPr sz="2400" kern="1200">
                          <a:solidFill>
                            <a:schemeClr val="tx1"/>
                          </a:solidFill>
                          <a:latin typeface="Tahoma" panose="020B0604030504040204"/>
                          <a:ea typeface="隶书" panose="02010509060101010101" charset="-122"/>
                        </a:defRPr>
                      </a:lvl4pPr>
                      <a:lvl5pPr marL="2439035" algn="l" defTabSz="1219835" rtl="0" eaLnBrk="1" latinLnBrk="0" hangingPunct="1">
                        <a:defRPr sz="2400" kern="1200">
                          <a:solidFill>
                            <a:schemeClr val="tx1"/>
                          </a:solidFill>
                          <a:latin typeface="Tahoma" panose="020B0604030504040204"/>
                          <a:ea typeface="隶书" panose="02010509060101010101" charset="-122"/>
                        </a:defRPr>
                      </a:lvl5pPr>
                      <a:lvl6pPr marL="3049270" algn="l" defTabSz="1219835" rtl="0" eaLnBrk="1" latinLnBrk="0" hangingPunct="1">
                        <a:defRPr sz="2400" kern="1200">
                          <a:solidFill>
                            <a:schemeClr val="tx1"/>
                          </a:solidFill>
                          <a:latin typeface="Tahoma" panose="020B0604030504040204"/>
                          <a:ea typeface="隶书" panose="02010509060101010101" charset="-122"/>
                        </a:defRPr>
                      </a:lvl6pPr>
                      <a:lvl7pPr marL="3658870" algn="l" defTabSz="1219835" rtl="0" eaLnBrk="1" latinLnBrk="0" hangingPunct="1">
                        <a:defRPr sz="2400" kern="1200">
                          <a:solidFill>
                            <a:schemeClr val="tx1"/>
                          </a:solidFill>
                          <a:latin typeface="Tahoma" panose="020B0604030504040204"/>
                          <a:ea typeface="隶书" panose="02010509060101010101" charset="-122"/>
                        </a:defRPr>
                      </a:lvl7pPr>
                      <a:lvl8pPr marL="4268470" algn="l" defTabSz="1219835" rtl="0" eaLnBrk="1" latinLnBrk="0" hangingPunct="1">
                        <a:defRPr sz="2400" kern="1200">
                          <a:solidFill>
                            <a:schemeClr val="tx1"/>
                          </a:solidFill>
                          <a:latin typeface="Tahoma" panose="020B0604030504040204"/>
                          <a:ea typeface="隶书" panose="02010509060101010101" charset="-122"/>
                        </a:defRPr>
                      </a:lvl8pPr>
                      <a:lvl9pPr marL="4878705" algn="l" defTabSz="1219835" rtl="0" eaLnBrk="1" latinLnBrk="0" hangingPunct="1">
                        <a:defRPr sz="2400" kern="1200">
                          <a:solidFill>
                            <a:schemeClr val="tx1"/>
                          </a:solidFill>
                          <a:latin typeface="Tahoma" panose="020B0604030504040204"/>
                          <a:ea typeface="隶书" panose="02010509060101010101"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职责链模式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命令模式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迭代器模式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中介者模式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备忘录模式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观察者模式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状态模式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策略模式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访问者模式</a:t>
                      </a:r>
                      <a:endParaRPr kumimoji="0" lang="zh-CN" altLang="en-US" sz="24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0B0F0">
                        <a:alpha val="5000"/>
                      </a:srgbClr>
                    </a:solidFill>
                  </a:tcPr>
                </a:tc>
              </a:tr>
            </a:tbl>
          </a:graphicData>
        </a:graphic>
      </p:graphicFrame>
      <p:sp>
        <p:nvSpPr>
          <p:cNvPr id="3" name="矩形 2"/>
          <p:cNvSpPr/>
          <p:nvPr/>
        </p:nvSpPr>
        <p:spPr>
          <a:xfrm>
            <a:off x="1346647" y="909514"/>
            <a:ext cx="5137945" cy="523220"/>
          </a:xfrm>
          <a:prstGeom prst="rect">
            <a:avLst/>
          </a:prstGeom>
        </p:spPr>
        <p:txBody>
          <a:bodyPr wrap="none">
            <a:spAutoFit/>
          </a:bodyPr>
          <a:lstStyle/>
          <a:p>
            <a:pPr marL="457200" indent="-457200">
              <a:buFont typeface="Wingdings" panose="05000000000000000000" pitchFamily="2" charset="2"/>
              <a:buChar char="Ø"/>
            </a:pPr>
            <a:r>
              <a:rPr lang="en-US" altLang="zh-CN" sz="2800" b="1" dirty="0" err="1">
                <a:latin typeface="微软雅黑" panose="020B0503020204020204" pitchFamily="34" charset="-122"/>
                <a:ea typeface="微软雅黑" panose="020B0503020204020204" pitchFamily="34" charset="-122"/>
              </a:rPr>
              <a:t>GoF</a:t>
            </a:r>
            <a:r>
              <a:rPr lang="zh-CN" altLang="en-US" sz="2800" b="1" dirty="0">
                <a:latin typeface="微软雅黑" panose="020B0503020204020204" pitchFamily="34" charset="-122"/>
                <a:ea typeface="微软雅黑" panose="020B0503020204020204" pitchFamily="34" charset="-122"/>
              </a:rPr>
              <a:t>设计模式</a:t>
            </a:r>
            <a:r>
              <a:rPr lang="zh-CN" altLang="en-US" sz="2800" b="1" dirty="0" smtClean="0">
                <a:latin typeface="微软雅黑" panose="020B0503020204020204" pitchFamily="34" charset="-122"/>
                <a:ea typeface="微软雅黑" panose="020B0503020204020204" pitchFamily="34" charset="-122"/>
              </a:rPr>
              <a:t>简介（</a:t>
            </a:r>
            <a:r>
              <a:rPr lang="en-US" altLang="zh-CN" sz="2800" b="1" dirty="0" smtClean="0">
                <a:latin typeface="微软雅黑" panose="020B0503020204020204" pitchFamily="34" charset="-122"/>
                <a:ea typeface="微软雅黑" panose="020B0503020204020204" pitchFamily="34" charset="-122"/>
              </a:rPr>
              <a:t>23</a:t>
            </a:r>
            <a:r>
              <a:rPr lang="zh-CN" altLang="en-US" sz="2800" b="1" dirty="0" smtClean="0">
                <a:latin typeface="微软雅黑" panose="020B0503020204020204" pitchFamily="34" charset="-122"/>
                <a:ea typeface="微软雅黑" panose="020B0503020204020204" pitchFamily="34" charset="-122"/>
              </a:rPr>
              <a:t>种） </a:t>
            </a:r>
            <a:endParaRPr lang="zh-CN" altLang="en-US" sz="2800" b="1" dirty="0">
              <a:latin typeface="微软雅黑" panose="020B0503020204020204" pitchFamily="34" charset="-122"/>
              <a:ea typeface="微软雅黑" panose="020B0503020204020204" pitchFamily="34" charset="-122"/>
            </a:endParaRPr>
          </a:p>
        </p:txBody>
      </p:sp>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创建型设计模式</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8627" y="1209735"/>
            <a:ext cx="10593156" cy="4524315"/>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创建型模式（</a:t>
            </a:r>
            <a:r>
              <a:rPr lang="en-US" altLang="zh-CN" dirty="0">
                <a:latin typeface="微软雅黑" panose="020B0503020204020204" pitchFamily="34" charset="-122"/>
                <a:ea typeface="微软雅黑" panose="020B0503020204020204" pitchFamily="34" charset="-122"/>
              </a:rPr>
              <a:t>Creational Pattern</a:t>
            </a:r>
            <a:r>
              <a:rPr lang="zh-CN" altLang="en-US" dirty="0">
                <a:latin typeface="微软雅黑" panose="020B0503020204020204" pitchFamily="34" charset="-122"/>
                <a:ea typeface="微软雅黑" panose="020B0503020204020204" pitchFamily="34" charset="-122"/>
              </a:rPr>
              <a:t>）是</a:t>
            </a:r>
            <a:r>
              <a:rPr lang="en-US" altLang="zh-CN" dirty="0" err="1">
                <a:latin typeface="微软雅黑" panose="020B0503020204020204" pitchFamily="34" charset="-122"/>
                <a:ea typeface="微软雅黑" panose="020B0503020204020204" pitchFamily="34" charset="-122"/>
              </a:rPr>
              <a:t>GoF</a:t>
            </a:r>
            <a:r>
              <a:rPr lang="zh-CN" altLang="en-US" dirty="0">
                <a:latin typeface="微软雅黑" panose="020B0503020204020204" pitchFamily="34" charset="-122"/>
                <a:ea typeface="微软雅黑" panose="020B0503020204020204" pitchFamily="34" charset="-122"/>
              </a:rPr>
              <a:t>三大类设计模式中最容易理解的一类，在软件开发中应用非常广泛，创建型设计模式</a:t>
            </a:r>
            <a:r>
              <a:rPr lang="zh-CN" altLang="en-US" b="1" dirty="0">
                <a:solidFill>
                  <a:srgbClr val="FF0000"/>
                </a:solidFill>
                <a:latin typeface="微软雅黑" panose="020B0503020204020204" pitchFamily="34" charset="-122"/>
                <a:ea typeface="微软雅黑" panose="020B0503020204020204" pitchFamily="34" charset="-122"/>
              </a:rPr>
              <a:t>将对象的创建过程和对象的使用过程分离</a:t>
            </a:r>
            <a:r>
              <a:rPr lang="zh-CN" altLang="en-US" dirty="0">
                <a:latin typeface="微软雅黑" panose="020B0503020204020204" pitchFamily="34" charset="-122"/>
                <a:ea typeface="微软雅黑" panose="020B0503020204020204" pitchFamily="34" charset="-122"/>
              </a:rPr>
              <a:t>，降低了系统的耦合度，使得软件系统更易于扩展</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dirty="0" smtClean="0">
                <a:latin typeface="微软雅黑" panose="020B0503020204020204" pitchFamily="34" charset="-122"/>
                <a:ea typeface="微软雅黑" panose="020B0503020204020204" pitchFamily="34" charset="-122"/>
              </a:rPr>
              <a:t>创建型模式</a:t>
            </a:r>
            <a:r>
              <a:rPr lang="zh-CN" altLang="en-US" b="1" dirty="0" smtClean="0">
                <a:solidFill>
                  <a:srgbClr val="FF0000"/>
                </a:solidFill>
                <a:latin typeface="微软雅黑" panose="020B0503020204020204" pitchFamily="34" charset="-122"/>
                <a:ea typeface="微软雅黑" panose="020B0503020204020204" pitchFamily="34" charset="-122"/>
              </a:rPr>
              <a:t>关注对象的创建过程</a:t>
            </a:r>
            <a:r>
              <a:rPr lang="zh-CN" altLang="en-US" dirty="0" smtClean="0">
                <a:latin typeface="微软雅黑" panose="020B0503020204020204" pitchFamily="34" charset="-122"/>
                <a:ea typeface="微软雅黑" panose="020B0503020204020204" pitchFamily="34" charset="-122"/>
              </a:rPr>
              <a:t>，对类的实例化过程进行了</a:t>
            </a:r>
            <a:r>
              <a:rPr lang="zh-CN" altLang="en-US" dirty="0" smtClean="0">
                <a:solidFill>
                  <a:srgbClr val="FF0000"/>
                </a:solidFill>
                <a:latin typeface="微软雅黑" panose="020B0503020204020204" pitchFamily="34" charset="-122"/>
                <a:ea typeface="微软雅黑" panose="020B0503020204020204" pitchFamily="34" charset="-122"/>
              </a:rPr>
              <a:t>抽象</a:t>
            </a:r>
            <a:r>
              <a:rPr lang="zh-CN" altLang="en-US" dirty="0" smtClean="0">
                <a:latin typeface="微软雅黑" panose="020B0503020204020204" pitchFamily="34" charset="-122"/>
                <a:ea typeface="微软雅黑" panose="020B0503020204020204" pitchFamily="34" charset="-122"/>
              </a:rPr>
              <a:t>，对用户隐藏了类的实例的创建细节。用户使用对象时无需关注对象的创建细节，从而降低系统的耦合度，使得设计方案更易于修改和扩展。</a:t>
            </a:r>
            <a:endParaRPr lang="en-US" altLang="zh-CN"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dirty="0" smtClean="0">
                <a:latin typeface="微软雅黑" panose="020B0503020204020204" pitchFamily="34" charset="-122"/>
                <a:ea typeface="微软雅黑" panose="020B0503020204020204" pitchFamily="34" charset="-122"/>
              </a:rPr>
              <a:t>外界对于这些对象只需要知道它们共同的接口，而不用清楚其实现细节，使得整个系统的设计更加</a:t>
            </a:r>
            <a:r>
              <a:rPr lang="zh-CN" altLang="en-US" dirty="0" smtClean="0">
                <a:solidFill>
                  <a:srgbClr val="FF0000"/>
                </a:solidFill>
                <a:latin typeface="微软雅黑" panose="020B0503020204020204" pitchFamily="34" charset="-122"/>
                <a:ea typeface="微软雅黑" panose="020B0503020204020204" pitchFamily="34" charset="-122"/>
              </a:rPr>
              <a:t>符合单一职责原则</a:t>
            </a:r>
            <a:r>
              <a:rPr lang="zh-CN" altLang="en-US" dirty="0" smtClean="0">
                <a:latin typeface="微软雅黑" panose="020B0503020204020204" pitchFamily="34" charset="-122"/>
                <a:ea typeface="微软雅黑" panose="020B0503020204020204" pitchFamily="34" charset="-122"/>
              </a:rPr>
              <a:t>。软件的结构也更为清晰。</a:t>
            </a:r>
            <a:endParaRPr lang="zh-CN" altLang="en-US" dirty="0">
              <a:latin typeface="微软雅黑" panose="020B0503020204020204" pitchFamily="34" charset="-122"/>
              <a:ea typeface="微软雅黑" panose="020B0503020204020204" pitchFamily="34" charset="-122"/>
            </a:endParaRPr>
          </a:p>
        </p:txBody>
      </p:sp>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创建型设计模式</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2631" y="837506"/>
            <a:ext cx="9793088" cy="3323987"/>
          </a:xfrm>
          <a:prstGeom prst="rect">
            <a:avLst/>
          </a:prstGeom>
          <a:noFill/>
        </p:spPr>
        <p:txBody>
          <a:bodyPr wrap="square" rtlCol="0">
            <a:spAutoFit/>
          </a:bodyPr>
          <a:lstStyle/>
          <a:p>
            <a:pPr>
              <a:lnSpc>
                <a:spcPct val="150000"/>
              </a:lnSpc>
            </a:pPr>
            <a:r>
              <a:rPr lang="zh-CN" altLang="en-US" sz="2800" b="1" dirty="0" smtClean="0">
                <a:latin typeface="微软雅黑" panose="020B0503020204020204" pitchFamily="34" charset="-122"/>
                <a:ea typeface="微软雅黑" panose="020B0503020204020204" pitchFamily="34" charset="-122"/>
              </a:rPr>
              <a:t>每一个创建模式通过采用不同的解决方案来回答</a:t>
            </a:r>
            <a:r>
              <a:rPr lang="en-US" altLang="zh-CN" sz="2800" b="1" dirty="0" smtClean="0">
                <a:latin typeface="微软雅黑" panose="020B0503020204020204" pitchFamily="34" charset="-122"/>
                <a:ea typeface="微软雅黑" panose="020B0503020204020204" pitchFamily="34" charset="-122"/>
              </a:rPr>
              <a:t>3</a:t>
            </a:r>
            <a:r>
              <a:rPr lang="zh-CN" altLang="en-US" sz="2800" b="1" dirty="0" smtClean="0">
                <a:latin typeface="微软雅黑" panose="020B0503020204020204" pitchFamily="34" charset="-122"/>
                <a:ea typeface="微软雅黑" panose="020B0503020204020204" pitchFamily="34" charset="-122"/>
              </a:rPr>
              <a:t>个问题：</a:t>
            </a:r>
            <a:endParaRPr lang="en-US" altLang="zh-CN" sz="2800" b="1"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endParaRPr lang="en-US" altLang="zh-CN" sz="28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800" dirty="0" smtClean="0">
                <a:latin typeface="微软雅黑" panose="020B0503020204020204" pitchFamily="34" charset="-122"/>
                <a:ea typeface="微软雅黑" panose="020B0503020204020204" pitchFamily="34" charset="-122"/>
              </a:rPr>
              <a:t>创建什么（</a:t>
            </a:r>
            <a:r>
              <a:rPr lang="en-US" altLang="zh-CN" sz="2800" dirty="0" smtClean="0">
                <a:latin typeface="微软雅黑" panose="020B0503020204020204" pitchFamily="34" charset="-122"/>
                <a:ea typeface="微软雅黑" panose="020B0503020204020204" pitchFamily="34" charset="-122"/>
              </a:rPr>
              <a:t>What</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rPr>
              <a:t>由谁</a:t>
            </a:r>
            <a:r>
              <a:rPr lang="zh-CN" altLang="en-US" sz="2800" dirty="0" smtClean="0">
                <a:latin typeface="微软雅黑" panose="020B0503020204020204" pitchFamily="34" charset="-122"/>
                <a:ea typeface="微软雅黑" panose="020B0503020204020204" pitchFamily="34" charset="-122"/>
              </a:rPr>
              <a:t>创建（</a:t>
            </a:r>
            <a:r>
              <a:rPr lang="en-US" altLang="zh-CN" sz="2800" dirty="0" smtClean="0">
                <a:latin typeface="微软雅黑" panose="020B0503020204020204" pitchFamily="34" charset="-122"/>
                <a:ea typeface="微软雅黑" panose="020B0503020204020204" pitchFamily="34" charset="-122"/>
              </a:rPr>
              <a:t>Who</a:t>
            </a:r>
            <a:r>
              <a:rPr lang="zh-CN" altLang="en-US" sz="2800" dirty="0" smtClean="0">
                <a:latin typeface="微软雅黑" panose="020B0503020204020204" pitchFamily="34" charset="-122"/>
                <a:ea typeface="微软雅黑" panose="020B0503020204020204" pitchFamily="34" charset="-122"/>
              </a:rPr>
              <a:t>）？</a:t>
            </a:r>
            <a:endParaRPr lang="en-US" altLang="zh-CN" sz="2800" dirty="0" smtClean="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800" dirty="0" smtClean="0">
                <a:latin typeface="微软雅黑" panose="020B0503020204020204" pitchFamily="34" charset="-122"/>
                <a:ea typeface="微软雅黑" panose="020B0503020204020204" pitchFamily="34" charset="-122"/>
              </a:rPr>
              <a:t>何时创建（</a:t>
            </a:r>
            <a:r>
              <a:rPr lang="en-US" altLang="zh-CN" sz="2800" dirty="0" smtClean="0">
                <a:latin typeface="微软雅黑" panose="020B0503020204020204" pitchFamily="34" charset="-122"/>
                <a:ea typeface="微软雅黑" panose="020B0503020204020204" pitchFamily="34" charset="-122"/>
              </a:rPr>
              <a:t>When</a:t>
            </a:r>
            <a:r>
              <a:rPr lang="zh-CN" altLang="en-US" sz="2800" dirty="0" smtClean="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pic>
        <p:nvPicPr>
          <p:cNvPr id="4" name="图片 4" descr="untitled.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7219255" y="1524000"/>
            <a:ext cx="32004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5" descr="ainfo20101029111047.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19255" y="4040188"/>
            <a:ext cx="3200400" cy="213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5831780" y="1905000"/>
            <a:ext cx="554038" cy="1600200"/>
          </a:xfrm>
          <a:prstGeom prst="rect">
            <a:avLst/>
          </a:prstGeom>
        </p:spPr>
        <p:style>
          <a:lnRef idx="1">
            <a:schemeClr val="accent6"/>
          </a:lnRef>
          <a:fillRef idx="3">
            <a:schemeClr val="accent6"/>
          </a:fillRef>
          <a:effectRef idx="2">
            <a:schemeClr val="accent6"/>
          </a:effectRef>
          <a:fontRef idx="minor">
            <a:schemeClr val="lt1"/>
          </a:fontRef>
        </p:style>
        <p:txBody>
          <a:bodyPr vert="eaVert">
            <a:spAutoFit/>
          </a:bodyPr>
          <a:lstStyle/>
          <a:p>
            <a:pPr algn="ctr" eaLnBrk="1" hangingPunct="1">
              <a:defRPr/>
            </a:pPr>
            <a:r>
              <a:rPr lang="zh-CN" altLang="en-US" sz="2400" b="1" dirty="0"/>
              <a:t>创建对象</a:t>
            </a:r>
            <a:endParaRPr lang="zh-CN" altLang="en-US" sz="2400" b="1" dirty="0"/>
          </a:p>
        </p:txBody>
      </p:sp>
      <p:sp>
        <p:nvSpPr>
          <p:cNvPr id="7" name="TextBox 6"/>
          <p:cNvSpPr txBox="1"/>
          <p:nvPr/>
        </p:nvSpPr>
        <p:spPr>
          <a:xfrm>
            <a:off x="5847655" y="4343400"/>
            <a:ext cx="554038" cy="1600200"/>
          </a:xfrm>
          <a:prstGeom prst="rect">
            <a:avLst/>
          </a:prstGeom>
        </p:spPr>
        <p:style>
          <a:lnRef idx="1">
            <a:schemeClr val="accent6"/>
          </a:lnRef>
          <a:fillRef idx="3">
            <a:schemeClr val="accent6"/>
          </a:fillRef>
          <a:effectRef idx="2">
            <a:schemeClr val="accent6"/>
          </a:effectRef>
          <a:fontRef idx="minor">
            <a:schemeClr val="lt1"/>
          </a:fontRef>
        </p:style>
        <p:txBody>
          <a:bodyPr vert="eaVert">
            <a:spAutoFit/>
          </a:bodyPr>
          <a:lstStyle/>
          <a:p>
            <a:pPr algn="ctr" eaLnBrk="1" hangingPunct="1">
              <a:defRPr/>
            </a:pPr>
            <a:r>
              <a:rPr lang="zh-CN" altLang="en-US" sz="2400" b="1" dirty="0"/>
              <a:t>使用对象</a:t>
            </a:r>
            <a:endParaRPr lang="zh-CN" altLang="en-US" sz="2400" b="1" dirty="0"/>
          </a:p>
        </p:txBody>
      </p:sp>
      <p:sp>
        <p:nvSpPr>
          <p:cNvPr id="8" name="右箭头 7"/>
          <p:cNvSpPr/>
          <p:nvPr/>
        </p:nvSpPr>
        <p:spPr>
          <a:xfrm>
            <a:off x="6457255" y="25146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9" name="右箭头 8"/>
          <p:cNvSpPr/>
          <p:nvPr/>
        </p:nvSpPr>
        <p:spPr>
          <a:xfrm>
            <a:off x="6457255" y="4953000"/>
            <a:ext cx="6858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10"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创建型设计模式</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346647" y="774563"/>
          <a:ext cx="9793088" cy="5486400"/>
        </p:xfrm>
        <a:graphic>
          <a:graphicData uri="http://schemas.openxmlformats.org/drawingml/2006/table">
            <a:tbl>
              <a:tblPr/>
              <a:tblGrid>
                <a:gridCol w="2859095"/>
                <a:gridCol w="3943896"/>
                <a:gridCol w="1466319"/>
                <a:gridCol w="1523778"/>
              </a:tblGrid>
              <a:tr h="0">
                <a:tc>
                  <a:txBody>
                    <a:bodyPr/>
                    <a:lstStyle/>
                    <a:p>
                      <a:pPr algn="ctr">
                        <a:lnSpc>
                          <a:spcPct val="150000"/>
                        </a:lnSpc>
                        <a:spcAft>
                          <a:spcPts val="0"/>
                        </a:spcAft>
                        <a:tabLst>
                          <a:tab pos="3056890" algn="l"/>
                        </a:tabLst>
                      </a:pPr>
                      <a:r>
                        <a:rPr lang="zh-CN" sz="1600" b="1" kern="100" dirty="0">
                          <a:solidFill>
                            <a:schemeClr val="bg1"/>
                          </a:solidFill>
                          <a:latin typeface="Times New Roman" panose="02020603050405020304"/>
                          <a:ea typeface="宋体" panose="02010600030101010101" pitchFamily="2" charset="-122"/>
                          <a:cs typeface="Times New Roman" panose="02020603050405020304"/>
                        </a:rPr>
                        <a:t>模式名称</a:t>
                      </a:r>
                      <a:endParaRPr lang="zh-CN" sz="1600" kern="100" dirty="0">
                        <a:solidFill>
                          <a:schemeClr val="bg1"/>
                        </a:solidFill>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lnSpc>
                          <a:spcPct val="150000"/>
                        </a:lnSpc>
                        <a:spcAft>
                          <a:spcPts val="0"/>
                        </a:spcAft>
                        <a:tabLst>
                          <a:tab pos="3056890" algn="l"/>
                        </a:tabLst>
                      </a:pPr>
                      <a:r>
                        <a:rPr lang="zh-CN" sz="1600" b="1" kern="100" dirty="0">
                          <a:solidFill>
                            <a:schemeClr val="bg1"/>
                          </a:solidFill>
                          <a:latin typeface="Times New Roman" panose="02020603050405020304"/>
                          <a:ea typeface="宋体" panose="02010600030101010101" pitchFamily="2" charset="-122"/>
                          <a:cs typeface="Times New Roman" panose="02020603050405020304"/>
                        </a:rPr>
                        <a:t>定</a:t>
                      </a:r>
                      <a:r>
                        <a:rPr lang="en-US" sz="1600" b="1" kern="100" dirty="0">
                          <a:solidFill>
                            <a:schemeClr val="bg1"/>
                          </a:solidFill>
                          <a:latin typeface="Times New Roman" panose="02020603050405020304"/>
                          <a:ea typeface="宋体" panose="02010600030101010101" pitchFamily="2" charset="-122"/>
                          <a:cs typeface="Times New Roman" panose="02020603050405020304"/>
                        </a:rPr>
                        <a:t>  </a:t>
                      </a:r>
                      <a:r>
                        <a:rPr lang="zh-CN" sz="1600" b="1" kern="100" dirty="0">
                          <a:solidFill>
                            <a:schemeClr val="bg1"/>
                          </a:solidFill>
                          <a:latin typeface="Times New Roman" panose="02020603050405020304"/>
                          <a:ea typeface="宋体" panose="02010600030101010101" pitchFamily="2" charset="-122"/>
                          <a:cs typeface="Times New Roman" panose="02020603050405020304"/>
                        </a:rPr>
                        <a:t>义</a:t>
                      </a:r>
                      <a:endParaRPr lang="zh-CN" sz="1600" kern="100" dirty="0">
                        <a:solidFill>
                          <a:schemeClr val="bg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lnSpc>
                          <a:spcPct val="150000"/>
                        </a:lnSpc>
                        <a:spcAft>
                          <a:spcPts val="0"/>
                        </a:spcAft>
                        <a:tabLst>
                          <a:tab pos="3056890" algn="l"/>
                        </a:tabLst>
                      </a:pPr>
                      <a:r>
                        <a:rPr lang="zh-CN" sz="1600" b="1" kern="100" dirty="0">
                          <a:solidFill>
                            <a:schemeClr val="bg1"/>
                          </a:solidFill>
                          <a:latin typeface="Times New Roman" panose="02020603050405020304"/>
                          <a:ea typeface="宋体" panose="02010600030101010101" pitchFamily="2" charset="-122"/>
                          <a:cs typeface="Times New Roman" panose="02020603050405020304"/>
                        </a:rPr>
                        <a:t>学习难度</a:t>
                      </a:r>
                      <a:endParaRPr lang="zh-CN" sz="1600" kern="100" dirty="0">
                        <a:solidFill>
                          <a:schemeClr val="bg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lnSpc>
                          <a:spcPct val="150000"/>
                        </a:lnSpc>
                        <a:spcAft>
                          <a:spcPts val="0"/>
                        </a:spcAft>
                        <a:tabLst>
                          <a:tab pos="3056890" algn="l"/>
                        </a:tabLst>
                      </a:pPr>
                      <a:r>
                        <a:rPr lang="zh-CN" sz="1600" b="1" kern="100" dirty="0">
                          <a:solidFill>
                            <a:schemeClr val="bg1"/>
                          </a:solidFill>
                          <a:latin typeface="Times New Roman" panose="02020603050405020304"/>
                          <a:ea typeface="宋体" panose="02010600030101010101" pitchFamily="2" charset="-122"/>
                          <a:cs typeface="Times New Roman" panose="02020603050405020304"/>
                        </a:rPr>
                        <a:t>使用频率</a:t>
                      </a:r>
                      <a:endParaRPr lang="zh-CN" sz="1600" kern="100" dirty="0">
                        <a:solidFill>
                          <a:schemeClr val="bg1"/>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r>
              <a:tr h="0">
                <a:tc>
                  <a:txBody>
                    <a:bodyPr/>
                    <a:lstStyle/>
                    <a:p>
                      <a:pPr algn="ctr">
                        <a:lnSpc>
                          <a:spcPct val="150000"/>
                        </a:lnSpc>
                        <a:spcAft>
                          <a:spcPts val="0"/>
                        </a:spcAft>
                        <a:tabLst>
                          <a:tab pos="3056890" algn="l"/>
                        </a:tabLst>
                      </a:pPr>
                      <a:r>
                        <a:rPr lang="zh-CN" sz="1600" b="1" kern="100" dirty="0">
                          <a:solidFill>
                            <a:srgbClr val="0070C0"/>
                          </a:solidFill>
                          <a:latin typeface="Times New Roman" panose="02020603050405020304"/>
                          <a:ea typeface="宋体" panose="02010600030101010101" pitchFamily="2" charset="-122"/>
                          <a:cs typeface="Times New Roman" panose="02020603050405020304"/>
                        </a:rPr>
                        <a:t>简单工厂模式</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p>
                      <a:pPr algn="ctr">
                        <a:lnSpc>
                          <a:spcPct val="150000"/>
                        </a:lnSpc>
                        <a:spcAft>
                          <a:spcPts val="0"/>
                        </a:spcAft>
                        <a:tabLst>
                          <a:tab pos="3056890" algn="l"/>
                        </a:tabLst>
                      </a:pPr>
                      <a:r>
                        <a:rPr lang="en-US" sz="1600" b="1" kern="100" dirty="0">
                          <a:solidFill>
                            <a:srgbClr val="0070C0"/>
                          </a:solidFill>
                          <a:latin typeface="Times New Roman" panose="02020603050405020304"/>
                          <a:ea typeface="宋体" panose="02010600030101010101" pitchFamily="2" charset="-122"/>
                          <a:cs typeface="Times New Roman" panose="02020603050405020304"/>
                        </a:rPr>
                        <a:t>(Simple Factory Pattern</a:t>
                      </a:r>
                      <a:r>
                        <a:rPr lang="en-US" sz="1600" b="1" kern="100" dirty="0" smtClean="0">
                          <a:solidFill>
                            <a:srgbClr val="0070C0"/>
                          </a:solidFill>
                          <a:latin typeface="Times New Roman" panose="02020603050405020304"/>
                          <a:ea typeface="宋体" panose="02010600030101010101" pitchFamily="2" charset="-122"/>
                          <a:cs typeface="Times New Roman" panose="02020603050405020304"/>
                        </a:rPr>
                        <a:t>)</a:t>
                      </a:r>
                      <a:endParaRPr lang="en-US" sz="1600" b="1" kern="100" dirty="0" smtClean="0">
                        <a:solidFill>
                          <a:srgbClr val="0070C0"/>
                        </a:solidFill>
                        <a:latin typeface="Times New Roman" panose="02020603050405020304"/>
                        <a:ea typeface="宋体" panose="02010600030101010101" pitchFamily="2" charset="-122"/>
                        <a:cs typeface="Times New Roman" panose="02020603050405020304"/>
                      </a:endParaRPr>
                    </a:p>
                    <a:p>
                      <a:pPr algn="ctr">
                        <a:lnSpc>
                          <a:spcPct val="150000"/>
                        </a:lnSpc>
                        <a:spcAft>
                          <a:spcPts val="0"/>
                        </a:spcAft>
                        <a:tabLst>
                          <a:tab pos="3056890" algn="l"/>
                        </a:tabLst>
                      </a:pPr>
                      <a:r>
                        <a:rPr lang="zh-CN" altLang="en-US" sz="1600" b="1" kern="100" dirty="0" smtClean="0">
                          <a:solidFill>
                            <a:srgbClr val="FF0000"/>
                          </a:solidFill>
                          <a:latin typeface="Times New Roman" panose="02020603050405020304"/>
                          <a:ea typeface="宋体" panose="02010600030101010101" pitchFamily="2" charset="-122"/>
                          <a:cs typeface="Times New Roman" panose="02020603050405020304"/>
                        </a:rPr>
                        <a:t>非</a:t>
                      </a:r>
                      <a:r>
                        <a:rPr lang="en-US" altLang="zh-CN" sz="1600" b="1" kern="100" dirty="0" smtClean="0">
                          <a:solidFill>
                            <a:srgbClr val="FF0000"/>
                          </a:solidFill>
                          <a:latin typeface="Times New Roman" panose="02020603050405020304"/>
                          <a:ea typeface="宋体" panose="02010600030101010101" pitchFamily="2" charset="-122"/>
                          <a:cs typeface="Times New Roman" panose="02020603050405020304"/>
                        </a:rPr>
                        <a:t>GoF23</a:t>
                      </a:r>
                      <a:r>
                        <a:rPr lang="zh-CN" altLang="en-US" sz="1600" b="1" kern="100" dirty="0" smtClean="0">
                          <a:solidFill>
                            <a:srgbClr val="FF0000"/>
                          </a:solidFill>
                          <a:latin typeface="Times New Roman" panose="02020603050405020304"/>
                          <a:ea typeface="宋体" panose="02010600030101010101" pitchFamily="2" charset="-122"/>
                          <a:cs typeface="Times New Roman" panose="02020603050405020304"/>
                        </a:rPr>
                        <a:t>种之一</a:t>
                      </a:r>
                      <a:endParaRPr lang="zh-CN" sz="1600" b="1" kern="100" dirty="0">
                        <a:solidFill>
                          <a:srgbClr val="FF0000"/>
                        </a:solidFill>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150000"/>
                        </a:lnSpc>
                        <a:spcAft>
                          <a:spcPts val="0"/>
                        </a:spcAft>
                        <a:tabLst>
                          <a:tab pos="3056890" algn="l"/>
                        </a:tabLst>
                      </a:pPr>
                      <a:r>
                        <a:rPr lang="zh-CN" sz="1600" b="1" kern="100" dirty="0">
                          <a:latin typeface="Times New Roman" panose="02020603050405020304"/>
                          <a:ea typeface="宋体" panose="02010600030101010101" pitchFamily="2" charset="-122"/>
                          <a:cs typeface="Times New Roman" panose="02020603050405020304"/>
                        </a:rPr>
                        <a:t>定义一个工厂类，它可以根据参数的不同返回不同类的实例，被创建的实例通常都具有共同的父类。</a:t>
                      </a:r>
                      <a:endParaRPr lang="zh-CN" sz="1600" b="1"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smtClean="0">
                          <a:solidFill>
                            <a:srgbClr val="FF3300"/>
                          </a:solidFill>
                          <a:latin typeface="Times New Roman" panose="02020603050405020304"/>
                          <a:ea typeface="宋体" panose="02010600030101010101" pitchFamily="2" charset="-122"/>
                          <a:cs typeface="Times New Roman" panose="02020603050405020304"/>
                        </a:rPr>
                        <a:t>★★★</a:t>
                      </a:r>
                      <a:r>
                        <a:rPr lang="zh-CN" altLang="zh-CN" sz="1600" kern="100" dirty="0" smtClean="0">
                          <a:solidFill>
                            <a:srgbClr val="FF3300"/>
                          </a:solidFill>
                          <a:latin typeface="Times New Roman" panose="02020603050405020304"/>
                          <a:ea typeface="+mn-ea"/>
                          <a:cs typeface="Times New Roman" panose="02020603050405020304"/>
                        </a:rPr>
                        <a:t>★</a:t>
                      </a:r>
                      <a:r>
                        <a:rPr lang="zh-CN" sz="1600" kern="100" dirty="0" smtClean="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a:txBody>
                    <a:bodyPr/>
                    <a:lstStyle/>
                    <a:p>
                      <a:pPr algn="ctr">
                        <a:lnSpc>
                          <a:spcPct val="150000"/>
                        </a:lnSpc>
                        <a:spcAft>
                          <a:spcPts val="0"/>
                        </a:spcAft>
                        <a:tabLst>
                          <a:tab pos="3056890" algn="l"/>
                        </a:tabLst>
                      </a:pPr>
                      <a:r>
                        <a:rPr lang="zh-CN" sz="1600" b="1" kern="100" dirty="0">
                          <a:solidFill>
                            <a:srgbClr val="0070C0"/>
                          </a:solidFill>
                          <a:latin typeface="Times New Roman" panose="02020603050405020304"/>
                          <a:ea typeface="宋体" panose="02010600030101010101" pitchFamily="2" charset="-122"/>
                          <a:cs typeface="Times New Roman" panose="02020603050405020304"/>
                        </a:rPr>
                        <a:t>工厂方法模式</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p>
                      <a:pPr algn="ctr">
                        <a:lnSpc>
                          <a:spcPct val="150000"/>
                        </a:lnSpc>
                        <a:spcAft>
                          <a:spcPts val="0"/>
                        </a:spcAft>
                        <a:tabLst>
                          <a:tab pos="3056890" algn="l"/>
                        </a:tabLst>
                      </a:pPr>
                      <a:r>
                        <a:rPr lang="en-US" sz="1600" b="1" kern="100" dirty="0">
                          <a:solidFill>
                            <a:srgbClr val="0070C0"/>
                          </a:solidFill>
                          <a:latin typeface="Times New Roman" panose="02020603050405020304"/>
                          <a:ea typeface="宋体" panose="02010600030101010101" pitchFamily="2" charset="-122"/>
                          <a:cs typeface="Times New Roman" panose="02020603050405020304"/>
                        </a:rPr>
                        <a:t>(Factory Method Pattern)</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150000"/>
                        </a:lnSpc>
                        <a:spcAft>
                          <a:spcPts val="0"/>
                        </a:spcAft>
                        <a:tabLst>
                          <a:tab pos="3056890" algn="l"/>
                        </a:tabLst>
                      </a:pPr>
                      <a:r>
                        <a:rPr lang="zh-CN" sz="1600" b="1" kern="100" dirty="0">
                          <a:latin typeface="Times New Roman" panose="02020603050405020304"/>
                          <a:ea typeface="宋体" panose="02010600030101010101" pitchFamily="2" charset="-122"/>
                          <a:cs typeface="Times New Roman" panose="02020603050405020304"/>
                        </a:rPr>
                        <a:t>定义一个用于创建对象的接口，但是让子类决定将哪一个类实例化。工厂方法模式让一个类的实例化延迟到其子类。</a:t>
                      </a:r>
                      <a:endParaRPr lang="zh-CN" sz="1600" b="1"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a:solidFill>
                            <a:srgbClr val="FF3300"/>
                          </a:solidFill>
                          <a:latin typeface="Times New Roman" panose="02020603050405020304"/>
                          <a:ea typeface="宋体" panose="02010600030101010101" pitchFamily="2" charset="-122"/>
                          <a:cs typeface="Times New Roman" panose="02020603050405020304"/>
                        </a:rPr>
                        <a:t>★★★★★</a:t>
                      </a:r>
                      <a:endParaRPr lang="zh-CN" sz="1600" kern="10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a:txBody>
                    <a:bodyPr/>
                    <a:lstStyle/>
                    <a:p>
                      <a:pPr algn="ctr">
                        <a:lnSpc>
                          <a:spcPct val="150000"/>
                        </a:lnSpc>
                        <a:spcAft>
                          <a:spcPts val="0"/>
                        </a:spcAft>
                      </a:pPr>
                      <a:r>
                        <a:rPr lang="zh-CN" sz="1600" b="1" kern="100" dirty="0">
                          <a:solidFill>
                            <a:srgbClr val="0070C0"/>
                          </a:solidFill>
                          <a:latin typeface="Times New Roman" panose="02020603050405020304"/>
                          <a:ea typeface="宋体" panose="02010600030101010101" pitchFamily="2" charset="-122"/>
                          <a:cs typeface="Times New Roman" panose="02020603050405020304"/>
                        </a:rPr>
                        <a:t>抽象工厂模式</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p>
                      <a:pPr algn="ctr">
                        <a:lnSpc>
                          <a:spcPct val="150000"/>
                        </a:lnSpc>
                        <a:spcAft>
                          <a:spcPts val="0"/>
                        </a:spcAft>
                      </a:pPr>
                      <a:r>
                        <a:rPr lang="en-US" sz="1600" b="1" kern="100" dirty="0">
                          <a:solidFill>
                            <a:srgbClr val="0070C0"/>
                          </a:solidFill>
                          <a:latin typeface="Times New Roman" panose="02020603050405020304"/>
                          <a:ea typeface="宋体" panose="02010600030101010101" pitchFamily="2" charset="-122"/>
                          <a:cs typeface="Times New Roman" panose="02020603050405020304"/>
                        </a:rPr>
                        <a:t>(Abstract Factory Pattern)</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150000"/>
                        </a:lnSpc>
                        <a:spcAft>
                          <a:spcPts val="0"/>
                        </a:spcAft>
                        <a:tabLst>
                          <a:tab pos="3056890" algn="l"/>
                        </a:tabLst>
                      </a:pPr>
                      <a:r>
                        <a:rPr lang="zh-CN" sz="1600" b="1" kern="100" dirty="0">
                          <a:latin typeface="Times New Roman" panose="02020603050405020304"/>
                          <a:ea typeface="宋体" panose="02010600030101010101" pitchFamily="2" charset="-122"/>
                          <a:cs typeface="Times New Roman" panose="02020603050405020304"/>
                        </a:rPr>
                        <a:t>提供一个创建一系列相关或相互依赖对象的接口，而无须指定它们具体的类。</a:t>
                      </a:r>
                      <a:endParaRPr lang="zh-CN" sz="1600" b="1"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a:txBody>
                    <a:bodyPr/>
                    <a:lstStyle/>
                    <a:p>
                      <a:pPr algn="ctr">
                        <a:lnSpc>
                          <a:spcPct val="150000"/>
                        </a:lnSpc>
                        <a:spcAft>
                          <a:spcPts val="0"/>
                        </a:spcAft>
                      </a:pPr>
                      <a:r>
                        <a:rPr lang="zh-CN" sz="1600" b="1" kern="100" dirty="0">
                          <a:solidFill>
                            <a:srgbClr val="0070C0"/>
                          </a:solidFill>
                          <a:latin typeface="Times New Roman" panose="02020603050405020304"/>
                          <a:ea typeface="宋体" panose="02010600030101010101" pitchFamily="2" charset="-122"/>
                          <a:cs typeface="Times New Roman" panose="02020603050405020304"/>
                        </a:rPr>
                        <a:t>建造者模式</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p>
                      <a:pPr algn="ctr">
                        <a:lnSpc>
                          <a:spcPct val="150000"/>
                        </a:lnSpc>
                        <a:spcAft>
                          <a:spcPts val="0"/>
                        </a:spcAft>
                        <a:tabLst>
                          <a:tab pos="3056890" algn="l"/>
                        </a:tabLst>
                      </a:pPr>
                      <a:r>
                        <a:rPr lang="en-US" sz="1600" b="1" kern="100" dirty="0">
                          <a:solidFill>
                            <a:srgbClr val="0070C0"/>
                          </a:solidFill>
                          <a:latin typeface="Times New Roman" panose="02020603050405020304"/>
                          <a:ea typeface="宋体" panose="02010600030101010101" pitchFamily="2" charset="-122"/>
                          <a:cs typeface="Times New Roman" panose="02020603050405020304"/>
                        </a:rPr>
                        <a:t>(Builder Pattern)</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150000"/>
                        </a:lnSpc>
                        <a:spcAft>
                          <a:spcPts val="0"/>
                        </a:spcAft>
                        <a:tabLst>
                          <a:tab pos="3056890" algn="l"/>
                        </a:tabLst>
                      </a:pPr>
                      <a:r>
                        <a:rPr lang="zh-CN" sz="1600" b="1" kern="100" dirty="0">
                          <a:latin typeface="Times New Roman" panose="02020603050405020304"/>
                          <a:ea typeface="宋体" panose="02010600030101010101" pitchFamily="2" charset="-122"/>
                          <a:cs typeface="Times New Roman" panose="02020603050405020304"/>
                        </a:rPr>
                        <a:t>将一个复杂对象的构建与它的表示分离，使得同样的构建过程可以创建不同的表示。</a:t>
                      </a:r>
                      <a:endParaRPr lang="zh-CN" sz="1600" b="1"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a:txBody>
                    <a:bodyPr/>
                    <a:lstStyle/>
                    <a:p>
                      <a:pPr algn="ctr">
                        <a:lnSpc>
                          <a:spcPct val="150000"/>
                        </a:lnSpc>
                        <a:spcAft>
                          <a:spcPts val="0"/>
                        </a:spcAft>
                      </a:pPr>
                      <a:r>
                        <a:rPr lang="zh-CN" sz="1600" b="1" kern="100" dirty="0">
                          <a:solidFill>
                            <a:srgbClr val="0070C0"/>
                          </a:solidFill>
                          <a:latin typeface="Times New Roman" panose="02020603050405020304"/>
                          <a:ea typeface="宋体" panose="02010600030101010101" pitchFamily="2" charset="-122"/>
                          <a:cs typeface="Times New Roman" panose="02020603050405020304"/>
                        </a:rPr>
                        <a:t>原型模式</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p>
                      <a:pPr algn="ctr">
                        <a:lnSpc>
                          <a:spcPct val="150000"/>
                        </a:lnSpc>
                        <a:spcAft>
                          <a:spcPts val="0"/>
                        </a:spcAft>
                        <a:tabLst>
                          <a:tab pos="3056890" algn="l"/>
                        </a:tabLst>
                      </a:pPr>
                      <a:r>
                        <a:rPr lang="en-US" sz="1600" b="1" kern="100" dirty="0">
                          <a:solidFill>
                            <a:srgbClr val="0070C0"/>
                          </a:solidFill>
                          <a:latin typeface="Times New Roman" panose="02020603050405020304"/>
                          <a:ea typeface="宋体" panose="02010600030101010101" pitchFamily="2" charset="-122"/>
                          <a:cs typeface="Times New Roman" panose="02020603050405020304"/>
                        </a:rPr>
                        <a:t>(Prototype Pattern)</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150000"/>
                        </a:lnSpc>
                        <a:spcAft>
                          <a:spcPts val="0"/>
                        </a:spcAft>
                        <a:tabLst>
                          <a:tab pos="3056890" algn="l"/>
                        </a:tabLst>
                      </a:pPr>
                      <a:r>
                        <a:rPr lang="zh-CN" sz="1600" b="1" kern="100" dirty="0">
                          <a:latin typeface="Times New Roman" panose="02020603050405020304"/>
                          <a:ea typeface="宋体" panose="02010600030101010101" pitchFamily="2" charset="-122"/>
                          <a:cs typeface="Times New Roman" panose="02020603050405020304"/>
                        </a:rPr>
                        <a:t>使用原型实例指定待创建对象的类型，并且通过复制这个原型来创建新的对象。</a:t>
                      </a:r>
                      <a:endParaRPr lang="zh-CN" sz="1600" b="1"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r h="0">
                <a:tc>
                  <a:txBody>
                    <a:bodyPr/>
                    <a:lstStyle/>
                    <a:p>
                      <a:pPr algn="ctr">
                        <a:lnSpc>
                          <a:spcPct val="150000"/>
                        </a:lnSpc>
                        <a:spcAft>
                          <a:spcPts val="0"/>
                        </a:spcAft>
                      </a:pPr>
                      <a:r>
                        <a:rPr lang="zh-CN" altLang="en-US" sz="1600" b="1" kern="100" dirty="0" smtClean="0">
                          <a:solidFill>
                            <a:srgbClr val="0070C0"/>
                          </a:solidFill>
                          <a:latin typeface="Times New Roman" panose="02020603050405020304"/>
                          <a:ea typeface="宋体" panose="02010600030101010101" pitchFamily="2" charset="-122"/>
                          <a:cs typeface="Times New Roman" panose="02020603050405020304"/>
                        </a:rPr>
                        <a:t>单例</a:t>
                      </a:r>
                      <a:r>
                        <a:rPr lang="zh-CN" sz="1600" b="1" kern="100" dirty="0" smtClean="0">
                          <a:solidFill>
                            <a:srgbClr val="0070C0"/>
                          </a:solidFill>
                          <a:latin typeface="Times New Roman" panose="02020603050405020304"/>
                          <a:ea typeface="宋体" panose="02010600030101010101" pitchFamily="2" charset="-122"/>
                          <a:cs typeface="Times New Roman" panose="02020603050405020304"/>
                        </a:rPr>
                        <a:t>模式</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p>
                      <a:pPr algn="ctr">
                        <a:lnSpc>
                          <a:spcPct val="150000"/>
                        </a:lnSpc>
                        <a:spcAft>
                          <a:spcPts val="0"/>
                        </a:spcAft>
                        <a:tabLst>
                          <a:tab pos="3056890" algn="l"/>
                        </a:tabLst>
                      </a:pPr>
                      <a:r>
                        <a:rPr lang="en-US" sz="1600" b="1" kern="100" dirty="0">
                          <a:solidFill>
                            <a:srgbClr val="0070C0"/>
                          </a:solidFill>
                          <a:latin typeface="Times New Roman" panose="02020603050405020304"/>
                          <a:ea typeface="宋体" panose="02010600030101010101" pitchFamily="2" charset="-122"/>
                          <a:cs typeface="Times New Roman" panose="02020603050405020304"/>
                        </a:rPr>
                        <a:t>(Singleton Pattern)</a:t>
                      </a:r>
                      <a:endParaRPr lang="zh-CN" sz="1600" b="1" kern="100" dirty="0">
                        <a:solidFill>
                          <a:srgbClr val="0070C0"/>
                        </a:solidFill>
                        <a:latin typeface="Times New Roman" panose="02020603050405020304"/>
                        <a:ea typeface="宋体" panose="02010600030101010101" pitchFamily="2" charset="-122"/>
                        <a:cs typeface="Times New Roman" panose="02020603050405020304"/>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l">
                        <a:lnSpc>
                          <a:spcPct val="150000"/>
                        </a:lnSpc>
                        <a:spcAft>
                          <a:spcPts val="0"/>
                        </a:spcAft>
                        <a:tabLst>
                          <a:tab pos="3056890" algn="l"/>
                        </a:tabLst>
                      </a:pPr>
                      <a:r>
                        <a:rPr lang="zh-CN" sz="1600" b="1" kern="100" dirty="0">
                          <a:latin typeface="Times New Roman" panose="02020603050405020304"/>
                          <a:ea typeface="宋体" panose="02010600030101010101" pitchFamily="2" charset="-122"/>
                          <a:cs typeface="Times New Roman" panose="02020603050405020304"/>
                        </a:rPr>
                        <a:t>确保一个类只有一个实例，并提供一个全局访问点来访问这个唯一实例。</a:t>
                      </a:r>
                      <a:endParaRPr lang="zh-CN" sz="1600" b="1" kern="100" dirty="0">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a:solidFill>
                            <a:srgbClr val="FF3300"/>
                          </a:solidFill>
                          <a:latin typeface="Times New Roman" panose="02020603050405020304"/>
                          <a:ea typeface="宋体" panose="02010600030101010101" pitchFamily="2" charset="-122"/>
                          <a:cs typeface="Times New Roman" panose="02020603050405020304"/>
                        </a:rPr>
                        <a:t>★☆☆☆☆</a:t>
                      </a:r>
                      <a:endParaRPr lang="zh-CN" sz="1600" kern="10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50000"/>
                        </a:lnSpc>
                        <a:spcAft>
                          <a:spcPts val="0"/>
                        </a:spcAft>
                        <a:tabLst>
                          <a:tab pos="3056890" algn="l"/>
                        </a:tabLst>
                      </a:pPr>
                      <a:r>
                        <a:rPr lang="zh-CN" sz="1600" kern="100" dirty="0">
                          <a:solidFill>
                            <a:srgbClr val="FF3300"/>
                          </a:solidFill>
                          <a:latin typeface="Times New Roman" panose="02020603050405020304"/>
                          <a:ea typeface="宋体" panose="02010600030101010101" pitchFamily="2" charset="-122"/>
                          <a:cs typeface="Times New Roman" panose="02020603050405020304"/>
                        </a:rPr>
                        <a:t>★★★★☆</a:t>
                      </a:r>
                      <a:endParaRPr lang="zh-CN" sz="1600" kern="100" dirty="0">
                        <a:solidFill>
                          <a:srgbClr val="FF3300"/>
                        </a:solidFill>
                        <a:latin typeface="Times New Roman" panose="02020603050405020304"/>
                        <a:ea typeface="宋体" panose="02010600030101010101" pitchFamily="2" charset="-122"/>
                        <a:cs typeface="Times New Roman" panose="02020603050405020304"/>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r>
            </a:tbl>
          </a:graphicData>
        </a:graphic>
      </p:graphicFrame>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4.1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创建型设计模式</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a:t>
            </a:r>
            <a:r>
              <a:rPr lang="zh-CN" altLang="en-US" sz="2800" b="1" kern="100" dirty="0">
                <a:latin typeface="微软雅黑" panose="020B0503020204020204" pitchFamily="34" charset="-122"/>
                <a:ea typeface="微软雅黑" panose="020B0503020204020204" pitchFamily="34" charset="-122"/>
                <a:cs typeface="Times New Roman" panose="02020603050405020304" pitchFamily="18" charset="0"/>
              </a:rPr>
              <a:t>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内容占位符 2"/>
          <p:cNvSpPr txBox="1"/>
          <p:nvPr/>
        </p:nvSpPr>
        <p:spPr>
          <a:xfrm>
            <a:off x="355647" y="1102675"/>
            <a:ext cx="11144128" cy="5207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b="1" dirty="0" smtClean="0">
                <a:latin typeface="微软雅黑" panose="020B0503020204020204" pitchFamily="34" charset="-122"/>
                <a:ea typeface="微软雅黑" panose="020B0503020204020204" pitchFamily="34" charset="-122"/>
              </a:rPr>
              <a:t> 模式动机</a:t>
            </a:r>
            <a:endParaRPr lang="en-US" altLang="zh-CN"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400" dirty="0" smtClean="0">
                <a:latin typeface="微软雅黑" panose="020B0503020204020204" pitchFamily="34" charset="-122"/>
                <a:ea typeface="微软雅黑" panose="020B0503020204020204" pitchFamily="34" charset="-122"/>
              </a:rPr>
              <a:t>只需</a:t>
            </a:r>
            <a:r>
              <a:rPr lang="zh-CN" altLang="en-US" sz="2400" dirty="0">
                <a:latin typeface="微软雅黑" panose="020B0503020204020204" pitchFamily="34" charset="-122"/>
                <a:ea typeface="微软雅黑" panose="020B0503020204020204" pitchFamily="34" charset="-122"/>
              </a:rPr>
              <a:t>要知道水果的名字则可得到相应的</a:t>
            </a:r>
            <a:r>
              <a:rPr lang="zh-CN" altLang="en-US" sz="2400" dirty="0" smtClean="0">
                <a:latin typeface="微软雅黑" panose="020B0503020204020204" pitchFamily="34" charset="-122"/>
                <a:ea typeface="微软雅黑" panose="020B0503020204020204" pitchFamily="34" charset="-122"/>
              </a:rPr>
              <a:t>水果</a:t>
            </a:r>
            <a:endParaRPr lang="en-US" altLang="zh-CN" sz="24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b="1" dirty="0" smtClean="0">
              <a:latin typeface="微软雅黑" panose="020B0503020204020204" pitchFamily="34" charset="-122"/>
              <a:ea typeface="微软雅黑" panose="020B0503020204020204" pitchFamily="34" charset="-122"/>
            </a:endParaRPr>
          </a:p>
        </p:txBody>
      </p:sp>
      <p:pic>
        <p:nvPicPr>
          <p:cNvPr id="4" name="Picture 18"/>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19417" y="2589039"/>
            <a:ext cx="6668984" cy="2097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5883151" y="5302002"/>
            <a:ext cx="936104" cy="461665"/>
          </a:xfrm>
          <a:prstGeom prst="rect">
            <a:avLst/>
          </a:prstGeom>
          <a:noFill/>
        </p:spPr>
        <p:txBody>
          <a:bodyPr wrap="square" rtlCol="0">
            <a:spAutoFit/>
          </a:bodyPr>
          <a:lstStyle/>
          <a:p>
            <a:r>
              <a:rPr lang="zh-CN" altLang="en-US" b="1" dirty="0" smtClean="0">
                <a:solidFill>
                  <a:srgbClr val="FF0000"/>
                </a:solidFill>
                <a:latin typeface="微软雅黑" panose="020B0503020204020204" pitchFamily="34" charset="-122"/>
                <a:ea typeface="微软雅黑" panose="020B0503020204020204" pitchFamily="34" charset="-122"/>
              </a:rPr>
              <a:t>工 厂</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6" name="TextBox 5"/>
          <p:cNvSpPr txBox="1"/>
          <p:nvPr/>
        </p:nvSpPr>
        <p:spPr>
          <a:xfrm>
            <a:off x="7971383" y="5302002"/>
            <a:ext cx="936104" cy="461665"/>
          </a:xfrm>
          <a:prstGeom prst="rect">
            <a:avLst/>
          </a:prstGeom>
          <a:noFill/>
        </p:spPr>
        <p:txBody>
          <a:bodyPr wrap="square" rtlCol="0">
            <a:spAutoFit/>
          </a:bodyPr>
          <a:lstStyle/>
          <a:p>
            <a:r>
              <a:rPr lang="zh-CN" altLang="en-US" b="1" dirty="0" smtClean="0">
                <a:solidFill>
                  <a:srgbClr val="FF0000"/>
                </a:solidFill>
                <a:latin typeface="微软雅黑" panose="020B0503020204020204" pitchFamily="34" charset="-122"/>
                <a:ea typeface="微软雅黑" panose="020B0503020204020204" pitchFamily="34" charset="-122"/>
              </a:rPr>
              <a:t>产 品</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4010943" y="5302002"/>
            <a:ext cx="936104" cy="461665"/>
          </a:xfrm>
          <a:prstGeom prst="rect">
            <a:avLst/>
          </a:prstGeom>
          <a:noFill/>
        </p:spPr>
        <p:txBody>
          <a:bodyPr wrap="square" rtlCol="0">
            <a:spAutoFit/>
          </a:bodyPr>
          <a:lstStyle/>
          <a:p>
            <a:r>
              <a:rPr lang="zh-CN" altLang="en-US" b="1" dirty="0" smtClean="0">
                <a:solidFill>
                  <a:srgbClr val="FF0000"/>
                </a:solidFill>
                <a:latin typeface="微软雅黑" panose="020B0503020204020204" pitchFamily="34" charset="-122"/>
                <a:ea typeface="微软雅黑" panose="020B0503020204020204" pitchFamily="34" charset="-122"/>
              </a:rPr>
              <a:t>参 数</a:t>
            </a:r>
            <a:endParaRPr lang="zh-CN" altLang="en-US"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a:t>
            </a:r>
            <a:r>
              <a:rPr lang="zh-CN" altLang="en-US" sz="2800" b="1" kern="100" dirty="0">
                <a:latin typeface="微软雅黑" panose="020B0503020204020204" pitchFamily="34" charset="-122"/>
                <a:ea typeface="微软雅黑" panose="020B0503020204020204" pitchFamily="34" charset="-122"/>
                <a:cs typeface="Times New Roman" panose="02020603050405020304" pitchFamily="18" charset="0"/>
              </a:rPr>
              <a:t>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内容占位符 2"/>
          <p:cNvSpPr txBox="1"/>
          <p:nvPr/>
        </p:nvSpPr>
        <p:spPr>
          <a:xfrm>
            <a:off x="355647" y="1102675"/>
            <a:ext cx="11144128" cy="52074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b="1" dirty="0" smtClean="0">
                <a:latin typeface="微软雅黑" panose="020B0503020204020204" pitchFamily="34" charset="-122"/>
                <a:ea typeface="微软雅黑" panose="020B0503020204020204" pitchFamily="34" charset="-122"/>
              </a:rPr>
              <a:t> 模式动机</a:t>
            </a:r>
            <a:endParaRPr lang="en-US" altLang="zh-CN"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只需</a:t>
            </a:r>
            <a:r>
              <a:rPr lang="zh-CN" altLang="en-US" sz="2800" dirty="0">
                <a:latin typeface="微软雅黑" panose="020B0503020204020204" pitchFamily="34" charset="-122"/>
                <a:ea typeface="微软雅黑" panose="020B0503020204020204" pitchFamily="34" charset="-122"/>
              </a:rPr>
              <a:t>要</a:t>
            </a:r>
            <a:r>
              <a:rPr lang="zh-CN" altLang="en-US" sz="2800" dirty="0" smtClean="0">
                <a:latin typeface="微软雅黑" panose="020B0503020204020204" pitchFamily="34" charset="-122"/>
                <a:ea typeface="微软雅黑" panose="020B0503020204020204" pitchFamily="34" charset="-122"/>
              </a:rPr>
              <a:t>知道参数的</a:t>
            </a:r>
            <a:r>
              <a:rPr lang="zh-CN" altLang="en-US" sz="2800" dirty="0">
                <a:latin typeface="微软雅黑" panose="020B0503020204020204" pitchFamily="34" charset="-122"/>
                <a:ea typeface="微软雅黑" panose="020B0503020204020204" pitchFamily="34" charset="-122"/>
              </a:rPr>
              <a:t>名字则可得到相应</a:t>
            </a:r>
            <a:r>
              <a:rPr lang="zh-CN" altLang="en-US" sz="2800" dirty="0" smtClean="0">
                <a:latin typeface="微软雅黑" panose="020B0503020204020204" pitchFamily="34" charset="-122"/>
                <a:ea typeface="微软雅黑" panose="020B0503020204020204" pitchFamily="34" charset="-122"/>
              </a:rPr>
              <a:t>的对象</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软件开发</a:t>
            </a:r>
            <a:r>
              <a:rPr lang="zh-CN" altLang="en-US" sz="2800" dirty="0" smtClean="0">
                <a:latin typeface="微软雅黑" panose="020B0503020204020204" pitchFamily="34" charset="-122"/>
                <a:ea typeface="微软雅黑" panose="020B0503020204020204" pitchFamily="34" charset="-122"/>
              </a:rPr>
              <a:t>时，有时需要创建一些来自于相同父类的类的实例。可以</a:t>
            </a:r>
            <a:r>
              <a:rPr lang="zh-CN" altLang="en-US" sz="2800" dirty="0" smtClean="0">
                <a:solidFill>
                  <a:srgbClr val="FF0000"/>
                </a:solidFill>
                <a:latin typeface="微软雅黑" panose="020B0503020204020204" pitchFamily="34" charset="-122"/>
                <a:ea typeface="微软雅黑" panose="020B0503020204020204" pitchFamily="34" charset="-122"/>
              </a:rPr>
              <a:t>专门定义一个类（工厂）负责创建这些类的实例</a:t>
            </a:r>
            <a:r>
              <a:rPr lang="zh-CN" altLang="en-US" sz="2800" dirty="0" smtClean="0">
                <a:latin typeface="微软雅黑" panose="020B0503020204020204" pitchFamily="34" charset="-122"/>
                <a:ea typeface="微软雅黑" panose="020B0503020204020204" pitchFamily="34" charset="-122"/>
              </a:rPr>
              <a:t>。可以通过传入不同的参数从而获得不同的对象。</a:t>
            </a:r>
            <a:r>
              <a:rPr lang="en-US" altLang="zh-CN" sz="2800" dirty="0" smtClean="0">
                <a:latin typeface="微软雅黑" panose="020B0503020204020204" pitchFamily="34" charset="-122"/>
                <a:ea typeface="微软雅黑" panose="020B0503020204020204" pitchFamily="34" charset="-122"/>
              </a:rPr>
              <a:t>Java</a:t>
            </a:r>
            <a:r>
              <a:rPr lang="zh-CN" altLang="en-US" sz="2800" dirty="0" smtClean="0">
                <a:latin typeface="微软雅黑" panose="020B0503020204020204" pitchFamily="34" charset="-122"/>
                <a:ea typeface="微软雅黑" panose="020B0503020204020204" pitchFamily="34" charset="-122"/>
              </a:rPr>
              <a:t>中可以将创建其他类实例的方法定义为</a:t>
            </a:r>
            <a:r>
              <a:rPr lang="en-US" altLang="zh-CN" sz="2800" dirty="0" smtClean="0">
                <a:solidFill>
                  <a:srgbClr val="FF0000"/>
                </a:solidFill>
                <a:latin typeface="微软雅黑" panose="020B0503020204020204" pitchFamily="34" charset="-122"/>
                <a:ea typeface="微软雅黑" panose="020B0503020204020204" pitchFamily="34" charset="-122"/>
              </a:rPr>
              <a:t>static</a:t>
            </a:r>
            <a:r>
              <a:rPr lang="zh-CN" altLang="en-US" sz="2800" dirty="0" smtClean="0">
                <a:solidFill>
                  <a:srgbClr val="FF0000"/>
                </a:solidFill>
                <a:latin typeface="微软雅黑" panose="020B0503020204020204" pitchFamily="34" charset="-122"/>
                <a:ea typeface="微软雅黑" panose="020B0503020204020204" pitchFamily="34" charset="-122"/>
              </a:rPr>
              <a:t>方法</a:t>
            </a:r>
            <a:r>
              <a:rPr lang="zh-CN" altLang="en-US" sz="2800" dirty="0" smtClean="0">
                <a:latin typeface="微软雅黑" panose="020B0503020204020204" pitchFamily="34" charset="-122"/>
                <a:ea typeface="微软雅黑" panose="020B0503020204020204" pitchFamily="34" charset="-122"/>
              </a:rPr>
              <a:t>，外部不需要实例化这个类就可以直接调用该方法来获得需要的对象，该方法也被称为静态工厂方法。</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这样的设计模式就是</a:t>
            </a:r>
            <a:r>
              <a:rPr lang="en-US" altLang="zh-CN" sz="2800" dirty="0" smtClean="0">
                <a:latin typeface="微软雅黑" panose="020B0503020204020204" pitchFamily="34" charset="-122"/>
                <a:ea typeface="微软雅黑" panose="020B0503020204020204" pitchFamily="34" charset="-122"/>
              </a:rPr>
              <a:t>——</a:t>
            </a:r>
            <a:r>
              <a:rPr lang="zh-CN" altLang="en-US" sz="2800" b="1" dirty="0" smtClean="0">
                <a:solidFill>
                  <a:srgbClr val="FF0000"/>
                </a:solidFill>
                <a:latin typeface="微软雅黑" panose="020B0503020204020204" pitchFamily="34" charset="-122"/>
                <a:ea typeface="微软雅黑" panose="020B0503020204020204" pitchFamily="34" charset="-122"/>
              </a:rPr>
              <a:t>简单工厂模式</a:t>
            </a:r>
            <a:endParaRPr lang="en-US" altLang="zh-CN" sz="2800" b="1" dirty="0" smtClean="0">
              <a:solidFill>
                <a:srgbClr val="FF0000"/>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endParaRPr lang="en-US" altLang="zh-CN"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4.2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a:t>
            </a:r>
            <a:r>
              <a:rPr lang="zh-CN" altLang="en-US" sz="2800" b="1" kern="100" dirty="0">
                <a:latin typeface="微软雅黑" panose="020B0503020204020204" pitchFamily="34" charset="-122"/>
                <a:ea typeface="微软雅黑" panose="020B0503020204020204" pitchFamily="34" charset="-122"/>
                <a:cs typeface="Times New Roman" panose="02020603050405020304" pitchFamily="18" charset="0"/>
              </a:rPr>
              <a:t>动机与定义</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36079" y="1197547"/>
            <a:ext cx="11144128" cy="18722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模式定义</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简单工厂模式</a:t>
            </a:r>
            <a:r>
              <a:rPr lang="en-US" altLang="zh-CN" sz="2800" dirty="0">
                <a:latin typeface="微软雅黑" panose="020B0503020204020204" pitchFamily="34" charset="-122"/>
                <a:ea typeface="微软雅黑" panose="020B0503020204020204" pitchFamily="34" charset="-122"/>
              </a:rPr>
              <a:t>(Simple Factory Pattern)</a:t>
            </a:r>
            <a:r>
              <a:rPr lang="zh-CN" altLang="en-US" sz="2800" dirty="0">
                <a:latin typeface="微软雅黑" panose="020B0503020204020204" pitchFamily="34" charset="-122"/>
                <a:ea typeface="微软雅黑" panose="020B0503020204020204" pitchFamily="34" charset="-122"/>
              </a:rPr>
              <a:t>：又称为</a:t>
            </a:r>
            <a:r>
              <a:rPr lang="zh-CN" altLang="en-US" sz="2800" dirty="0">
                <a:solidFill>
                  <a:srgbClr val="EC7328"/>
                </a:solidFill>
                <a:latin typeface="微软雅黑" panose="020B0503020204020204" pitchFamily="34" charset="-122"/>
                <a:ea typeface="微软雅黑" panose="020B0503020204020204" pitchFamily="34" charset="-122"/>
              </a:rPr>
              <a:t>静态工厂方法</a:t>
            </a:r>
            <a:r>
              <a:rPr lang="en-US" altLang="zh-CN" sz="2800" dirty="0">
                <a:solidFill>
                  <a:srgbClr val="EC7328"/>
                </a:solidFill>
                <a:latin typeface="微软雅黑" panose="020B0503020204020204" pitchFamily="34" charset="-122"/>
                <a:ea typeface="微软雅黑" panose="020B0503020204020204" pitchFamily="34" charset="-122"/>
              </a:rPr>
              <a:t>(Static Factory Method)</a:t>
            </a:r>
            <a:r>
              <a:rPr lang="zh-CN" altLang="en-US" sz="2800" dirty="0">
                <a:solidFill>
                  <a:srgbClr val="EC7328"/>
                </a:solidFill>
                <a:latin typeface="微软雅黑" panose="020B0503020204020204" pitchFamily="34" charset="-122"/>
                <a:ea typeface="微软雅黑" panose="020B0503020204020204" pitchFamily="34" charset="-122"/>
              </a:rPr>
              <a:t>模式</a:t>
            </a:r>
            <a:r>
              <a:rPr lang="zh-CN" altLang="en-US" sz="2800" dirty="0">
                <a:latin typeface="微软雅黑" panose="020B0503020204020204" pitchFamily="34" charset="-122"/>
                <a:ea typeface="微软雅黑" panose="020B0503020204020204" pitchFamily="34" charset="-122"/>
              </a:rPr>
              <a:t>，它属于类创建型</a:t>
            </a:r>
            <a:r>
              <a:rPr lang="zh-CN" altLang="en-US" sz="2800" dirty="0" smtClean="0">
                <a:latin typeface="微软雅黑" panose="020B0503020204020204" pitchFamily="34" charset="-122"/>
                <a:ea typeface="微软雅黑" panose="020B0503020204020204" pitchFamily="34" charset="-122"/>
              </a:rPr>
              <a:t>模式</a:t>
            </a:r>
            <a:endParaRPr lang="en-US" altLang="zh-CN" sz="2400" b="1" dirty="0" smtClean="0">
              <a:latin typeface="微软雅黑" panose="020B0503020204020204" pitchFamily="34" charset="-122"/>
              <a:ea typeface="微软雅黑" panose="020B0503020204020204" pitchFamily="34" charset="-122"/>
            </a:endParaRPr>
          </a:p>
        </p:txBody>
      </p:sp>
      <p:sp>
        <p:nvSpPr>
          <p:cNvPr id="6" name="TextBox 5"/>
          <p:cNvSpPr txBox="1"/>
          <p:nvPr/>
        </p:nvSpPr>
        <p:spPr>
          <a:xfrm>
            <a:off x="1667683" y="3501802"/>
            <a:ext cx="8679964" cy="203132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50000"/>
              </a:lnSpc>
            </a:pPr>
            <a:r>
              <a:rPr lang="zh-CN" altLang="en-US" sz="2800" dirty="0" smtClean="0">
                <a:latin typeface="微软雅黑" panose="020B0503020204020204" pitchFamily="34" charset="-122"/>
                <a:ea typeface="微软雅黑" panose="020B0503020204020204" pitchFamily="34" charset="-122"/>
              </a:rPr>
              <a:t>  专门</a:t>
            </a:r>
            <a:r>
              <a:rPr lang="zh-CN" altLang="en-US" sz="2800" dirty="0">
                <a:latin typeface="微软雅黑" panose="020B0503020204020204" pitchFamily="34" charset="-122"/>
                <a:ea typeface="微软雅黑" panose="020B0503020204020204" pitchFamily="34" charset="-122"/>
              </a:rPr>
              <a:t>定义一个类来负责创建其他类的实例</a:t>
            </a:r>
            <a:r>
              <a:rPr lang="zh-CN" altLang="en-US" sz="2800" dirty="0" smtClean="0"/>
              <a:t>，</a:t>
            </a:r>
            <a:r>
              <a:rPr lang="zh-CN" altLang="en-US" sz="2800" dirty="0">
                <a:latin typeface="微软雅黑" panose="020B0503020204020204" pitchFamily="34" charset="-122"/>
                <a:ea typeface="微软雅黑" panose="020B0503020204020204" pitchFamily="34" charset="-122"/>
              </a:rPr>
              <a:t>可以</a:t>
            </a:r>
            <a:r>
              <a:rPr lang="zh-CN" altLang="en-US" sz="2800" dirty="0">
                <a:solidFill>
                  <a:srgbClr val="EC7328"/>
                </a:solidFill>
                <a:latin typeface="微软雅黑" panose="020B0503020204020204" pitchFamily="34" charset="-122"/>
                <a:ea typeface="微软雅黑" panose="020B0503020204020204" pitchFamily="34" charset="-122"/>
              </a:rPr>
              <a:t>根据参数的不同返回不同类的实例</a:t>
            </a:r>
            <a:r>
              <a:rPr lang="zh-CN" altLang="en-US" sz="2800" dirty="0" smtClean="0"/>
              <a:t>，</a:t>
            </a:r>
            <a:r>
              <a:rPr lang="zh-CN" altLang="en-US" sz="2800" dirty="0">
                <a:solidFill>
                  <a:srgbClr val="EC7328"/>
                </a:solidFill>
                <a:latin typeface="微软雅黑" panose="020B0503020204020204" pitchFamily="34" charset="-122"/>
                <a:ea typeface="微软雅黑" panose="020B0503020204020204" pitchFamily="34" charset="-122"/>
              </a:rPr>
              <a:t>被创建的实例通常都具有共同的父类</a:t>
            </a:r>
            <a:r>
              <a:rPr lang="zh-CN" altLang="en-US" sz="2800" dirty="0" smtClean="0"/>
              <a:t>。</a:t>
            </a:r>
            <a:endParaRPr lang="zh-CN" altLang="en-US" sz="2800" dirty="0"/>
          </a:p>
        </p:txBody>
      </p:sp>
    </p:spTree>
  </p:cSld>
  <p:clrMapOvr>
    <a:masterClrMapping/>
  </p:clrMapOvr>
  <p:transition spd="slow" advTm="0">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18655" y="1773610"/>
            <a:ext cx="9179639"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236079" y="1197547"/>
            <a:ext cx="11144128" cy="15841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 </a:t>
            </a:r>
            <a:r>
              <a:rPr lang="zh-CN" altLang="en-US" b="1" dirty="0" smtClean="0">
                <a:latin typeface="微软雅黑" panose="020B0503020204020204" pitchFamily="34" charset="-122"/>
                <a:ea typeface="微软雅黑" panose="020B0503020204020204" pitchFamily="34" charset="-122"/>
              </a:rPr>
              <a:t>模式结构</a:t>
            </a:r>
            <a:endParaRPr lang="en-US" altLang="zh-CN" b="1" dirty="0" smtClean="0">
              <a:latin typeface="微软雅黑" panose="020B0503020204020204" pitchFamily="34" charset="-122"/>
              <a:ea typeface="微软雅黑" panose="020B0503020204020204" pitchFamily="34" charset="-122"/>
            </a:endParaRPr>
          </a:p>
          <a:p>
            <a:pPr marL="800100" lvl="1" indent="-342900" algn="l">
              <a:lnSpc>
                <a:spcPct val="120000"/>
              </a:lnSpc>
              <a:spcBef>
                <a:spcPts val="0"/>
              </a:spcBef>
              <a:buClr>
                <a:srgbClr val="EC7328"/>
              </a:buClr>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简单工厂模式包含如下角色：</a:t>
            </a:r>
            <a:endParaRPr lang="zh-CN" altLang="en-US" sz="2400" dirty="0">
              <a:latin typeface="微软雅黑" panose="020B0503020204020204" pitchFamily="34" charset="-122"/>
              <a:ea typeface="微软雅黑" panose="020B0503020204020204" pitchFamily="34" charset="-122"/>
            </a:endParaRPr>
          </a:p>
          <a:p>
            <a:pPr marL="1257300" lvl="2" indent="-342900" algn="l">
              <a:lnSpc>
                <a:spcPct val="120000"/>
              </a:lnSpc>
              <a:spcBef>
                <a:spcPts val="0"/>
              </a:spcBef>
              <a:buClr>
                <a:srgbClr val="EC7328"/>
              </a:buClr>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Factory</a:t>
            </a:r>
            <a:r>
              <a:rPr lang="zh-CN" altLang="en-US" sz="2400" dirty="0">
                <a:latin typeface="微软雅黑" panose="020B0503020204020204" pitchFamily="34" charset="-122"/>
                <a:ea typeface="微软雅黑" panose="020B0503020204020204" pitchFamily="34" charset="-122"/>
              </a:rPr>
              <a:t>：工厂角色</a:t>
            </a:r>
            <a:endParaRPr lang="zh-CN" altLang="en-US" sz="2400" dirty="0">
              <a:latin typeface="微软雅黑" panose="020B0503020204020204" pitchFamily="34" charset="-122"/>
              <a:ea typeface="微软雅黑" panose="020B0503020204020204" pitchFamily="34" charset="-122"/>
            </a:endParaRPr>
          </a:p>
          <a:p>
            <a:pPr marL="1257300" lvl="2" indent="-342900" algn="l">
              <a:lnSpc>
                <a:spcPct val="120000"/>
              </a:lnSpc>
              <a:spcBef>
                <a:spcPts val="0"/>
              </a:spcBef>
              <a:buClr>
                <a:srgbClr val="EC7328"/>
              </a:buClr>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Product</a:t>
            </a:r>
            <a:r>
              <a:rPr lang="zh-CN" altLang="en-US" sz="2400" dirty="0">
                <a:latin typeface="微软雅黑" panose="020B0503020204020204" pitchFamily="34" charset="-122"/>
                <a:ea typeface="微软雅黑" panose="020B0503020204020204" pitchFamily="34" charset="-122"/>
              </a:rPr>
              <a:t>：抽象产品角色</a:t>
            </a:r>
            <a:endParaRPr lang="zh-CN" altLang="en-US" sz="2400" dirty="0">
              <a:latin typeface="微软雅黑" panose="020B0503020204020204" pitchFamily="34" charset="-122"/>
              <a:ea typeface="微软雅黑" panose="020B0503020204020204" pitchFamily="34" charset="-122"/>
            </a:endParaRPr>
          </a:p>
          <a:p>
            <a:pPr marL="1257300" lvl="2" indent="-342900" algn="l">
              <a:lnSpc>
                <a:spcPct val="120000"/>
              </a:lnSpc>
              <a:spcBef>
                <a:spcPts val="0"/>
              </a:spcBef>
              <a:buClr>
                <a:srgbClr val="EC7328"/>
              </a:buClr>
              <a:buFont typeface="Arial" panose="020B0604020202020204" pitchFamily="34" charset="0"/>
              <a:buChar char="•"/>
            </a:pPr>
            <a:r>
              <a:rPr lang="en-US" altLang="zh-CN" sz="2400" dirty="0" err="1">
                <a:latin typeface="微软雅黑" panose="020B0503020204020204" pitchFamily="34" charset="-122"/>
                <a:ea typeface="微软雅黑" panose="020B0503020204020204" pitchFamily="34" charset="-122"/>
              </a:rPr>
              <a:t>ConcreteProduct</a:t>
            </a:r>
            <a:r>
              <a:rPr lang="zh-CN" altLang="en-US" sz="2400" dirty="0">
                <a:latin typeface="微软雅黑" panose="020B0503020204020204" pitchFamily="34" charset="-122"/>
                <a:ea typeface="微软雅黑" panose="020B0503020204020204" pitchFamily="34" charset="-122"/>
              </a:rPr>
              <a:t>：具体产品角色</a:t>
            </a:r>
            <a:endParaRPr lang="zh-CN" altLang="en-US" sz="2400" dirty="0">
              <a:latin typeface="微软雅黑" panose="020B0503020204020204" pitchFamily="34" charset="-122"/>
              <a:ea typeface="微软雅黑" panose="020B0503020204020204" pitchFamily="34" charset="-122"/>
            </a:endParaRPr>
          </a:p>
          <a:p>
            <a:pPr algn="l">
              <a:buClr>
                <a:srgbClr val="EC7328"/>
              </a:buClr>
              <a:buFont typeface="Wingdings" panose="05000000000000000000" pitchFamily="2" charset="2"/>
              <a:buChar char="l"/>
            </a:pPr>
            <a:endParaRPr lang="en-US" altLang="zh-CN"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50903" y="2641518"/>
            <a:ext cx="7307431" cy="3668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txBox="1"/>
          <p:nvPr/>
        </p:nvSpPr>
        <p:spPr>
          <a:xfrm>
            <a:off x="524111" y="1197547"/>
            <a:ext cx="7591288" cy="24482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buClr>
                <a:srgbClr val="EC7328"/>
              </a:buClr>
              <a:buFont typeface="Wingdings" panose="05000000000000000000" pitchFamily="2" charset="2"/>
              <a:buChar char="l"/>
            </a:pPr>
            <a:r>
              <a:rPr lang="zh-CN" altLang="en-US" b="1"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Factory</a:t>
            </a:r>
            <a:r>
              <a:rPr lang="zh-CN" altLang="en-US" b="1" dirty="0">
                <a:latin typeface="微软雅黑" panose="020B0503020204020204" pitchFamily="34" charset="-122"/>
                <a:ea typeface="微软雅黑" panose="020B0503020204020204" pitchFamily="34" charset="-122"/>
              </a:rPr>
              <a:t>：工厂</a:t>
            </a:r>
            <a:r>
              <a:rPr lang="zh-CN" altLang="en-US" b="1" dirty="0" smtClean="0">
                <a:latin typeface="微软雅黑" panose="020B0503020204020204" pitchFamily="34" charset="-122"/>
                <a:ea typeface="微软雅黑" panose="020B0503020204020204" pitchFamily="34" charset="-122"/>
              </a:rPr>
              <a:t>角色</a:t>
            </a:r>
            <a:endParaRPr lang="en-US" altLang="zh-CN" b="1" dirty="0" smtClean="0">
              <a:latin typeface="微软雅黑" panose="020B0503020204020204" pitchFamily="34" charset="-122"/>
              <a:ea typeface="微软雅黑" panose="020B0503020204020204" pitchFamily="34" charset="-122"/>
            </a:endParaRPr>
          </a:p>
          <a:p>
            <a:pPr algn="l">
              <a:lnSpc>
                <a:spcPct val="120000"/>
              </a:lnSpc>
              <a:buClr>
                <a:srgbClr val="EC7328"/>
              </a:buClr>
            </a:pPr>
            <a:r>
              <a:rPr lang="zh-CN" altLang="en-US" dirty="0" smtClean="0">
                <a:latin typeface="微软雅黑" panose="020B0503020204020204" pitchFamily="34" charset="-122"/>
                <a:ea typeface="微软雅黑" panose="020B0503020204020204" pitchFamily="34" charset="-122"/>
              </a:rPr>
              <a:t>即工厂类，简单工厂模式的核心，负责实现创建所有实例的内部逻辑；工厂类可被外部直接调用，创建所需的产品对象；工厂类中提供了静态的工厂方法（</a:t>
            </a:r>
            <a:r>
              <a:rPr lang="en-US" altLang="zh-CN" dirty="0" err="1" smtClean="0">
                <a:latin typeface="微软雅黑" panose="020B0503020204020204" pitchFamily="34" charset="-122"/>
                <a:ea typeface="微软雅黑" panose="020B0503020204020204" pitchFamily="34" charset="-122"/>
              </a:rPr>
              <a:t>factoryMethod</a:t>
            </a:r>
            <a:r>
              <a:rPr lang="en-US" altLang="zh-CN" dirty="0" smtClean="0">
                <a:latin typeface="微软雅黑" panose="020B0503020204020204" pitchFamily="34" charset="-122"/>
                <a:ea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rPr>
              <a:t>，它返回一个抽象产品类</a:t>
            </a:r>
            <a:r>
              <a:rPr lang="en-US" altLang="zh-CN" dirty="0" smtClean="0">
                <a:latin typeface="微软雅黑" panose="020B0503020204020204" pitchFamily="34" charset="-122"/>
                <a:ea typeface="微软雅黑" panose="020B0503020204020204" pitchFamily="34" charset="-122"/>
              </a:rPr>
              <a:t>Product</a:t>
            </a:r>
            <a:r>
              <a:rPr lang="zh-CN" altLang="en-US" dirty="0" smtClean="0">
                <a:latin typeface="微软雅黑" panose="020B0503020204020204" pitchFamily="34" charset="-122"/>
                <a:ea typeface="微软雅黑" panose="020B0503020204020204" pitchFamily="34" charset="-122"/>
              </a:rPr>
              <a:t>，所有具体产品都是抽象产品的子类。）</a:t>
            </a:r>
            <a:endParaRPr lang="zh-CN" altLang="en-US" dirty="0">
              <a:latin typeface="微软雅黑" panose="020B0503020204020204" pitchFamily="34" charset="-122"/>
              <a:ea typeface="微软雅黑" panose="020B0503020204020204" pitchFamily="34" charset="-122"/>
            </a:endParaRPr>
          </a:p>
          <a:p>
            <a:pPr algn="l">
              <a:lnSpc>
                <a:spcPct val="120000"/>
              </a:lnSpc>
              <a:buClr>
                <a:srgbClr val="EC7328"/>
              </a:buClr>
            </a:pPr>
            <a:endParaRPr lang="en-US" altLang="zh-CN" b="1" dirty="0" smtClean="0">
              <a:latin typeface="微软雅黑" panose="020B0503020204020204" pitchFamily="34" charset="-122"/>
              <a:ea typeface="微软雅黑" panose="020B0503020204020204" pitchFamily="34" charset="-122"/>
            </a:endParaRPr>
          </a:p>
        </p:txBody>
      </p:sp>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50903" y="2641518"/>
            <a:ext cx="7307431" cy="3668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txBox="1"/>
          <p:nvPr/>
        </p:nvSpPr>
        <p:spPr>
          <a:xfrm>
            <a:off x="524111" y="1197547"/>
            <a:ext cx="7591288" cy="24482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buClr>
                <a:srgbClr val="EC7328"/>
              </a:buClr>
              <a:buFont typeface="Wingdings" panose="05000000000000000000" pitchFamily="2" charset="2"/>
              <a:buChar char="l"/>
            </a:pPr>
            <a:r>
              <a:rPr lang="zh-CN" altLang="en-US" b="1" dirty="0" smtClean="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Product</a:t>
            </a:r>
            <a:r>
              <a:rPr lang="zh-CN" altLang="en-US" b="1" dirty="0">
                <a:latin typeface="微软雅黑" panose="020B0503020204020204" pitchFamily="34" charset="-122"/>
                <a:ea typeface="微软雅黑" panose="020B0503020204020204" pitchFamily="34" charset="-122"/>
              </a:rPr>
              <a:t>：抽象产品角色</a:t>
            </a:r>
            <a:endParaRPr lang="zh-CN" altLang="en-US" b="1" dirty="0">
              <a:latin typeface="微软雅黑" panose="020B0503020204020204" pitchFamily="34" charset="-122"/>
              <a:ea typeface="微软雅黑" panose="020B0503020204020204" pitchFamily="34" charset="-122"/>
            </a:endParaRPr>
          </a:p>
          <a:p>
            <a:pPr algn="l">
              <a:lnSpc>
                <a:spcPct val="150000"/>
              </a:lnSpc>
              <a:buClr>
                <a:srgbClr val="EC7328"/>
              </a:buClr>
            </a:pPr>
            <a:r>
              <a:rPr lang="zh-CN" altLang="en-US" dirty="0" smtClean="0">
                <a:latin typeface="微软雅黑" panose="020B0503020204020204" pitchFamily="34" charset="-122"/>
                <a:ea typeface="微软雅黑" panose="020B0503020204020204" pitchFamily="34" charset="-122"/>
              </a:rPr>
              <a:t>创建的所有对象的父类，描述所有实例所共有的公共接口。工厂类中只需要定义一个工厂方法，所有创建的具体产品对象都是其子类对象。</a:t>
            </a:r>
            <a:endParaRPr lang="zh-CN" altLang="en-US" dirty="0">
              <a:latin typeface="微软雅黑" panose="020B0503020204020204" pitchFamily="34" charset="-122"/>
              <a:ea typeface="微软雅黑" panose="020B0503020204020204" pitchFamily="34" charset="-122"/>
            </a:endParaRPr>
          </a:p>
          <a:p>
            <a:pPr algn="l">
              <a:lnSpc>
                <a:spcPct val="120000"/>
              </a:lnSpc>
              <a:buClr>
                <a:srgbClr val="EC7328"/>
              </a:buClr>
            </a:pPr>
            <a:endParaRPr lang="en-US" altLang="zh-CN" b="1" dirty="0" smtClean="0">
              <a:latin typeface="微软雅黑" panose="020B0503020204020204" pitchFamily="34" charset="-122"/>
              <a:ea typeface="微软雅黑" panose="020B0503020204020204" pitchFamily="34" charset="-122"/>
            </a:endParaRPr>
          </a:p>
        </p:txBody>
      </p:sp>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650903" y="2641518"/>
            <a:ext cx="7307431" cy="3668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txBox="1"/>
          <p:nvPr/>
        </p:nvSpPr>
        <p:spPr>
          <a:xfrm>
            <a:off x="524111" y="1197547"/>
            <a:ext cx="7591288" cy="244827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buClr>
                <a:srgbClr val="EC7328"/>
              </a:buClr>
              <a:buFont typeface="Wingdings" panose="05000000000000000000" pitchFamily="2" charset="2"/>
              <a:buChar char="l"/>
            </a:pPr>
            <a:r>
              <a:rPr lang="zh-CN" altLang="en-US" b="1" dirty="0" smtClean="0">
                <a:latin typeface="微软雅黑" panose="020B0503020204020204" pitchFamily="34" charset="-122"/>
                <a:ea typeface="微软雅黑" panose="020B0503020204020204" pitchFamily="34" charset="-122"/>
              </a:rPr>
              <a:t> </a:t>
            </a:r>
            <a:r>
              <a:rPr lang="en-US" altLang="zh-CN" b="1" dirty="0" err="1">
                <a:latin typeface="微软雅黑" panose="020B0503020204020204" pitchFamily="34" charset="-122"/>
                <a:ea typeface="微软雅黑" panose="020B0503020204020204" pitchFamily="34" charset="-122"/>
              </a:rPr>
              <a:t>ConcreteProduct</a:t>
            </a:r>
            <a:r>
              <a:rPr lang="zh-CN" altLang="en-US" b="1" dirty="0">
                <a:latin typeface="微软雅黑" panose="020B0503020204020204" pitchFamily="34" charset="-122"/>
                <a:ea typeface="微软雅黑" panose="020B0503020204020204" pitchFamily="34" charset="-122"/>
              </a:rPr>
              <a:t>：具体产品角色</a:t>
            </a:r>
            <a:endParaRPr lang="zh-CN" altLang="en-US" b="1" dirty="0">
              <a:latin typeface="微软雅黑" panose="020B0503020204020204" pitchFamily="34" charset="-122"/>
              <a:ea typeface="微软雅黑" panose="020B0503020204020204" pitchFamily="34" charset="-122"/>
            </a:endParaRPr>
          </a:p>
          <a:p>
            <a:pPr algn="l">
              <a:lnSpc>
                <a:spcPct val="150000"/>
              </a:lnSpc>
              <a:buClr>
                <a:srgbClr val="EC7328"/>
              </a:buClr>
            </a:pPr>
            <a:r>
              <a:rPr lang="zh-CN" altLang="en-US" dirty="0">
                <a:latin typeface="微软雅黑" panose="020B0503020204020204" pitchFamily="34" charset="-122"/>
                <a:ea typeface="微软雅黑" panose="020B0503020204020204" pitchFamily="34" charset="-122"/>
              </a:rPr>
              <a:t>即</a:t>
            </a:r>
            <a:r>
              <a:rPr lang="zh-CN" altLang="en-US" dirty="0" smtClean="0">
                <a:latin typeface="微软雅黑" panose="020B0503020204020204" pitchFamily="34" charset="-122"/>
                <a:ea typeface="微软雅黑" panose="020B0503020204020204" pitchFamily="34" charset="-122"/>
              </a:rPr>
              <a:t>创建目标，所有创建的对象都充当这个角色的某个具体类的实例。继承了抽象产品角色，需要实现定义在抽象产品类中的抽象方法。</a:t>
            </a:r>
            <a:endParaRPr lang="zh-CN" altLang="en-US" dirty="0">
              <a:latin typeface="微软雅黑" panose="020B0503020204020204" pitchFamily="34" charset="-122"/>
              <a:ea typeface="微软雅黑" panose="020B0503020204020204" pitchFamily="34" charset="-122"/>
            </a:endParaRPr>
          </a:p>
          <a:p>
            <a:pPr algn="l">
              <a:lnSpc>
                <a:spcPct val="120000"/>
              </a:lnSpc>
              <a:buClr>
                <a:srgbClr val="EC7328"/>
              </a:buClr>
            </a:pPr>
            <a:endParaRPr lang="en-US" altLang="zh-CN" b="1" dirty="0" smtClean="0">
              <a:latin typeface="微软雅黑" panose="020B0503020204020204" pitchFamily="34" charset="-122"/>
              <a:ea typeface="微软雅黑" panose="020B0503020204020204" pitchFamily="34" charset="-122"/>
            </a:endParaRPr>
          </a:p>
        </p:txBody>
      </p:sp>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761455" y="1773610"/>
            <a:ext cx="8506072" cy="4752528"/>
          </a:xfrm>
          <a:prstGeom prst="rect">
            <a:avLst/>
          </a:prstGeom>
        </p:spPr>
        <p:style>
          <a:lnRef idx="1">
            <a:schemeClr val="accent3"/>
          </a:lnRef>
          <a:fillRef idx="2">
            <a:schemeClr val="accent3"/>
          </a:fillRef>
          <a:effectRef idx="1">
            <a:schemeClr val="accent3"/>
          </a:effectRef>
          <a:fontRef idx="minor">
            <a:schemeClr val="dk1"/>
          </a:fontRef>
        </p:style>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lvl="0" indent="-342900" defTabSz="914400" fontAlgn="base">
              <a:lnSpc>
                <a:spcPct val="85000"/>
              </a:lnSpc>
              <a:spcBef>
                <a:spcPct val="0"/>
              </a:spcBef>
              <a:spcAft>
                <a:spcPct val="0"/>
              </a:spcAft>
              <a:buNone/>
            </a:pPr>
            <a:r>
              <a:rPr lang="en-US" altLang="zh-CN" sz="2400" b="1" kern="0" dirty="0" smtClean="0">
                <a:solidFill>
                  <a:srgbClr val="0000CC"/>
                </a:solidFill>
                <a:latin typeface="Arial" panose="020B0604020202020204"/>
              </a:rPr>
              <a:t>public</a:t>
            </a:r>
            <a:r>
              <a:rPr lang="en-US" altLang="zh-CN" sz="2400" b="1" kern="0" dirty="0" smtClean="0">
                <a:solidFill>
                  <a:srgbClr val="000000"/>
                </a:solidFill>
                <a:latin typeface="Arial" panose="020B0604020202020204"/>
              </a:rPr>
              <a:t> void pay</a:t>
            </a:r>
            <a:r>
              <a:rPr lang="en-US" altLang="zh-CN" sz="2400" b="1" kern="0" dirty="0">
                <a:solidFill>
                  <a:srgbClr val="000000"/>
                </a:solidFill>
                <a:latin typeface="Arial" panose="020B0604020202020204"/>
              </a:rPr>
              <a:t>(</a:t>
            </a:r>
            <a:r>
              <a:rPr lang="en-US" altLang="zh-CN" sz="2400" b="1" kern="0" dirty="0" smtClean="0">
                <a:solidFill>
                  <a:srgbClr val="000000"/>
                </a:solidFill>
                <a:latin typeface="Arial" panose="020B0604020202020204"/>
              </a:rPr>
              <a:t>String </a:t>
            </a:r>
            <a:r>
              <a:rPr lang="en-US" altLang="zh-CN" sz="2400" b="1" kern="0" dirty="0" smtClean="0">
                <a:solidFill>
                  <a:srgbClr val="0000CC"/>
                </a:solidFill>
                <a:latin typeface="Arial" panose="020B0604020202020204"/>
              </a:rPr>
              <a:t>type</a:t>
            </a:r>
            <a:r>
              <a:rPr lang="en-US" altLang="zh-CN" sz="2400" b="1" kern="0" dirty="0" smtClean="0">
                <a:solidFill>
                  <a:srgbClr val="000000"/>
                </a:solidFill>
                <a:latin typeface="Arial" panose="020B0604020202020204"/>
              </a:rPr>
              <a:t>)</a:t>
            </a:r>
            <a:endParaRPr lang="en-US" altLang="zh-CN" sz="2400" b="1" kern="0" dirty="0" smtClean="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   if(</a:t>
            </a:r>
            <a:r>
              <a:rPr lang="en-US" altLang="zh-CN" sz="2400" b="1" kern="0" dirty="0" err="1">
                <a:solidFill>
                  <a:srgbClr val="0000CC"/>
                </a:solidFill>
                <a:latin typeface="Arial" panose="020B0604020202020204"/>
              </a:rPr>
              <a:t>type</a:t>
            </a:r>
            <a:r>
              <a:rPr lang="en-US" altLang="zh-CN" sz="2400" b="1" kern="0" dirty="0" err="1" smtClean="0">
                <a:solidFill>
                  <a:srgbClr val="000000"/>
                </a:solidFill>
                <a:latin typeface="Arial" panose="020B0604020202020204"/>
              </a:rPr>
              <a:t>.equalsIgnoreCase</a:t>
            </a:r>
            <a:r>
              <a:rPr lang="en-US" altLang="zh-CN" sz="2400" b="1" kern="0" dirty="0" smtClean="0">
                <a:solidFill>
                  <a:srgbClr val="000000"/>
                </a:solidFill>
                <a:latin typeface="Arial" panose="020B0604020202020204"/>
              </a:rPr>
              <a:t>(“</a:t>
            </a:r>
            <a:r>
              <a:rPr lang="en-US" altLang="zh-CN" sz="2400" b="1" kern="0" dirty="0" smtClean="0">
                <a:solidFill>
                  <a:srgbClr val="FF0000"/>
                </a:solidFill>
                <a:latin typeface="Arial" panose="020B0604020202020204"/>
              </a:rPr>
              <a:t>cash</a:t>
            </a:r>
            <a:r>
              <a:rPr lang="en-US" altLang="zh-CN" sz="2400" b="1" kern="0" dirty="0" smtClean="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a:t>
            </a:r>
            <a:r>
              <a:rPr lang="zh-CN" altLang="en-US" sz="2400" b="1" kern="0" dirty="0" smtClean="0">
                <a:solidFill>
                  <a:srgbClr val="000000"/>
                </a:solidFill>
                <a:latin typeface="Arial" panose="020B0604020202020204"/>
              </a:rPr>
              <a:t>现金支付处理代码</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else if(</a:t>
            </a:r>
            <a:r>
              <a:rPr lang="en-US" altLang="zh-CN" sz="2400" b="1" kern="0" dirty="0" err="1">
                <a:solidFill>
                  <a:srgbClr val="0000CC"/>
                </a:solidFill>
                <a:latin typeface="Arial" panose="020B0604020202020204"/>
              </a:rPr>
              <a:t>type</a:t>
            </a:r>
            <a:r>
              <a:rPr lang="en-US" altLang="zh-CN" sz="2400" b="1" kern="0" dirty="0" err="1" smtClean="0">
                <a:solidFill>
                  <a:srgbClr val="000000"/>
                </a:solidFill>
                <a:latin typeface="Arial" panose="020B0604020202020204"/>
              </a:rPr>
              <a:t>.equalsIgnoreCase</a:t>
            </a:r>
            <a:r>
              <a:rPr lang="en-US" altLang="zh-CN" sz="2400" b="1" kern="0" dirty="0" smtClean="0">
                <a:solidFill>
                  <a:srgbClr val="000000"/>
                </a:solidFill>
                <a:latin typeface="Arial" panose="020B0604020202020204"/>
              </a:rPr>
              <a:t>(“</a:t>
            </a:r>
            <a:r>
              <a:rPr lang="en-US" altLang="zh-CN" sz="2400" b="1" kern="0" dirty="0" err="1" smtClean="0">
                <a:solidFill>
                  <a:srgbClr val="FF0000"/>
                </a:solidFill>
                <a:latin typeface="Arial" panose="020B0604020202020204"/>
              </a:rPr>
              <a:t>creditcard</a:t>
            </a:r>
            <a:r>
              <a:rPr lang="en-US" altLang="zh-CN" sz="2400" b="1" kern="0" dirty="0" smtClean="0">
                <a:solidFill>
                  <a:srgbClr val="000000"/>
                </a:solidFill>
                <a:latin typeface="Arial" panose="020B0604020202020204"/>
              </a:rPr>
              <a:t>”)) </a:t>
            </a:r>
            <a:r>
              <a:rPr lang="en-US" altLang="zh-CN" sz="2400" b="1" kern="0" dirty="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a:t>
            </a:r>
            <a:r>
              <a:rPr lang="zh-CN" altLang="en-US" sz="2400" b="1" kern="0" dirty="0" smtClean="0">
                <a:solidFill>
                  <a:srgbClr val="000000"/>
                </a:solidFill>
                <a:latin typeface="Arial" panose="020B0604020202020204"/>
              </a:rPr>
              <a:t>信用卡支付</a:t>
            </a:r>
            <a:r>
              <a:rPr lang="zh-CN" altLang="en-US" sz="2400" b="1" kern="0" dirty="0">
                <a:solidFill>
                  <a:srgbClr val="000000"/>
                </a:solidFill>
                <a:latin typeface="Arial" panose="020B0604020202020204"/>
              </a:rPr>
              <a:t>处理</a:t>
            </a:r>
            <a:r>
              <a:rPr lang="zh-CN" altLang="en-US" sz="2400" b="1" kern="0" dirty="0" smtClean="0">
                <a:solidFill>
                  <a:srgbClr val="000000"/>
                </a:solidFill>
                <a:latin typeface="Arial" panose="020B0604020202020204"/>
              </a:rPr>
              <a:t>代码</a:t>
            </a:r>
            <a:endParaRPr lang="en-US" altLang="zh-CN" sz="2400" b="1" kern="0" dirty="0" smtClean="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else if(</a:t>
            </a:r>
            <a:r>
              <a:rPr lang="en-US" altLang="zh-CN" sz="2400" b="1" kern="0" dirty="0" err="1">
                <a:solidFill>
                  <a:srgbClr val="0000CC"/>
                </a:solidFill>
                <a:latin typeface="Arial" panose="020B0604020202020204"/>
              </a:rPr>
              <a:t>type</a:t>
            </a:r>
            <a:r>
              <a:rPr lang="en-US" altLang="zh-CN" sz="2400" b="1" kern="0" dirty="0" err="1">
                <a:solidFill>
                  <a:srgbClr val="000000"/>
                </a:solidFill>
                <a:latin typeface="Arial" panose="020B0604020202020204"/>
              </a:rPr>
              <a:t>.equalsIgnoreCase</a:t>
            </a:r>
            <a:r>
              <a:rPr lang="en-US" altLang="zh-CN" sz="2400" b="1" kern="0" dirty="0" smtClean="0">
                <a:solidFill>
                  <a:srgbClr val="000000"/>
                </a:solidFill>
                <a:latin typeface="Arial" panose="020B0604020202020204"/>
              </a:rPr>
              <a:t>(“</a:t>
            </a:r>
            <a:r>
              <a:rPr lang="en-US" altLang="zh-CN" sz="2400" b="1" kern="0" dirty="0" err="1" smtClean="0">
                <a:solidFill>
                  <a:srgbClr val="FF0000"/>
                </a:solidFill>
                <a:latin typeface="Arial" panose="020B0604020202020204"/>
              </a:rPr>
              <a:t>VoucherPay</a:t>
            </a:r>
            <a:r>
              <a:rPr lang="en-US" altLang="zh-CN" sz="2400" b="1" kern="0" dirty="0" smtClean="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a:t>
            </a:r>
            <a:r>
              <a:rPr lang="zh-CN" altLang="en-US" sz="2400" b="1" kern="0" dirty="0">
                <a:solidFill>
                  <a:srgbClr val="000000"/>
                </a:solidFill>
                <a:latin typeface="Arial" panose="020B0604020202020204"/>
              </a:rPr>
              <a:t>代金券</a:t>
            </a:r>
            <a:r>
              <a:rPr lang="zh-CN" altLang="en-US" sz="2400" b="1" kern="0" dirty="0" smtClean="0">
                <a:solidFill>
                  <a:srgbClr val="000000"/>
                </a:solidFill>
                <a:latin typeface="Arial" panose="020B0604020202020204"/>
              </a:rPr>
              <a:t>支付</a:t>
            </a:r>
            <a:r>
              <a:rPr lang="zh-CN" altLang="en-US" sz="2400" b="1" kern="0" dirty="0">
                <a:solidFill>
                  <a:srgbClr val="000000"/>
                </a:solidFill>
                <a:latin typeface="Arial" panose="020B0604020202020204"/>
              </a:rPr>
              <a:t>处理</a:t>
            </a:r>
            <a:r>
              <a:rPr lang="zh-CN" altLang="en-US" sz="2400" b="1" kern="0" dirty="0" smtClean="0">
                <a:solidFill>
                  <a:srgbClr val="000000"/>
                </a:solidFill>
                <a:latin typeface="Arial" panose="020B0604020202020204"/>
              </a:rPr>
              <a:t>代码</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else{</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a:t>
            </a:r>
            <a:endParaRPr lang="zh-CN" altLang="en-US" sz="2400" b="1" kern="0" dirty="0">
              <a:solidFill>
                <a:srgbClr val="000000"/>
              </a:solidFill>
              <a:latin typeface="Arial" panose="020B0604020202020204"/>
            </a:endParaRPr>
          </a:p>
        </p:txBody>
      </p:sp>
      <p:sp>
        <p:nvSpPr>
          <p:cNvPr id="3" name="TextBox 2"/>
          <p:cNvSpPr txBox="1"/>
          <p:nvPr/>
        </p:nvSpPr>
        <p:spPr>
          <a:xfrm>
            <a:off x="1130623" y="767822"/>
            <a:ext cx="10873208" cy="1005788"/>
          </a:xfrm>
          <a:prstGeom prst="rect">
            <a:avLst/>
          </a:prstGeom>
          <a:noFill/>
        </p:spPr>
        <p:txBody>
          <a:bodyPr wrap="square" rtlCol="0">
            <a:spAutoFit/>
          </a:bodyPr>
          <a:lstStyle/>
          <a:p>
            <a:pPr>
              <a:lnSpc>
                <a:spcPct val="130000"/>
              </a:lnSpc>
            </a:pPr>
            <a:r>
              <a:rPr lang="zh-CN" altLang="en-US" b="1" dirty="0" smtClean="0">
                <a:latin typeface="微软雅黑" panose="020B0503020204020204" pitchFamily="34" charset="-122"/>
                <a:ea typeface="微软雅黑" panose="020B0503020204020204" pitchFamily="34" charset="-122"/>
              </a:rPr>
              <a:t>例：某销售管理系统支持多种支付方式，如</a:t>
            </a:r>
            <a:r>
              <a:rPr lang="zh-CN" altLang="en-US" b="1" dirty="0">
                <a:latin typeface="微软雅黑" panose="020B0503020204020204" pitchFamily="34" charset="-122"/>
                <a:ea typeface="微软雅黑" panose="020B0503020204020204" pitchFamily="34" charset="-122"/>
              </a:rPr>
              <a:t>现金</a:t>
            </a:r>
            <a:r>
              <a:rPr lang="zh-CN" altLang="en-US" b="1" dirty="0" smtClean="0">
                <a:latin typeface="微软雅黑" panose="020B0503020204020204" pitchFamily="34" charset="-122"/>
                <a:ea typeface="微软雅黑" panose="020B0503020204020204" pitchFamily="34" charset="-122"/>
              </a:rPr>
              <a:t>支付（</a:t>
            </a:r>
            <a:r>
              <a:rPr lang="en-US" altLang="zh-CN" b="1" dirty="0" err="1" smtClean="0">
                <a:latin typeface="微软雅黑" panose="020B0503020204020204" pitchFamily="34" charset="-122"/>
                <a:ea typeface="微软雅黑" panose="020B0503020204020204" pitchFamily="34" charset="-122"/>
              </a:rPr>
              <a:t>CashPay</a:t>
            </a:r>
            <a:r>
              <a:rPr lang="zh-CN" altLang="en-US" b="1" dirty="0" smtClean="0">
                <a:latin typeface="微软雅黑" panose="020B0503020204020204" pitchFamily="34" charset="-122"/>
                <a:ea typeface="微软雅黑" panose="020B0503020204020204" pitchFamily="34" charset="-122"/>
              </a:rPr>
              <a:t>）、信用卡支付（</a:t>
            </a:r>
            <a:r>
              <a:rPr lang="en-US" altLang="zh-CN" b="1" dirty="0" err="1" smtClean="0">
                <a:latin typeface="微软雅黑" panose="020B0503020204020204" pitchFamily="34" charset="-122"/>
                <a:ea typeface="微软雅黑" panose="020B0503020204020204" pitchFamily="34" charset="-122"/>
              </a:rPr>
              <a:t>CreditcardPay</a:t>
            </a:r>
            <a:r>
              <a:rPr lang="zh-CN" altLang="en-US" b="1" dirty="0" smtClean="0">
                <a:latin typeface="微软雅黑" panose="020B0503020204020204" pitchFamily="34" charset="-122"/>
                <a:ea typeface="微软雅黑" panose="020B0503020204020204" pitchFamily="34" charset="-122"/>
              </a:rPr>
              <a:t>）、代金券支付（</a:t>
            </a:r>
            <a:r>
              <a:rPr lang="en-US" altLang="zh-CN" b="1" dirty="0" err="1" smtClean="0">
                <a:latin typeface="微软雅黑" panose="020B0503020204020204" pitchFamily="34" charset="-122"/>
                <a:ea typeface="微软雅黑" panose="020B0503020204020204" pitchFamily="34" charset="-122"/>
              </a:rPr>
              <a:t>VoucherPay</a:t>
            </a:r>
            <a:r>
              <a:rPr lang="zh-CN" altLang="en-US" b="1" dirty="0" smtClean="0">
                <a:latin typeface="微软雅黑" panose="020B0503020204020204" pitchFamily="34" charset="-122"/>
                <a:ea typeface="微软雅黑" panose="020B0503020204020204" pitchFamily="34" charset="-122"/>
              </a:rPr>
              <a:t>）等。一般代码设计如下：</a:t>
            </a:r>
            <a:endParaRPr lang="zh-CN" altLang="en-US" b="1" dirty="0">
              <a:latin typeface="微软雅黑" panose="020B0503020204020204" pitchFamily="34" charset="-122"/>
              <a:ea typeface="微软雅黑" panose="020B0503020204020204" pitchFamily="34" charset="-122"/>
            </a:endParaRPr>
          </a:p>
        </p:txBody>
      </p:sp>
      <p:sp>
        <p:nvSpPr>
          <p:cNvPr id="4" name="TextBox 3"/>
          <p:cNvSpPr txBox="1"/>
          <p:nvPr/>
        </p:nvSpPr>
        <p:spPr>
          <a:xfrm>
            <a:off x="8619455" y="2264306"/>
            <a:ext cx="2952328" cy="3416320"/>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zh-CN" altLang="en-US" dirty="0" smtClean="0">
                <a:solidFill>
                  <a:srgbClr val="FF0000"/>
                </a:solidFill>
              </a:rPr>
              <a:t>问题：不同支付方式的支付处理方法不同。当增加新的支付方式时，只能修改这段代码，增加新的支付处理方法对应代码。不易于维护和扩展。</a:t>
            </a:r>
            <a:endParaRPr lang="en-US" altLang="zh-CN" dirty="0" smtClean="0">
              <a:solidFill>
                <a:srgbClr val="FF0000"/>
              </a:solidFill>
            </a:endParaRPr>
          </a:p>
          <a:p>
            <a:endParaRPr lang="en-US" altLang="zh-CN" dirty="0">
              <a:solidFill>
                <a:srgbClr val="FF0000"/>
              </a:solidFill>
            </a:endParaRPr>
          </a:p>
          <a:p>
            <a:endParaRPr lang="zh-CN" altLang="en-US" dirty="0">
              <a:solidFill>
                <a:srgbClr val="FF0000"/>
              </a:solidFill>
            </a:endParaRPr>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custDataLst>
              <p:tags r:id="rId1"/>
            </p:custDataLst>
          </p:nvPr>
        </p:nvSpPr>
        <p:spPr>
          <a:xfrm>
            <a:off x="4446305" y="1039768"/>
            <a:ext cx="7416824" cy="1368152"/>
          </a:xfrm>
          <a:prstGeom prst="rect">
            <a:avLst/>
          </a:prstGeom>
        </p:spPr>
        <p:style>
          <a:lnRef idx="1">
            <a:schemeClr val="accent3"/>
          </a:lnRef>
          <a:fillRef idx="2">
            <a:schemeClr val="accent3"/>
          </a:fillRef>
          <a:effectRef idx="1">
            <a:schemeClr val="accent3"/>
          </a:effectRef>
          <a:fontRef idx="minor">
            <a:schemeClr val="dk1"/>
          </a:fontRef>
        </p:style>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lvl="0" indent="-342900" defTabSz="914400" fontAlgn="base">
              <a:lnSpc>
                <a:spcPct val="85000"/>
              </a:lnSpc>
              <a:spcBef>
                <a:spcPct val="0"/>
              </a:spcBef>
              <a:spcAft>
                <a:spcPct val="0"/>
              </a:spcAft>
              <a:buNone/>
            </a:pPr>
            <a:r>
              <a:rPr lang="en-US" altLang="zh-CN" sz="2400" b="1" kern="0" dirty="0" smtClean="0">
                <a:solidFill>
                  <a:srgbClr val="0000CC"/>
                </a:solidFill>
                <a:latin typeface="Arial" panose="020B0604020202020204"/>
              </a:rPr>
              <a:t>public</a:t>
            </a:r>
            <a:r>
              <a:rPr lang="en-US" altLang="zh-CN" sz="2400" b="1" kern="0" dirty="0" smtClean="0">
                <a:solidFill>
                  <a:srgbClr val="000000"/>
                </a:solidFill>
                <a:latin typeface="Arial" panose="020B0604020202020204"/>
              </a:rPr>
              <a:t> abstract class </a:t>
            </a:r>
            <a:r>
              <a:rPr lang="en-US" altLang="zh-CN" sz="2400" b="1" kern="0" dirty="0" err="1" smtClean="0">
                <a:solidFill>
                  <a:srgbClr val="000000"/>
                </a:solidFill>
                <a:latin typeface="Arial" panose="020B0604020202020204"/>
              </a:rPr>
              <a:t>AbstractPay</a:t>
            </a:r>
            <a:endParaRPr lang="en-US" altLang="zh-CN" sz="2400" b="1" kern="0" dirty="0" smtClean="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	public abstract void pay();</a:t>
            </a:r>
            <a:r>
              <a:rPr lang="en-US" altLang="zh-CN" sz="2400" b="1" kern="0" dirty="0">
                <a:solidFill>
                  <a:srgbClr val="000000"/>
                </a:solidFill>
                <a:latin typeface="Arial" panose="020B0604020202020204"/>
              </a:rPr>
              <a:t>	</a:t>
            </a:r>
            <a:endParaRPr lang="en-US" altLang="zh-CN" sz="2400" b="1" kern="0" dirty="0" smtClean="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a:t>
            </a:r>
            <a:endParaRPr lang="zh-CN" altLang="en-US" sz="2400" b="1" kern="0" dirty="0">
              <a:solidFill>
                <a:srgbClr val="000000"/>
              </a:solidFill>
              <a:latin typeface="Arial" panose="020B0604020202020204"/>
            </a:endParaRPr>
          </a:p>
        </p:txBody>
      </p:sp>
      <p:sp>
        <p:nvSpPr>
          <p:cNvPr id="3" name="TextBox 2"/>
          <p:cNvSpPr txBox="1"/>
          <p:nvPr/>
        </p:nvSpPr>
        <p:spPr>
          <a:xfrm>
            <a:off x="122511" y="1053530"/>
            <a:ext cx="4176464" cy="572464"/>
          </a:xfrm>
          <a:prstGeom prst="rect">
            <a:avLst/>
          </a:prstGeom>
          <a:noFill/>
        </p:spPr>
        <p:txBody>
          <a:bodyPr wrap="square" rtlCol="0">
            <a:spAutoFit/>
          </a:bodyPr>
          <a:lstStyle/>
          <a:p>
            <a:pPr>
              <a:lnSpc>
                <a:spcPct val="130000"/>
              </a:lnSpc>
            </a:pPr>
            <a:r>
              <a:rPr lang="zh-CN" altLang="en-US" b="1" dirty="0" smtClean="0">
                <a:latin typeface="微软雅黑" panose="020B0503020204020204" pitchFamily="34" charset="-122"/>
                <a:ea typeface="微软雅黑" panose="020B0503020204020204" pitchFamily="34" charset="-122"/>
              </a:rPr>
              <a:t>使用简单工厂模式进行重构！</a:t>
            </a:r>
            <a:endParaRPr lang="zh-CN" altLang="en-US" b="1" dirty="0">
              <a:latin typeface="微软雅黑" panose="020B0503020204020204" pitchFamily="34" charset="-122"/>
              <a:ea typeface="微软雅黑" panose="020B0503020204020204" pitchFamily="34" charset="-122"/>
            </a:endParaRPr>
          </a:p>
        </p:txBody>
      </p:sp>
      <p:sp>
        <p:nvSpPr>
          <p:cNvPr id="6" name="Rectangle 3"/>
          <p:cNvSpPr txBox="1">
            <a:spLocks noChangeArrowheads="1"/>
          </p:cNvSpPr>
          <p:nvPr>
            <p:custDataLst>
              <p:tags r:id="rId2"/>
            </p:custDataLst>
          </p:nvPr>
        </p:nvSpPr>
        <p:spPr>
          <a:xfrm>
            <a:off x="4442991" y="2637706"/>
            <a:ext cx="7416824" cy="1368152"/>
          </a:xfrm>
          <a:prstGeom prst="rect">
            <a:avLst/>
          </a:prstGeom>
        </p:spPr>
        <p:style>
          <a:lnRef idx="1">
            <a:schemeClr val="accent2"/>
          </a:lnRef>
          <a:fillRef idx="2">
            <a:schemeClr val="accent2"/>
          </a:fillRef>
          <a:effectRef idx="1">
            <a:schemeClr val="accent2"/>
          </a:effectRef>
          <a:fontRef idx="minor">
            <a:schemeClr val="dk1"/>
          </a:fontRef>
        </p:style>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defTabSz="914400" fontAlgn="base">
              <a:lnSpc>
                <a:spcPct val="85000"/>
              </a:lnSpc>
              <a:spcBef>
                <a:spcPct val="0"/>
              </a:spcBef>
              <a:spcAft>
                <a:spcPct val="0"/>
              </a:spcAft>
              <a:buNone/>
            </a:pPr>
            <a:r>
              <a:rPr lang="en-US" altLang="zh-CN" sz="2400" b="1" kern="0" dirty="0" smtClean="0">
                <a:solidFill>
                  <a:srgbClr val="0000CC"/>
                </a:solidFill>
                <a:latin typeface="Arial" panose="020B0604020202020204"/>
              </a:rPr>
              <a:t>public</a:t>
            </a:r>
            <a:r>
              <a:rPr lang="en-US" altLang="zh-CN" sz="2400" b="1" kern="0" dirty="0" smtClean="0">
                <a:solidFill>
                  <a:srgbClr val="000000"/>
                </a:solidFill>
                <a:latin typeface="Arial" panose="020B0604020202020204"/>
              </a:rPr>
              <a:t> class </a:t>
            </a:r>
            <a:r>
              <a:rPr lang="en-US" altLang="zh-CN" sz="2400" b="1" kern="0" dirty="0" err="1" smtClean="0">
                <a:solidFill>
                  <a:srgbClr val="000000"/>
                </a:solidFill>
                <a:latin typeface="Arial" panose="020B0604020202020204"/>
              </a:rPr>
              <a:t>CashPay</a:t>
            </a:r>
            <a:r>
              <a:rPr lang="en-US" altLang="zh-CN" sz="2400" b="1" kern="0" dirty="0" smtClean="0">
                <a:solidFill>
                  <a:srgbClr val="000000"/>
                </a:solidFill>
                <a:latin typeface="Arial" panose="020B0604020202020204"/>
              </a:rPr>
              <a:t> </a:t>
            </a:r>
            <a:r>
              <a:rPr lang="en-US" altLang="zh-CN" sz="2400" b="1" kern="0" dirty="0">
                <a:solidFill>
                  <a:srgbClr val="000000"/>
                </a:solidFill>
                <a:latin typeface="Arial" panose="020B0604020202020204"/>
              </a:rPr>
              <a:t>extends </a:t>
            </a:r>
            <a:r>
              <a:rPr lang="en-US" altLang="zh-CN" sz="2400" b="1" kern="0" dirty="0" err="1" smtClean="0">
                <a:solidFill>
                  <a:srgbClr val="000000"/>
                </a:solidFill>
                <a:latin typeface="Arial" panose="020B0604020202020204"/>
              </a:rPr>
              <a:t>AbstractPay</a:t>
            </a:r>
            <a:r>
              <a:rPr lang="en-US" altLang="zh-CN" sz="2400" b="1" kern="0" dirty="0" smtClean="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	public void pay(){</a:t>
            </a:r>
            <a:endParaRPr lang="en-US" altLang="zh-CN" sz="2400" b="1" kern="0" dirty="0" smtClean="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	//</a:t>
            </a:r>
            <a:r>
              <a:rPr lang="zh-CN" altLang="en-US" sz="2400" b="1" kern="0" dirty="0" smtClean="0">
                <a:solidFill>
                  <a:srgbClr val="000000"/>
                </a:solidFill>
                <a:latin typeface="Arial" panose="020B0604020202020204"/>
              </a:rPr>
              <a:t>现金支付方式处理代码</a:t>
            </a: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a:t>
            </a:r>
            <a:endParaRPr lang="en-US" altLang="zh-CN" sz="2400" b="1" kern="0" dirty="0" smtClean="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a:t>
            </a:r>
            <a:endParaRPr lang="zh-CN" altLang="en-US" sz="2400" b="1" kern="0" dirty="0">
              <a:solidFill>
                <a:srgbClr val="000000"/>
              </a:solidFill>
              <a:latin typeface="Arial" panose="020B0604020202020204"/>
            </a:endParaRPr>
          </a:p>
        </p:txBody>
      </p:sp>
      <p:sp>
        <p:nvSpPr>
          <p:cNvPr id="8" name="Rectangle 3"/>
          <p:cNvSpPr txBox="1">
            <a:spLocks noChangeArrowheads="1"/>
          </p:cNvSpPr>
          <p:nvPr>
            <p:custDataLst>
              <p:tags r:id="rId3"/>
            </p:custDataLst>
          </p:nvPr>
        </p:nvSpPr>
        <p:spPr>
          <a:xfrm>
            <a:off x="4442991" y="4293890"/>
            <a:ext cx="7416824" cy="1368152"/>
          </a:xfrm>
          <a:prstGeom prst="rect">
            <a:avLst/>
          </a:prstGeom>
        </p:spPr>
        <p:style>
          <a:lnRef idx="1">
            <a:schemeClr val="accent2"/>
          </a:lnRef>
          <a:fillRef idx="2">
            <a:schemeClr val="accent2"/>
          </a:fillRef>
          <a:effectRef idx="1">
            <a:schemeClr val="accent2"/>
          </a:effectRef>
          <a:fontRef idx="minor">
            <a:schemeClr val="dk1"/>
          </a:fontRef>
        </p:style>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defTabSz="914400" fontAlgn="base">
              <a:lnSpc>
                <a:spcPct val="85000"/>
              </a:lnSpc>
              <a:spcBef>
                <a:spcPct val="0"/>
              </a:spcBef>
              <a:spcAft>
                <a:spcPct val="0"/>
              </a:spcAft>
              <a:buNone/>
            </a:pPr>
            <a:r>
              <a:rPr lang="en-US" altLang="zh-CN" sz="2400" b="1" kern="0" dirty="0" smtClean="0">
                <a:solidFill>
                  <a:srgbClr val="0000CC"/>
                </a:solidFill>
                <a:latin typeface="Arial" panose="020B0604020202020204"/>
              </a:rPr>
              <a:t>public</a:t>
            </a:r>
            <a:r>
              <a:rPr lang="en-US" altLang="zh-CN" sz="2400" b="1" kern="0" dirty="0" smtClean="0">
                <a:solidFill>
                  <a:srgbClr val="000000"/>
                </a:solidFill>
                <a:latin typeface="Arial" panose="020B0604020202020204"/>
              </a:rPr>
              <a:t> class </a:t>
            </a:r>
            <a:r>
              <a:rPr lang="en-US" altLang="zh-CN" sz="2400" b="1" kern="0" dirty="0" err="1" smtClean="0">
                <a:solidFill>
                  <a:srgbClr val="000000"/>
                </a:solidFill>
                <a:latin typeface="Arial" panose="020B0604020202020204"/>
              </a:rPr>
              <a:t>CreditcardPay</a:t>
            </a:r>
            <a:r>
              <a:rPr lang="en-US" altLang="zh-CN" sz="2400" b="1" kern="0" dirty="0" smtClean="0">
                <a:solidFill>
                  <a:srgbClr val="000000"/>
                </a:solidFill>
                <a:latin typeface="Arial" panose="020B0604020202020204"/>
              </a:rPr>
              <a:t> </a:t>
            </a:r>
            <a:r>
              <a:rPr lang="en-US" altLang="zh-CN" sz="2400" b="1" kern="0" dirty="0">
                <a:solidFill>
                  <a:srgbClr val="000000"/>
                </a:solidFill>
                <a:latin typeface="Arial" panose="020B0604020202020204"/>
              </a:rPr>
              <a:t>extends </a:t>
            </a:r>
            <a:r>
              <a:rPr lang="en-US" altLang="zh-CN" sz="2400" b="1" kern="0" dirty="0" err="1" smtClean="0">
                <a:solidFill>
                  <a:srgbClr val="000000"/>
                </a:solidFill>
                <a:latin typeface="Arial" panose="020B0604020202020204"/>
              </a:rPr>
              <a:t>AbstractPay</a:t>
            </a:r>
            <a:r>
              <a:rPr lang="en-US" altLang="zh-CN" sz="2400" b="1" kern="0" dirty="0" smtClean="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	public void pay(){</a:t>
            </a:r>
            <a:endParaRPr lang="en-US" altLang="zh-CN" sz="2400" b="1" kern="0" dirty="0" smtClean="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	//</a:t>
            </a:r>
            <a:r>
              <a:rPr lang="zh-CN" altLang="en-US" sz="2400" b="1" kern="0" dirty="0" smtClean="0">
                <a:solidFill>
                  <a:srgbClr val="000000"/>
                </a:solidFill>
                <a:latin typeface="Arial" panose="020B0604020202020204"/>
              </a:rPr>
              <a:t>信用卡支付方式处理代码</a:t>
            </a: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a:t>
            </a:r>
            <a:endParaRPr lang="en-US" altLang="zh-CN" sz="2400" b="1" kern="0" dirty="0" smtClean="0">
              <a:solidFill>
                <a:srgbClr val="000000"/>
              </a:solidFill>
              <a:latin typeface="Arial" panose="020B0604020202020204"/>
            </a:endParaRPr>
          </a:p>
          <a:p>
            <a:pPr marL="342900" lvl="0" indent="-342900" defTabSz="914400" fontAlgn="base">
              <a:lnSpc>
                <a:spcPct val="85000"/>
              </a:lnSpc>
              <a:spcBef>
                <a:spcPct val="0"/>
              </a:spcBef>
              <a:spcAft>
                <a:spcPct val="0"/>
              </a:spcAft>
              <a:buNone/>
            </a:pPr>
            <a:r>
              <a:rPr lang="en-US" altLang="zh-CN" sz="2400" b="1" kern="0" dirty="0" smtClean="0">
                <a:solidFill>
                  <a:srgbClr val="000000"/>
                </a:solidFill>
                <a:latin typeface="Arial" panose="020B0604020202020204"/>
              </a:rPr>
              <a:t>}</a:t>
            </a:r>
            <a:endParaRPr lang="zh-CN" altLang="en-US" sz="2400" b="1" kern="0" dirty="0">
              <a:solidFill>
                <a:srgbClr val="000000"/>
              </a:solidFill>
              <a:latin typeface="Arial" panose="020B0604020202020204"/>
            </a:endParaRPr>
          </a:p>
        </p:txBody>
      </p:sp>
      <p:sp>
        <p:nvSpPr>
          <p:cNvPr id="9" name="圆角矩形 8"/>
          <p:cNvSpPr/>
          <p:nvPr>
            <p:custDataLst>
              <p:tags r:id="rId4"/>
            </p:custDataLst>
          </p:nvPr>
        </p:nvSpPr>
        <p:spPr>
          <a:xfrm>
            <a:off x="2282751" y="1759848"/>
            <a:ext cx="2016224"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抽象产品类</a:t>
            </a:r>
            <a:endParaRPr lang="zh-CN" altLang="en-US" dirty="0"/>
          </a:p>
        </p:txBody>
      </p:sp>
      <p:sp>
        <p:nvSpPr>
          <p:cNvPr id="10" name="圆角矩形 9"/>
          <p:cNvSpPr/>
          <p:nvPr>
            <p:custDataLst>
              <p:tags r:id="rId5"/>
            </p:custDataLst>
          </p:nvPr>
        </p:nvSpPr>
        <p:spPr>
          <a:xfrm>
            <a:off x="2282751" y="3141762"/>
            <a:ext cx="2016224"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具体</a:t>
            </a:r>
            <a:r>
              <a:rPr lang="zh-CN" altLang="en-US" dirty="0" smtClean="0"/>
              <a:t>产品类</a:t>
            </a:r>
            <a:r>
              <a:rPr lang="en-US" altLang="zh-CN" dirty="0" smtClean="0"/>
              <a:t>1</a:t>
            </a:r>
            <a:endParaRPr lang="zh-CN" altLang="en-US" dirty="0"/>
          </a:p>
        </p:txBody>
      </p:sp>
      <p:sp>
        <p:nvSpPr>
          <p:cNvPr id="11" name="圆角矩形 10"/>
          <p:cNvSpPr/>
          <p:nvPr>
            <p:custDataLst>
              <p:tags r:id="rId6"/>
            </p:custDataLst>
          </p:nvPr>
        </p:nvSpPr>
        <p:spPr>
          <a:xfrm>
            <a:off x="2282751" y="4653930"/>
            <a:ext cx="2016224"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具体</a:t>
            </a:r>
            <a:r>
              <a:rPr lang="zh-CN" altLang="en-US" dirty="0" smtClean="0"/>
              <a:t>产品类</a:t>
            </a:r>
            <a:r>
              <a:rPr lang="en-US" altLang="zh-CN" dirty="0" smtClean="0"/>
              <a:t>2</a:t>
            </a:r>
            <a:endParaRPr lang="zh-CN" altLang="en-US" dirty="0"/>
          </a:p>
        </p:txBody>
      </p:sp>
      <p:sp>
        <p:nvSpPr>
          <p:cNvPr id="12" name="TextBox 11"/>
          <p:cNvSpPr txBox="1"/>
          <p:nvPr/>
        </p:nvSpPr>
        <p:spPr>
          <a:xfrm>
            <a:off x="554559" y="5806058"/>
            <a:ext cx="11236562" cy="461665"/>
          </a:xfrm>
          <a:prstGeom prst="rect">
            <a:avLst/>
          </a:prstGeom>
          <a:noFill/>
        </p:spPr>
        <p:txBody>
          <a:bodyPr wrap="square" rtlCol="0">
            <a:spAutoFit/>
          </a:bodyPr>
          <a:lstStyle/>
          <a:p>
            <a:r>
              <a:rPr lang="zh-CN" altLang="en-US" dirty="0" smtClean="0">
                <a:latin typeface="微软雅黑" panose="020B0503020204020204" pitchFamily="34" charset="-122"/>
                <a:ea typeface="微软雅黑" panose="020B0503020204020204" pitchFamily="34" charset="-122"/>
              </a:rPr>
              <a:t>每一种支付方式封装在一个单独的具体类中，相对独立，修改其一对其他类无影响</a:t>
            </a:r>
            <a:endParaRPr lang="zh-CN" altLang="en-US" dirty="0">
              <a:latin typeface="微软雅黑" panose="020B0503020204020204" pitchFamily="34" charset="-122"/>
              <a:ea typeface="微软雅黑" panose="020B0503020204020204" pitchFamily="34" charset="-122"/>
            </a:endParaRPr>
          </a:p>
        </p:txBody>
      </p:sp>
      <p:sp>
        <p:nvSpPr>
          <p:cNvPr id="1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2210743" y="1183784"/>
            <a:ext cx="9580378" cy="4982314"/>
          </a:xfrm>
          <a:prstGeom prst="rect">
            <a:avLst/>
          </a:prstGeom>
        </p:spPr>
        <p:style>
          <a:lnRef idx="1">
            <a:schemeClr val="accent3"/>
          </a:lnRef>
          <a:fillRef idx="2">
            <a:schemeClr val="accent3"/>
          </a:fillRef>
          <a:effectRef idx="1">
            <a:schemeClr val="accent3"/>
          </a:effectRef>
          <a:fontRef idx="minor">
            <a:schemeClr val="dk1"/>
          </a:fontRef>
        </p:style>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lvl="0" indent="-342900" defTabSz="914400" fontAlgn="base">
              <a:spcBef>
                <a:spcPct val="0"/>
              </a:spcBef>
              <a:spcAft>
                <a:spcPct val="0"/>
              </a:spcAft>
              <a:buNone/>
            </a:pPr>
            <a:r>
              <a:rPr lang="en-US" altLang="zh-CN" sz="2400" b="1" kern="0" dirty="0" smtClean="0">
                <a:solidFill>
                  <a:srgbClr val="0000CC"/>
                </a:solidFill>
                <a:latin typeface="Arial" panose="020B0604020202020204"/>
              </a:rPr>
              <a:t>public</a:t>
            </a:r>
            <a:r>
              <a:rPr lang="en-US" altLang="zh-CN" sz="2400" b="1" kern="0" dirty="0" smtClean="0">
                <a:solidFill>
                  <a:srgbClr val="000000"/>
                </a:solidFill>
                <a:latin typeface="Arial" panose="020B0604020202020204"/>
              </a:rPr>
              <a:t> class </a:t>
            </a:r>
            <a:r>
              <a:rPr lang="en-US" altLang="zh-CN" sz="2400" b="1" kern="0" dirty="0" err="1" smtClean="0">
                <a:solidFill>
                  <a:srgbClr val="000000"/>
                </a:solidFill>
                <a:latin typeface="Arial" panose="020B0604020202020204"/>
              </a:rPr>
              <a:t>PayMethodFactory</a:t>
            </a:r>
            <a:endParaRPr lang="en-US" altLang="zh-CN" sz="2400" b="1" kern="0" dirty="0" smtClean="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smtClean="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indent="-342900" defTabSz="914400" fontAlgn="base">
              <a:spcBef>
                <a:spcPct val="0"/>
              </a:spcBef>
              <a:spcAft>
                <a:spcPct val="0"/>
              </a:spcAft>
              <a:buNone/>
            </a:pPr>
            <a:r>
              <a:rPr lang="en-US" altLang="zh-CN" sz="2400" b="1" kern="0" dirty="0" smtClean="0">
                <a:solidFill>
                  <a:srgbClr val="000000"/>
                </a:solidFill>
                <a:latin typeface="Arial" panose="020B0604020202020204"/>
              </a:rPr>
              <a:t>	public </a:t>
            </a:r>
            <a:r>
              <a:rPr lang="en-US" altLang="zh-CN" sz="2400" b="1" kern="0" dirty="0">
                <a:solidFill>
                  <a:srgbClr val="000000"/>
                </a:solidFill>
                <a:latin typeface="Arial" panose="020B0604020202020204"/>
              </a:rPr>
              <a:t>static </a:t>
            </a:r>
            <a:r>
              <a:rPr lang="en-US" altLang="zh-CN" sz="2400" b="1" kern="0" dirty="0" err="1" smtClean="0">
                <a:solidFill>
                  <a:srgbClr val="FF0000"/>
                </a:solidFill>
                <a:latin typeface="Arial" panose="020B0604020202020204"/>
              </a:rPr>
              <a:t>AbstractPay</a:t>
            </a:r>
            <a:r>
              <a:rPr lang="en-US" altLang="zh-CN" sz="2400" b="1" kern="0" dirty="0" smtClean="0">
                <a:solidFill>
                  <a:srgbClr val="000000"/>
                </a:solidFill>
                <a:latin typeface="Arial" panose="020B0604020202020204"/>
              </a:rPr>
              <a:t> </a:t>
            </a:r>
            <a:r>
              <a:rPr lang="en-US" altLang="zh-CN" sz="2400" b="1" kern="0" dirty="0" err="1" smtClean="0">
                <a:solidFill>
                  <a:srgbClr val="000000"/>
                </a:solidFill>
                <a:latin typeface="Arial" panose="020B0604020202020204"/>
              </a:rPr>
              <a:t>getPayMethod</a:t>
            </a:r>
            <a:r>
              <a:rPr lang="en-US" altLang="zh-CN" sz="2400" b="1" kern="0" dirty="0" smtClean="0">
                <a:solidFill>
                  <a:srgbClr val="000000"/>
                </a:solidFill>
                <a:latin typeface="Arial" panose="020B0604020202020204"/>
              </a:rPr>
              <a:t>(String </a:t>
            </a:r>
            <a:r>
              <a:rPr lang="en-US" altLang="zh-CN" sz="2400" b="1" kern="0" dirty="0">
                <a:solidFill>
                  <a:srgbClr val="0000CC"/>
                </a:solidFill>
                <a:latin typeface="Arial" panose="020B0604020202020204"/>
              </a:rPr>
              <a:t>type</a:t>
            </a:r>
            <a:r>
              <a:rPr lang="en-US" altLang="zh-CN" sz="2400" b="1" kern="0" dirty="0" smtClean="0">
                <a:solidFill>
                  <a:srgbClr val="000000"/>
                </a:solidFill>
                <a:latin typeface="Arial" panose="020B0604020202020204"/>
              </a:rPr>
              <a:t>)</a:t>
            </a:r>
            <a:br>
              <a:rPr lang="en-US" altLang="zh-CN" sz="2400" b="1" kern="0" dirty="0" smtClean="0">
                <a:solidFill>
                  <a:srgbClr val="000000"/>
                </a:solidFill>
                <a:latin typeface="Arial" panose="020B0604020202020204"/>
              </a:rPr>
            </a:br>
            <a:r>
              <a:rPr lang="en-US" altLang="zh-CN" sz="2400" b="1" kern="0" dirty="0" smtClean="0">
                <a:solidFill>
                  <a:srgbClr val="000000"/>
                </a:solidFill>
                <a:latin typeface="Arial" panose="020B0604020202020204"/>
              </a:rPr>
              <a:t>{</a:t>
            </a:r>
            <a:endParaRPr lang="en-US" altLang="zh-CN" sz="2400" b="1" kern="0" dirty="0" smtClean="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	</a:t>
            </a:r>
            <a:r>
              <a:rPr lang="en-US" altLang="zh-CN" sz="2400" b="1" kern="0" dirty="0">
                <a:solidFill>
                  <a:srgbClr val="000000"/>
                </a:solidFill>
                <a:latin typeface="Arial" panose="020B0604020202020204"/>
              </a:rPr>
              <a:t>if(</a:t>
            </a:r>
            <a:r>
              <a:rPr lang="en-US" altLang="zh-CN" sz="2400" b="1" kern="0" dirty="0" err="1">
                <a:solidFill>
                  <a:srgbClr val="0000CC"/>
                </a:solidFill>
                <a:latin typeface="Arial" panose="020B0604020202020204"/>
              </a:rPr>
              <a:t>type</a:t>
            </a:r>
            <a:r>
              <a:rPr lang="en-US" altLang="zh-CN" sz="2400" b="1" kern="0" dirty="0" err="1">
                <a:solidFill>
                  <a:srgbClr val="000000"/>
                </a:solidFill>
                <a:latin typeface="Arial" panose="020B0604020202020204"/>
              </a:rPr>
              <a:t>.equalsIgnoreCase</a:t>
            </a:r>
            <a:r>
              <a:rPr lang="en-US" altLang="zh-CN" sz="2400" b="1" kern="0" dirty="0">
                <a:solidFill>
                  <a:srgbClr val="000000"/>
                </a:solidFill>
                <a:latin typeface="Arial" panose="020B0604020202020204"/>
              </a:rPr>
              <a:t>(“</a:t>
            </a:r>
            <a:r>
              <a:rPr lang="en-US" altLang="zh-CN" sz="2400" b="1" kern="0" dirty="0">
                <a:solidFill>
                  <a:srgbClr val="FF0000"/>
                </a:solidFill>
                <a:latin typeface="Arial" panose="020B0604020202020204"/>
              </a:rPr>
              <a:t>cash</a:t>
            </a:r>
            <a:r>
              <a:rPr lang="en-US" altLang="zh-CN" sz="2400" b="1" kern="0" dirty="0">
                <a:solidFill>
                  <a:srgbClr val="000000"/>
                </a:solidFill>
                <a:latin typeface="Arial" panose="020B0604020202020204"/>
              </a:rPr>
              <a:t>”)){</a:t>
            </a:r>
            <a:endParaRPr lang="en-US" altLang="zh-CN" sz="2400" b="1" kern="0" dirty="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		return new </a:t>
            </a:r>
            <a:r>
              <a:rPr lang="en-US" altLang="zh-CN" sz="2400" b="1" kern="0" dirty="0" err="1" smtClean="0">
                <a:solidFill>
                  <a:srgbClr val="000000"/>
                </a:solidFill>
                <a:latin typeface="Arial" panose="020B0604020202020204"/>
              </a:rPr>
              <a:t>CashPay</a:t>
            </a:r>
            <a:r>
              <a:rPr lang="en-US" altLang="zh-CN" sz="2400" b="1" kern="0" dirty="0" smtClean="0">
                <a:solidFill>
                  <a:srgbClr val="000000"/>
                </a:solidFill>
                <a:latin typeface="Arial" panose="020B0604020202020204"/>
              </a:rPr>
              <a:t>();//</a:t>
            </a:r>
            <a:r>
              <a:rPr lang="zh-CN" altLang="en-US" sz="2400" b="1" kern="0" dirty="0" smtClean="0">
                <a:solidFill>
                  <a:srgbClr val="000000"/>
                </a:solidFill>
                <a:latin typeface="Arial" panose="020B0604020202020204"/>
              </a:rPr>
              <a:t>根据参数创建具体产品</a:t>
            </a:r>
            <a:endParaRPr lang="en-US" altLang="zh-CN" sz="2400" b="1" kern="0" dirty="0" smtClean="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a:solidFill>
                  <a:srgbClr val="000000"/>
                </a:solidFill>
                <a:latin typeface="Arial" panose="020B0604020202020204"/>
              </a:rPr>
              <a:t>	   }</a:t>
            </a:r>
            <a:endParaRPr lang="en-US" altLang="zh-CN" sz="2400" b="1" kern="0" dirty="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a:solidFill>
                  <a:srgbClr val="000000"/>
                </a:solidFill>
                <a:latin typeface="Arial" panose="020B0604020202020204"/>
              </a:rPr>
              <a:t>	    else if(</a:t>
            </a:r>
            <a:r>
              <a:rPr lang="en-US" altLang="zh-CN" sz="2400" b="1" kern="0" dirty="0" err="1">
                <a:solidFill>
                  <a:srgbClr val="0000CC"/>
                </a:solidFill>
                <a:latin typeface="Arial" panose="020B0604020202020204"/>
              </a:rPr>
              <a:t>type</a:t>
            </a:r>
            <a:r>
              <a:rPr lang="en-US" altLang="zh-CN" sz="2400" b="1" kern="0" dirty="0" err="1">
                <a:solidFill>
                  <a:srgbClr val="000000"/>
                </a:solidFill>
                <a:latin typeface="Arial" panose="020B0604020202020204"/>
              </a:rPr>
              <a:t>.equalsIgnoreCase</a:t>
            </a:r>
            <a:r>
              <a:rPr lang="en-US" altLang="zh-CN" sz="2400" b="1" kern="0" dirty="0">
                <a:solidFill>
                  <a:srgbClr val="000000"/>
                </a:solidFill>
                <a:latin typeface="Arial" panose="020B0604020202020204"/>
              </a:rPr>
              <a:t>(“</a:t>
            </a:r>
            <a:r>
              <a:rPr lang="en-US" altLang="zh-CN" sz="2400" b="1" kern="0" dirty="0" err="1">
                <a:solidFill>
                  <a:srgbClr val="FF0000"/>
                </a:solidFill>
                <a:latin typeface="Arial" panose="020B0604020202020204"/>
              </a:rPr>
              <a:t>creditcard</a:t>
            </a:r>
            <a:r>
              <a:rPr lang="en-US" altLang="zh-CN" sz="2400" b="1" kern="0" dirty="0">
                <a:solidFill>
                  <a:srgbClr val="000000"/>
                </a:solidFill>
                <a:latin typeface="Arial" panose="020B0604020202020204"/>
              </a:rPr>
              <a:t>”)) {</a:t>
            </a:r>
            <a:endParaRPr lang="en-US" altLang="zh-CN" sz="2400" b="1" kern="0" dirty="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a:solidFill>
                  <a:srgbClr val="000000"/>
                </a:solidFill>
                <a:latin typeface="Arial" panose="020B0604020202020204"/>
              </a:rPr>
              <a:t>	     </a:t>
            </a:r>
            <a:r>
              <a:rPr lang="en-US" altLang="zh-CN" sz="2400" b="1" kern="0" dirty="0" smtClean="0">
                <a:solidFill>
                  <a:srgbClr val="000000"/>
                </a:solidFill>
                <a:latin typeface="Arial" panose="020B0604020202020204"/>
              </a:rPr>
              <a:t>		return </a:t>
            </a:r>
            <a:r>
              <a:rPr lang="en-US" altLang="zh-CN" sz="2400" b="1" kern="0" dirty="0">
                <a:solidFill>
                  <a:srgbClr val="000000"/>
                </a:solidFill>
                <a:latin typeface="Arial" panose="020B0604020202020204"/>
              </a:rPr>
              <a:t>new </a:t>
            </a:r>
            <a:r>
              <a:rPr lang="en-US" altLang="zh-CN" sz="2400" b="1" kern="0" dirty="0" err="1" smtClean="0">
                <a:solidFill>
                  <a:srgbClr val="000000"/>
                </a:solidFill>
                <a:latin typeface="Arial" panose="020B0604020202020204"/>
              </a:rPr>
              <a:t>CreditcardPay</a:t>
            </a:r>
            <a:r>
              <a:rPr lang="en-US" altLang="zh-CN" sz="2400" b="1" kern="0" dirty="0" smtClean="0">
                <a:solidFill>
                  <a:srgbClr val="000000"/>
                </a:solidFill>
                <a:latin typeface="Arial" panose="020B0604020202020204"/>
              </a:rPr>
              <a:t>();//</a:t>
            </a:r>
            <a:r>
              <a:rPr lang="zh-CN" altLang="en-US" sz="2400" b="1" kern="0" dirty="0">
                <a:solidFill>
                  <a:srgbClr val="000000"/>
                </a:solidFill>
                <a:latin typeface="Arial" panose="020B0604020202020204"/>
              </a:rPr>
              <a:t>根据参数创建具体产品</a:t>
            </a:r>
            <a:endParaRPr lang="en-US" altLang="zh-CN" sz="2400" b="1" kern="0" dirty="0">
              <a:solidFill>
                <a:srgbClr val="000000"/>
              </a:solidFill>
              <a:latin typeface="Arial" panose="020B0604020202020204"/>
            </a:endParaRPr>
          </a:p>
          <a:p>
            <a:pPr marL="342900" indent="-342900" defTabSz="914400" fontAlgn="base">
              <a:spcBef>
                <a:spcPct val="0"/>
              </a:spcBef>
              <a:spcAft>
                <a:spcPct val="0"/>
              </a:spcAft>
              <a:buNone/>
            </a:pPr>
            <a:endParaRPr lang="en-US" altLang="zh-CN" sz="2400" b="1" kern="0" dirty="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a:solidFill>
                  <a:srgbClr val="000000"/>
                </a:solidFill>
                <a:latin typeface="Arial" panose="020B0604020202020204"/>
              </a:rPr>
              <a:t>	   }</a:t>
            </a:r>
            <a:endParaRPr lang="en-US" altLang="zh-CN" sz="2400" b="1" kern="0" dirty="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smtClean="0">
                <a:solidFill>
                  <a:srgbClr val="000000"/>
                </a:solidFill>
                <a:latin typeface="Arial" panose="020B0604020202020204"/>
              </a:rPr>
              <a:t>		… </a:t>
            </a:r>
            <a:endParaRPr lang="en-US" altLang="zh-CN" sz="2400" b="1" kern="0" dirty="0" smtClean="0">
              <a:solidFill>
                <a:srgbClr val="000000"/>
              </a:solidFill>
              <a:latin typeface="Arial" panose="020B0604020202020204"/>
            </a:endParaRPr>
          </a:p>
          <a:p>
            <a:pPr marL="342900" lvl="0" indent="-342900" defTabSz="914400" fontAlgn="base">
              <a:spcBef>
                <a:spcPct val="0"/>
              </a:spcBef>
              <a:spcAft>
                <a:spcPct val="0"/>
              </a:spcAft>
              <a:buNone/>
            </a:pPr>
            <a:r>
              <a:rPr lang="en-US" altLang="zh-CN" sz="2400" b="1" kern="0" dirty="0" smtClean="0">
                <a:solidFill>
                  <a:srgbClr val="000000"/>
                </a:solidFill>
                <a:latin typeface="Arial" panose="020B0604020202020204"/>
              </a:rPr>
              <a:t>}</a:t>
            </a:r>
            <a:endParaRPr lang="zh-CN" altLang="en-US" sz="2400" b="1" kern="0" dirty="0">
              <a:solidFill>
                <a:srgbClr val="000000"/>
              </a:solidFill>
              <a:latin typeface="Arial" panose="020B0604020202020204"/>
            </a:endParaRPr>
          </a:p>
        </p:txBody>
      </p:sp>
      <p:sp>
        <p:nvSpPr>
          <p:cNvPr id="9" name="圆角矩形 8"/>
          <p:cNvSpPr/>
          <p:nvPr/>
        </p:nvSpPr>
        <p:spPr>
          <a:xfrm>
            <a:off x="122511" y="1573774"/>
            <a:ext cx="2016224"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工厂类</a:t>
            </a:r>
            <a:endParaRPr lang="zh-CN" altLang="en-US" dirty="0"/>
          </a:p>
        </p:txBody>
      </p:sp>
      <p:sp>
        <p:nvSpPr>
          <p:cNvPr id="6"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86607" y="765498"/>
            <a:ext cx="10657184" cy="4366708"/>
          </a:xfrm>
          <a:prstGeom prst="rect">
            <a:avLst/>
          </a:prstGeom>
          <a:noFill/>
        </p:spPr>
        <p:txBody>
          <a:bodyPr wrap="square" rtlCol="0">
            <a:spAutoFit/>
          </a:bodyPr>
          <a:lstStyle/>
          <a:p>
            <a:pPr marL="342900" indent="-342900">
              <a:lnSpc>
                <a:spcPct val="13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工厂</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类中只有简单的逻辑判断代码。不关心具体的业务处理过程，</a:t>
            </a:r>
            <a:r>
              <a:rPr lang="zh-CN" altLang="en-US"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满足“单一职责原则</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30000"/>
              </a:lnSpc>
              <a:buFont typeface="Wingdings" panose="05000000000000000000" pitchFamily="2" charset="2"/>
              <a:buChar char="Ø"/>
            </a:pP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增加新支付方式时，</a:t>
            </a:r>
            <a:r>
              <a:rPr lang="zh-CN" altLang="en-US"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只需要添加新的具体产品类</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并实现</a:t>
            </a:r>
            <a:r>
              <a:rPr lang="en-US" altLang="zh-CN" dirty="0" smtClean="0">
                <a:latin typeface="微软雅黑" panose="020B0503020204020204" pitchFamily="34" charset="-122"/>
                <a:ea typeface="微软雅黑" panose="020B0503020204020204" pitchFamily="34" charset="-122"/>
                <a:cs typeface="Times New Roman" panose="02020603050405020304" pitchFamily="18" charset="0"/>
              </a:rPr>
              <a:t>pay()</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方法，同时对工厂类</a:t>
            </a:r>
            <a:r>
              <a:rPr lang="en-US" altLang="zh-CN" dirty="0" err="1" smtClean="0">
                <a:latin typeface="微软雅黑" panose="020B0503020204020204" pitchFamily="34" charset="-122"/>
                <a:ea typeface="微软雅黑" panose="020B0503020204020204" pitchFamily="34" charset="-122"/>
                <a:cs typeface="Times New Roman" panose="02020603050405020304" pitchFamily="18" charset="0"/>
              </a:rPr>
              <a:t>PayMethodFactory</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简单修改即可，无需大面积改动代码。</a:t>
            </a:r>
            <a:endParaRPr lang="en-US" altLang="zh-CN"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30000"/>
              </a:lnSpc>
              <a:buFont typeface="Wingdings" panose="05000000000000000000" pitchFamily="2" charset="2"/>
              <a:buChar char="Ø"/>
            </a:pP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对象创建于对象业务处理分离，</a:t>
            </a:r>
            <a:r>
              <a:rPr lang="zh-CN" altLang="en-US"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降低了系统耦合度</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30000"/>
              </a:lnSpc>
              <a:buFont typeface="Wingdings" panose="05000000000000000000" pitchFamily="2" charset="2"/>
              <a:buChar char="Ø"/>
            </a:pP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调用工厂类的工厂方法时，由于工厂方法时</a:t>
            </a:r>
            <a:r>
              <a:rPr lang="zh-CN" altLang="en-US"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静态方法</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，使用很方便，可通过类名直接调用，只需要</a:t>
            </a:r>
            <a:r>
              <a:rPr lang="zh-CN" altLang="en-US"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传入一个简单的参数</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即可。</a:t>
            </a:r>
            <a:endParaRPr lang="en-US" altLang="zh-CN"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nSpc>
                <a:spcPct val="13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实际</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开发中，还可以将所传入的参数保存在</a:t>
            </a:r>
            <a:r>
              <a:rPr lang="en-US" altLang="zh-CN" dirty="0" smtClean="0">
                <a:latin typeface="微软雅黑" panose="020B0503020204020204" pitchFamily="34" charset="-122"/>
                <a:ea typeface="微软雅黑" panose="020B0503020204020204" pitchFamily="34" charset="-122"/>
                <a:cs typeface="Times New Roman" panose="02020603050405020304" pitchFamily="18" charset="0"/>
              </a:rPr>
              <a:t>XML</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等格式的配置文件中，修改参数时无需修改任何</a:t>
            </a:r>
            <a:r>
              <a:rPr lang="en-US" altLang="zh-CN" dirty="0" smtClean="0">
                <a:latin typeface="微软雅黑" panose="020B0503020204020204" pitchFamily="34" charset="-122"/>
                <a:ea typeface="微软雅黑" panose="020B0503020204020204" pitchFamily="34" charset="-122"/>
                <a:cs typeface="Times New Roman" panose="02020603050405020304" pitchFamily="18" charset="0"/>
              </a:rPr>
              <a:t>Java</a:t>
            </a:r>
            <a:r>
              <a:rPr lang="zh-CN" altLang="en-US" dirty="0" smtClean="0">
                <a:latin typeface="微软雅黑" panose="020B0503020204020204" pitchFamily="34" charset="-122"/>
                <a:ea typeface="微软雅黑" panose="020B0503020204020204" pitchFamily="34" charset="-122"/>
                <a:cs typeface="Times New Roman" panose="02020603050405020304" pitchFamily="18" charset="0"/>
              </a:rPr>
              <a:t>代码。</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TextBox 3"/>
          <p:cNvSpPr txBox="1"/>
          <p:nvPr/>
        </p:nvSpPr>
        <p:spPr>
          <a:xfrm>
            <a:off x="961554" y="5132206"/>
            <a:ext cx="10682237"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50000"/>
              </a:lnSpc>
            </a:pPr>
            <a:r>
              <a:rPr lang="zh-CN" altLang="en-US" b="1" dirty="0" smtClean="0">
                <a:solidFill>
                  <a:schemeClr val="tx1"/>
                </a:solidFill>
              </a:rPr>
              <a:t>    当你需要什么，只需要传入一个正确的参数，就可以获取你所需要的对象，而无需知道其创建细节。</a:t>
            </a:r>
            <a:endParaRPr lang="zh-CN" altLang="en-US" b="1" dirty="0">
              <a:solidFill>
                <a:schemeClr val="tx1"/>
              </a:solidFill>
            </a:endParaRPr>
          </a:p>
        </p:txBody>
      </p:sp>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4.3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模式结构与分析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p:cNvSpPr/>
          <p:nvPr/>
        </p:nvSpPr>
        <p:spPr>
          <a:xfrm>
            <a:off x="770584" y="909514"/>
            <a:ext cx="10297143" cy="4540538"/>
          </a:xfrm>
          <a:prstGeom prst="rect">
            <a:avLst/>
          </a:prstGeom>
        </p:spPr>
        <p:txBody>
          <a:bodyPr wrap="square">
            <a:spAutoFit/>
          </a:bodyPr>
          <a:lstStyle/>
          <a:p>
            <a:pPr marL="800100" lvl="1" indent="-342900">
              <a:lnSpc>
                <a:spcPct val="150000"/>
              </a:lnSpc>
              <a:buClr>
                <a:srgbClr val="EC7328"/>
              </a:buClr>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简单电视机工厂：实例说明</a:t>
            </a:r>
            <a:endParaRPr lang="zh-CN" altLang="en-US" sz="2800" b="1" dirty="0">
              <a:latin typeface="微软雅黑" panose="020B0503020204020204" pitchFamily="34" charset="-122"/>
              <a:ea typeface="微软雅黑" panose="020B0503020204020204" pitchFamily="34" charset="-122"/>
            </a:endParaRPr>
          </a:p>
          <a:p>
            <a:pPr marL="1257300" lvl="2" indent="-342900">
              <a:lnSpc>
                <a:spcPct val="150000"/>
              </a:lnSpc>
              <a:buClr>
                <a:srgbClr val="EC7328"/>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某电视机厂专为各知名电视机品牌代工生产各类电视机，当需要海尔牌电视机时只需要在调用该工厂的工厂方法时传入参数“</a:t>
            </a:r>
            <a:r>
              <a:rPr lang="en-US" altLang="zh-CN" sz="2800" dirty="0">
                <a:latin typeface="微软雅黑" panose="020B0503020204020204" pitchFamily="34" charset="-122"/>
                <a:ea typeface="微软雅黑" panose="020B0503020204020204" pitchFamily="34" charset="-122"/>
              </a:rPr>
              <a:t>Haier”</a:t>
            </a:r>
            <a:r>
              <a:rPr lang="zh-CN" altLang="en-US" sz="2800" dirty="0">
                <a:latin typeface="微软雅黑" panose="020B0503020204020204" pitchFamily="34" charset="-122"/>
                <a:ea typeface="微软雅黑" panose="020B0503020204020204" pitchFamily="34" charset="-122"/>
              </a:rPr>
              <a:t>，需要海信电视机时只需要传入参数“</a:t>
            </a:r>
            <a:r>
              <a:rPr lang="en-US" altLang="zh-CN" sz="2800" dirty="0" err="1">
                <a:latin typeface="微软雅黑" panose="020B0503020204020204" pitchFamily="34" charset="-122"/>
                <a:ea typeface="微软雅黑" panose="020B0503020204020204" pitchFamily="34" charset="-122"/>
              </a:rPr>
              <a:t>Hisense</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，工厂可以根据传入的不同参数返回不同品牌的电视机。现使用简单工厂模式来模拟该电视机工厂的生产过程。</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90663" y="981522"/>
            <a:ext cx="9009823"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723211" y="5662042"/>
            <a:ext cx="4339650" cy="581057"/>
          </a:xfrm>
          <a:prstGeom prst="rect">
            <a:avLst/>
          </a:prstGeom>
        </p:spPr>
        <p:txBody>
          <a:bodyPr wrap="none">
            <a:spAutoFit/>
          </a:bodyPr>
          <a:lstStyle/>
          <a:p>
            <a:pPr marL="457200" lvl="1">
              <a:lnSpc>
                <a:spcPct val="150000"/>
              </a:lnSpc>
              <a:buClr>
                <a:srgbClr val="EC7328"/>
              </a:buClr>
            </a:pPr>
            <a:r>
              <a:rPr lang="zh-CN" altLang="en-US" b="1" dirty="0">
                <a:latin typeface="微软雅黑" panose="020B0503020204020204" pitchFamily="34" charset="-122"/>
                <a:ea typeface="微软雅黑" panose="020B0503020204020204" pitchFamily="34" charset="-122"/>
              </a:rPr>
              <a:t>简单电视机工厂：参考类图</a:t>
            </a:r>
            <a:endParaRPr lang="zh-CN" altLang="en-US" b="1" dirty="0">
              <a:latin typeface="微软雅黑" panose="020B0503020204020204" pitchFamily="34" charset="-122"/>
              <a:ea typeface="微软雅黑" panose="020B0503020204020204" pitchFamily="34" charset="-122"/>
            </a:endParaRPr>
          </a:p>
        </p:txBody>
      </p:sp>
      <p:sp>
        <p:nvSpPr>
          <p:cNvPr id="6" name="矩形 5"/>
          <p:cNvSpPr/>
          <p:nvPr/>
        </p:nvSpPr>
        <p:spPr>
          <a:xfrm>
            <a:off x="338536" y="4524430"/>
            <a:ext cx="3240359" cy="156966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altLang="zh-CN" b="1" dirty="0"/>
              <a:t>public interface TV</a:t>
            </a:r>
            <a:endParaRPr lang="en-US" altLang="zh-CN" b="1" dirty="0"/>
          </a:p>
          <a:p>
            <a:r>
              <a:rPr lang="en-US" altLang="zh-CN" b="1" dirty="0"/>
              <a:t>{</a:t>
            </a:r>
            <a:endParaRPr lang="en-US" altLang="zh-CN" b="1" dirty="0"/>
          </a:p>
          <a:p>
            <a:r>
              <a:rPr lang="en-US" altLang="zh-CN" b="1" dirty="0" smtClean="0"/>
              <a:t>       public </a:t>
            </a:r>
            <a:r>
              <a:rPr lang="en-US" altLang="zh-CN" b="1" dirty="0"/>
              <a:t>void play();</a:t>
            </a:r>
            <a:endParaRPr lang="en-US" altLang="zh-CN" b="1" dirty="0"/>
          </a:p>
          <a:p>
            <a:r>
              <a:rPr lang="en-US" altLang="zh-CN" b="1" dirty="0"/>
              <a:t>}</a:t>
            </a:r>
            <a:endParaRPr lang="en-US" altLang="zh-CN" b="1" dirty="0"/>
          </a:p>
        </p:txBody>
      </p:sp>
      <p:sp>
        <p:nvSpPr>
          <p:cNvPr id="7" name="矩形 6"/>
          <p:cNvSpPr/>
          <p:nvPr/>
        </p:nvSpPr>
        <p:spPr>
          <a:xfrm>
            <a:off x="6010109" y="549474"/>
            <a:ext cx="6099175" cy="1938992"/>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r>
              <a:rPr lang="en-US" altLang="zh-CN" dirty="0"/>
              <a:t>public class </a:t>
            </a:r>
            <a:r>
              <a:rPr lang="en-US" altLang="zh-CN" dirty="0" err="1"/>
              <a:t>HaierTV</a:t>
            </a:r>
            <a:r>
              <a:rPr lang="en-US" altLang="zh-CN" dirty="0"/>
              <a:t> implements TV</a:t>
            </a:r>
            <a:endParaRPr lang="en-US" altLang="zh-CN" dirty="0"/>
          </a:p>
          <a:p>
            <a:r>
              <a:rPr lang="en-US" altLang="zh-CN" dirty="0" smtClean="0"/>
              <a:t>{     public </a:t>
            </a:r>
            <a:r>
              <a:rPr lang="en-US" altLang="zh-CN" dirty="0"/>
              <a:t>void play()</a:t>
            </a:r>
            <a:endParaRPr lang="en-US" altLang="zh-CN" dirty="0"/>
          </a:p>
          <a:p>
            <a:r>
              <a:rPr lang="en-US" altLang="zh-CN" dirty="0" smtClean="0"/>
              <a:t>       {</a:t>
            </a:r>
            <a:endParaRPr lang="en-US" altLang="zh-CN" dirty="0"/>
          </a:p>
          <a:p>
            <a:r>
              <a:rPr lang="en-US" altLang="zh-CN" dirty="0" smtClean="0"/>
              <a:t>    </a:t>
            </a:r>
            <a:r>
              <a:rPr lang="en-US" altLang="zh-CN" dirty="0" err="1" smtClean="0"/>
              <a:t>System.out.println</a:t>
            </a:r>
            <a:r>
              <a:rPr lang="en-US" altLang="zh-CN" dirty="0"/>
              <a:t>("</a:t>
            </a:r>
            <a:r>
              <a:rPr lang="zh-CN" altLang="en-US" dirty="0"/>
              <a:t>海尔电视机播放中</a:t>
            </a:r>
            <a:r>
              <a:rPr lang="en-US" altLang="zh-CN" dirty="0"/>
              <a:t>......");</a:t>
            </a:r>
            <a:endParaRPr lang="en-US" altLang="zh-CN" dirty="0"/>
          </a:p>
          <a:p>
            <a:r>
              <a:rPr lang="en-US" altLang="zh-CN" dirty="0" smtClean="0"/>
              <a:t>       }    }</a:t>
            </a:r>
            <a:endParaRPr lang="zh-CN" altLang="en-US" dirty="0"/>
          </a:p>
        </p:txBody>
      </p:sp>
      <p:sp>
        <p:nvSpPr>
          <p:cNvPr id="8" name="矩形 7"/>
          <p:cNvSpPr/>
          <p:nvPr/>
        </p:nvSpPr>
        <p:spPr>
          <a:xfrm>
            <a:off x="6010109" y="3795058"/>
            <a:ext cx="6099175" cy="1938992"/>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r>
              <a:rPr lang="en-US" altLang="zh-CN" dirty="0"/>
              <a:t>public class </a:t>
            </a:r>
            <a:r>
              <a:rPr lang="en-US" altLang="zh-CN" dirty="0" err="1"/>
              <a:t>HisenseTV</a:t>
            </a:r>
            <a:r>
              <a:rPr lang="en-US" altLang="zh-CN" dirty="0"/>
              <a:t> implements TV</a:t>
            </a:r>
            <a:endParaRPr lang="en-US" altLang="zh-CN" dirty="0"/>
          </a:p>
          <a:p>
            <a:r>
              <a:rPr lang="en-US" altLang="zh-CN" dirty="0" smtClean="0"/>
              <a:t>{     public </a:t>
            </a:r>
            <a:r>
              <a:rPr lang="en-US" altLang="zh-CN" dirty="0"/>
              <a:t>void play()</a:t>
            </a:r>
            <a:endParaRPr lang="en-US" altLang="zh-CN" dirty="0"/>
          </a:p>
          <a:p>
            <a:r>
              <a:rPr lang="en-US" altLang="zh-CN" dirty="0" smtClean="0"/>
              <a:t>       {</a:t>
            </a:r>
            <a:endParaRPr lang="en-US" altLang="zh-CN" dirty="0"/>
          </a:p>
          <a:p>
            <a:r>
              <a:rPr lang="en-US" altLang="zh-CN" dirty="0" smtClean="0"/>
              <a:t>    </a:t>
            </a:r>
            <a:r>
              <a:rPr lang="en-US" altLang="zh-CN" dirty="0" err="1" smtClean="0"/>
              <a:t>System.out.println</a:t>
            </a:r>
            <a:r>
              <a:rPr lang="en-US" altLang="zh-CN" dirty="0" smtClean="0"/>
              <a:t>(“</a:t>
            </a:r>
            <a:r>
              <a:rPr lang="zh-CN" altLang="en-US" dirty="0" smtClean="0"/>
              <a:t>海信电视</a:t>
            </a:r>
            <a:r>
              <a:rPr lang="zh-CN" altLang="en-US" dirty="0"/>
              <a:t>机播放中</a:t>
            </a:r>
            <a:r>
              <a:rPr lang="en-US" altLang="zh-CN" dirty="0"/>
              <a:t>......");</a:t>
            </a:r>
            <a:endParaRPr lang="en-US" altLang="zh-CN" dirty="0"/>
          </a:p>
          <a:p>
            <a:r>
              <a:rPr lang="en-US" altLang="zh-CN" dirty="0" smtClean="0"/>
              <a:t>       }    }</a:t>
            </a:r>
            <a:endParaRPr lang="zh-CN" altLang="en-US" dirty="0"/>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6"/>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90663" y="981522"/>
            <a:ext cx="9009823"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723211" y="5662042"/>
            <a:ext cx="4339650" cy="581057"/>
          </a:xfrm>
          <a:prstGeom prst="rect">
            <a:avLst/>
          </a:prstGeom>
        </p:spPr>
        <p:txBody>
          <a:bodyPr wrap="none">
            <a:spAutoFit/>
          </a:bodyPr>
          <a:lstStyle/>
          <a:p>
            <a:pPr marL="457200" lvl="1">
              <a:lnSpc>
                <a:spcPct val="150000"/>
              </a:lnSpc>
              <a:buClr>
                <a:srgbClr val="EC7328"/>
              </a:buClr>
            </a:pPr>
            <a:r>
              <a:rPr lang="zh-CN" altLang="en-US" b="1" dirty="0">
                <a:latin typeface="微软雅黑" panose="020B0503020204020204" pitchFamily="34" charset="-122"/>
                <a:ea typeface="微软雅黑" panose="020B0503020204020204" pitchFamily="34" charset="-122"/>
              </a:rPr>
              <a:t>简单电视机工厂：参考类图</a:t>
            </a:r>
            <a:endParaRPr lang="zh-CN" altLang="en-US" b="1" dirty="0">
              <a:latin typeface="微软雅黑" panose="020B0503020204020204" pitchFamily="34" charset="-122"/>
              <a:ea typeface="微软雅黑" panose="020B0503020204020204" pitchFamily="34" charset="-122"/>
            </a:endParaRPr>
          </a:p>
        </p:txBody>
      </p:sp>
      <p:sp>
        <p:nvSpPr>
          <p:cNvPr id="4" name="矩形 3"/>
          <p:cNvSpPr/>
          <p:nvPr/>
        </p:nvSpPr>
        <p:spPr>
          <a:xfrm>
            <a:off x="986607" y="837506"/>
            <a:ext cx="11017224" cy="5743111"/>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nSpc>
                <a:spcPct val="90000"/>
              </a:lnSpc>
            </a:pPr>
            <a:r>
              <a:rPr lang="en-US" altLang="zh-CN" dirty="0"/>
              <a:t>public class </a:t>
            </a:r>
            <a:r>
              <a:rPr lang="en-US" altLang="zh-CN" dirty="0" err="1"/>
              <a:t>TVFactory</a:t>
            </a:r>
            <a:endParaRPr lang="en-US" altLang="zh-CN" dirty="0"/>
          </a:p>
          <a:p>
            <a:pPr>
              <a:lnSpc>
                <a:spcPct val="90000"/>
              </a:lnSpc>
            </a:pPr>
            <a:r>
              <a:rPr lang="en-US" altLang="zh-CN" dirty="0"/>
              <a:t>{</a:t>
            </a:r>
            <a:endParaRPr lang="en-US" altLang="zh-CN" dirty="0"/>
          </a:p>
          <a:p>
            <a:pPr>
              <a:lnSpc>
                <a:spcPct val="90000"/>
              </a:lnSpc>
            </a:pPr>
            <a:r>
              <a:rPr lang="en-US" altLang="zh-CN" dirty="0"/>
              <a:t> </a:t>
            </a:r>
            <a:r>
              <a:rPr lang="en-US" altLang="zh-CN" dirty="0" smtClean="0"/>
              <a:t>   public </a:t>
            </a:r>
            <a:r>
              <a:rPr lang="en-US" altLang="zh-CN" dirty="0"/>
              <a:t>static TV </a:t>
            </a:r>
            <a:r>
              <a:rPr lang="en-US" altLang="zh-CN" dirty="0" err="1"/>
              <a:t>produceTV</a:t>
            </a:r>
            <a:r>
              <a:rPr lang="en-US" altLang="zh-CN" dirty="0"/>
              <a:t>(String brand) throws Exception</a:t>
            </a:r>
            <a:endParaRPr lang="en-US" altLang="zh-CN" dirty="0"/>
          </a:p>
          <a:p>
            <a:pPr>
              <a:lnSpc>
                <a:spcPct val="90000"/>
              </a:lnSpc>
            </a:pPr>
            <a:r>
              <a:rPr lang="en-US" altLang="zh-CN" dirty="0" smtClean="0"/>
              <a:t>    {</a:t>
            </a:r>
            <a:endParaRPr lang="en-US" altLang="zh-CN" dirty="0"/>
          </a:p>
          <a:p>
            <a:pPr>
              <a:lnSpc>
                <a:spcPct val="90000"/>
              </a:lnSpc>
            </a:pPr>
            <a:r>
              <a:rPr lang="en-US" altLang="zh-CN" dirty="0"/>
              <a:t>	</a:t>
            </a:r>
            <a:r>
              <a:rPr lang="en-US" altLang="zh-CN" dirty="0" smtClean="0"/>
              <a:t>if(</a:t>
            </a:r>
            <a:r>
              <a:rPr lang="en-US" altLang="zh-CN" dirty="0" err="1" smtClean="0"/>
              <a:t>brand.equalsIgnoreCase</a:t>
            </a:r>
            <a:r>
              <a:rPr lang="en-US" altLang="zh-CN" dirty="0"/>
              <a:t>("Haier"))</a:t>
            </a:r>
            <a:endParaRPr lang="en-US" altLang="zh-CN" dirty="0"/>
          </a:p>
          <a:p>
            <a:pPr>
              <a:lnSpc>
                <a:spcPct val="90000"/>
              </a:lnSpc>
            </a:pPr>
            <a:r>
              <a:rPr lang="en-US" altLang="zh-CN" dirty="0"/>
              <a:t>	</a:t>
            </a:r>
            <a:r>
              <a:rPr lang="en-US" altLang="zh-CN" dirty="0" smtClean="0"/>
              <a:t>{</a:t>
            </a:r>
            <a:endParaRPr lang="en-US" altLang="zh-CN" dirty="0"/>
          </a:p>
          <a:p>
            <a:pPr>
              <a:lnSpc>
                <a:spcPct val="90000"/>
              </a:lnSpc>
            </a:pPr>
            <a:r>
              <a:rPr lang="en-US" altLang="zh-CN" dirty="0"/>
              <a:t>		</a:t>
            </a:r>
            <a:r>
              <a:rPr lang="en-US" altLang="zh-CN" dirty="0" err="1" smtClean="0"/>
              <a:t>System.out.println</a:t>
            </a:r>
            <a:r>
              <a:rPr lang="en-US" altLang="zh-CN" dirty="0"/>
              <a:t>("</a:t>
            </a:r>
            <a:r>
              <a:rPr lang="zh-CN" altLang="en-US" dirty="0"/>
              <a:t>电视机工厂生产海尔电视机！</a:t>
            </a:r>
            <a:r>
              <a:rPr lang="en-US" altLang="zh-CN" dirty="0"/>
              <a:t>");</a:t>
            </a:r>
            <a:endParaRPr lang="en-US" altLang="zh-CN" dirty="0"/>
          </a:p>
          <a:p>
            <a:pPr>
              <a:lnSpc>
                <a:spcPct val="90000"/>
              </a:lnSpc>
            </a:pPr>
            <a:r>
              <a:rPr lang="en-US" altLang="zh-CN" dirty="0"/>
              <a:t>		</a:t>
            </a:r>
            <a:r>
              <a:rPr lang="en-US" altLang="zh-CN" dirty="0" smtClean="0"/>
              <a:t>return </a:t>
            </a:r>
            <a:r>
              <a:rPr lang="en-US" altLang="zh-CN" dirty="0"/>
              <a:t>new </a:t>
            </a:r>
            <a:r>
              <a:rPr lang="en-US" altLang="zh-CN" dirty="0" err="1"/>
              <a:t>HaierTV</a:t>
            </a:r>
            <a:r>
              <a:rPr lang="en-US" altLang="zh-CN" dirty="0"/>
              <a:t>();</a:t>
            </a:r>
            <a:endParaRPr lang="en-US" altLang="zh-CN" dirty="0"/>
          </a:p>
          <a:p>
            <a:pPr>
              <a:lnSpc>
                <a:spcPct val="90000"/>
              </a:lnSpc>
            </a:pPr>
            <a:r>
              <a:rPr lang="en-US" altLang="zh-CN" dirty="0"/>
              <a:t>	</a:t>
            </a:r>
            <a:r>
              <a:rPr lang="en-US" altLang="zh-CN" dirty="0" smtClean="0"/>
              <a:t>}</a:t>
            </a:r>
            <a:endParaRPr lang="en-US" altLang="zh-CN" dirty="0"/>
          </a:p>
          <a:p>
            <a:pPr>
              <a:lnSpc>
                <a:spcPct val="90000"/>
              </a:lnSpc>
            </a:pPr>
            <a:r>
              <a:rPr lang="en-US" altLang="zh-CN" dirty="0"/>
              <a:t>	</a:t>
            </a:r>
            <a:r>
              <a:rPr lang="en-US" altLang="zh-CN" dirty="0" smtClean="0"/>
              <a:t>else </a:t>
            </a:r>
            <a:r>
              <a:rPr lang="en-US" altLang="zh-CN" dirty="0"/>
              <a:t>if(</a:t>
            </a:r>
            <a:r>
              <a:rPr lang="en-US" altLang="zh-CN" dirty="0" err="1"/>
              <a:t>brand.equalsIgnoreCase</a:t>
            </a:r>
            <a:r>
              <a:rPr lang="en-US" altLang="zh-CN" dirty="0"/>
              <a:t>("</a:t>
            </a:r>
            <a:r>
              <a:rPr lang="en-US" altLang="zh-CN" dirty="0" err="1"/>
              <a:t>Hisense</a:t>
            </a:r>
            <a:r>
              <a:rPr lang="en-US" altLang="zh-CN" dirty="0"/>
              <a:t>"))</a:t>
            </a:r>
            <a:endParaRPr lang="en-US" altLang="zh-CN" dirty="0"/>
          </a:p>
          <a:p>
            <a:pPr>
              <a:lnSpc>
                <a:spcPct val="90000"/>
              </a:lnSpc>
            </a:pPr>
            <a:r>
              <a:rPr lang="en-US" altLang="zh-CN" dirty="0"/>
              <a:t>	</a:t>
            </a:r>
            <a:r>
              <a:rPr lang="en-US" altLang="zh-CN" dirty="0" smtClean="0"/>
              <a:t>{</a:t>
            </a:r>
            <a:endParaRPr lang="en-US" altLang="zh-CN" dirty="0"/>
          </a:p>
          <a:p>
            <a:pPr>
              <a:lnSpc>
                <a:spcPct val="90000"/>
              </a:lnSpc>
            </a:pPr>
            <a:r>
              <a:rPr lang="en-US" altLang="zh-CN" dirty="0"/>
              <a:t>		</a:t>
            </a:r>
            <a:r>
              <a:rPr lang="en-US" altLang="zh-CN" dirty="0" err="1" smtClean="0"/>
              <a:t>System.out.println</a:t>
            </a:r>
            <a:r>
              <a:rPr lang="en-US" altLang="zh-CN" dirty="0"/>
              <a:t>("</a:t>
            </a:r>
            <a:r>
              <a:rPr lang="zh-CN" altLang="en-US" dirty="0"/>
              <a:t>电视机工厂生产海信电视机！</a:t>
            </a:r>
            <a:r>
              <a:rPr lang="en-US" altLang="zh-CN" dirty="0"/>
              <a:t>");</a:t>
            </a:r>
            <a:endParaRPr lang="en-US" altLang="zh-CN" dirty="0"/>
          </a:p>
          <a:p>
            <a:pPr>
              <a:lnSpc>
                <a:spcPct val="90000"/>
              </a:lnSpc>
            </a:pPr>
            <a:r>
              <a:rPr lang="en-US" altLang="zh-CN" dirty="0"/>
              <a:t>		</a:t>
            </a:r>
            <a:r>
              <a:rPr lang="en-US" altLang="zh-CN" dirty="0" smtClean="0"/>
              <a:t>return </a:t>
            </a:r>
            <a:r>
              <a:rPr lang="en-US" altLang="zh-CN" dirty="0"/>
              <a:t>new </a:t>
            </a:r>
            <a:r>
              <a:rPr lang="en-US" altLang="zh-CN" dirty="0" err="1"/>
              <a:t>HisenseTV</a:t>
            </a:r>
            <a:r>
              <a:rPr lang="en-US" altLang="zh-CN" dirty="0"/>
              <a:t>();</a:t>
            </a:r>
            <a:endParaRPr lang="en-US" altLang="zh-CN" dirty="0"/>
          </a:p>
          <a:p>
            <a:pPr>
              <a:lnSpc>
                <a:spcPct val="90000"/>
              </a:lnSpc>
            </a:pPr>
            <a:r>
              <a:rPr lang="en-US" altLang="zh-CN" dirty="0"/>
              <a:t>	</a:t>
            </a:r>
            <a:r>
              <a:rPr lang="en-US" altLang="zh-CN" dirty="0" smtClean="0"/>
              <a:t>}</a:t>
            </a:r>
            <a:endParaRPr lang="en-US" altLang="zh-CN" dirty="0"/>
          </a:p>
          <a:p>
            <a:pPr>
              <a:lnSpc>
                <a:spcPct val="90000"/>
              </a:lnSpc>
            </a:pPr>
            <a:r>
              <a:rPr lang="en-US" altLang="zh-CN" dirty="0"/>
              <a:t>	</a:t>
            </a:r>
            <a:r>
              <a:rPr lang="en-US" altLang="zh-CN" dirty="0" smtClean="0"/>
              <a:t>else</a:t>
            </a:r>
            <a:endParaRPr lang="en-US" altLang="zh-CN" dirty="0"/>
          </a:p>
          <a:p>
            <a:pPr>
              <a:lnSpc>
                <a:spcPct val="90000"/>
              </a:lnSpc>
            </a:pPr>
            <a:r>
              <a:rPr lang="en-US" altLang="zh-CN" dirty="0"/>
              <a:t>	</a:t>
            </a:r>
            <a:r>
              <a:rPr lang="en-US" altLang="zh-CN" dirty="0" smtClean="0"/>
              <a:t>{</a:t>
            </a:r>
            <a:r>
              <a:rPr lang="en-US" altLang="zh-CN" dirty="0"/>
              <a:t>	</a:t>
            </a:r>
            <a:r>
              <a:rPr lang="en-US" altLang="zh-CN" dirty="0" smtClean="0"/>
              <a:t>throw </a:t>
            </a:r>
            <a:r>
              <a:rPr lang="en-US" altLang="zh-CN" dirty="0"/>
              <a:t>new Exception("</a:t>
            </a:r>
            <a:r>
              <a:rPr lang="zh-CN" altLang="en-US" dirty="0"/>
              <a:t>对不起，暂不能生产该品牌电视机！</a:t>
            </a:r>
            <a:r>
              <a:rPr lang="en-US" altLang="zh-CN" dirty="0"/>
              <a:t>");</a:t>
            </a:r>
            <a:endParaRPr lang="en-US" altLang="zh-CN" dirty="0"/>
          </a:p>
          <a:p>
            <a:pPr>
              <a:lnSpc>
                <a:spcPct val="90000"/>
              </a:lnSpc>
            </a:pPr>
            <a:r>
              <a:rPr lang="en-US" altLang="zh-CN" dirty="0"/>
              <a:t>	</a:t>
            </a:r>
            <a:r>
              <a:rPr lang="en-US" altLang="zh-CN" dirty="0" smtClean="0"/>
              <a:t>}     }      }</a:t>
            </a:r>
            <a:endParaRPr lang="zh-CN" altLang="en-US" dirty="0"/>
          </a:p>
        </p:txBody>
      </p:sp>
    </p:spTree>
  </p:cSld>
  <p:clrMapOvr>
    <a:masterClrMapping/>
  </p:clrMapOvr>
  <p:transition spd="slow" advTm="0">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模式实例与解析</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626567" y="837506"/>
            <a:ext cx="11017224" cy="5632311"/>
          </a:xfrm>
          <a:prstGeom prst="rect">
            <a:avLst/>
          </a:prstGeom>
        </p:spPr>
        <p:txBody>
          <a:bodyPr wrap="square">
            <a:spAutoFit/>
          </a:bodyPr>
          <a:lstStyle/>
          <a:p>
            <a:pPr marL="457200" lvl="1">
              <a:lnSpc>
                <a:spcPct val="150000"/>
              </a:lnSpc>
              <a:buClr>
                <a:srgbClr val="EC7328"/>
              </a:buClr>
            </a:pPr>
            <a:r>
              <a:rPr lang="zh-CN" altLang="en-US" b="1" dirty="0">
                <a:latin typeface="微软雅黑" panose="020B0503020204020204" pitchFamily="34" charset="-122"/>
                <a:ea typeface="微软雅黑" panose="020B0503020204020204" pitchFamily="34" charset="-122"/>
              </a:rPr>
              <a:t>辅助</a:t>
            </a:r>
            <a:r>
              <a:rPr lang="zh-CN" altLang="en-US" b="1" dirty="0" smtClean="0">
                <a:latin typeface="微软雅黑" panose="020B0503020204020204" pitchFamily="34" charset="-122"/>
                <a:ea typeface="微软雅黑" panose="020B0503020204020204" pitchFamily="34" charset="-122"/>
              </a:rPr>
              <a:t>代码：</a:t>
            </a:r>
            <a:endParaRPr lang="en-US" altLang="zh-CN" b="1" dirty="0" smtClean="0">
              <a:latin typeface="微软雅黑" panose="020B0503020204020204" pitchFamily="34" charset="-122"/>
              <a:ea typeface="微软雅黑" panose="020B0503020204020204" pitchFamily="34" charset="-122"/>
            </a:endParaRPr>
          </a:p>
          <a:p>
            <a:pPr marL="800100" lvl="1" indent="-342900">
              <a:lnSpc>
                <a:spcPct val="150000"/>
              </a:lnSpc>
              <a:buClr>
                <a:srgbClr val="EC7328"/>
              </a:buClr>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工具</a:t>
            </a:r>
            <a:r>
              <a:rPr lang="zh-CN" altLang="en-US" dirty="0" smtClean="0">
                <a:latin typeface="微软雅黑" panose="020B0503020204020204" pitchFamily="34" charset="-122"/>
                <a:ea typeface="微软雅黑" panose="020B0503020204020204" pitchFamily="34" charset="-122"/>
              </a:rPr>
              <a:t>类</a:t>
            </a:r>
            <a:r>
              <a:rPr lang="en-US" altLang="zh-CN" dirty="0" smtClean="0">
                <a:latin typeface="微软雅黑" panose="020B0503020204020204" pitchFamily="34" charset="-122"/>
                <a:ea typeface="微软雅黑" panose="020B0503020204020204" pitchFamily="34" charset="-122"/>
              </a:rPr>
              <a:t>-</a:t>
            </a:r>
            <a:r>
              <a:rPr lang="en-US" altLang="zh-CN" dirty="0" err="1" smtClean="0">
                <a:latin typeface="微软雅黑" panose="020B0503020204020204" pitchFamily="34" charset="-122"/>
                <a:ea typeface="微软雅黑" panose="020B0503020204020204" pitchFamily="34" charset="-122"/>
              </a:rPr>
              <a:t>XMLUtilTV</a:t>
            </a:r>
            <a:r>
              <a:rPr lang="zh-CN" altLang="en-US" dirty="0" smtClean="0">
                <a:latin typeface="微软雅黑" panose="020B0503020204020204" pitchFamily="34" charset="-122"/>
                <a:ea typeface="微软雅黑" panose="020B0503020204020204" pitchFamily="34" charset="-122"/>
              </a:rPr>
              <a:t>，用于从</a:t>
            </a:r>
            <a:r>
              <a:rPr lang="en-US" altLang="zh-CN" dirty="0" smtClean="0">
                <a:latin typeface="微软雅黑" panose="020B0503020204020204" pitchFamily="34" charset="-122"/>
                <a:ea typeface="微软雅黑" panose="020B0503020204020204" pitchFamily="34" charset="-122"/>
              </a:rPr>
              <a:t>XML</a:t>
            </a:r>
            <a:r>
              <a:rPr lang="zh-CN" altLang="en-US" dirty="0" smtClean="0">
                <a:latin typeface="微软雅黑" panose="020B0503020204020204" pitchFamily="34" charset="-122"/>
                <a:ea typeface="微软雅黑" panose="020B0503020204020204" pitchFamily="34" charset="-122"/>
              </a:rPr>
              <a:t>格式的配置文件中读取节点获取数据，如品牌名称等。若需要修改品牌名称，不修改代码，只修改配置文件即可。</a:t>
            </a:r>
            <a:r>
              <a:rPr lang="zh-CN" altLang="en-US" b="1" dirty="0" smtClean="0">
                <a:solidFill>
                  <a:srgbClr val="FF0000"/>
                </a:solidFill>
                <a:latin typeface="微软雅黑" panose="020B0503020204020204" pitchFamily="34" charset="-122"/>
                <a:ea typeface="微软雅黑" panose="020B0503020204020204" pitchFamily="34" charset="-122"/>
              </a:rPr>
              <a:t>提高扩展性，符合开闭原则</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marL="800100" lvl="1" indent="-342900">
              <a:lnSpc>
                <a:spcPct val="150000"/>
              </a:lnSpc>
              <a:buClr>
                <a:srgbClr val="EC7328"/>
              </a:buClr>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&lt;?xml version="1.0"?&gt;</a:t>
            </a:r>
            <a:endParaRPr lang="en-US" altLang="zh-CN" dirty="0">
              <a:latin typeface="微软雅黑" panose="020B0503020204020204" pitchFamily="34" charset="-122"/>
              <a:ea typeface="微软雅黑" panose="020B0503020204020204" pitchFamily="34" charset="-122"/>
            </a:endParaRPr>
          </a:p>
          <a:p>
            <a:pPr marL="457200" lvl="1">
              <a:lnSpc>
                <a:spcPct val="150000"/>
              </a:lnSpc>
              <a:buClr>
                <a:srgbClr val="EC7328"/>
              </a:buClr>
            </a:pPr>
            <a:r>
              <a:rPr lang="en-US" altLang="zh-CN" dirty="0" smtClean="0">
                <a:latin typeface="微软雅黑" panose="020B0503020204020204" pitchFamily="34" charset="-122"/>
                <a:ea typeface="微软雅黑" panose="020B0503020204020204" pitchFamily="34" charset="-122"/>
              </a:rPr>
              <a:t>    &lt;</a:t>
            </a:r>
            <a:r>
              <a:rPr lang="en-US" altLang="zh-CN" dirty="0" err="1">
                <a:latin typeface="微软雅黑" panose="020B0503020204020204" pitchFamily="34" charset="-122"/>
                <a:ea typeface="微软雅黑" panose="020B0503020204020204" pitchFamily="34" charset="-122"/>
              </a:rPr>
              <a:t>config</a:t>
            </a:r>
            <a:r>
              <a:rPr lang="en-US" altLang="zh-CN" dirty="0">
                <a:latin typeface="微软雅黑" panose="020B0503020204020204" pitchFamily="34" charset="-122"/>
                <a:ea typeface="微软雅黑" panose="020B0503020204020204" pitchFamily="34" charset="-122"/>
              </a:rPr>
              <a:t>&gt;</a:t>
            </a:r>
            <a:endParaRPr lang="en-US" altLang="zh-CN" dirty="0">
              <a:latin typeface="微软雅黑" panose="020B0503020204020204" pitchFamily="34" charset="-122"/>
              <a:ea typeface="微软雅黑" panose="020B0503020204020204" pitchFamily="34" charset="-122"/>
            </a:endParaRPr>
          </a:p>
          <a:p>
            <a:pPr marL="457200" lvl="1">
              <a:lnSpc>
                <a:spcPct val="150000"/>
              </a:lnSpc>
              <a:buClr>
                <a:srgbClr val="EC7328"/>
              </a:buClr>
            </a:pPr>
            <a:r>
              <a:rPr lang="en-US" altLang="zh-CN" dirty="0" smtClean="0">
                <a:latin typeface="微软雅黑" panose="020B0503020204020204" pitchFamily="34" charset="-122"/>
                <a:ea typeface="微软雅黑" panose="020B0503020204020204" pitchFamily="34" charset="-122"/>
              </a:rPr>
              <a:t>          &lt;</a:t>
            </a:r>
            <a:r>
              <a:rPr lang="en-US" altLang="zh-CN" dirty="0" err="1">
                <a:latin typeface="微软雅黑" panose="020B0503020204020204" pitchFamily="34" charset="-122"/>
                <a:ea typeface="微软雅黑" panose="020B0503020204020204" pitchFamily="34" charset="-122"/>
              </a:rPr>
              <a:t>brandName</a:t>
            </a:r>
            <a:r>
              <a:rPr lang="en-US" altLang="zh-CN" dirty="0">
                <a:latin typeface="微软雅黑" panose="020B0503020204020204" pitchFamily="34" charset="-122"/>
                <a:ea typeface="微软雅黑" panose="020B0503020204020204" pitchFamily="34" charset="-122"/>
              </a:rPr>
              <a:t>&gt;Haier&lt;/</a:t>
            </a:r>
            <a:r>
              <a:rPr lang="en-US" altLang="zh-CN" dirty="0" err="1">
                <a:latin typeface="微软雅黑" panose="020B0503020204020204" pitchFamily="34" charset="-122"/>
                <a:ea typeface="微软雅黑" panose="020B0503020204020204" pitchFamily="34" charset="-122"/>
              </a:rPr>
              <a:t>brandName</a:t>
            </a:r>
            <a:r>
              <a:rPr lang="en-US" altLang="zh-CN" dirty="0">
                <a:latin typeface="微软雅黑" panose="020B0503020204020204" pitchFamily="34" charset="-122"/>
                <a:ea typeface="微软雅黑" panose="020B0503020204020204" pitchFamily="34" charset="-122"/>
              </a:rPr>
              <a:t>&gt;</a:t>
            </a:r>
            <a:endParaRPr lang="en-US" altLang="zh-CN" dirty="0">
              <a:latin typeface="微软雅黑" panose="020B0503020204020204" pitchFamily="34" charset="-122"/>
              <a:ea typeface="微软雅黑" panose="020B0503020204020204" pitchFamily="34" charset="-122"/>
            </a:endParaRPr>
          </a:p>
          <a:p>
            <a:pPr marL="457200" lvl="1">
              <a:lnSpc>
                <a:spcPct val="150000"/>
              </a:lnSpc>
              <a:buClr>
                <a:srgbClr val="EC7328"/>
              </a:buClr>
            </a:pPr>
            <a:r>
              <a:rPr lang="en-US" altLang="zh-CN" dirty="0" smtClean="0">
                <a:latin typeface="微软雅黑" panose="020B0503020204020204" pitchFamily="34" charset="-122"/>
                <a:ea typeface="微软雅黑" panose="020B0503020204020204" pitchFamily="34" charset="-122"/>
              </a:rPr>
              <a:t>    &lt;/</a:t>
            </a:r>
            <a:r>
              <a:rPr lang="en-US" altLang="zh-CN" dirty="0" err="1">
                <a:latin typeface="微软雅黑" panose="020B0503020204020204" pitchFamily="34" charset="-122"/>
                <a:ea typeface="微软雅黑" panose="020B0503020204020204" pitchFamily="34" charset="-122"/>
              </a:rPr>
              <a:t>config</a:t>
            </a:r>
            <a:r>
              <a:rPr lang="en-US" altLang="zh-CN" dirty="0" smtClean="0">
                <a:latin typeface="微软雅黑" panose="020B0503020204020204" pitchFamily="34" charset="-122"/>
                <a:ea typeface="微软雅黑" panose="020B0503020204020204" pitchFamily="34" charset="-122"/>
              </a:rPr>
              <a:t>&gt;</a:t>
            </a:r>
            <a:endParaRPr lang="en-US" altLang="zh-CN" dirty="0" smtClean="0">
              <a:latin typeface="微软雅黑" panose="020B0503020204020204" pitchFamily="34" charset="-122"/>
              <a:ea typeface="微软雅黑" panose="020B0503020204020204" pitchFamily="34" charset="-122"/>
            </a:endParaRPr>
          </a:p>
          <a:p>
            <a:pPr marL="800100" lvl="1" indent="-342900">
              <a:lnSpc>
                <a:spcPct val="150000"/>
              </a:lnSpc>
              <a:buClr>
                <a:srgbClr val="EC7328"/>
              </a:buClr>
              <a:buFont typeface="Wingdings" panose="05000000000000000000" pitchFamily="2" charset="2"/>
              <a:buChar char="Ø"/>
            </a:pPr>
            <a:r>
              <a:rPr lang="zh-CN" altLang="en-US" dirty="0" smtClean="0">
                <a:latin typeface="微软雅黑" panose="020B0503020204020204" pitchFamily="34" charset="-122"/>
                <a:ea typeface="微软雅黑" panose="020B0503020204020204" pitchFamily="34" charset="-122"/>
              </a:rPr>
              <a:t>抽象写在代码中，具体写在配置中。</a:t>
            </a:r>
            <a:r>
              <a:rPr lang="zh-CN" altLang="en-US" dirty="0">
                <a:latin typeface="微软雅黑" panose="020B0503020204020204" pitchFamily="34" charset="-122"/>
                <a:ea typeface="微软雅黑" panose="020B0503020204020204" pitchFamily="34" charset="-122"/>
              </a:rPr>
              <a:t>符合开闭原则和依赖倒转原则</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pPr marL="800100" lvl="1" indent="-342900">
              <a:lnSpc>
                <a:spcPct val="150000"/>
              </a:lnSpc>
              <a:buClr>
                <a:srgbClr val="EC7328"/>
              </a:buClr>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用户测试</a:t>
            </a:r>
            <a:r>
              <a:rPr lang="zh-CN" altLang="en-US" dirty="0" smtClean="0">
                <a:latin typeface="微软雅黑" panose="020B0503020204020204" pitchFamily="34" charset="-122"/>
                <a:ea typeface="微软雅黑" panose="020B0503020204020204" pitchFamily="34" charset="-122"/>
              </a:rPr>
              <a:t>类</a:t>
            </a:r>
            <a:r>
              <a:rPr lang="en-US" altLang="zh-CN" dirty="0" smtClean="0">
                <a:latin typeface="微软雅黑" panose="020B0503020204020204" pitchFamily="34" charset="-122"/>
                <a:ea typeface="微软雅黑" panose="020B0503020204020204" pitchFamily="34" charset="-122"/>
              </a:rPr>
              <a:t>Client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634490" y="117475"/>
            <a:ext cx="6096000" cy="521970"/>
          </a:xfrm>
          <a:prstGeom prst="rect">
            <a:avLst/>
          </a:prstGeom>
          <a:noFill/>
        </p:spPr>
        <p:txBody>
          <a:bodyPr wrap="square" rtlCol="0" anchor="t">
            <a:spAutoFit/>
          </a:bodyPr>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sym typeface="+mn-ea"/>
              </a:rPr>
              <a:t>4.4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sym typeface="+mn-ea"/>
              </a:rPr>
              <a:t>模式实例与解析</a:t>
            </a:r>
            <a:endPar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 name="矩形 3"/>
          <p:cNvSpPr/>
          <p:nvPr/>
        </p:nvSpPr>
        <p:spPr>
          <a:xfrm>
            <a:off x="770584" y="909514"/>
            <a:ext cx="10297143" cy="3969385"/>
          </a:xfrm>
          <a:prstGeom prst="rect">
            <a:avLst/>
          </a:prstGeom>
        </p:spPr>
        <p:txBody>
          <a:bodyPr wrap="square">
            <a:spAutoFit/>
          </a:bodyPr>
          <a:lstStyle/>
          <a:p>
            <a:pPr marL="800100" lvl="1" indent="-342900">
              <a:lnSpc>
                <a:spcPct val="150000"/>
              </a:lnSpc>
              <a:buClr>
                <a:srgbClr val="EC7328"/>
              </a:buClr>
              <a:buFont typeface="Wingdings" panose="05000000000000000000" pitchFamily="2" charset="2"/>
              <a:buChar char="ü"/>
            </a:pPr>
            <a:r>
              <a:rPr lang="zh-CN" altLang="en-US" sz="2800" b="1" dirty="0">
                <a:latin typeface="微软雅黑" panose="020B0503020204020204" pitchFamily="34" charset="-122"/>
                <a:ea typeface="微软雅黑" panose="020B0503020204020204" pitchFamily="34" charset="-122"/>
              </a:rPr>
              <a:t>简单图表工厂：实例说明</a:t>
            </a:r>
            <a:endParaRPr lang="zh-CN" altLang="en-US" sz="2800" b="1" dirty="0">
              <a:latin typeface="微软雅黑" panose="020B0503020204020204" pitchFamily="34" charset="-122"/>
              <a:ea typeface="微软雅黑" panose="020B0503020204020204" pitchFamily="34" charset="-122"/>
            </a:endParaRPr>
          </a:p>
          <a:p>
            <a:pPr marL="1257300" lvl="2" indent="-342900">
              <a:lnSpc>
                <a:spcPct val="150000"/>
              </a:lnSpc>
              <a:buClr>
                <a:srgbClr val="EC7328"/>
              </a:buClr>
              <a:buFont typeface="Arial" panose="020B0604020202020204" pitchFamily="34" charset="0"/>
              <a:buChar char="•"/>
            </a:pPr>
            <a:r>
              <a:rPr lang="zh-CN" sz="2800" dirty="0">
                <a:latin typeface="微软雅黑" panose="020B0503020204020204" pitchFamily="34" charset="-122"/>
                <a:ea typeface="微软雅黑" panose="020B0503020204020204" pitchFamily="34" charset="-122"/>
              </a:rPr>
              <a:t>某统计软件需要根据需求对数据进行统计并生成统计图，该软件提供三种统计方式：柱状图、饼状图以及折线图，不同种类的统计图均可能被要求生成，现要求该软件根据用户要求（传入参数）生成不同种类的统计图，使用简单工厂模式实现该统计软件。</a:t>
            </a: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内容占位符 2"/>
          <p:cNvSpPr txBox="1"/>
          <p:nvPr/>
        </p:nvSpPr>
        <p:spPr>
          <a:xfrm>
            <a:off x="427655" y="1244050"/>
            <a:ext cx="11144128" cy="391393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简单</a:t>
            </a:r>
            <a:r>
              <a:rPr lang="zh-CN" altLang="en-US" sz="2800" b="1" dirty="0">
                <a:latin typeface="微软雅黑" panose="020B0503020204020204" pitchFamily="34" charset="-122"/>
                <a:ea typeface="微软雅黑" panose="020B0503020204020204" pitchFamily="34" charset="-122"/>
              </a:rPr>
              <a:t>工厂</a:t>
            </a:r>
            <a:r>
              <a:rPr lang="zh-CN" altLang="en-US" sz="2800" b="1" dirty="0" smtClean="0">
                <a:latin typeface="微软雅黑" panose="020B0503020204020204" pitchFamily="34" charset="-122"/>
                <a:ea typeface="微软雅黑" panose="020B0503020204020204" pitchFamily="34" charset="-122"/>
              </a:rPr>
              <a:t>模式优点：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实现</a:t>
            </a:r>
            <a:r>
              <a:rPr lang="zh-CN" altLang="en-US" sz="2800" dirty="0">
                <a:latin typeface="微软雅黑" panose="020B0503020204020204" pitchFamily="34" charset="-122"/>
                <a:ea typeface="微软雅黑" panose="020B0503020204020204" pitchFamily="34" charset="-122"/>
              </a:rPr>
              <a:t>了</a:t>
            </a:r>
            <a:r>
              <a:rPr lang="zh-CN" altLang="en-US" sz="2800" dirty="0">
                <a:solidFill>
                  <a:srgbClr val="FF0000"/>
                </a:solidFill>
                <a:latin typeface="微软雅黑" panose="020B0503020204020204" pitchFamily="34" charset="-122"/>
                <a:ea typeface="微软雅黑" panose="020B0503020204020204" pitchFamily="34" charset="-122"/>
              </a:rPr>
              <a:t>对象创建和使用的分离</a:t>
            </a:r>
            <a:endParaRPr lang="zh-CN" altLang="en-US" sz="2800" dirty="0">
              <a:solidFill>
                <a:srgbClr val="FF0000"/>
              </a:solidFill>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客户端无须知道所创建的具体产品类的类名，只需要知道具体产品类所对应的</a:t>
            </a:r>
            <a:r>
              <a:rPr lang="zh-CN" altLang="en-US" sz="2800" dirty="0">
                <a:solidFill>
                  <a:srgbClr val="FF0000"/>
                </a:solidFill>
                <a:latin typeface="微软雅黑" panose="020B0503020204020204" pitchFamily="34" charset="-122"/>
                <a:ea typeface="微软雅黑" panose="020B0503020204020204" pitchFamily="34" charset="-122"/>
              </a:rPr>
              <a:t>参数</a:t>
            </a:r>
            <a:r>
              <a:rPr lang="zh-CN" altLang="en-US" sz="2800" dirty="0">
                <a:latin typeface="微软雅黑" panose="020B0503020204020204" pitchFamily="34" charset="-122"/>
                <a:ea typeface="微软雅黑" panose="020B0503020204020204" pitchFamily="34" charset="-122"/>
              </a:rPr>
              <a:t>即可</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通过引入</a:t>
            </a:r>
            <a:r>
              <a:rPr lang="zh-CN" altLang="en-US" sz="2800" dirty="0">
                <a:solidFill>
                  <a:srgbClr val="FF0000"/>
                </a:solidFill>
                <a:latin typeface="微软雅黑" panose="020B0503020204020204" pitchFamily="34" charset="-122"/>
                <a:ea typeface="微软雅黑" panose="020B0503020204020204" pitchFamily="34" charset="-122"/>
              </a:rPr>
              <a:t>配置文件</a:t>
            </a:r>
            <a:r>
              <a:rPr lang="zh-CN" altLang="en-US" sz="2800" dirty="0">
                <a:latin typeface="微软雅黑" panose="020B0503020204020204" pitchFamily="34" charset="-122"/>
                <a:ea typeface="微软雅黑" panose="020B0503020204020204" pitchFamily="34" charset="-122"/>
              </a:rPr>
              <a:t>，可以在不修改任何客户端代码的情况下更换和增加新的具体产品类，在一定程度上提高了系统的</a:t>
            </a:r>
            <a:r>
              <a:rPr lang="zh-CN" altLang="en-US" sz="2800" dirty="0" smtClean="0">
                <a:solidFill>
                  <a:srgbClr val="FF0000"/>
                </a:solidFill>
                <a:latin typeface="微软雅黑" panose="020B0503020204020204" pitchFamily="34" charset="-122"/>
                <a:ea typeface="微软雅黑" panose="020B0503020204020204" pitchFamily="34" charset="-122"/>
              </a:rPr>
              <a:t>灵活性</a:t>
            </a:r>
            <a:endParaRPr lang="en-US" altLang="zh-CN"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99663" y="1053530"/>
            <a:ext cx="11144128" cy="518457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简单</a:t>
            </a:r>
            <a:r>
              <a:rPr lang="zh-CN" altLang="en-US" sz="2800" b="1" dirty="0">
                <a:latin typeface="微软雅黑" panose="020B0503020204020204" pitchFamily="34" charset="-122"/>
                <a:ea typeface="微软雅黑" panose="020B0503020204020204" pitchFamily="34" charset="-122"/>
              </a:rPr>
              <a:t>工厂</a:t>
            </a:r>
            <a:r>
              <a:rPr lang="zh-CN" altLang="en-US" sz="2800" b="1" dirty="0" smtClean="0">
                <a:latin typeface="微软雅黑" panose="020B0503020204020204" pitchFamily="34" charset="-122"/>
                <a:ea typeface="微软雅黑" panose="020B0503020204020204" pitchFamily="34" charset="-122"/>
              </a:rPr>
              <a:t>模式缺点：</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工厂类集中了所有产品的创建逻辑，</a:t>
            </a:r>
            <a:r>
              <a:rPr lang="zh-CN" altLang="en-US" sz="2800" dirty="0">
                <a:solidFill>
                  <a:srgbClr val="FF0000"/>
                </a:solidFill>
                <a:latin typeface="微软雅黑" panose="020B0503020204020204" pitchFamily="34" charset="-122"/>
                <a:ea typeface="微软雅黑" panose="020B0503020204020204" pitchFamily="34" charset="-122"/>
              </a:rPr>
              <a:t>职责过重</a:t>
            </a:r>
            <a:r>
              <a:rPr lang="zh-CN" altLang="en-US" sz="2800" dirty="0">
                <a:latin typeface="微软雅黑" panose="020B0503020204020204" pitchFamily="34" charset="-122"/>
                <a:ea typeface="微软雅黑" panose="020B0503020204020204" pitchFamily="34" charset="-122"/>
              </a:rPr>
              <a:t>，一旦不能正常工作，整个系统都要受到影响</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solidFill>
                  <a:srgbClr val="FF0000"/>
                </a:solidFill>
                <a:latin typeface="微软雅黑" panose="020B0503020204020204" pitchFamily="34" charset="-122"/>
                <a:ea typeface="微软雅黑" panose="020B0503020204020204" pitchFamily="34" charset="-122"/>
              </a:rPr>
              <a:t>增加系统中类的</a:t>
            </a:r>
            <a:r>
              <a:rPr lang="zh-CN" altLang="en-US" sz="2800" dirty="0" smtClean="0">
                <a:solidFill>
                  <a:srgbClr val="FF0000"/>
                </a:solidFill>
                <a:latin typeface="微软雅黑" panose="020B0503020204020204" pitchFamily="34" charset="-122"/>
                <a:ea typeface="微软雅黑" panose="020B0503020204020204" pitchFamily="34" charset="-122"/>
              </a:rPr>
              <a:t>个数</a:t>
            </a:r>
            <a:r>
              <a:rPr lang="zh-CN" altLang="en-US" sz="2800" dirty="0" smtClean="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增加了系统的复杂度和理解难度</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系统</a:t>
            </a:r>
            <a:r>
              <a:rPr lang="zh-CN" altLang="en-US" sz="2800" dirty="0">
                <a:solidFill>
                  <a:srgbClr val="FF0000"/>
                </a:solidFill>
                <a:latin typeface="微软雅黑" panose="020B0503020204020204" pitchFamily="34" charset="-122"/>
                <a:ea typeface="微软雅黑" panose="020B0503020204020204" pitchFamily="34" charset="-122"/>
              </a:rPr>
              <a:t>扩展困难</a:t>
            </a:r>
            <a:r>
              <a:rPr lang="zh-CN" altLang="en-US" sz="2800" dirty="0">
                <a:latin typeface="微软雅黑" panose="020B0503020204020204" pitchFamily="34" charset="-122"/>
                <a:ea typeface="微软雅黑" panose="020B0503020204020204" pitchFamily="34" charset="-122"/>
              </a:rPr>
              <a:t>，一旦添加新产品不得不修改工厂逻辑</a:t>
            </a:r>
            <a:endParaRPr lang="zh-CN" altLang="en-US" sz="2800" dirty="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由于使用了静态工厂方法，造成工厂角色无法形成基于继承的等级结构，工厂类不能得到很好地</a:t>
            </a:r>
            <a:r>
              <a:rPr lang="zh-CN" altLang="en-US" sz="2800" dirty="0" smtClean="0">
                <a:latin typeface="微软雅黑" panose="020B0503020204020204" pitchFamily="34" charset="-122"/>
                <a:ea typeface="微软雅黑" panose="020B0503020204020204" pitchFamily="34" charset="-122"/>
              </a:rPr>
              <a:t>扩展</a:t>
            </a:r>
            <a:endParaRPr lang="en-US" altLang="zh-CN" sz="2400" b="1"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内容占位符 2"/>
          <p:cNvSpPr txBox="1"/>
          <p:nvPr/>
        </p:nvSpPr>
        <p:spPr>
          <a:xfrm>
            <a:off x="499663" y="1244050"/>
            <a:ext cx="11144128" cy="47780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buClr>
                <a:srgbClr val="EC7328"/>
              </a:buClr>
              <a:buFont typeface="Wingdings" panose="05000000000000000000" pitchFamily="2" charset="2"/>
              <a:buChar char="l"/>
            </a:pPr>
            <a:r>
              <a:rPr lang="zh-CN" altLang="en-US" sz="2800" b="1" dirty="0" smtClean="0">
                <a:latin typeface="微软雅黑" panose="020B0503020204020204" pitchFamily="34" charset="-122"/>
                <a:ea typeface="微软雅黑" panose="020B0503020204020204" pitchFamily="34" charset="-122"/>
              </a:rPr>
              <a:t> 简单</a:t>
            </a:r>
            <a:r>
              <a:rPr lang="zh-CN" altLang="en-US" sz="2800" b="1" dirty="0">
                <a:latin typeface="微软雅黑" panose="020B0503020204020204" pitchFamily="34" charset="-122"/>
                <a:ea typeface="微软雅黑" panose="020B0503020204020204" pitchFamily="34" charset="-122"/>
              </a:rPr>
              <a:t>工厂</a:t>
            </a:r>
            <a:r>
              <a:rPr lang="zh-CN" altLang="en-US" sz="2800" b="1" dirty="0" smtClean="0">
                <a:latin typeface="微软雅黑" panose="020B0503020204020204" pitchFamily="34" charset="-122"/>
                <a:ea typeface="微软雅黑" panose="020B0503020204020204" pitchFamily="34" charset="-122"/>
              </a:rPr>
              <a:t>模式适用环境：</a:t>
            </a:r>
            <a:endParaRPr lang="en-US" altLang="zh-CN" sz="2800" b="1"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工厂类负责创建的对象比较少，由于创建对象比较少，不会造成工厂方法中的逻辑太过复杂。</a:t>
            </a:r>
            <a:endParaRPr lang="en-US" altLang="zh-CN" sz="2800" dirty="0" smtClean="0">
              <a:latin typeface="微软雅黑" panose="020B0503020204020204" pitchFamily="34" charset="-122"/>
              <a:ea typeface="微软雅黑" panose="020B0503020204020204" pitchFamily="34" charset="-122"/>
            </a:endParaRPr>
          </a:p>
          <a:p>
            <a:pPr marL="800100" lvl="1" indent="-342900" algn="l">
              <a:lnSpc>
                <a:spcPct val="150000"/>
              </a:lnSpc>
              <a:buClr>
                <a:srgbClr val="EC7328"/>
              </a:buClr>
              <a:buFont typeface="Wingdings" panose="05000000000000000000" pitchFamily="2" charset="2"/>
              <a:buChar char="ü"/>
            </a:pPr>
            <a:r>
              <a:rPr lang="zh-CN" altLang="en-US" sz="2800" dirty="0" smtClean="0">
                <a:latin typeface="微软雅黑" panose="020B0503020204020204" pitchFamily="34" charset="-122"/>
                <a:ea typeface="微软雅黑" panose="020B0503020204020204" pitchFamily="34" charset="-122"/>
              </a:rPr>
              <a:t>客户端只知道传入工厂类的参数，对于如何创建对象不关心：客户端既不需要关心创建细节，甚至于连类名都不需要记住，只需要知道类型所对应的参数即可。</a:t>
            </a:r>
            <a:endParaRPr lang="en-US" altLang="zh-CN" sz="2800"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4.5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模式效果与应用</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TextBox 2"/>
          <p:cNvSpPr txBox="1"/>
          <p:nvPr/>
        </p:nvSpPr>
        <p:spPr>
          <a:xfrm>
            <a:off x="914599" y="981522"/>
            <a:ext cx="10441160" cy="3416320"/>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简单工厂模式适用环境：</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 在</a:t>
            </a:r>
            <a:r>
              <a:rPr lang="en-US" altLang="zh-CN" dirty="0" smtClean="0">
                <a:latin typeface="微软雅黑" panose="020B0503020204020204" pitchFamily="34" charset="-122"/>
                <a:ea typeface="微软雅黑" panose="020B0503020204020204" pitchFamily="34" charset="-122"/>
              </a:rPr>
              <a:t>JDK</a:t>
            </a:r>
            <a:r>
              <a:rPr lang="zh-CN" altLang="en-US" dirty="0" smtClean="0">
                <a:latin typeface="微软雅黑" panose="020B0503020204020204" pitchFamily="34" charset="-122"/>
                <a:ea typeface="微软雅黑" panose="020B0503020204020204" pitchFamily="34" charset="-122"/>
              </a:rPr>
              <a:t>类库中广泛使用了简单工厂模式，如工具类</a:t>
            </a:r>
            <a:r>
              <a:rPr lang="en-US" altLang="zh-CN" dirty="0" err="1" smtClean="0">
                <a:latin typeface="微软雅黑" panose="020B0503020204020204" pitchFamily="34" charset="-122"/>
                <a:ea typeface="微软雅黑" panose="020B0503020204020204" pitchFamily="34" charset="-122"/>
              </a:rPr>
              <a:t>java.text.DateFormat</a:t>
            </a:r>
            <a:r>
              <a:rPr lang="zh-CN" altLang="en-US" dirty="0" smtClean="0">
                <a:latin typeface="微软雅黑" panose="020B0503020204020204" pitchFamily="34" charset="-122"/>
                <a:ea typeface="微软雅黑" panose="020B0503020204020204" pitchFamily="34" charset="-122"/>
              </a:rPr>
              <a:t>，它用于格式化一个本地日期或者</a:t>
            </a:r>
            <a:r>
              <a:rPr lang="zh-CN" altLang="en-US" dirty="0">
                <a:latin typeface="微软雅黑" panose="020B0503020204020204" pitchFamily="34" charset="-122"/>
                <a:ea typeface="微软雅黑" panose="020B0503020204020204" pitchFamily="34" charset="-122"/>
              </a:rPr>
              <a:t>时间</a:t>
            </a:r>
            <a:r>
              <a:rPr lang="zh-CN" altLang="en-US" dirty="0" smtClean="0">
                <a:latin typeface="微软雅黑" panose="020B0503020204020204" pitchFamily="34" charset="-122"/>
                <a:ea typeface="微软雅黑" panose="020B0503020204020204" pitchFamily="34" charset="-122"/>
              </a:rPr>
              <a:t>，这个工具类在处理英语或非英语的日期及时间格式上很有用。在</a:t>
            </a:r>
            <a:r>
              <a:rPr lang="en-US" altLang="zh-CN" dirty="0" err="1" smtClean="0">
                <a:latin typeface="微软雅黑" panose="020B0503020204020204" pitchFamily="34" charset="-122"/>
                <a:ea typeface="微软雅黑" panose="020B0503020204020204" pitchFamily="34" charset="-122"/>
              </a:rPr>
              <a:t>DateFormat</a:t>
            </a:r>
            <a:r>
              <a:rPr lang="zh-CN" altLang="en-US" dirty="0" smtClean="0">
                <a:latin typeface="微软雅黑" panose="020B0503020204020204" pitchFamily="34" charset="-122"/>
                <a:ea typeface="微软雅黑" panose="020B0503020204020204" pitchFamily="34" charset="-122"/>
              </a:rPr>
              <a:t>类中提供了一个</a:t>
            </a:r>
            <a:r>
              <a:rPr lang="en-US" altLang="zh-CN" dirty="0" err="1" smtClean="0">
                <a:latin typeface="微软雅黑" panose="020B0503020204020204" pitchFamily="34" charset="-122"/>
                <a:ea typeface="微软雅黑" panose="020B0503020204020204" pitchFamily="34" charset="-122"/>
              </a:rPr>
              <a:t>getDateInstance</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方法，该方法是一个静态方法，为某种本地日期提供格式化，它由</a:t>
            </a:r>
            <a:r>
              <a:rPr lang="en-US" altLang="zh-CN" dirty="0" smtClean="0">
                <a:latin typeface="微软雅黑" panose="020B0503020204020204" pitchFamily="34" charset="-122"/>
                <a:ea typeface="微软雅黑" panose="020B0503020204020204" pitchFamily="34" charset="-122"/>
              </a:rPr>
              <a:t>3</a:t>
            </a:r>
            <a:r>
              <a:rPr lang="zh-CN" altLang="en-US" dirty="0" smtClean="0">
                <a:latin typeface="微软雅黑" panose="020B0503020204020204" pitchFamily="34" charset="-122"/>
                <a:ea typeface="微软雅黑" panose="020B0503020204020204" pitchFamily="34" charset="-122"/>
              </a:rPr>
              <a:t>个重载的方法组成，定义如下</a:t>
            </a:r>
            <a:r>
              <a:rPr lang="en-US" altLang="zh-CN" dirty="0" smtClean="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sp>
        <p:nvSpPr>
          <p:cNvPr id="4" name="TextBox 3"/>
          <p:cNvSpPr txBox="1"/>
          <p:nvPr/>
        </p:nvSpPr>
        <p:spPr>
          <a:xfrm>
            <a:off x="698575" y="4350797"/>
            <a:ext cx="10729192" cy="203132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50000"/>
              </a:lnSpc>
            </a:pPr>
            <a:r>
              <a:rPr lang="en-US" altLang="zh-CN" sz="2800" b="1" dirty="0" smtClean="0"/>
              <a:t>public final static </a:t>
            </a:r>
            <a:r>
              <a:rPr lang="en-US" altLang="zh-CN" sz="2800" b="1" dirty="0" err="1" smtClean="0"/>
              <a:t>DateFormat</a:t>
            </a:r>
            <a:r>
              <a:rPr lang="en-US" altLang="zh-CN" sz="2800" b="1" dirty="0" smtClean="0"/>
              <a:t> </a:t>
            </a:r>
            <a:r>
              <a:rPr lang="en-US" altLang="zh-CN" sz="2800" b="1" dirty="0" err="1" smtClean="0"/>
              <a:t>getDateInstance</a:t>
            </a:r>
            <a:r>
              <a:rPr lang="en-US" altLang="zh-CN" sz="2800" b="1" dirty="0" smtClean="0"/>
              <a:t>();</a:t>
            </a:r>
            <a:endParaRPr lang="en-US" altLang="zh-CN" sz="2800" b="1" dirty="0" smtClean="0"/>
          </a:p>
          <a:p>
            <a:pPr>
              <a:lnSpc>
                <a:spcPct val="150000"/>
              </a:lnSpc>
            </a:pPr>
            <a:r>
              <a:rPr lang="en-US" altLang="zh-CN" sz="2800" b="1" dirty="0"/>
              <a:t>public final static </a:t>
            </a:r>
            <a:r>
              <a:rPr lang="en-US" altLang="zh-CN" sz="2800" b="1" dirty="0" err="1"/>
              <a:t>DateFormat</a:t>
            </a:r>
            <a:r>
              <a:rPr lang="en-US" altLang="zh-CN" sz="2800" b="1" dirty="0"/>
              <a:t> </a:t>
            </a:r>
            <a:r>
              <a:rPr lang="en-US" altLang="zh-CN" sz="2800" b="1" dirty="0" err="1" smtClean="0"/>
              <a:t>getDateInstance</a:t>
            </a:r>
            <a:r>
              <a:rPr lang="en-US" altLang="zh-CN" sz="2800" b="1" dirty="0" smtClean="0"/>
              <a:t>(int style);</a:t>
            </a:r>
            <a:endParaRPr lang="en-US" altLang="zh-CN" sz="2800" b="1" dirty="0" smtClean="0"/>
          </a:p>
          <a:p>
            <a:pPr>
              <a:lnSpc>
                <a:spcPct val="150000"/>
              </a:lnSpc>
            </a:pPr>
            <a:r>
              <a:rPr lang="en-US" altLang="zh-CN" sz="2800" b="1" dirty="0"/>
              <a:t>public final static </a:t>
            </a:r>
            <a:r>
              <a:rPr lang="en-US" altLang="zh-CN" sz="2800" b="1" dirty="0" err="1"/>
              <a:t>DateFormat</a:t>
            </a:r>
            <a:r>
              <a:rPr lang="en-US" altLang="zh-CN" sz="2800" b="1" dirty="0"/>
              <a:t> </a:t>
            </a:r>
            <a:r>
              <a:rPr lang="en-US" altLang="zh-CN" sz="2800" b="1" dirty="0" err="1"/>
              <a:t>getDateInstance</a:t>
            </a:r>
            <a:r>
              <a:rPr lang="en-US" altLang="zh-CN" sz="2800" b="1" dirty="0" smtClean="0"/>
              <a:t>( int style, Locale locale);</a:t>
            </a:r>
            <a:endParaRPr lang="zh-CN" altLang="en-US" sz="2800" b="1" dirty="0"/>
          </a:p>
        </p:txBody>
      </p:sp>
    </p:spTree>
  </p:cSld>
  <p:clrMapOvr>
    <a:masterClrMapping/>
  </p:clrMapOvr>
  <p:transition spd="slow" advTm="0">
    <p:wip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思考</a:t>
            </a: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关于创建对象与使用对象</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Rectangle 3"/>
          <p:cNvSpPr txBox="1">
            <a:spLocks noChangeArrowheads="1"/>
          </p:cNvSpPr>
          <p:nvPr/>
        </p:nvSpPr>
        <p:spPr>
          <a:xfrm>
            <a:off x="1490663" y="1269554"/>
            <a:ext cx="8229600" cy="2952328"/>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50000"/>
              </a:lnSpc>
              <a:spcBef>
                <a:spcPts val="0"/>
              </a:spcBef>
            </a:pPr>
            <a:r>
              <a:rPr lang="en-US" altLang="zh-CN" sz="2800" dirty="0" smtClean="0">
                <a:latin typeface="微软雅黑" panose="020B0503020204020204" pitchFamily="34" charset="-122"/>
                <a:ea typeface="微软雅黑" panose="020B0503020204020204" pitchFamily="34" charset="-122"/>
              </a:rPr>
              <a:t>Java</a:t>
            </a:r>
            <a:r>
              <a:rPr lang="zh-CN" altLang="en-US" sz="2800" dirty="0" smtClean="0">
                <a:latin typeface="微软雅黑" panose="020B0503020204020204" pitchFamily="34" charset="-122"/>
                <a:ea typeface="微软雅黑" panose="020B0503020204020204" pitchFamily="34" charset="-122"/>
              </a:rPr>
              <a:t>语言创建对象的几种方式</a:t>
            </a:r>
            <a:endParaRPr lang="en-US" altLang="zh-CN" sz="2800" dirty="0" smtClean="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400" dirty="0" smtClean="0">
                <a:latin typeface="微软雅黑" panose="020B0503020204020204" pitchFamily="34" charset="-122"/>
                <a:ea typeface="微软雅黑" panose="020B0503020204020204" pitchFamily="34" charset="-122"/>
              </a:rPr>
              <a:t>使用</a:t>
            </a:r>
            <a:r>
              <a:rPr lang="en-US" altLang="zh-CN" sz="2400" dirty="0" smtClean="0">
                <a:solidFill>
                  <a:srgbClr val="FF3300"/>
                </a:solidFill>
                <a:latin typeface="微软雅黑" panose="020B0503020204020204" pitchFamily="34" charset="-122"/>
                <a:ea typeface="微软雅黑" panose="020B0503020204020204" pitchFamily="34" charset="-122"/>
              </a:rPr>
              <a:t>new</a:t>
            </a:r>
            <a:r>
              <a:rPr lang="zh-CN" altLang="en-US" sz="2400" dirty="0" smtClean="0">
                <a:solidFill>
                  <a:srgbClr val="FF3300"/>
                </a:solidFill>
                <a:latin typeface="微软雅黑" panose="020B0503020204020204" pitchFamily="34" charset="-122"/>
                <a:ea typeface="微软雅黑" panose="020B0503020204020204" pitchFamily="34" charset="-122"/>
              </a:rPr>
              <a:t>关键字</a:t>
            </a:r>
            <a:r>
              <a:rPr lang="zh-CN" altLang="en-US" sz="2400" dirty="0" smtClean="0">
                <a:latin typeface="微软雅黑" panose="020B0503020204020204" pitchFamily="34" charset="-122"/>
                <a:ea typeface="微软雅黑" panose="020B0503020204020204" pitchFamily="34" charset="-122"/>
              </a:rPr>
              <a:t>直接创建对象</a:t>
            </a:r>
            <a:endParaRPr lang="en-US" altLang="zh-CN" sz="2400" dirty="0" smtClean="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400" dirty="0">
                <a:latin typeface="微软雅黑" panose="020B0503020204020204" pitchFamily="34" charset="-122"/>
                <a:ea typeface="微软雅黑" panose="020B0503020204020204" pitchFamily="34" charset="-122"/>
              </a:rPr>
              <a:t>通过</a:t>
            </a:r>
            <a:r>
              <a:rPr lang="zh-CN" altLang="en-US" sz="2400" dirty="0">
                <a:solidFill>
                  <a:srgbClr val="FF3300"/>
                </a:solidFill>
                <a:latin typeface="微软雅黑" panose="020B0503020204020204" pitchFamily="34" charset="-122"/>
                <a:ea typeface="微软雅黑" panose="020B0503020204020204" pitchFamily="34" charset="-122"/>
              </a:rPr>
              <a:t>工厂类</a:t>
            </a:r>
            <a:r>
              <a:rPr lang="zh-CN" altLang="en-US" sz="2400" dirty="0">
                <a:latin typeface="微软雅黑" panose="020B0503020204020204" pitchFamily="34" charset="-122"/>
                <a:ea typeface="微软雅黑" panose="020B0503020204020204" pitchFamily="34" charset="-122"/>
              </a:rPr>
              <a:t>创建</a:t>
            </a:r>
            <a:r>
              <a:rPr lang="zh-CN" altLang="en-US" sz="2400" dirty="0" smtClean="0">
                <a:latin typeface="微软雅黑" panose="020B0503020204020204" pitchFamily="34" charset="-122"/>
                <a:ea typeface="微软雅黑" panose="020B0503020204020204" pitchFamily="34" charset="-122"/>
              </a:rPr>
              <a:t>对象</a:t>
            </a:r>
            <a:endParaRPr lang="en-US" altLang="zh-CN" sz="2400" dirty="0" smtClean="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400" dirty="0" smtClean="0">
                <a:latin typeface="微软雅黑" panose="020B0503020204020204" pitchFamily="34" charset="-122"/>
                <a:ea typeface="微软雅黑" panose="020B0503020204020204" pitchFamily="34" charset="-122"/>
              </a:rPr>
              <a:t>通过</a:t>
            </a:r>
            <a:r>
              <a:rPr lang="zh-CN" altLang="en-US" sz="2400" dirty="0" smtClean="0">
                <a:solidFill>
                  <a:srgbClr val="FF3300"/>
                </a:solidFill>
                <a:latin typeface="微软雅黑" panose="020B0503020204020204" pitchFamily="34" charset="-122"/>
                <a:ea typeface="微软雅黑" panose="020B0503020204020204" pitchFamily="34" charset="-122"/>
              </a:rPr>
              <a:t>反射机制</a:t>
            </a:r>
            <a:r>
              <a:rPr lang="zh-CN" altLang="en-US" sz="2400" dirty="0" smtClean="0">
                <a:latin typeface="微软雅黑" panose="020B0503020204020204" pitchFamily="34" charset="-122"/>
                <a:ea typeface="微软雅黑" panose="020B0503020204020204" pitchFamily="34" charset="-122"/>
              </a:rPr>
              <a:t>创建对象</a:t>
            </a:r>
            <a:r>
              <a:rPr lang="zh-CN" altLang="en-US" sz="2400" dirty="0" smtClean="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5.2</a:t>
            </a:r>
            <a:r>
              <a:rPr lang="zh-CN" altLang="en-US" sz="2400" dirty="0" smtClean="0">
                <a:latin typeface="微软雅黑" panose="020B0503020204020204" pitchFamily="34" charset="-122"/>
                <a:ea typeface="微软雅黑" panose="020B0503020204020204" pitchFamily="34" charset="-122"/>
              </a:rPr>
              <a:t>节</a:t>
            </a:r>
            <a:r>
              <a:rPr lang="zh-CN" altLang="en-US" sz="2400" dirty="0" smtClean="0">
                <a:latin typeface="微软雅黑" panose="020B0503020204020204" pitchFamily="34" charset="-122"/>
                <a:ea typeface="微软雅黑" panose="020B0503020204020204" pitchFamily="34" charset="-122"/>
              </a:rPr>
              <a:t>介绍）</a:t>
            </a:r>
            <a:endParaRPr lang="en-US" altLang="zh-CN" sz="2400" dirty="0" smtClean="0">
              <a:latin typeface="微软雅黑" panose="020B0503020204020204" pitchFamily="34" charset="-122"/>
              <a:ea typeface="微软雅黑" panose="020B0503020204020204" pitchFamily="34" charset="-122"/>
            </a:endParaRPr>
          </a:p>
          <a:p>
            <a:pPr lvl="1">
              <a:lnSpc>
                <a:spcPct val="150000"/>
              </a:lnSpc>
              <a:spcBef>
                <a:spcPts val="0"/>
              </a:spcBef>
            </a:pPr>
            <a:r>
              <a:rPr lang="zh-CN" altLang="en-US" sz="2400" dirty="0" smtClean="0">
                <a:latin typeface="微软雅黑" panose="020B0503020204020204" pitchFamily="34" charset="-122"/>
                <a:ea typeface="微软雅黑" panose="020B0503020204020204" pitchFamily="34" charset="-122"/>
              </a:rPr>
              <a:t>通过</a:t>
            </a:r>
            <a:r>
              <a:rPr lang="zh-CN" altLang="en-US" sz="2400" dirty="0" smtClean="0">
                <a:solidFill>
                  <a:srgbClr val="FF3300"/>
                </a:solidFill>
                <a:latin typeface="微软雅黑" panose="020B0503020204020204" pitchFamily="34" charset="-122"/>
                <a:ea typeface="微软雅黑" panose="020B0503020204020204" pitchFamily="34" charset="-122"/>
              </a:rPr>
              <a:t>克隆方法</a:t>
            </a:r>
            <a:r>
              <a:rPr lang="zh-CN" altLang="en-US" sz="2400" dirty="0" smtClean="0">
                <a:latin typeface="微软雅黑" panose="020B0503020204020204" pitchFamily="34" charset="-122"/>
                <a:ea typeface="微软雅黑" panose="020B0503020204020204" pitchFamily="34" charset="-122"/>
              </a:rPr>
              <a:t>创建对象（原型模式介绍）</a:t>
            </a:r>
            <a:endParaRPr lang="en-US" altLang="zh-CN" sz="2400" dirty="0" smtClean="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思考</a:t>
            </a: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关于创建对象与使用对象</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Rectangle 3"/>
          <p:cNvSpPr txBox="1">
            <a:spLocks noChangeArrowheads="1"/>
          </p:cNvSpPr>
          <p:nvPr/>
        </p:nvSpPr>
        <p:spPr>
          <a:xfrm>
            <a:off x="1200671" y="837506"/>
            <a:ext cx="8229600" cy="4114800"/>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r>
              <a:rPr lang="zh-CN" altLang="en-US" sz="2800" b="1" dirty="0" smtClean="0"/>
              <a:t>实例分析</a:t>
            </a:r>
            <a:r>
              <a:rPr lang="en-US" altLang="zh-CN" sz="2800" b="1" dirty="0" smtClean="0"/>
              <a:t>-</a:t>
            </a:r>
            <a:r>
              <a:rPr lang="zh-CN" altLang="en-US" sz="2800" b="1" dirty="0" smtClean="0"/>
              <a:t>使用</a:t>
            </a:r>
            <a:r>
              <a:rPr lang="en-US" altLang="zh-CN" sz="2800" b="1" dirty="0" smtClean="0"/>
              <a:t>new</a:t>
            </a:r>
            <a:r>
              <a:rPr lang="zh-CN" altLang="en-US" sz="2800" b="1" dirty="0" smtClean="0"/>
              <a:t>关键字创建对象</a:t>
            </a:r>
            <a:endParaRPr lang="en-US" altLang="zh-CN" sz="2800" b="1" dirty="0" smtClean="0"/>
          </a:p>
          <a:p>
            <a:pPr lvl="1"/>
            <a:endParaRPr lang="en-US" altLang="zh-CN" sz="2800" dirty="0" smtClean="0"/>
          </a:p>
          <a:p>
            <a:pPr lvl="1"/>
            <a:endParaRPr lang="zh-CN" altLang="en-US" sz="2800" dirty="0" smtClean="0"/>
          </a:p>
          <a:p>
            <a:pPr lvl="1"/>
            <a:endParaRPr lang="en-US" altLang="zh-CN" sz="2800" dirty="0" smtClean="0"/>
          </a:p>
        </p:txBody>
      </p:sp>
      <p:graphicFrame>
        <p:nvGraphicFramePr>
          <p:cNvPr id="5" name="表格 4"/>
          <p:cNvGraphicFramePr>
            <a:graphicFrameLocks noGrp="1"/>
          </p:cNvGraphicFramePr>
          <p:nvPr/>
        </p:nvGraphicFramePr>
        <p:xfrm>
          <a:off x="1075655" y="1557586"/>
          <a:ext cx="8191872" cy="4754880"/>
        </p:xfrm>
        <a:graphic>
          <a:graphicData uri="http://schemas.openxmlformats.org/drawingml/2006/table">
            <a:tbl>
              <a:tblPr/>
              <a:tblGrid>
                <a:gridCol w="8191872"/>
              </a:tblGrid>
              <a:tr h="3703637">
                <a:tc>
                  <a:txBody>
                    <a:bodyPr/>
                    <a:lstStyle>
                      <a:lvl1pPr>
                        <a:lnSpc>
                          <a:spcPct val="120000"/>
                        </a:lnSpc>
                        <a:spcBef>
                          <a:spcPct val="20000"/>
                        </a:spcBef>
                        <a:buClr>
                          <a:srgbClr val="FF3300"/>
                        </a:buClr>
                        <a:buFont typeface="Wingdings" panose="05000000000000000000" pitchFamily="2" charset="2"/>
                        <a:defRPr sz="2800">
                          <a:solidFill>
                            <a:srgbClr val="080808"/>
                          </a:solidFill>
                          <a:latin typeface="Tahoma" panose="020B0604030504040204" pitchFamily="34" charset="0"/>
                          <a:ea typeface="隶书" panose="02010509060101010101" charset="-122"/>
                        </a:defRPr>
                      </a:lvl1pPr>
                      <a:lvl2pPr marL="742950" indent="-285750">
                        <a:lnSpc>
                          <a:spcPct val="120000"/>
                        </a:lnSpc>
                        <a:spcBef>
                          <a:spcPct val="20000"/>
                        </a:spcBef>
                        <a:buClr>
                          <a:srgbClr val="0000FF"/>
                        </a:buClr>
                        <a:buFont typeface="Wingdings" panose="05000000000000000000" pitchFamily="2" charset="2"/>
                        <a:defRPr sz="2000" b="1">
                          <a:solidFill>
                            <a:srgbClr val="333333"/>
                          </a:solidFill>
                          <a:latin typeface="Tahoma" panose="020B0604030504040204" pitchFamily="34" charset="0"/>
                          <a:ea typeface="楷体_GB2312" pitchFamily="49" charset="-122"/>
                        </a:defRPr>
                      </a:lvl2pPr>
                      <a:lvl3pPr marL="1143000" indent="-228600">
                        <a:lnSpc>
                          <a:spcPct val="120000"/>
                        </a:lnSpc>
                        <a:spcBef>
                          <a:spcPct val="20000"/>
                        </a:spcBef>
                        <a:buClr>
                          <a:srgbClr val="FF3300"/>
                        </a:buClr>
                        <a:buFont typeface="Wingdings" panose="05000000000000000000" pitchFamily="2" charset="2"/>
                        <a:defRPr>
                          <a:solidFill>
                            <a:srgbClr val="333333"/>
                          </a:solidFill>
                          <a:latin typeface="Tahoma" panose="020B0604030504040204" pitchFamily="34" charset="0"/>
                          <a:ea typeface="黑体" panose="02010609060101010101" pitchFamily="49" charset="-122"/>
                        </a:defRPr>
                      </a:lvl3pPr>
                      <a:lvl4pPr marL="1600200" indent="-228600">
                        <a:spcBef>
                          <a:spcPct val="20000"/>
                        </a:spcBef>
                        <a:defRPr>
                          <a:solidFill>
                            <a:srgbClr val="4D4D4D"/>
                          </a:solidFill>
                          <a:latin typeface="Arial" panose="020B0604020202020204" pitchFamily="34" charset="0"/>
                          <a:ea typeface="宋体" panose="02010600030101010101" pitchFamily="2" charset="-122"/>
                        </a:defRPr>
                      </a:lvl4pPr>
                      <a:lvl5pPr marL="2057400" indent="-228600">
                        <a:spcBef>
                          <a:spcPct val="20000"/>
                        </a:spcBef>
                        <a:defRPr>
                          <a:solidFill>
                            <a:srgbClr val="4D4D4D"/>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rgbClr val="4D4D4D"/>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public class </a:t>
                      </a:r>
                      <a:r>
                        <a:rPr kumimoji="0" lang="en-US" altLang="zh-CN" sz="2400" b="0" i="0" u="none" strike="noStrike" cap="none" normalizeH="0" baseline="0" dirty="0" err="1" smtClean="0">
                          <a:ln>
                            <a:noFill/>
                          </a:ln>
                          <a:solidFill>
                            <a:schemeClr val="tx1"/>
                          </a:solidFill>
                          <a:effectLst/>
                          <a:latin typeface="+mn-lt"/>
                          <a:ea typeface="隶书" panose="02010509060101010101" charset="-122"/>
                          <a:cs typeface="Times New Roman" panose="02020603050405020304" pitchFamily="18" charset="0"/>
                        </a:rPr>
                        <a:t>LoginAction</a:t>
                      </a: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private </a:t>
                      </a:r>
                      <a:r>
                        <a:rPr kumimoji="0" lang="en-US" altLang="zh-CN" sz="2400" b="0" i="0" u="none" strike="noStrike" cap="none" normalizeH="0" baseline="0" dirty="0" err="1" smtClean="0">
                          <a:ln>
                            <a:noFill/>
                          </a:ln>
                          <a:solidFill>
                            <a:schemeClr val="tx1"/>
                          </a:solidFill>
                          <a:effectLst/>
                          <a:latin typeface="+mn-lt"/>
                          <a:ea typeface="隶书" panose="02010509060101010101" charset="-122"/>
                          <a:cs typeface="Times New Roman" panose="02020603050405020304" pitchFamily="18" charset="0"/>
                        </a:rPr>
                        <a:t>UserDAO</a:t>
                      </a: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r>
                        <a:rPr kumimoji="0" lang="en-US" altLang="zh-CN" sz="2400" b="0" i="0" u="none" strike="noStrike" cap="none" normalizeH="0" baseline="0" dirty="0" err="1" smtClean="0">
                          <a:ln>
                            <a:noFill/>
                          </a:ln>
                          <a:solidFill>
                            <a:schemeClr val="tx1"/>
                          </a:solidFill>
                          <a:effectLst/>
                          <a:latin typeface="+mn-lt"/>
                          <a:ea typeface="隶书" panose="02010509060101010101" charset="-122"/>
                          <a:cs typeface="Times New Roman" panose="02020603050405020304" pitchFamily="18" charset="0"/>
                        </a:rPr>
                        <a:t>udao</a:t>
                      </a: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public </a:t>
                      </a:r>
                      <a:r>
                        <a:rPr kumimoji="0" lang="en-US" altLang="zh-CN" sz="2400" b="0" i="0" u="none" strike="noStrike" cap="none" normalizeH="0" baseline="0" dirty="0" err="1" smtClean="0">
                          <a:ln>
                            <a:noFill/>
                          </a:ln>
                          <a:solidFill>
                            <a:schemeClr val="tx1"/>
                          </a:solidFill>
                          <a:effectLst/>
                          <a:latin typeface="+mn-lt"/>
                          <a:ea typeface="隶书" panose="02010509060101010101" charset="-122"/>
                          <a:cs typeface="Times New Roman" panose="02020603050405020304" pitchFamily="18" charset="0"/>
                        </a:rPr>
                        <a:t>LoginAction</a:t>
                      </a: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r>
                        <a:rPr kumimoji="0" lang="en-US" altLang="zh-CN" sz="2400" b="0" i="0" u="none" strike="noStrike" cap="none" normalizeH="0" baseline="0" dirty="0" err="1" smtClean="0">
                          <a:ln>
                            <a:noFill/>
                          </a:ln>
                          <a:solidFill>
                            <a:schemeClr val="tx1"/>
                          </a:solidFill>
                          <a:effectLst/>
                          <a:latin typeface="+mn-lt"/>
                          <a:ea typeface="隶书" panose="02010509060101010101" charset="-122"/>
                          <a:cs typeface="Times New Roman" panose="02020603050405020304" pitchFamily="18" charset="0"/>
                        </a:rPr>
                        <a:t>udao</a:t>
                      </a: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 new </a:t>
                      </a:r>
                      <a:r>
                        <a:rPr kumimoji="0" lang="en-US" altLang="zh-CN" sz="2400" b="0" i="0" u="none" strike="noStrike" cap="none" normalizeH="0" baseline="0" dirty="0" err="1" smtClean="0">
                          <a:ln>
                            <a:noFill/>
                          </a:ln>
                          <a:solidFill>
                            <a:schemeClr val="tx1"/>
                          </a:solidFill>
                          <a:effectLst/>
                          <a:latin typeface="+mn-lt"/>
                          <a:ea typeface="隶书" panose="02010509060101010101" charset="-122"/>
                          <a:cs typeface="Times New Roman" panose="02020603050405020304" pitchFamily="18" charset="0"/>
                        </a:rPr>
                        <a:t>JDBCUserDAO</a:t>
                      </a: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r>
                        <a:rPr kumimoji="0" lang="zh-CN" altLang="en-US"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创建对象</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public String execute() {</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r>
                        <a:rPr kumimoji="0" lang="zh-CN" altLang="en-US"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其他代码</a:t>
                      </a:r>
                      <a:endPar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r>
                        <a:rPr kumimoji="0" lang="en-US" altLang="zh-CN" sz="2400" b="0" i="0" u="none" strike="noStrike" cap="none" normalizeH="0" baseline="0" dirty="0" err="1" smtClean="0">
                          <a:ln>
                            <a:noFill/>
                          </a:ln>
                          <a:solidFill>
                            <a:schemeClr val="tx1"/>
                          </a:solidFill>
                          <a:effectLst/>
                          <a:latin typeface="+mn-lt"/>
                          <a:ea typeface="隶书" panose="02010509060101010101" charset="-122"/>
                          <a:cs typeface="Times New Roman" panose="02020603050405020304" pitchFamily="18" charset="0"/>
                        </a:rPr>
                        <a:t>udao.findUserById</a:t>
                      </a: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r>
                        <a:rPr kumimoji="0" lang="zh-CN" altLang="en-US"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使用对象</a:t>
                      </a:r>
                      <a:endPar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r>
                        <a:rPr kumimoji="0" lang="zh-CN" altLang="en-US"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其他代码</a:t>
                      </a:r>
                      <a:endPar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    }</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rPr>
                        <a:t>}</a:t>
                      </a:r>
                      <a:endParaRPr kumimoji="0" lang="zh-CN" altLang="zh-CN" sz="2400" b="0" i="0" u="none" strike="noStrike" cap="none" normalizeH="0" baseline="0" dirty="0" smtClean="0">
                        <a:ln>
                          <a:noFill/>
                        </a:ln>
                        <a:solidFill>
                          <a:schemeClr val="tx1"/>
                        </a:solidFill>
                        <a:effectLst/>
                        <a:latin typeface="+mn-lt"/>
                        <a:ea typeface="隶书" panose="02010509060101010101" charset="-122"/>
                        <a:cs typeface="Times New Roman" panose="02020603050405020304" pitchFamily="18" charset="0"/>
                      </a:endParaRPr>
                    </a:p>
                  </a:txBody>
                  <a:tcPr marL="68580" marR="68580" marT="0" marB="0" horzOverflow="overflow">
                    <a:lnL>
                      <a:noFill/>
                    </a:lnL>
                    <a:lnR>
                      <a:noFill/>
                    </a:lnR>
                    <a:lnT>
                      <a:noFill/>
                    </a:lnT>
                    <a:lnB>
                      <a:noFill/>
                    </a:lnB>
                    <a:lnTlToBr>
                      <a:noFill/>
                    </a:lnTlToBr>
                    <a:lnBlToTr>
                      <a:noFill/>
                    </a:lnBlToTr>
                    <a:solidFill>
                      <a:srgbClr val="F2F2F2"/>
                    </a:solidFill>
                  </a:tcPr>
                </a:tc>
              </a:tr>
            </a:tbl>
          </a:graphicData>
        </a:graphic>
      </p:graphicFrame>
      <p:sp>
        <p:nvSpPr>
          <p:cNvPr id="6" name="矩形 5"/>
          <p:cNvSpPr/>
          <p:nvPr/>
        </p:nvSpPr>
        <p:spPr>
          <a:xfrm>
            <a:off x="2590527" y="2997746"/>
            <a:ext cx="4876800" cy="419100"/>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7" name="矩形 6"/>
          <p:cNvSpPr/>
          <p:nvPr/>
        </p:nvSpPr>
        <p:spPr>
          <a:xfrm>
            <a:off x="6531223" y="1629594"/>
            <a:ext cx="4335016" cy="8382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r>
              <a:rPr lang="zh-CN" altLang="en-US" b="1" dirty="0">
                <a:solidFill>
                  <a:srgbClr val="FF3300"/>
                </a:solidFill>
              </a:rPr>
              <a:t>若改为</a:t>
            </a:r>
            <a:r>
              <a:rPr lang="en-US" b="1" dirty="0" err="1">
                <a:solidFill>
                  <a:srgbClr val="FF3300"/>
                </a:solidFill>
              </a:rPr>
              <a:t>HibernateUserDAO</a:t>
            </a:r>
            <a:r>
              <a:rPr lang="zh-CN" altLang="en-US" b="1" dirty="0">
                <a:solidFill>
                  <a:srgbClr val="FF3300"/>
                </a:solidFill>
              </a:rPr>
              <a:t>必须修改源代码，违背开闭原则</a:t>
            </a:r>
            <a:endParaRPr lang="zh-CN" altLang="en-US" b="1" dirty="0">
              <a:solidFill>
                <a:srgbClr val="FF3300"/>
              </a:solidFill>
            </a:endParaRPr>
          </a:p>
        </p:txBody>
      </p:sp>
      <p:sp>
        <p:nvSpPr>
          <p:cNvPr id="8" name="右箭头 7"/>
          <p:cNvSpPr/>
          <p:nvPr/>
        </p:nvSpPr>
        <p:spPr>
          <a:xfrm rot="7957638">
            <a:off x="7497458" y="2792322"/>
            <a:ext cx="693738" cy="190500"/>
          </a:xfrm>
          <a:prstGeom prst="rightArrow">
            <a:avLst/>
          </a:prstGeom>
          <a:solidFill>
            <a:srgbClr val="FF3300"/>
          </a:solid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pic>
        <p:nvPicPr>
          <p:cNvPr id="9" name="图片 7" descr="2011420168609.jpg"/>
          <p:cNvPicPr>
            <a:picLocks noChangeAspect="1"/>
          </p:cNvPicPr>
          <p:nvPr/>
        </p:nvPicPr>
        <p:blipFill>
          <a:blip r:embed="rId1">
            <a:extLst>
              <a:ext uri="{28A0092B-C50C-407E-A947-70E740481C1C}">
                <a14:useLocalDpi xmlns:a14="http://schemas.microsoft.com/office/drawing/2010/main" val="0"/>
              </a:ext>
            </a:extLst>
          </a:blip>
          <a:srcRect l="18616" r="23232"/>
          <a:stretch>
            <a:fillRect/>
          </a:stretch>
        </p:blipFill>
        <p:spPr bwMode="auto">
          <a:xfrm>
            <a:off x="9410441" y="2781722"/>
            <a:ext cx="222408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Horizontal)">
                                      <p:cBhvr>
                                        <p:cTn id="13" dur="500"/>
                                        <p:tgtEl>
                                          <p:spTgt spid="7"/>
                                        </p:tgtEl>
                                      </p:cBhvr>
                                    </p:animEffect>
                                  </p:childTnLst>
                                </p:cTn>
                              </p:par>
                              <p:par>
                                <p:cTn id="14" presetID="16" presetClass="entr" presetSubtype="26"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arn(inHorizontal)">
                                      <p:cBhvr>
                                        <p:cTn id="16" dur="500"/>
                                        <p:tgtEl>
                                          <p:spTgt spid="8"/>
                                        </p:tgtEl>
                                      </p:cBhvr>
                                    </p:animEffect>
                                  </p:childTnLst>
                                </p:cTn>
                              </p:par>
                              <p:par>
                                <p:cTn id="17" presetID="16" presetClass="entr" presetSubtype="2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arn(inHorizont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5"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1000" fill="hold"/>
                                        <p:tgtEl>
                                          <p:spTgt spid="9"/>
                                        </p:tgtEl>
                                        <p:attrNameLst>
                                          <p:attrName>ppt_w</p:attrName>
                                        </p:attrNameLst>
                                      </p:cBhvr>
                                      <p:tavLst>
                                        <p:tav tm="0">
                                          <p:val>
                                            <p:fltVal val="0"/>
                                          </p:val>
                                        </p:tav>
                                        <p:tav tm="100000">
                                          <p:val>
                                            <p:strVal val="#ppt_w"/>
                                          </p:val>
                                        </p:tav>
                                      </p:tavLst>
                                    </p:anim>
                                    <p:anim calcmode="lin" valueType="num">
                                      <p:cBhvr>
                                        <p:cTn id="25" dur="1000" fill="hold"/>
                                        <p:tgtEl>
                                          <p:spTgt spid="9"/>
                                        </p:tgtEl>
                                        <p:attrNameLst>
                                          <p:attrName>ppt_h</p:attrName>
                                        </p:attrNameLst>
                                      </p:cBhvr>
                                      <p:tavLst>
                                        <p:tav tm="0">
                                          <p:val>
                                            <p:fltVal val="0"/>
                                          </p:val>
                                        </p:tav>
                                        <p:tav tm="100000">
                                          <p:val>
                                            <p:strVal val="#ppt_h"/>
                                          </p:val>
                                        </p:tav>
                                      </p:tavLst>
                                    </p:anim>
                                    <p:anim calcmode="lin" valueType="num">
                                      <p:cBhvr>
                                        <p:cTn id="26"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27" dur="1000" fill="hold"/>
                                        <p:tgtEl>
                                          <p:spTgt spid="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思考</a:t>
            </a: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关于创建对象与使用对象</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Rectangle 3"/>
          <p:cNvSpPr txBox="1">
            <a:spLocks noChangeArrowheads="1"/>
          </p:cNvSpPr>
          <p:nvPr/>
        </p:nvSpPr>
        <p:spPr>
          <a:xfrm>
            <a:off x="1200671" y="837506"/>
            <a:ext cx="8229600" cy="4114800"/>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457200" lvl="1" indent="-457200">
              <a:buFont typeface="Arial" panose="020B0604020202020204" pitchFamily="34" charset="0"/>
              <a:buChar char="•"/>
            </a:pPr>
            <a:r>
              <a:rPr lang="zh-CN" altLang="en-US" sz="2400" b="1" dirty="0" smtClean="0">
                <a:latin typeface="微软雅黑" panose="020B0503020204020204" pitchFamily="34" charset="-122"/>
                <a:ea typeface="微软雅黑" panose="020B0503020204020204" pitchFamily="34" charset="-122"/>
              </a:rPr>
              <a:t>实例分析</a:t>
            </a:r>
            <a:r>
              <a:rPr lang="en-US" altLang="zh-CN" sz="2400" b="1" dirty="0" smtClean="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引入工厂类</a:t>
            </a:r>
            <a:r>
              <a:rPr lang="en-US" altLang="zh-CN" sz="2400" b="1" dirty="0" err="1" smtClean="0">
                <a:latin typeface="微软雅黑" panose="020B0503020204020204" pitchFamily="34" charset="-122"/>
                <a:ea typeface="微软雅黑" panose="020B0503020204020204" pitchFamily="34" charset="-122"/>
              </a:rPr>
              <a:t>UserDAOFactory</a:t>
            </a:r>
            <a:endParaRPr lang="en-US" altLang="zh-CN" sz="2400" b="1" dirty="0" smtClean="0">
              <a:latin typeface="微软雅黑" panose="020B0503020204020204" pitchFamily="34" charset="-122"/>
              <a:ea typeface="微软雅黑" panose="020B0503020204020204" pitchFamily="34" charset="-122"/>
            </a:endParaRPr>
          </a:p>
          <a:p>
            <a:pPr lvl="1"/>
            <a:endParaRPr lang="zh-CN" altLang="en-US" sz="2400" dirty="0" smtClean="0">
              <a:latin typeface="微软雅黑" panose="020B0503020204020204" pitchFamily="34" charset="-122"/>
              <a:ea typeface="微软雅黑" panose="020B0503020204020204" pitchFamily="34" charset="-122"/>
            </a:endParaRPr>
          </a:p>
          <a:p>
            <a:pPr lvl="1"/>
            <a:endParaRPr lang="en-US" altLang="zh-CN" sz="2400" dirty="0" smtClean="0">
              <a:latin typeface="微软雅黑" panose="020B0503020204020204" pitchFamily="34" charset="-122"/>
              <a:ea typeface="微软雅黑" panose="020B0503020204020204" pitchFamily="34" charset="-122"/>
            </a:endParaRPr>
          </a:p>
        </p:txBody>
      </p:sp>
      <p:pic>
        <p:nvPicPr>
          <p:cNvPr id="9"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5587" y="1413570"/>
            <a:ext cx="8990052" cy="4896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2"/>
          <p:cNvSpPr txBox="1"/>
          <p:nvPr/>
        </p:nvSpPr>
        <p:spPr>
          <a:xfrm>
            <a:off x="1859087" y="189434"/>
            <a:ext cx="6912768" cy="523220"/>
          </a:xfrm>
          <a:prstGeom prst="rect">
            <a:avLst/>
          </a:prstGeom>
          <a:noFill/>
        </p:spPr>
        <p:txBody>
          <a:bodyPr wrap="square" rtlCol="0">
            <a:spAutoFit/>
          </a:bodyPr>
          <a:lstStyle/>
          <a:p>
            <a:pPr>
              <a:defRPr/>
            </a:pP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思考</a:t>
            </a: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关于创建对象与使用对象</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Rectangle 3"/>
          <p:cNvSpPr txBox="1">
            <a:spLocks noChangeArrowheads="1"/>
          </p:cNvSpPr>
          <p:nvPr/>
        </p:nvSpPr>
        <p:spPr>
          <a:xfrm>
            <a:off x="914599" y="909514"/>
            <a:ext cx="9937104" cy="3384376"/>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20000"/>
              </a:lnSpc>
              <a:spcBef>
                <a:spcPts val="0"/>
              </a:spcBef>
              <a:buFont typeface="Wingdings" panose="05000000000000000000" pitchFamily="2" charset="2"/>
              <a:buChar char="Ø"/>
            </a:pPr>
            <a:r>
              <a:rPr lang="zh-CN" altLang="en-US" sz="2400" b="1" dirty="0" smtClean="0">
                <a:latin typeface="微软雅黑" panose="020B0503020204020204" pitchFamily="34" charset="-122"/>
                <a:ea typeface="微软雅黑" panose="020B0503020204020204" pitchFamily="34" charset="-122"/>
              </a:rPr>
              <a:t>实例分析</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引入工厂类</a:t>
            </a:r>
            <a:r>
              <a:rPr lang="en-US" altLang="zh-CN" sz="2400" b="1" dirty="0" err="1" smtClean="0">
                <a:latin typeface="微软雅黑" panose="020B0503020204020204" pitchFamily="34" charset="-122"/>
                <a:ea typeface="微软雅黑" panose="020B0503020204020204" pitchFamily="34" charset="-122"/>
              </a:rPr>
              <a:t>UserDAOFactory</a:t>
            </a:r>
            <a:endParaRPr lang="en-US" altLang="zh-CN" sz="2400" b="1" dirty="0">
              <a:latin typeface="微软雅黑" panose="020B0503020204020204" pitchFamily="34" charset="-122"/>
              <a:ea typeface="微软雅黑" panose="020B0503020204020204" pitchFamily="34" charset="-122"/>
            </a:endParaRPr>
          </a:p>
          <a:p>
            <a:pPr lvl="1">
              <a:lnSpc>
                <a:spcPct val="120000"/>
              </a:lnSpc>
              <a:spcBef>
                <a:spcPts val="0"/>
              </a:spcBef>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如果</a:t>
            </a:r>
            <a:r>
              <a:rPr lang="en-US" altLang="zh-CN" sz="2400" dirty="0" err="1" smtClean="0">
                <a:latin typeface="微软雅黑" panose="020B0503020204020204" pitchFamily="34" charset="-122"/>
                <a:ea typeface="微软雅黑" panose="020B0503020204020204" pitchFamily="34" charset="-122"/>
              </a:rPr>
              <a:t>UserDAO</a:t>
            </a:r>
            <a:r>
              <a:rPr lang="zh-CN" altLang="en-US" sz="2400" dirty="0" smtClean="0">
                <a:latin typeface="微软雅黑" panose="020B0503020204020204" pitchFamily="34" charset="-122"/>
                <a:ea typeface="微软雅黑" panose="020B0503020204020204" pitchFamily="34" charset="-122"/>
              </a:rPr>
              <a:t>的某个子类的构造函数发生改变或者需要添加或移除不同的子类，</a:t>
            </a:r>
            <a:r>
              <a:rPr lang="zh-CN" altLang="en-US" sz="2400" dirty="0" smtClean="0">
                <a:solidFill>
                  <a:srgbClr val="0070C0"/>
                </a:solidFill>
                <a:latin typeface="微软雅黑" panose="020B0503020204020204" pitchFamily="34" charset="-122"/>
                <a:ea typeface="微软雅黑" panose="020B0503020204020204" pitchFamily="34" charset="-122"/>
              </a:rPr>
              <a:t>只要维护</a:t>
            </a:r>
            <a:r>
              <a:rPr lang="en-US" altLang="zh-CN" sz="2400" dirty="0" err="1" smtClean="0">
                <a:solidFill>
                  <a:srgbClr val="0070C0"/>
                </a:solidFill>
                <a:latin typeface="微软雅黑" panose="020B0503020204020204" pitchFamily="34" charset="-122"/>
                <a:ea typeface="微软雅黑" panose="020B0503020204020204" pitchFamily="34" charset="-122"/>
              </a:rPr>
              <a:t>UserDAOFactory</a:t>
            </a:r>
            <a:r>
              <a:rPr lang="zh-CN" altLang="en-US" sz="2400" dirty="0" smtClean="0">
                <a:solidFill>
                  <a:srgbClr val="0070C0"/>
                </a:solidFill>
                <a:latin typeface="微软雅黑" panose="020B0503020204020204" pitchFamily="34" charset="-122"/>
                <a:ea typeface="微软雅黑" panose="020B0503020204020204" pitchFamily="34" charset="-122"/>
              </a:rPr>
              <a:t>的代码，不会影响到</a:t>
            </a:r>
            <a:r>
              <a:rPr lang="en-US" altLang="zh-CN" sz="2400" dirty="0" err="1" smtClean="0">
                <a:solidFill>
                  <a:srgbClr val="0070C0"/>
                </a:solidFill>
                <a:latin typeface="微软雅黑" panose="020B0503020204020204" pitchFamily="34" charset="-122"/>
                <a:ea typeface="微软雅黑" panose="020B0503020204020204" pitchFamily="34" charset="-122"/>
              </a:rPr>
              <a:t>LoginAction</a:t>
            </a:r>
            <a:endParaRPr lang="en-US" altLang="zh-CN" sz="2400" dirty="0">
              <a:solidFill>
                <a:srgbClr val="0070C0"/>
              </a:solidFill>
              <a:latin typeface="微软雅黑" panose="020B0503020204020204" pitchFamily="34" charset="-122"/>
              <a:ea typeface="微软雅黑" panose="020B0503020204020204" pitchFamily="34" charset="-122"/>
            </a:endParaRPr>
          </a:p>
          <a:p>
            <a:pPr lvl="1">
              <a:lnSpc>
                <a:spcPct val="120000"/>
              </a:lnSpc>
              <a:spcBef>
                <a:spcPts val="0"/>
              </a:spcBef>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如果</a:t>
            </a:r>
            <a:r>
              <a:rPr lang="en-US" altLang="zh-CN" sz="2400" dirty="0" err="1" smtClean="0">
                <a:latin typeface="微软雅黑" panose="020B0503020204020204" pitchFamily="34" charset="-122"/>
                <a:ea typeface="微软雅黑" panose="020B0503020204020204" pitchFamily="34" charset="-122"/>
              </a:rPr>
              <a:t>UserDAO</a:t>
            </a:r>
            <a:r>
              <a:rPr lang="zh-CN" altLang="en-US" sz="2400" dirty="0" smtClean="0">
                <a:latin typeface="微软雅黑" panose="020B0503020204020204" pitchFamily="34" charset="-122"/>
                <a:ea typeface="微软雅黑" panose="020B0503020204020204" pitchFamily="34" charset="-122"/>
              </a:rPr>
              <a:t>的接口发生改变，例如添加、移除方法或改变方法名，</a:t>
            </a:r>
            <a:r>
              <a:rPr lang="zh-CN" altLang="en-US" sz="2400" dirty="0" smtClean="0">
                <a:solidFill>
                  <a:srgbClr val="0070C0"/>
                </a:solidFill>
                <a:latin typeface="微软雅黑" panose="020B0503020204020204" pitchFamily="34" charset="-122"/>
                <a:ea typeface="微软雅黑" panose="020B0503020204020204" pitchFamily="34" charset="-122"/>
              </a:rPr>
              <a:t>只需要修改</a:t>
            </a:r>
            <a:r>
              <a:rPr lang="en-US" altLang="zh-CN" sz="2400" dirty="0" err="1" smtClean="0">
                <a:solidFill>
                  <a:srgbClr val="0070C0"/>
                </a:solidFill>
                <a:latin typeface="微软雅黑" panose="020B0503020204020204" pitchFamily="34" charset="-122"/>
                <a:ea typeface="微软雅黑" panose="020B0503020204020204" pitchFamily="34" charset="-122"/>
              </a:rPr>
              <a:t>LoginAction</a:t>
            </a:r>
            <a:r>
              <a:rPr lang="zh-CN" altLang="en-US" sz="2400" dirty="0" smtClean="0">
                <a:solidFill>
                  <a:srgbClr val="0070C0"/>
                </a:solidFill>
                <a:latin typeface="微软雅黑" panose="020B0503020204020204" pitchFamily="34" charset="-122"/>
                <a:ea typeface="微软雅黑" panose="020B0503020204020204" pitchFamily="34" charset="-122"/>
              </a:rPr>
              <a:t>，不会给</a:t>
            </a:r>
            <a:r>
              <a:rPr lang="en-US" altLang="zh-CN" sz="2400" dirty="0" err="1" smtClean="0">
                <a:solidFill>
                  <a:srgbClr val="0070C0"/>
                </a:solidFill>
                <a:latin typeface="微软雅黑" panose="020B0503020204020204" pitchFamily="34" charset="-122"/>
                <a:ea typeface="微软雅黑" panose="020B0503020204020204" pitchFamily="34" charset="-122"/>
              </a:rPr>
              <a:t>UserDAOFactory</a:t>
            </a:r>
            <a:r>
              <a:rPr lang="zh-CN" altLang="en-US" sz="2400" dirty="0" smtClean="0">
                <a:solidFill>
                  <a:srgbClr val="0070C0"/>
                </a:solidFill>
                <a:latin typeface="微软雅黑" panose="020B0503020204020204" pitchFamily="34" charset="-122"/>
                <a:ea typeface="微软雅黑" panose="020B0503020204020204" pitchFamily="34" charset="-122"/>
              </a:rPr>
              <a:t>带来任何影响</a:t>
            </a:r>
            <a:endParaRPr lang="en-US" altLang="zh-CN" sz="2400" dirty="0" smtClean="0">
              <a:latin typeface="微软雅黑" panose="020B0503020204020204" pitchFamily="34" charset="-122"/>
              <a:ea typeface="微软雅黑" panose="020B0503020204020204" pitchFamily="34" charset="-122"/>
            </a:endParaRPr>
          </a:p>
        </p:txBody>
      </p:sp>
      <p:sp>
        <p:nvSpPr>
          <p:cNvPr id="10" name="矩形 9"/>
          <p:cNvSpPr/>
          <p:nvPr/>
        </p:nvSpPr>
        <p:spPr>
          <a:xfrm>
            <a:off x="1850703" y="4402647"/>
            <a:ext cx="8568952" cy="1691104"/>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eaLnBrk="1" hangingPunct="1">
              <a:lnSpc>
                <a:spcPct val="150000"/>
              </a:lnSpc>
              <a:defRPr/>
            </a:pPr>
            <a:r>
              <a:rPr lang="zh-CN" altLang="en-US" sz="2400" b="1" dirty="0"/>
              <a:t>两个类</a:t>
            </a:r>
            <a:r>
              <a:rPr lang="en-US" sz="2400" b="1" dirty="0"/>
              <a:t>A</a:t>
            </a:r>
            <a:r>
              <a:rPr lang="zh-CN" altLang="en-US" sz="2400" b="1" dirty="0"/>
              <a:t>和</a:t>
            </a:r>
            <a:r>
              <a:rPr lang="en-US" sz="2400" b="1" dirty="0"/>
              <a:t>B</a:t>
            </a:r>
            <a:r>
              <a:rPr lang="zh-CN" altLang="en-US" sz="2400" b="1" dirty="0"/>
              <a:t>之间的关系应该</a:t>
            </a:r>
            <a:r>
              <a:rPr lang="zh-CN" altLang="en-US" sz="2400" b="1" dirty="0">
                <a:solidFill>
                  <a:srgbClr val="FF3300"/>
                </a:solidFill>
              </a:rPr>
              <a:t>仅仅是</a:t>
            </a:r>
            <a:r>
              <a:rPr lang="en-US" sz="2400" b="1" dirty="0">
                <a:solidFill>
                  <a:srgbClr val="FF3300"/>
                </a:solidFill>
              </a:rPr>
              <a:t>A</a:t>
            </a:r>
            <a:r>
              <a:rPr lang="zh-CN" altLang="en-US" sz="2400" b="1" dirty="0">
                <a:solidFill>
                  <a:srgbClr val="FF3300"/>
                </a:solidFill>
              </a:rPr>
              <a:t>创建</a:t>
            </a:r>
            <a:r>
              <a:rPr lang="en-US" sz="2400" b="1" dirty="0">
                <a:solidFill>
                  <a:srgbClr val="FF3300"/>
                </a:solidFill>
              </a:rPr>
              <a:t>B</a:t>
            </a:r>
            <a:r>
              <a:rPr lang="zh-CN" altLang="en-US" sz="2400" b="1" dirty="0">
                <a:solidFill>
                  <a:srgbClr val="FF3300"/>
                </a:solidFill>
              </a:rPr>
              <a:t>或者是</a:t>
            </a:r>
            <a:r>
              <a:rPr lang="en-US" sz="2400" b="1" dirty="0">
                <a:solidFill>
                  <a:srgbClr val="FF3300"/>
                </a:solidFill>
              </a:rPr>
              <a:t>A</a:t>
            </a:r>
            <a:r>
              <a:rPr lang="zh-CN" altLang="en-US" sz="2400" b="1" dirty="0">
                <a:solidFill>
                  <a:srgbClr val="FF3300"/>
                </a:solidFill>
              </a:rPr>
              <a:t>使用</a:t>
            </a:r>
            <a:r>
              <a:rPr lang="en-US" sz="2400" b="1" dirty="0">
                <a:solidFill>
                  <a:srgbClr val="FF3300"/>
                </a:solidFill>
              </a:rPr>
              <a:t>B</a:t>
            </a:r>
            <a:r>
              <a:rPr lang="zh-CN" altLang="en-US" sz="2400" b="1" dirty="0"/>
              <a:t>，</a:t>
            </a:r>
            <a:r>
              <a:rPr lang="zh-CN" altLang="en-US" sz="2400" b="1" dirty="0">
                <a:solidFill>
                  <a:srgbClr val="FF3300"/>
                </a:solidFill>
              </a:rPr>
              <a:t>而不能两种关系都有</a:t>
            </a:r>
            <a:r>
              <a:rPr lang="zh-CN" altLang="en-US" sz="2400" b="1" dirty="0"/>
              <a:t>。将对象的创建和使用分离，使得系统更加符合单一职责原则，有利于对功能的复用和系统的维护。</a:t>
            </a:r>
            <a:endParaRPr lang="zh-CN" altLang="en-US" sz="2400" b="1" dirty="0"/>
          </a:p>
        </p:txBody>
      </p:sp>
    </p:spTree>
  </p:cSld>
  <p:clrMapOvr>
    <a:masterClrMapping/>
  </p:clrMapOvr>
  <p:transition spd="slow" advTm="0">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058615" y="909514"/>
            <a:ext cx="10009112" cy="4032448"/>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20000"/>
              </a:lnSpc>
              <a:spcBef>
                <a:spcPts val="0"/>
              </a:spcBef>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将对象的创建与使用分离的其他好处</a:t>
            </a:r>
            <a:endParaRPr lang="en-US" altLang="zh-CN" sz="2400" dirty="0">
              <a:latin typeface="微软雅黑" panose="020B0503020204020204" pitchFamily="34" charset="-122"/>
              <a:ea typeface="微软雅黑" panose="020B0503020204020204" pitchFamily="34" charset="-122"/>
            </a:endParaRPr>
          </a:p>
          <a:p>
            <a:pPr lvl="1">
              <a:lnSpc>
                <a:spcPct val="120000"/>
              </a:lnSpc>
              <a:spcBef>
                <a:spcPts val="0"/>
              </a:spcBef>
              <a:buFont typeface="Wingdings" panose="05000000000000000000" pitchFamily="2" charset="2"/>
              <a:buChar char="l"/>
            </a:pPr>
            <a:r>
              <a:rPr lang="zh-CN" altLang="en-US" sz="2400" dirty="0" smtClean="0">
                <a:solidFill>
                  <a:srgbClr val="FF3300"/>
                </a:solidFill>
                <a:latin typeface="微软雅黑" panose="020B0503020204020204" pitchFamily="34" charset="-122"/>
                <a:ea typeface="微软雅黑" panose="020B0503020204020204" pitchFamily="34" charset="-122"/>
              </a:rPr>
              <a:t>防止用来实例化一个类的数据和代码在多个类中到处都是</a:t>
            </a:r>
            <a:r>
              <a:rPr lang="zh-CN" altLang="en-US" sz="2400" dirty="0" smtClean="0">
                <a:latin typeface="微软雅黑" panose="020B0503020204020204" pitchFamily="34" charset="-122"/>
                <a:ea typeface="微软雅黑" panose="020B0503020204020204" pitchFamily="34" charset="-122"/>
              </a:rPr>
              <a:t>，可以将有关创建的知识搬移到一个工厂类中，</a:t>
            </a:r>
            <a:r>
              <a:rPr lang="zh-CN" altLang="en-US" sz="2400" dirty="0" smtClean="0">
                <a:solidFill>
                  <a:srgbClr val="FF3300"/>
                </a:solidFill>
                <a:latin typeface="微软雅黑" panose="020B0503020204020204" pitchFamily="34" charset="-122"/>
                <a:ea typeface="微软雅黑" panose="020B0503020204020204" pitchFamily="34" charset="-122"/>
              </a:rPr>
              <a:t>解决代码重复、创建蔓延的问题 </a:t>
            </a:r>
            <a:endParaRPr lang="en-US" altLang="zh-CN" sz="2400" dirty="0" smtClean="0">
              <a:solidFill>
                <a:srgbClr val="FF3300"/>
              </a:solidFill>
              <a:latin typeface="微软雅黑" panose="020B0503020204020204" pitchFamily="34" charset="-122"/>
              <a:ea typeface="微软雅黑" panose="020B0503020204020204" pitchFamily="34" charset="-122"/>
            </a:endParaRPr>
          </a:p>
          <a:p>
            <a:pPr lvl="1">
              <a:lnSpc>
                <a:spcPct val="120000"/>
              </a:lnSpc>
              <a:spcBef>
                <a:spcPts val="0"/>
              </a:spcBef>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构造函数的名字都与类名相同，从构造函数和参数列表中大家很难了解不同构造函数所构造的产品的差异 </a:t>
            </a:r>
            <a:r>
              <a:rPr lang="en-US" altLang="zh-CN" sz="2400" dirty="0" smtClean="0">
                <a:latin typeface="微软雅黑" panose="020B0503020204020204" pitchFamily="34" charset="-122"/>
                <a:ea typeface="微软雅黑" panose="020B0503020204020204" pitchFamily="34" charset="-122"/>
                <a:sym typeface="Wingdings" panose="05000000000000000000" pitchFamily="2" charset="2"/>
              </a:rPr>
              <a:t> </a:t>
            </a:r>
            <a:r>
              <a:rPr lang="zh-CN" altLang="en-US" sz="2400" dirty="0" smtClean="0">
                <a:latin typeface="微软雅黑" panose="020B0503020204020204" pitchFamily="34" charset="-122"/>
                <a:ea typeface="微软雅黑" panose="020B0503020204020204" pitchFamily="34" charset="-122"/>
              </a:rPr>
              <a:t>将对象的创建过程封装在工厂类中，可以</a:t>
            </a:r>
            <a:r>
              <a:rPr lang="zh-CN" altLang="en-US" sz="2400" dirty="0" smtClean="0">
                <a:solidFill>
                  <a:srgbClr val="FF3300"/>
                </a:solidFill>
                <a:latin typeface="微软雅黑" panose="020B0503020204020204" pitchFamily="34" charset="-122"/>
                <a:ea typeface="微软雅黑" panose="020B0503020204020204" pitchFamily="34" charset="-122"/>
              </a:rPr>
              <a:t>提供一系列名字完全不同的工厂方法，每一个工厂方法对应一个构造函数</a:t>
            </a:r>
            <a:r>
              <a:rPr lang="zh-CN" altLang="en-US" sz="2400" dirty="0" smtClean="0">
                <a:latin typeface="微软雅黑" panose="020B0503020204020204" pitchFamily="34" charset="-122"/>
                <a:ea typeface="微软雅黑" panose="020B0503020204020204" pitchFamily="34" charset="-122"/>
              </a:rPr>
              <a:t>，客户端可以以一种更加可读、易懂的方式来创建对象</a:t>
            </a:r>
            <a:endParaRPr lang="zh-CN" altLang="en-US" sz="2400" dirty="0" smtClean="0">
              <a:solidFill>
                <a:srgbClr val="FF3300"/>
              </a:solidFill>
              <a:latin typeface="微软雅黑" panose="020B0503020204020204" pitchFamily="34" charset="-122"/>
              <a:ea typeface="微软雅黑" panose="020B0503020204020204" pitchFamily="34" charset="-122"/>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6607" y="4939084"/>
            <a:ext cx="10369152" cy="173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2"/>
          <p:cNvSpPr txBox="1"/>
          <p:nvPr/>
        </p:nvSpPr>
        <p:spPr>
          <a:xfrm>
            <a:off x="1859087" y="189434"/>
            <a:ext cx="6912768" cy="523220"/>
          </a:xfrm>
          <a:prstGeom prst="rect">
            <a:avLst/>
          </a:prstGeom>
          <a:noFill/>
        </p:spPr>
        <p:txBody>
          <a:bodyPr wrap="square" rtlCol="0">
            <a:spAutoFit/>
          </a:bodyPr>
          <a:lstStyle/>
          <a:p>
            <a:pPr>
              <a:defRPr/>
            </a:pP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思考</a:t>
            </a: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关于创建对象与使用对象</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251720" y="1053530"/>
            <a:ext cx="9865096" cy="3384376"/>
          </a:xfrm>
          <a:prstGeom prst="rect">
            <a:avLst/>
          </a:prstGeom>
        </p:spPr>
        <p:txBody>
          <a:bodyPr/>
          <a:lstStyle>
            <a:lvl1pPr marL="457200" indent="-457200" algn="l" defTabSz="1219835"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1235" indent="-381000" algn="l" defTabSz="1219835"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635" indent="-304800" algn="l" defTabSz="1219835"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44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40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835"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a:lnSpc>
                <a:spcPct val="150000"/>
              </a:lnSpc>
              <a:spcBef>
                <a:spcPts val="0"/>
              </a:spcBef>
              <a:buFont typeface="Wingdings" panose="05000000000000000000" pitchFamily="2" charset="2"/>
              <a:buChar char="Ø"/>
            </a:pPr>
            <a:r>
              <a:rPr lang="zh-CN" altLang="en-US" sz="2400" dirty="0" smtClean="0">
                <a:latin typeface="微软雅黑" panose="020B0503020204020204" pitchFamily="34" charset="-122"/>
                <a:ea typeface="微软雅黑" panose="020B0503020204020204" pitchFamily="34" charset="-122"/>
              </a:rPr>
              <a:t>何时不需要工厂？</a:t>
            </a:r>
            <a:endParaRPr lang="en-US" altLang="zh-CN" sz="2400" dirty="0" smtClean="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l"/>
            </a:pPr>
            <a:r>
              <a:rPr lang="zh-CN" altLang="en-US" sz="2400" dirty="0" smtClean="0">
                <a:solidFill>
                  <a:srgbClr val="FF3300"/>
                </a:solidFill>
                <a:latin typeface="微软雅黑" panose="020B0503020204020204" pitchFamily="34" charset="-122"/>
                <a:ea typeface="微软雅黑" panose="020B0503020204020204" pitchFamily="34" charset="-122"/>
              </a:rPr>
              <a:t>无须为系统中的每一个类都配备一个工厂类</a:t>
            </a:r>
            <a:endParaRPr lang="en-US" altLang="zh-CN" sz="2400" dirty="0" smtClean="0">
              <a:solidFill>
                <a:srgbClr val="FF3300"/>
              </a:solidFill>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如果一个类很简单，而且</a:t>
            </a:r>
            <a:r>
              <a:rPr lang="zh-CN" altLang="en-US" sz="2400" dirty="0" smtClean="0">
                <a:solidFill>
                  <a:srgbClr val="FF3300"/>
                </a:solidFill>
                <a:latin typeface="微软雅黑" panose="020B0503020204020204" pitchFamily="34" charset="-122"/>
                <a:ea typeface="微软雅黑" panose="020B0503020204020204" pitchFamily="34" charset="-122"/>
              </a:rPr>
              <a:t>不存在太多变化</a:t>
            </a:r>
            <a:r>
              <a:rPr lang="zh-CN" altLang="en-US" sz="2400" dirty="0" smtClean="0">
                <a:latin typeface="微软雅黑" panose="020B0503020204020204" pitchFamily="34" charset="-122"/>
                <a:ea typeface="微软雅黑" panose="020B0503020204020204" pitchFamily="34" charset="-122"/>
              </a:rPr>
              <a:t>，</a:t>
            </a:r>
            <a:r>
              <a:rPr lang="zh-CN" altLang="en-US" sz="2400" dirty="0" smtClean="0">
                <a:solidFill>
                  <a:srgbClr val="FF3300"/>
                </a:solidFill>
                <a:latin typeface="微软雅黑" panose="020B0503020204020204" pitchFamily="34" charset="-122"/>
                <a:ea typeface="微软雅黑" panose="020B0503020204020204" pitchFamily="34" charset="-122"/>
              </a:rPr>
              <a:t>其构造过程也很简单</a:t>
            </a:r>
            <a:r>
              <a:rPr lang="zh-CN" altLang="en-US" sz="2400" dirty="0" smtClean="0">
                <a:latin typeface="微软雅黑" panose="020B0503020204020204" pitchFamily="34" charset="-122"/>
                <a:ea typeface="微软雅黑" panose="020B0503020204020204" pitchFamily="34" charset="-122"/>
              </a:rPr>
              <a:t>，此时就无须为其提供工厂类，直接在使用之前实例化即可</a:t>
            </a:r>
            <a:endParaRPr lang="en-US" altLang="zh-CN" sz="2400" dirty="0" smtClean="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l"/>
            </a:pPr>
            <a:r>
              <a:rPr lang="zh-CN" altLang="en-US" sz="2400" dirty="0" smtClean="0">
                <a:latin typeface="微软雅黑" panose="020B0503020204020204" pitchFamily="34" charset="-122"/>
                <a:ea typeface="微软雅黑" panose="020B0503020204020204" pitchFamily="34" charset="-122"/>
              </a:rPr>
              <a:t>否则会导致工厂泛滥，增加系统的复杂度</a:t>
            </a:r>
            <a:endParaRPr lang="en-US" altLang="zh-CN" sz="2400" dirty="0" smtClean="0">
              <a:latin typeface="微软雅黑" panose="020B0503020204020204" pitchFamily="34" charset="-122"/>
              <a:ea typeface="微软雅黑" panose="020B0503020204020204" pitchFamily="34" charset="-122"/>
            </a:endParaRPr>
          </a:p>
          <a:p>
            <a:pPr lvl="1">
              <a:lnSpc>
                <a:spcPct val="150000"/>
              </a:lnSpc>
              <a:spcBef>
                <a:spcPts val="0"/>
              </a:spcBef>
              <a:buFont typeface="Wingdings" panose="05000000000000000000" pitchFamily="2" charset="2"/>
              <a:buChar char="l"/>
            </a:pPr>
            <a:r>
              <a:rPr lang="zh-CN" altLang="en-US" sz="2400" dirty="0" smtClean="0">
                <a:solidFill>
                  <a:srgbClr val="FF3300"/>
                </a:solidFill>
                <a:latin typeface="微软雅黑" panose="020B0503020204020204" pitchFamily="34" charset="-122"/>
                <a:ea typeface="微软雅黑" panose="020B0503020204020204" pitchFamily="34" charset="-122"/>
              </a:rPr>
              <a:t>例如：</a:t>
            </a:r>
            <a:r>
              <a:rPr lang="en-US" altLang="zh-CN" sz="2400" dirty="0" err="1" smtClean="0">
                <a:solidFill>
                  <a:srgbClr val="FF6600"/>
                </a:solidFill>
                <a:latin typeface="微软雅黑" panose="020B0503020204020204" pitchFamily="34" charset="-122"/>
                <a:ea typeface="微软雅黑" panose="020B0503020204020204" pitchFamily="34" charset="-122"/>
              </a:rPr>
              <a:t>java.lang.String</a:t>
            </a:r>
            <a:endParaRPr lang="en-US" altLang="zh-CN" sz="2400" dirty="0" smtClean="0">
              <a:latin typeface="微软雅黑" panose="020B0503020204020204" pitchFamily="34" charset="-122"/>
              <a:ea typeface="微软雅黑" panose="020B0503020204020204" pitchFamily="34" charset="-122"/>
            </a:endParaRPr>
          </a:p>
        </p:txBody>
      </p:sp>
      <p:sp>
        <p:nvSpPr>
          <p:cNvPr id="3" name="文本框 4"/>
          <p:cNvSpPr txBox="1"/>
          <p:nvPr/>
        </p:nvSpPr>
        <p:spPr>
          <a:xfrm>
            <a:off x="5811144" y="4706665"/>
            <a:ext cx="424847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a:defRPr/>
            </a:pPr>
            <a:r>
              <a:rPr lang="en-US" altLang="zh-CN" sz="2800" b="1" dirty="0" err="1">
                <a:solidFill>
                  <a:srgbClr val="FF3300"/>
                </a:solidFill>
              </a:rPr>
              <a:t>StringFactory</a:t>
            </a:r>
            <a:endParaRPr lang="zh-CN" altLang="en-US" sz="2800" b="1" dirty="0">
              <a:solidFill>
                <a:srgbClr val="FF3300"/>
              </a:solidFill>
            </a:endParaRPr>
          </a:p>
        </p:txBody>
      </p:sp>
      <p:sp>
        <p:nvSpPr>
          <p:cNvPr id="4" name="禁止符 3"/>
          <p:cNvSpPr/>
          <p:nvPr/>
        </p:nvSpPr>
        <p:spPr>
          <a:xfrm>
            <a:off x="9267527" y="4282475"/>
            <a:ext cx="1371600" cy="1371600"/>
          </a:xfrm>
          <a:prstGeom prst="noSmoking">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3300"/>
              </a:solidFill>
            </a:endParaRPr>
          </a:p>
        </p:txBody>
      </p:sp>
      <p:sp>
        <p:nvSpPr>
          <p:cNvPr id="5" name="文本框 2"/>
          <p:cNvSpPr txBox="1"/>
          <p:nvPr/>
        </p:nvSpPr>
        <p:spPr>
          <a:xfrm>
            <a:off x="1859087" y="189434"/>
            <a:ext cx="6912768" cy="523220"/>
          </a:xfrm>
          <a:prstGeom prst="rect">
            <a:avLst/>
          </a:prstGeom>
          <a:noFill/>
        </p:spPr>
        <p:txBody>
          <a:bodyPr wrap="square" rtlCol="0">
            <a:spAutoFit/>
          </a:bodyPr>
          <a:lstStyle/>
          <a:p>
            <a:pPr>
              <a:defRPr/>
            </a:pP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思考</a:t>
            </a:r>
            <a:r>
              <a:rPr lang="en-US" altLang="zh-CN" sz="28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100" dirty="0" smtClean="0">
                <a:latin typeface="微软雅黑" panose="020B0503020204020204" pitchFamily="34" charset="-122"/>
                <a:ea typeface="微软雅黑" panose="020B0503020204020204" pitchFamily="34" charset="-122"/>
                <a:cs typeface="Times New Roman" panose="02020603050405020304" pitchFamily="18" charset="0"/>
              </a:rPr>
              <a:t>关于创建对象与使用对象</a:t>
            </a:r>
            <a:endParaRPr lang="zh-CN" altLang="zh-CN" sz="28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74639" y="1557586"/>
            <a:ext cx="9505056" cy="2677656"/>
          </a:xfrm>
          <a:prstGeom prst="rect">
            <a:avLst/>
          </a:prstGeom>
        </p:spPr>
        <p:txBody>
          <a:bodyPr wrap="squar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需查阅文档补充学习知识点：</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）静态方法及其特点</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2</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XML</a:t>
            </a:r>
            <a:r>
              <a:rPr lang="zh-CN" altLang="en-US" sz="2800" dirty="0">
                <a:latin typeface="微软雅黑" panose="020B0503020204020204" pitchFamily="34" charset="-122"/>
                <a:ea typeface="微软雅黑" panose="020B0503020204020204" pitchFamily="34" charset="-122"/>
              </a:rPr>
              <a:t>文件中的标签对，以及树形结构</a:t>
            </a:r>
            <a:endParaRPr lang="zh-CN" altLang="en-US" sz="2800" dirty="0">
              <a:latin typeface="微软雅黑" panose="020B0503020204020204" pitchFamily="34" charset="-122"/>
              <a:ea typeface="微软雅黑" panose="020B0503020204020204" pitchFamily="34" charset="-122"/>
            </a:endParaRPr>
          </a:p>
          <a:p>
            <a:pPr>
              <a:lnSpc>
                <a:spcPct val="150000"/>
              </a:lnSpc>
            </a:pP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3</a:t>
            </a:r>
            <a:r>
              <a:rPr lang="zh-CN" altLang="en-US" sz="2800" dirty="0">
                <a:latin typeface="微软雅黑" panose="020B0503020204020204" pitchFamily="34" charset="-122"/>
                <a:ea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rPr>
              <a:t>Java </a:t>
            </a:r>
            <a:r>
              <a:rPr lang="zh-CN" altLang="en-US" sz="2800" dirty="0">
                <a:latin typeface="微软雅黑" panose="020B0503020204020204" pitchFamily="34" charset="-122"/>
                <a:ea typeface="微软雅黑" panose="020B0503020204020204" pitchFamily="34" charset="-122"/>
              </a:rPr>
              <a:t>中的</a:t>
            </a:r>
            <a:r>
              <a:rPr lang="en-US" altLang="zh-CN" sz="2800" dirty="0">
                <a:latin typeface="微软雅黑" panose="020B0503020204020204" pitchFamily="34" charset="-122"/>
                <a:ea typeface="微软雅黑" panose="020B0503020204020204" pitchFamily="34" charset="-122"/>
              </a:rPr>
              <a:t>DOM</a:t>
            </a:r>
            <a:r>
              <a:rPr lang="zh-CN" altLang="en-US" sz="2800" dirty="0">
                <a:latin typeface="微软雅黑" panose="020B0503020204020204" pitchFamily="34" charset="-122"/>
                <a:ea typeface="微软雅黑" panose="020B0503020204020204" pitchFamily="34" charset="-122"/>
              </a:rPr>
              <a:t>（文档对象模式）</a:t>
            </a:r>
            <a:r>
              <a:rPr lang="en-US" altLang="zh-CN" sz="2800" dirty="0">
                <a:latin typeface="微软雅黑" panose="020B0503020204020204" pitchFamily="34" charset="-122"/>
                <a:ea typeface="微软雅黑" panose="020B0503020204020204" pitchFamily="34" charset="-122"/>
              </a:rPr>
              <a:t>API</a:t>
            </a:r>
            <a:endParaRPr lang="en-US" altLang="zh-CN" sz="2800" dirty="0">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sld>
</file>

<file path=ppt/tags/tag1.xml><?xml version="1.0" encoding="utf-8"?>
<p:tagLst xmlns:p="http://schemas.openxmlformats.org/presentationml/2006/main">
  <p:tag name="KSO_WM_DIAGRAM_VIRTUALLY_FRAME" val="{&quot;height&quot;:363.95858267716534,&quot;left&quot;:179.74417322834645,&quot;top&quot;:81.87149606299212,&quot;width&quot;:754.3604724409449}"/>
</p:tagLst>
</file>

<file path=ppt/tags/tag2.xml><?xml version="1.0" encoding="utf-8"?>
<p:tagLst xmlns:p="http://schemas.openxmlformats.org/presentationml/2006/main">
  <p:tag name="KSO_WM_DIAGRAM_VIRTUALLY_FRAME" val="{&quot;height&quot;:363.95858267716534,&quot;left&quot;:179.74417322834645,&quot;top&quot;:81.87149606299212,&quot;width&quot;:754.3604724409449}"/>
</p:tagLst>
</file>

<file path=ppt/tags/tag3.xml><?xml version="1.0" encoding="utf-8"?>
<p:tagLst xmlns:p="http://schemas.openxmlformats.org/presentationml/2006/main">
  <p:tag name="KSO_WM_DIAGRAM_VIRTUALLY_FRAME" val="{&quot;height&quot;:363.95858267716534,&quot;left&quot;:179.74417322834645,&quot;top&quot;:81.87149606299212,&quot;width&quot;:754.3604724409449}"/>
</p:tagLst>
</file>

<file path=ppt/tags/tag4.xml><?xml version="1.0" encoding="utf-8"?>
<p:tagLst xmlns:p="http://schemas.openxmlformats.org/presentationml/2006/main">
  <p:tag name="KSO_WM_DIAGRAM_VIRTUALLY_FRAME" val="{&quot;height&quot;:363.95858267716534,&quot;left&quot;:179.74417322834645,&quot;top&quot;:81.87149606299212,&quot;width&quot;:754.3604724409449}"/>
</p:tagLst>
</file>

<file path=ppt/tags/tag5.xml><?xml version="1.0" encoding="utf-8"?>
<p:tagLst xmlns:p="http://schemas.openxmlformats.org/presentationml/2006/main">
  <p:tag name="KSO_WM_DIAGRAM_VIRTUALLY_FRAME" val="{&quot;height&quot;:363.95858267716534,&quot;left&quot;:179.74417322834645,&quot;top&quot;:81.87149606299212,&quot;width&quot;:754.3604724409449}"/>
</p:tagLst>
</file>

<file path=ppt/tags/tag6.xml><?xml version="1.0" encoding="utf-8"?>
<p:tagLst xmlns:p="http://schemas.openxmlformats.org/presentationml/2006/main">
  <p:tag name="KSO_WM_DIAGRAM_VIRTUALLY_FRAME" val="{&quot;height&quot;:363.95858267716534,&quot;left&quot;:179.74417322834645,&quot;top&quot;:81.87149606299212,&quot;width&quot;:754.3604724409449}"/>
</p:tagLst>
</file>

<file path=ppt/tags/tag7.xml><?xml version="1.0" encoding="utf-8"?>
<p:tagLst xmlns:p="http://schemas.openxmlformats.org/presentationml/2006/main">
  <p:tag name="ISPRING_ULTRA_SCORM_SLIDE_COUNT" val="4"/>
  <p:tag name="ISPRING_PRESENTATION_TITLE" val="PowerPoint 演示文稿"/>
  <p:tag name="ISPRING_RESOURCE_PATHS_HASH_PRESENTER" val="af3f2d575d923f6e4ff64f325e7b41567660d7"/>
  <p:tag name="commondata" val="eyJoZGlkIjoiZmIwNTgzN2VkODcyMGZjYmE5ZDczYWZmOTUyYTJjOTMifQ=="/>
</p:tagLst>
</file>

<file path=ppt/theme/theme1.xml><?xml version="1.0" encoding="utf-8"?>
<a:theme xmlns:a="http://schemas.openxmlformats.org/drawingml/2006/main" name="第一PPT，www.1ppt.com">
  <a:themeElements>
    <a:clrScheme name="自定义 107">
      <a:dk1>
        <a:sysClr val="windowText" lastClr="000000"/>
      </a:dk1>
      <a:lt1>
        <a:sysClr val="window" lastClr="FFFFFF"/>
      </a:lt1>
      <a:dk2>
        <a:srgbClr val="1F497D"/>
      </a:dk2>
      <a:lt2>
        <a:srgbClr val="EEECE1"/>
      </a:lt2>
      <a:accent1>
        <a:srgbClr val="0070C0"/>
      </a:accent1>
      <a:accent2>
        <a:srgbClr val="FFC000"/>
      </a:accent2>
      <a:accent3>
        <a:srgbClr val="BFBFBF"/>
      </a:accent3>
      <a:accent4>
        <a:srgbClr val="BFBFBF"/>
      </a:accent4>
      <a:accent5>
        <a:srgbClr val="BFBFB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6438</Words>
  <Application>WPS 演示</Application>
  <PresentationFormat>自定义</PresentationFormat>
  <Paragraphs>463</Paragraphs>
  <Slides>34</Slides>
  <Notes>2</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34</vt:i4>
      </vt:variant>
    </vt:vector>
  </HeadingPairs>
  <TitlesOfParts>
    <vt:vector size="51" baseType="lpstr">
      <vt:lpstr>Arial</vt:lpstr>
      <vt:lpstr>宋体</vt:lpstr>
      <vt:lpstr>Wingdings</vt:lpstr>
      <vt:lpstr>Eras Bold ITC</vt:lpstr>
      <vt:lpstr>微软雅黑</vt:lpstr>
      <vt:lpstr>Arial Unicode MS</vt:lpstr>
      <vt:lpstr>Times New Roman</vt:lpstr>
      <vt:lpstr>黑体</vt:lpstr>
      <vt:lpstr>Tahoma</vt:lpstr>
      <vt:lpstr>Tahoma</vt:lpstr>
      <vt:lpstr>隶书</vt:lpstr>
      <vt:lpstr>Times New Roman</vt:lpstr>
      <vt:lpstr>Calibri</vt:lpstr>
      <vt:lpstr>Arial</vt:lpstr>
      <vt:lpstr>楷体_GB2312</vt:lpstr>
      <vt:lpstr>新宋体</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蓝色简洁</dc:title>
  <dc:creator>第一PPT</dc:creator>
  <cp:keywords>www.1ppt.com</cp:keywords>
  <cp:lastModifiedBy>sxtyg</cp:lastModifiedBy>
  <cp:revision>269</cp:revision>
  <dcterms:created xsi:type="dcterms:W3CDTF">2014-08-23T07:50:00Z</dcterms:created>
  <dcterms:modified xsi:type="dcterms:W3CDTF">2026-09-13T17:19:45Z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0A674DB86419455CBACD3292D880277F_12</vt:lpwstr>
  </property>
  <property fmtid="{D5CDD505-2E9C-101B-9397-08002B2CF9AE}" pid="3" name="KSOProductBuildVer">
    <vt:lpwstr>2052-12.1.0.28488</vt:lpwstr>
  </property>
</Properties>
</file>