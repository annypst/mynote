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2" r:id="rId3"/>
    <p:sldId id="340" r:id="rId5"/>
    <p:sldId id="320" r:id="rId6"/>
    <p:sldId id="365" r:id="rId7"/>
    <p:sldId id="366" r:id="rId8"/>
    <p:sldId id="367" r:id="rId9"/>
    <p:sldId id="368" r:id="rId10"/>
    <p:sldId id="369" r:id="rId11"/>
    <p:sldId id="370" r:id="rId12"/>
    <p:sldId id="371" r:id="rId13"/>
    <p:sldId id="372" r:id="rId14"/>
    <p:sldId id="373" r:id="rId15"/>
    <p:sldId id="374" r:id="rId16"/>
    <p:sldId id="375" r:id="rId17"/>
    <p:sldId id="379" r:id="rId18"/>
    <p:sldId id="376" r:id="rId19"/>
    <p:sldId id="378" r:id="rId20"/>
    <p:sldId id="381" r:id="rId21"/>
    <p:sldId id="383" r:id="rId22"/>
    <p:sldId id="380" r:id="rId23"/>
    <p:sldId id="389" r:id="rId24"/>
    <p:sldId id="384" r:id="rId25"/>
    <p:sldId id="388" r:id="rId26"/>
    <p:sldId id="431" r:id="rId27"/>
    <p:sldId id="433" r:id="rId28"/>
    <p:sldId id="434" r:id="rId29"/>
    <p:sldId id="387" r:id="rId30"/>
    <p:sldId id="386" r:id="rId31"/>
    <p:sldId id="393" r:id="rId32"/>
    <p:sldId id="385" r:id="rId33"/>
    <p:sldId id="392" r:id="rId34"/>
    <p:sldId id="394" r:id="rId35"/>
    <p:sldId id="391" r:id="rId36"/>
    <p:sldId id="390" r:id="rId37"/>
    <p:sldId id="395" r:id="rId38"/>
    <p:sldId id="437" r:id="rId39"/>
    <p:sldId id="396" r:id="rId40"/>
    <p:sldId id="404" r:id="rId41"/>
    <p:sldId id="377" r:id="rId42"/>
    <p:sldId id="403" r:id="rId43"/>
    <p:sldId id="402" r:id="rId44"/>
    <p:sldId id="401" r:id="rId45"/>
    <p:sldId id="398" r:id="rId46"/>
    <p:sldId id="399" r:id="rId47"/>
    <p:sldId id="409" r:id="rId48"/>
    <p:sldId id="400" r:id="rId49"/>
    <p:sldId id="408" r:id="rId50"/>
    <p:sldId id="407" r:id="rId51"/>
    <p:sldId id="406" r:id="rId52"/>
    <p:sldId id="410" r:id="rId53"/>
    <p:sldId id="405" r:id="rId54"/>
    <p:sldId id="416" r:id="rId55"/>
    <p:sldId id="411" r:id="rId56"/>
    <p:sldId id="412" r:id="rId57"/>
    <p:sldId id="415" r:id="rId58"/>
    <p:sldId id="417" r:id="rId59"/>
    <p:sldId id="438" r:id="rId60"/>
    <p:sldId id="414" r:id="rId61"/>
    <p:sldId id="418" r:id="rId62"/>
    <p:sldId id="421" r:id="rId63"/>
    <p:sldId id="420" r:id="rId64"/>
    <p:sldId id="423" r:id="rId65"/>
    <p:sldId id="419" r:id="rId66"/>
    <p:sldId id="422" r:id="rId67"/>
    <p:sldId id="424" r:id="rId68"/>
  </p:sldIdLst>
  <p:sldSz cx="12198350" cy="6859270"/>
  <p:notesSz cx="6858000" cy="9144000"/>
  <p:custDataLst>
    <p:tags r:id="rId72"/>
  </p:custDataLst>
  <p:defaultTextStyle>
    <a:defPPr>
      <a:defRPr lang="zh-CN"/>
    </a:defPPr>
    <a:lvl1pPr marL="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  <p15:guide id="3" pos="304" userDrawn="1">
          <p15:clr>
            <a:srgbClr val="A4A3A4"/>
          </p15:clr>
        </p15:guide>
        <p15:guide id="4" pos="1892" userDrawn="1">
          <p15:clr>
            <a:srgbClr val="A4A3A4"/>
          </p15:clr>
        </p15:guide>
        <p15:guide id="5" pos="1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005DA2"/>
    <a:srgbClr val="FFC400"/>
    <a:srgbClr val="FFD347"/>
    <a:srgbClr val="FFC91D"/>
    <a:srgbClr val="0071C1"/>
    <a:srgbClr val="414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59" autoAdjust="0"/>
    <p:restoredTop sz="92638" autoAdjust="0"/>
  </p:normalViewPr>
  <p:slideViewPr>
    <p:cSldViewPr showGuides="1">
      <p:cViewPr varScale="1">
        <p:scale>
          <a:sx n="105" d="100"/>
          <a:sy n="105" d="100"/>
        </p:scale>
        <p:origin x="-678" y="-96"/>
      </p:cViewPr>
      <p:guideLst>
        <p:guide orient="horz" pos="2160"/>
        <p:guide pos="3842"/>
        <p:guide pos="304"/>
        <p:guide pos="1892"/>
        <p:guide pos="12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2" Type="http://schemas.openxmlformats.org/officeDocument/2006/relationships/tags" Target="tags/tag3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" Target="slides/slide4.xml"/><Relationship Id="rId69" Type="http://schemas.openxmlformats.org/officeDocument/2006/relationships/presProps" Target="presProps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F61F52-B6E5-4F02-8ED5-68628D9B9FC2}" type="doc">
      <dgm:prSet loTypeId="urn:microsoft.com/office/officeart/2005/8/layout/cycle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1A65836-DBAD-4EA0-9CA7-F0010D6E746F}">
      <dgm:prSet phldrT="[文本]" custT="1"/>
      <dgm:spPr/>
      <dgm:t>
        <a:bodyPr/>
        <a:lstStyle/>
        <a:p>
          <a:r>
            <a: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合成复用原则</a:t>
          </a:r>
          <a:endParaRPr lang="zh-CN" altLang="en-US" sz="2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4896955-E5F6-4C89-A278-0AFAD53021F2}" cxnId="{A7A34CAF-E470-4240-8A52-C65EAC35B2C4}" type="parTrans">
      <dgm:prSet/>
      <dgm:spPr/>
      <dgm:t>
        <a:bodyPr/>
        <a:lstStyle/>
        <a:p>
          <a:endParaRPr lang="zh-CN" altLang="en-US" sz="2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D4F5839-FF56-467E-8598-A03B74FF39C3}" cxnId="{A7A34CAF-E470-4240-8A52-C65EAC35B2C4}" type="sibTrans">
      <dgm:prSet/>
      <dgm:spPr/>
      <dgm:t>
        <a:bodyPr/>
        <a:lstStyle/>
        <a:p>
          <a:endParaRPr lang="zh-CN" altLang="en-US" sz="2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11B33AF-EAFE-40BA-82C1-28E261C772DF}">
      <dgm:prSet phldrT="[文本]" custT="1"/>
      <dgm:spPr/>
      <dgm:t>
        <a:bodyPr/>
        <a:lstStyle/>
        <a:p>
          <a:r>
            <a: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里氏替换原则</a:t>
          </a:r>
          <a:endParaRPr lang="zh-CN" altLang="en-US" sz="2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F9C38AF-DDD5-4307-BCDD-B20AE4988CFD}" cxnId="{BFC3D819-06F0-4FDC-BAFD-C5F02679E15B}" type="parTrans">
      <dgm:prSet/>
      <dgm:spPr/>
      <dgm:t>
        <a:bodyPr/>
        <a:lstStyle/>
        <a:p>
          <a:endParaRPr lang="zh-CN" altLang="en-US" sz="2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15F85F1-2FC7-4935-9CA0-27DD9355C745}" cxnId="{BFC3D819-06F0-4FDC-BAFD-C5F02679E15B}" type="sibTrans">
      <dgm:prSet/>
      <dgm:spPr/>
      <dgm:t>
        <a:bodyPr/>
        <a:lstStyle/>
        <a:p>
          <a:endParaRPr lang="zh-CN" altLang="en-US" sz="2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E1600AF-FB29-4EA4-85C9-2676154B50FD}">
      <dgm:prSet phldrT="[文本]" custT="1"/>
      <dgm:spPr/>
      <dgm:t>
        <a:bodyPr/>
        <a:lstStyle/>
        <a:p>
          <a:r>
            <a: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接口隔离原则</a:t>
          </a:r>
          <a:endParaRPr lang="zh-CN" altLang="en-US" sz="2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46CE89E-03E2-4C65-A6B1-5EC7907F8DF2}" cxnId="{DD042A56-C39F-417D-AF6A-AEE60F6D9371}" type="parTrans">
      <dgm:prSet/>
      <dgm:spPr/>
      <dgm:t>
        <a:bodyPr/>
        <a:lstStyle/>
        <a:p>
          <a:endParaRPr lang="zh-CN" altLang="en-US" sz="2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14F4B78-A097-4B3A-B4BB-A3AC02FEE394}" cxnId="{DD042A56-C39F-417D-AF6A-AEE60F6D9371}" type="sibTrans">
      <dgm:prSet/>
      <dgm:spPr/>
      <dgm:t>
        <a:bodyPr/>
        <a:lstStyle/>
        <a:p>
          <a:endParaRPr lang="zh-CN" altLang="en-US" sz="2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508FAD7-9168-4339-9E49-92E04217C94B}">
      <dgm:prSet phldrT="[文本]" custT="1"/>
      <dgm:spPr/>
      <dgm:t>
        <a:bodyPr/>
        <a:lstStyle/>
        <a:p>
          <a:r>
            <a: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依赖倒转原则</a:t>
          </a:r>
          <a:endParaRPr lang="zh-CN" altLang="en-US" sz="2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05B05EA-D365-4B7D-BAD5-BC4CDDFC1802}" cxnId="{5DF04729-95D1-4930-BCE2-CDA9B9B84469}" type="parTrans">
      <dgm:prSet/>
      <dgm:spPr/>
      <dgm:t>
        <a:bodyPr/>
        <a:lstStyle/>
        <a:p>
          <a:endParaRPr lang="zh-CN" altLang="en-US" sz="2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222FB24-DEC6-4BD2-BA19-C2418D3A51D7}" cxnId="{5DF04729-95D1-4930-BCE2-CDA9B9B84469}" type="sibTrans">
      <dgm:prSet/>
      <dgm:spPr/>
      <dgm:t>
        <a:bodyPr/>
        <a:lstStyle/>
        <a:p>
          <a:endParaRPr lang="zh-CN" altLang="en-US" sz="2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2652EE3-4E52-42D3-862E-D857B82CB92B}">
      <dgm:prSet phldrT="[文本]" custT="1"/>
      <dgm:spPr/>
      <dgm:t>
        <a:bodyPr/>
        <a:lstStyle/>
        <a:p>
          <a:r>
            <a: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单一职责原则</a:t>
          </a:r>
          <a:endParaRPr lang="zh-CN" altLang="en-US" sz="2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F3BD270-40BC-4895-895B-12F1F52CEE4D}" cxnId="{84BF949A-C7F4-4965-A56A-B9E56E0BADCC}" type="parTrans">
      <dgm:prSet/>
      <dgm:spPr/>
      <dgm:t>
        <a:bodyPr/>
        <a:lstStyle/>
        <a:p>
          <a:endParaRPr lang="zh-CN" altLang="en-US" sz="2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5AD9BCA-9B68-49D9-9225-BD318724D415}" cxnId="{84BF949A-C7F4-4965-A56A-B9E56E0BADCC}" type="sibTrans">
      <dgm:prSet/>
      <dgm:spPr/>
      <dgm:t>
        <a:bodyPr/>
        <a:lstStyle/>
        <a:p>
          <a:endParaRPr lang="zh-CN" altLang="en-US" sz="2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9242075-57FD-4C20-B64C-89FB6F06D3F7}">
      <dgm:prSet custT="1"/>
      <dgm:spPr/>
      <dgm:t>
        <a:bodyPr/>
        <a:lstStyle/>
        <a:p>
          <a:r>
            <a: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迪米特法则</a:t>
          </a:r>
          <a:endParaRPr lang="zh-CN" altLang="en-US" sz="2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787B214-4B69-4668-A869-1E7F73ED6D8F}" cxnId="{919A077B-6E18-4C8D-B45B-44D96E28FC59}" type="parTrans">
      <dgm:prSet/>
      <dgm:spPr/>
      <dgm:t>
        <a:bodyPr/>
        <a:lstStyle/>
        <a:p>
          <a:endParaRPr lang="zh-CN" altLang="en-US" sz="2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6A6EE67-B2F6-48B7-8CFC-E651B63580FB}" cxnId="{919A077B-6E18-4C8D-B45B-44D96E28FC59}" type="sibTrans">
      <dgm:prSet/>
      <dgm:spPr/>
      <dgm:t>
        <a:bodyPr/>
        <a:lstStyle/>
        <a:p>
          <a:endParaRPr lang="zh-CN" altLang="en-US" sz="28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8421998-E888-4FE6-94E3-820B8ED4DDDC}" type="pres">
      <dgm:prSet presAssocID="{D5F61F52-B6E5-4F02-8ED5-68628D9B9FC2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27BAE70-A665-4C54-9495-61753440D952}" type="pres">
      <dgm:prSet presAssocID="{E1A65836-DBAD-4EA0-9CA7-F0010D6E746F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3FD5863-2524-46DC-B0AC-30854D560C3F}" type="pres">
      <dgm:prSet presAssocID="{E1A65836-DBAD-4EA0-9CA7-F0010D6E746F}" presName="spNode" presStyleCnt="0"/>
      <dgm:spPr/>
    </dgm:pt>
    <dgm:pt modelId="{9ED3C8AC-F5F4-4BCC-9BF1-CD70393D6E40}" type="pres">
      <dgm:prSet presAssocID="{1D4F5839-FF56-467E-8598-A03B74FF39C3}" presName="sibTrans" presStyleLbl="sibTrans1D1" presStyleIdx="0" presStyleCnt="6"/>
      <dgm:spPr/>
      <dgm:t>
        <a:bodyPr/>
        <a:lstStyle/>
        <a:p>
          <a:endParaRPr lang="zh-CN" altLang="en-US"/>
        </a:p>
      </dgm:t>
    </dgm:pt>
    <dgm:pt modelId="{F48A5C60-697A-4900-9905-42E259F6757E}" type="pres">
      <dgm:prSet presAssocID="{211B33AF-EAFE-40BA-82C1-28E261C772DF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E1062E2-4E03-4FCD-A14A-46136D4D716B}" type="pres">
      <dgm:prSet presAssocID="{211B33AF-EAFE-40BA-82C1-28E261C772DF}" presName="spNode" presStyleCnt="0"/>
      <dgm:spPr/>
    </dgm:pt>
    <dgm:pt modelId="{2C165821-A917-4CBF-8F7F-AAF87A032FD5}" type="pres">
      <dgm:prSet presAssocID="{815F85F1-2FC7-4935-9CA0-27DD9355C745}" presName="sibTrans" presStyleLbl="sibTrans1D1" presStyleIdx="1" presStyleCnt="6"/>
      <dgm:spPr/>
      <dgm:t>
        <a:bodyPr/>
        <a:lstStyle/>
        <a:p>
          <a:endParaRPr lang="zh-CN" altLang="en-US"/>
        </a:p>
      </dgm:t>
    </dgm:pt>
    <dgm:pt modelId="{1BCF0E40-45D6-48FC-BF8D-9E8EA15D58BD}" type="pres">
      <dgm:prSet presAssocID="{A9242075-57FD-4C20-B64C-89FB6F06D3F7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19B007D-F790-49A7-8E41-517158A4959F}" type="pres">
      <dgm:prSet presAssocID="{A9242075-57FD-4C20-B64C-89FB6F06D3F7}" presName="spNode" presStyleCnt="0"/>
      <dgm:spPr/>
    </dgm:pt>
    <dgm:pt modelId="{B62AB191-BDDD-47A9-8806-12D0AFDF24DA}" type="pres">
      <dgm:prSet presAssocID="{66A6EE67-B2F6-48B7-8CFC-E651B63580FB}" presName="sibTrans" presStyleLbl="sibTrans1D1" presStyleIdx="2" presStyleCnt="6"/>
      <dgm:spPr/>
      <dgm:t>
        <a:bodyPr/>
        <a:lstStyle/>
        <a:p>
          <a:endParaRPr lang="zh-CN" altLang="en-US"/>
        </a:p>
      </dgm:t>
    </dgm:pt>
    <dgm:pt modelId="{60F7BC34-9400-4EC6-BF10-0A0C038B06F0}" type="pres">
      <dgm:prSet presAssocID="{2E1600AF-FB29-4EA4-85C9-2676154B50FD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12D3D39-8A99-4B10-8B87-DA393A83E6DD}" type="pres">
      <dgm:prSet presAssocID="{2E1600AF-FB29-4EA4-85C9-2676154B50FD}" presName="spNode" presStyleCnt="0"/>
      <dgm:spPr/>
    </dgm:pt>
    <dgm:pt modelId="{6F555F9F-40DC-4C58-A7FB-E2F4BA0E6DFD}" type="pres">
      <dgm:prSet presAssocID="{014F4B78-A097-4B3A-B4BB-A3AC02FEE394}" presName="sibTrans" presStyleLbl="sibTrans1D1" presStyleIdx="3" presStyleCnt="6"/>
      <dgm:spPr/>
      <dgm:t>
        <a:bodyPr/>
        <a:lstStyle/>
        <a:p>
          <a:endParaRPr lang="zh-CN" altLang="en-US"/>
        </a:p>
      </dgm:t>
    </dgm:pt>
    <dgm:pt modelId="{B870B710-D4D4-4C1D-BAF2-A39B29309B75}" type="pres">
      <dgm:prSet presAssocID="{2508FAD7-9168-4339-9E49-92E04217C94B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487EA96-D520-4127-97B8-B725CDFAC0D2}" type="pres">
      <dgm:prSet presAssocID="{2508FAD7-9168-4339-9E49-92E04217C94B}" presName="spNode" presStyleCnt="0"/>
      <dgm:spPr/>
    </dgm:pt>
    <dgm:pt modelId="{3452F188-194E-4E67-BCD3-F054FE3ACDF6}" type="pres">
      <dgm:prSet presAssocID="{7222FB24-DEC6-4BD2-BA19-C2418D3A51D7}" presName="sibTrans" presStyleLbl="sibTrans1D1" presStyleIdx="4" presStyleCnt="6"/>
      <dgm:spPr/>
      <dgm:t>
        <a:bodyPr/>
        <a:lstStyle/>
        <a:p>
          <a:endParaRPr lang="zh-CN" altLang="en-US"/>
        </a:p>
      </dgm:t>
    </dgm:pt>
    <dgm:pt modelId="{14729450-96EC-4F19-8935-6F7EFFD7FFD2}" type="pres">
      <dgm:prSet presAssocID="{32652EE3-4E52-42D3-862E-D857B82CB92B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BCFCB68-DFB4-4881-8DA6-4A274FE49E8F}" type="pres">
      <dgm:prSet presAssocID="{32652EE3-4E52-42D3-862E-D857B82CB92B}" presName="spNode" presStyleCnt="0"/>
      <dgm:spPr/>
    </dgm:pt>
    <dgm:pt modelId="{6C98FDA8-053F-4C90-81B0-9831E648E05D}" type="pres">
      <dgm:prSet presAssocID="{A5AD9BCA-9B68-49D9-9225-BD318724D415}" presName="sibTrans" presStyleLbl="sibTrans1D1" presStyleIdx="5" presStyleCnt="6"/>
      <dgm:spPr/>
      <dgm:t>
        <a:bodyPr/>
        <a:lstStyle/>
        <a:p>
          <a:endParaRPr lang="zh-CN" altLang="en-US"/>
        </a:p>
      </dgm:t>
    </dgm:pt>
  </dgm:ptLst>
  <dgm:cxnLst>
    <dgm:cxn modelId="{4DF24200-90B5-4122-8F34-9E7A00D223C8}" type="presOf" srcId="{1D4F5839-FF56-467E-8598-A03B74FF39C3}" destId="{9ED3C8AC-F5F4-4BCC-9BF1-CD70393D6E40}" srcOrd="0" destOrd="0" presId="urn:microsoft.com/office/officeart/2005/8/layout/cycle6"/>
    <dgm:cxn modelId="{BFC3D819-06F0-4FDC-BAFD-C5F02679E15B}" srcId="{D5F61F52-B6E5-4F02-8ED5-68628D9B9FC2}" destId="{211B33AF-EAFE-40BA-82C1-28E261C772DF}" srcOrd="1" destOrd="0" parTransId="{2F9C38AF-DDD5-4307-BCDD-B20AE4988CFD}" sibTransId="{815F85F1-2FC7-4935-9CA0-27DD9355C745}"/>
    <dgm:cxn modelId="{5CBE2A18-F727-45C9-9843-C2AE8C6ECABE}" type="presOf" srcId="{D5F61F52-B6E5-4F02-8ED5-68628D9B9FC2}" destId="{18421998-E888-4FE6-94E3-820B8ED4DDDC}" srcOrd="0" destOrd="0" presId="urn:microsoft.com/office/officeart/2005/8/layout/cycle6"/>
    <dgm:cxn modelId="{371F9E27-5F99-4DAC-8AD5-964EA6FA65E2}" type="presOf" srcId="{7222FB24-DEC6-4BD2-BA19-C2418D3A51D7}" destId="{3452F188-194E-4E67-BCD3-F054FE3ACDF6}" srcOrd="0" destOrd="0" presId="urn:microsoft.com/office/officeart/2005/8/layout/cycle6"/>
    <dgm:cxn modelId="{1793CEC0-D5A1-496C-9A13-503D755619FD}" type="presOf" srcId="{32652EE3-4E52-42D3-862E-D857B82CB92B}" destId="{14729450-96EC-4F19-8935-6F7EFFD7FFD2}" srcOrd="0" destOrd="0" presId="urn:microsoft.com/office/officeart/2005/8/layout/cycle6"/>
    <dgm:cxn modelId="{DD042A56-C39F-417D-AF6A-AEE60F6D9371}" srcId="{D5F61F52-B6E5-4F02-8ED5-68628D9B9FC2}" destId="{2E1600AF-FB29-4EA4-85C9-2676154B50FD}" srcOrd="3" destOrd="0" parTransId="{E46CE89E-03E2-4C65-A6B1-5EC7907F8DF2}" sibTransId="{014F4B78-A097-4B3A-B4BB-A3AC02FEE394}"/>
    <dgm:cxn modelId="{4BB68DD7-0C73-489D-A4BE-0315935988FC}" type="presOf" srcId="{A9242075-57FD-4C20-B64C-89FB6F06D3F7}" destId="{1BCF0E40-45D6-48FC-BF8D-9E8EA15D58BD}" srcOrd="0" destOrd="0" presId="urn:microsoft.com/office/officeart/2005/8/layout/cycle6"/>
    <dgm:cxn modelId="{898026CF-3CE7-44BC-BE82-680C8685ECFB}" type="presOf" srcId="{2508FAD7-9168-4339-9E49-92E04217C94B}" destId="{B870B710-D4D4-4C1D-BAF2-A39B29309B75}" srcOrd="0" destOrd="0" presId="urn:microsoft.com/office/officeart/2005/8/layout/cycle6"/>
    <dgm:cxn modelId="{A1CA877E-8843-4180-9884-AF6CC6267891}" type="presOf" srcId="{2E1600AF-FB29-4EA4-85C9-2676154B50FD}" destId="{60F7BC34-9400-4EC6-BF10-0A0C038B06F0}" srcOrd="0" destOrd="0" presId="urn:microsoft.com/office/officeart/2005/8/layout/cycle6"/>
    <dgm:cxn modelId="{71B34606-B5A7-4107-B54F-2C09228D19B5}" type="presOf" srcId="{211B33AF-EAFE-40BA-82C1-28E261C772DF}" destId="{F48A5C60-697A-4900-9905-42E259F6757E}" srcOrd="0" destOrd="0" presId="urn:microsoft.com/office/officeart/2005/8/layout/cycle6"/>
    <dgm:cxn modelId="{1DA801E7-B36D-40B5-907B-9732467D0E3C}" type="presOf" srcId="{66A6EE67-B2F6-48B7-8CFC-E651B63580FB}" destId="{B62AB191-BDDD-47A9-8806-12D0AFDF24DA}" srcOrd="0" destOrd="0" presId="urn:microsoft.com/office/officeart/2005/8/layout/cycle6"/>
    <dgm:cxn modelId="{3E401A67-F343-44AD-BE28-A17980AE981D}" type="presOf" srcId="{014F4B78-A097-4B3A-B4BB-A3AC02FEE394}" destId="{6F555F9F-40DC-4C58-A7FB-E2F4BA0E6DFD}" srcOrd="0" destOrd="0" presId="urn:microsoft.com/office/officeart/2005/8/layout/cycle6"/>
    <dgm:cxn modelId="{A7A34CAF-E470-4240-8A52-C65EAC35B2C4}" srcId="{D5F61F52-B6E5-4F02-8ED5-68628D9B9FC2}" destId="{E1A65836-DBAD-4EA0-9CA7-F0010D6E746F}" srcOrd="0" destOrd="0" parTransId="{C4896955-E5F6-4C89-A278-0AFAD53021F2}" sibTransId="{1D4F5839-FF56-467E-8598-A03B74FF39C3}"/>
    <dgm:cxn modelId="{70F2E822-B627-45C2-B653-98A417A2F430}" type="presOf" srcId="{A5AD9BCA-9B68-49D9-9225-BD318724D415}" destId="{6C98FDA8-053F-4C90-81B0-9831E648E05D}" srcOrd="0" destOrd="0" presId="urn:microsoft.com/office/officeart/2005/8/layout/cycle6"/>
    <dgm:cxn modelId="{5DF04729-95D1-4930-BCE2-CDA9B9B84469}" srcId="{D5F61F52-B6E5-4F02-8ED5-68628D9B9FC2}" destId="{2508FAD7-9168-4339-9E49-92E04217C94B}" srcOrd="4" destOrd="0" parTransId="{505B05EA-D365-4B7D-BAD5-BC4CDDFC1802}" sibTransId="{7222FB24-DEC6-4BD2-BA19-C2418D3A51D7}"/>
    <dgm:cxn modelId="{2C5A7F93-FB78-4E15-881B-2E2B3BF99E61}" type="presOf" srcId="{E1A65836-DBAD-4EA0-9CA7-F0010D6E746F}" destId="{A27BAE70-A665-4C54-9495-61753440D952}" srcOrd="0" destOrd="0" presId="urn:microsoft.com/office/officeart/2005/8/layout/cycle6"/>
    <dgm:cxn modelId="{5C994DB7-5CAB-4AD3-8D12-D400CDD4EF22}" type="presOf" srcId="{815F85F1-2FC7-4935-9CA0-27DD9355C745}" destId="{2C165821-A917-4CBF-8F7F-AAF87A032FD5}" srcOrd="0" destOrd="0" presId="urn:microsoft.com/office/officeart/2005/8/layout/cycle6"/>
    <dgm:cxn modelId="{919A077B-6E18-4C8D-B45B-44D96E28FC59}" srcId="{D5F61F52-B6E5-4F02-8ED5-68628D9B9FC2}" destId="{A9242075-57FD-4C20-B64C-89FB6F06D3F7}" srcOrd="2" destOrd="0" parTransId="{E787B214-4B69-4668-A869-1E7F73ED6D8F}" sibTransId="{66A6EE67-B2F6-48B7-8CFC-E651B63580FB}"/>
    <dgm:cxn modelId="{84BF949A-C7F4-4965-A56A-B9E56E0BADCC}" srcId="{D5F61F52-B6E5-4F02-8ED5-68628D9B9FC2}" destId="{32652EE3-4E52-42D3-862E-D857B82CB92B}" srcOrd="5" destOrd="0" parTransId="{3F3BD270-40BC-4895-895B-12F1F52CEE4D}" sibTransId="{A5AD9BCA-9B68-49D9-9225-BD318724D415}"/>
    <dgm:cxn modelId="{428B8D79-8FC0-4400-80C1-E15A12D6E101}" type="presParOf" srcId="{18421998-E888-4FE6-94E3-820B8ED4DDDC}" destId="{A27BAE70-A665-4C54-9495-61753440D952}" srcOrd="0" destOrd="0" presId="urn:microsoft.com/office/officeart/2005/8/layout/cycle6"/>
    <dgm:cxn modelId="{31CDB45D-1FF9-44F9-B9F9-90D13E3A09AF}" type="presParOf" srcId="{18421998-E888-4FE6-94E3-820B8ED4DDDC}" destId="{33FD5863-2524-46DC-B0AC-30854D560C3F}" srcOrd="1" destOrd="0" presId="urn:microsoft.com/office/officeart/2005/8/layout/cycle6"/>
    <dgm:cxn modelId="{966A8243-781F-48BD-8D3B-81B8D6A7DB87}" type="presParOf" srcId="{18421998-E888-4FE6-94E3-820B8ED4DDDC}" destId="{9ED3C8AC-F5F4-4BCC-9BF1-CD70393D6E40}" srcOrd="2" destOrd="0" presId="urn:microsoft.com/office/officeart/2005/8/layout/cycle6"/>
    <dgm:cxn modelId="{EDA98622-EF05-433C-915B-9BF03CE2BB69}" type="presParOf" srcId="{18421998-E888-4FE6-94E3-820B8ED4DDDC}" destId="{F48A5C60-697A-4900-9905-42E259F6757E}" srcOrd="3" destOrd="0" presId="urn:microsoft.com/office/officeart/2005/8/layout/cycle6"/>
    <dgm:cxn modelId="{AC3672BA-2268-42D0-B229-E009EBF0CBDD}" type="presParOf" srcId="{18421998-E888-4FE6-94E3-820B8ED4DDDC}" destId="{0E1062E2-4E03-4FCD-A14A-46136D4D716B}" srcOrd="4" destOrd="0" presId="urn:microsoft.com/office/officeart/2005/8/layout/cycle6"/>
    <dgm:cxn modelId="{F61C4673-8FD7-4178-A04E-A19D1332A371}" type="presParOf" srcId="{18421998-E888-4FE6-94E3-820B8ED4DDDC}" destId="{2C165821-A917-4CBF-8F7F-AAF87A032FD5}" srcOrd="5" destOrd="0" presId="urn:microsoft.com/office/officeart/2005/8/layout/cycle6"/>
    <dgm:cxn modelId="{8B938144-6239-4862-B4B9-44B944BF77CE}" type="presParOf" srcId="{18421998-E888-4FE6-94E3-820B8ED4DDDC}" destId="{1BCF0E40-45D6-48FC-BF8D-9E8EA15D58BD}" srcOrd="6" destOrd="0" presId="urn:microsoft.com/office/officeart/2005/8/layout/cycle6"/>
    <dgm:cxn modelId="{1ADC8153-C087-4255-8760-D60546537038}" type="presParOf" srcId="{18421998-E888-4FE6-94E3-820B8ED4DDDC}" destId="{219B007D-F790-49A7-8E41-517158A4959F}" srcOrd="7" destOrd="0" presId="urn:microsoft.com/office/officeart/2005/8/layout/cycle6"/>
    <dgm:cxn modelId="{C07280C6-C2D3-4297-B089-56BEEDE1D9AA}" type="presParOf" srcId="{18421998-E888-4FE6-94E3-820B8ED4DDDC}" destId="{B62AB191-BDDD-47A9-8806-12D0AFDF24DA}" srcOrd="8" destOrd="0" presId="urn:microsoft.com/office/officeart/2005/8/layout/cycle6"/>
    <dgm:cxn modelId="{EAD57F78-0556-4189-B1E8-4907BC026980}" type="presParOf" srcId="{18421998-E888-4FE6-94E3-820B8ED4DDDC}" destId="{60F7BC34-9400-4EC6-BF10-0A0C038B06F0}" srcOrd="9" destOrd="0" presId="urn:microsoft.com/office/officeart/2005/8/layout/cycle6"/>
    <dgm:cxn modelId="{D4AFF504-9BBF-4B66-BF2C-DFBEE48FFD64}" type="presParOf" srcId="{18421998-E888-4FE6-94E3-820B8ED4DDDC}" destId="{712D3D39-8A99-4B10-8B87-DA393A83E6DD}" srcOrd="10" destOrd="0" presId="urn:microsoft.com/office/officeart/2005/8/layout/cycle6"/>
    <dgm:cxn modelId="{07B81D8B-818D-43B7-A41F-354D75777275}" type="presParOf" srcId="{18421998-E888-4FE6-94E3-820B8ED4DDDC}" destId="{6F555F9F-40DC-4C58-A7FB-E2F4BA0E6DFD}" srcOrd="11" destOrd="0" presId="urn:microsoft.com/office/officeart/2005/8/layout/cycle6"/>
    <dgm:cxn modelId="{8C38AEB7-95E1-4874-8662-DE79A59FBC78}" type="presParOf" srcId="{18421998-E888-4FE6-94E3-820B8ED4DDDC}" destId="{B870B710-D4D4-4C1D-BAF2-A39B29309B75}" srcOrd="12" destOrd="0" presId="urn:microsoft.com/office/officeart/2005/8/layout/cycle6"/>
    <dgm:cxn modelId="{DC12C1AB-956D-4650-B976-D9C3F80B1C59}" type="presParOf" srcId="{18421998-E888-4FE6-94E3-820B8ED4DDDC}" destId="{D487EA96-D520-4127-97B8-B725CDFAC0D2}" srcOrd="13" destOrd="0" presId="urn:microsoft.com/office/officeart/2005/8/layout/cycle6"/>
    <dgm:cxn modelId="{98196101-3D1F-4070-BF12-341D17EAB419}" type="presParOf" srcId="{18421998-E888-4FE6-94E3-820B8ED4DDDC}" destId="{3452F188-194E-4E67-BCD3-F054FE3ACDF6}" srcOrd="14" destOrd="0" presId="urn:microsoft.com/office/officeart/2005/8/layout/cycle6"/>
    <dgm:cxn modelId="{C8B58DB2-1F2B-4503-A3BB-A782F10A9644}" type="presParOf" srcId="{18421998-E888-4FE6-94E3-820B8ED4DDDC}" destId="{14729450-96EC-4F19-8935-6F7EFFD7FFD2}" srcOrd="15" destOrd="0" presId="urn:microsoft.com/office/officeart/2005/8/layout/cycle6"/>
    <dgm:cxn modelId="{EDE3523C-72E9-4D24-9AD2-695B5204B18E}" type="presParOf" srcId="{18421998-E888-4FE6-94E3-820B8ED4DDDC}" destId="{EBCFCB68-DFB4-4881-8DA6-4A274FE49E8F}" srcOrd="16" destOrd="0" presId="urn:microsoft.com/office/officeart/2005/8/layout/cycle6"/>
    <dgm:cxn modelId="{F0263AE5-31AA-4E7E-9EC9-5ED6EA537354}" type="presParOf" srcId="{18421998-E888-4FE6-94E3-820B8ED4DDDC}" destId="{6C98FDA8-053F-4C90-81B0-9831E648E05D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32233" cy="5421489"/>
        <a:chOff x="0" y="0"/>
        <a:chExt cx="8132233" cy="5421489"/>
      </a:xfrm>
    </dsp:grpSpPr>
    <dsp:sp modelId="{A27BAE70-A665-4C54-9495-61753440D952}">
      <dsp:nvSpPr>
        <dsp:cNvPr id="3" name="圆角矩形 2"/>
        <dsp:cNvSpPr/>
      </dsp:nvSpPr>
      <dsp:spPr bwMode="white">
        <a:xfrm>
          <a:off x="3335370" y="0"/>
          <a:ext cx="1461493" cy="94997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6680" tIns="106680" rIns="106680" bIns="1066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合成复用原则</a:t>
          </a:r>
          <a:endParaRPr lang="zh-CN" altLang="en-US" sz="2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335370" y="0"/>
        <a:ext cx="1461493" cy="949970"/>
      </dsp:txXfrm>
    </dsp:sp>
    <dsp:sp modelId="{9ED3C8AC-F5F4-4BCC-9BF1-CD70393D6E40}">
      <dsp:nvSpPr>
        <dsp:cNvPr id="4" name="弧形 3"/>
        <dsp:cNvSpPr/>
      </dsp:nvSpPr>
      <dsp:spPr bwMode="white">
        <a:xfrm>
          <a:off x="1830357" y="474985"/>
          <a:ext cx="4471519" cy="4471519"/>
        </a:xfrm>
        <a:prstGeom prst="arc">
          <a:avLst>
            <a:gd name="adj1" fmla="val 17359935"/>
            <a:gd name="adj2" fmla="val 18858634"/>
          </a:avLst>
        </a:prstGeom>
      </dsp:spPr>
      <dsp:style>
        <a:lnRef idx="1">
          <a:schemeClr val="accent1"/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830357" y="474985"/>
        <a:ext cx="4471519" cy="4471519"/>
      </dsp:txXfrm>
    </dsp:sp>
    <dsp:sp modelId="{F48A5C60-697A-4900-9905-42E259F6757E}">
      <dsp:nvSpPr>
        <dsp:cNvPr id="5" name="圆角矩形 4"/>
        <dsp:cNvSpPr/>
      </dsp:nvSpPr>
      <dsp:spPr bwMode="white">
        <a:xfrm>
          <a:off x="5271594" y="1117880"/>
          <a:ext cx="1461493" cy="94997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6680" tIns="106680" rIns="106680" bIns="1066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里氏替换原则</a:t>
          </a:r>
          <a:endParaRPr lang="zh-CN" altLang="en-US" sz="2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271594" y="1117880"/>
        <a:ext cx="1461493" cy="949970"/>
      </dsp:txXfrm>
    </dsp:sp>
    <dsp:sp modelId="{2C165821-A917-4CBF-8F7F-AAF87A032FD5}">
      <dsp:nvSpPr>
        <dsp:cNvPr id="6" name="弧形 5"/>
        <dsp:cNvSpPr/>
      </dsp:nvSpPr>
      <dsp:spPr bwMode="white">
        <a:xfrm>
          <a:off x="1830357" y="474985"/>
          <a:ext cx="4471519" cy="4471519"/>
        </a:xfrm>
        <a:prstGeom prst="arc">
          <a:avLst>
            <a:gd name="adj1" fmla="val 20617370"/>
            <a:gd name="adj2" fmla="val 982629"/>
          </a:avLst>
        </a:prstGeom>
      </dsp:spPr>
      <dsp:style>
        <a:lnRef idx="1">
          <a:schemeClr val="accent1"/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830357" y="474985"/>
        <a:ext cx="4471519" cy="4471519"/>
      </dsp:txXfrm>
    </dsp:sp>
    <dsp:sp modelId="{1BCF0E40-45D6-48FC-BF8D-9E8EA15D58BD}">
      <dsp:nvSpPr>
        <dsp:cNvPr id="7" name="圆角矩形 6"/>
        <dsp:cNvSpPr/>
      </dsp:nvSpPr>
      <dsp:spPr bwMode="white">
        <a:xfrm>
          <a:off x="5271594" y="3353639"/>
          <a:ext cx="1461493" cy="94997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6680" tIns="106680" rIns="106680" bIns="1066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迪米特法则</a:t>
          </a:r>
          <a:endParaRPr lang="zh-CN" altLang="en-US" sz="2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271594" y="3353639"/>
        <a:ext cx="1461493" cy="949970"/>
      </dsp:txXfrm>
    </dsp:sp>
    <dsp:sp modelId="{B62AB191-BDDD-47A9-8806-12D0AFDF24DA}">
      <dsp:nvSpPr>
        <dsp:cNvPr id="8" name="弧形 7"/>
        <dsp:cNvSpPr/>
      </dsp:nvSpPr>
      <dsp:spPr bwMode="white">
        <a:xfrm>
          <a:off x="1830357" y="474985"/>
          <a:ext cx="4471519" cy="4471519"/>
        </a:xfrm>
        <a:prstGeom prst="arc">
          <a:avLst>
            <a:gd name="adj1" fmla="val 2741365"/>
            <a:gd name="adj2" fmla="val 4240064"/>
          </a:avLst>
        </a:prstGeom>
      </dsp:spPr>
      <dsp:style>
        <a:lnRef idx="1">
          <a:schemeClr val="accent1"/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830357" y="474985"/>
        <a:ext cx="4471519" cy="4471519"/>
      </dsp:txXfrm>
    </dsp:sp>
    <dsp:sp modelId="{60F7BC34-9400-4EC6-BF10-0A0C038B06F0}">
      <dsp:nvSpPr>
        <dsp:cNvPr id="9" name="圆角矩形 8"/>
        <dsp:cNvSpPr/>
      </dsp:nvSpPr>
      <dsp:spPr bwMode="white">
        <a:xfrm>
          <a:off x="3335370" y="4471519"/>
          <a:ext cx="1461493" cy="94997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6680" tIns="106680" rIns="106680" bIns="1066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接口隔离原则</a:t>
          </a:r>
          <a:endParaRPr lang="zh-CN" altLang="en-US" sz="2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335370" y="4471519"/>
        <a:ext cx="1461493" cy="949970"/>
      </dsp:txXfrm>
    </dsp:sp>
    <dsp:sp modelId="{6F555F9F-40DC-4C58-A7FB-E2F4BA0E6DFD}">
      <dsp:nvSpPr>
        <dsp:cNvPr id="10" name="弧形 9"/>
        <dsp:cNvSpPr/>
      </dsp:nvSpPr>
      <dsp:spPr bwMode="white">
        <a:xfrm>
          <a:off x="1830357" y="474985"/>
          <a:ext cx="4471519" cy="4471519"/>
        </a:xfrm>
        <a:prstGeom prst="arc">
          <a:avLst>
            <a:gd name="adj1" fmla="val 6559935"/>
            <a:gd name="adj2" fmla="val 8058634"/>
          </a:avLst>
        </a:prstGeom>
      </dsp:spPr>
      <dsp:style>
        <a:lnRef idx="1">
          <a:schemeClr val="accent1"/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830357" y="474985"/>
        <a:ext cx="4471519" cy="4471519"/>
      </dsp:txXfrm>
    </dsp:sp>
    <dsp:sp modelId="{B870B710-D4D4-4C1D-BAF2-A39B29309B75}">
      <dsp:nvSpPr>
        <dsp:cNvPr id="11" name="圆角矩形 10"/>
        <dsp:cNvSpPr/>
      </dsp:nvSpPr>
      <dsp:spPr bwMode="white">
        <a:xfrm>
          <a:off x="1399146" y="3353639"/>
          <a:ext cx="1461493" cy="94997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6680" tIns="106680" rIns="106680" bIns="1066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依赖倒转原则</a:t>
          </a:r>
          <a:endParaRPr lang="zh-CN" altLang="en-US" sz="2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399146" y="3353639"/>
        <a:ext cx="1461493" cy="949970"/>
      </dsp:txXfrm>
    </dsp:sp>
    <dsp:sp modelId="{3452F188-194E-4E67-BCD3-F054FE3ACDF6}">
      <dsp:nvSpPr>
        <dsp:cNvPr id="12" name="弧形 11"/>
        <dsp:cNvSpPr/>
      </dsp:nvSpPr>
      <dsp:spPr bwMode="white">
        <a:xfrm>
          <a:off x="1830357" y="474985"/>
          <a:ext cx="4471519" cy="4471519"/>
        </a:xfrm>
        <a:prstGeom prst="arc">
          <a:avLst>
            <a:gd name="adj1" fmla="val 9817370"/>
            <a:gd name="adj2" fmla="val 11782629"/>
          </a:avLst>
        </a:prstGeom>
      </dsp:spPr>
      <dsp:style>
        <a:lnRef idx="1">
          <a:schemeClr val="accent1"/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830357" y="474985"/>
        <a:ext cx="4471519" cy="4471519"/>
      </dsp:txXfrm>
    </dsp:sp>
    <dsp:sp modelId="{14729450-96EC-4F19-8935-6F7EFFD7FFD2}">
      <dsp:nvSpPr>
        <dsp:cNvPr id="13" name="圆角矩形 12"/>
        <dsp:cNvSpPr/>
      </dsp:nvSpPr>
      <dsp:spPr bwMode="white">
        <a:xfrm>
          <a:off x="1399146" y="1117880"/>
          <a:ext cx="1461493" cy="94997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06680" tIns="106680" rIns="106680" bIns="1066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单一职责原则</a:t>
          </a:r>
          <a:endParaRPr lang="zh-CN" altLang="en-US" sz="2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1399146" y="1117880"/>
        <a:ext cx="1461493" cy="949970"/>
      </dsp:txXfrm>
    </dsp:sp>
    <dsp:sp modelId="{6C98FDA8-053F-4C90-81B0-9831E648E05D}">
      <dsp:nvSpPr>
        <dsp:cNvPr id="14" name="弧形 13"/>
        <dsp:cNvSpPr/>
      </dsp:nvSpPr>
      <dsp:spPr bwMode="white">
        <a:xfrm>
          <a:off x="1830357" y="474985"/>
          <a:ext cx="4471519" cy="4471519"/>
        </a:xfrm>
        <a:prstGeom prst="arc">
          <a:avLst>
            <a:gd name="adj1" fmla="val 13541365"/>
            <a:gd name="adj2" fmla="val 15040064"/>
          </a:avLst>
        </a:prstGeom>
      </dsp:spPr>
      <dsp:style>
        <a:lnRef idx="1">
          <a:schemeClr val="accent1"/>
        </a:lnRef>
        <a:fillRef idx="0">
          <a:schemeClr val="accent1"/>
        </a:fillRef>
        <a:effectRef idx="0">
          <a:scrgbClr r="0" g="0" b="0"/>
        </a:effectRef>
        <a:fontRef idx="minor"/>
      </dsp:style>
      <dsp:txXfrm>
        <a:off x="1830357" y="474985"/>
        <a:ext cx="4471519" cy="44715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endSty" val="noArr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2AE03-6EE8-41FD-8A37-86C6BC5E26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1562671" y="693490"/>
            <a:ext cx="10635679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11" y="0"/>
            <a:ext cx="1155204" cy="110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20" y="273112"/>
            <a:ext cx="4013173" cy="116232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216" y="273114"/>
            <a:ext cx="6819216" cy="5854469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920" y="1435434"/>
            <a:ext cx="4013173" cy="46921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962" y="4801712"/>
            <a:ext cx="7319010" cy="56687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962" y="612916"/>
            <a:ext cx="7319010" cy="411575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962" y="5368581"/>
            <a:ext cx="7319010" cy="8050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600572"/>
            <a:ext cx="10978515" cy="452701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804" y="206422"/>
            <a:ext cx="2744629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206422"/>
            <a:ext cx="8030580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Tm="0">
    <p:wipe/>
  </p:transition>
  <p:timing>
    <p:tnLst>
      <p:par>
        <p:cTn id="1" dur="indefinite" restart="never" nodeType="tmRoot"/>
      </p:par>
    </p:tnLst>
  </p:timing>
  <p:txStyles>
    <p:titleStyle>
      <a:lvl1pPr algn="ctr" defTabSz="1219835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image" Target="../media/image5.png"/></Relationships>
</file>

<file path=ppt/slides/_rels/slide5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-616" y="25536"/>
            <a:ext cx="12193647" cy="686064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78473" y="3392234"/>
            <a:ext cx="7292631" cy="954103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en-US" altLang="zh-CN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中的一些重要概念</a:t>
            </a:r>
            <a:endParaRPr lang="zh-CN" altLang="en-US" sz="5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5327222" y="4390123"/>
            <a:ext cx="602891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2825" y="455097"/>
            <a:ext cx="2152446" cy="86197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Eras Bold ITC" panose="020B0907030504020204" pitchFamily="34" charset="0"/>
              </a:rPr>
              <a:t>LOGO</a:t>
            </a:r>
            <a:endParaRPr lang="zh-CN" altLang="en-US" sz="48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26385" y="5197738"/>
            <a:ext cx="2353310" cy="61277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软件学院  </a:t>
            </a:r>
            <a:endParaRPr lang="en-US" altLang="zh-CN" sz="3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9" grpId="0"/>
      <p:bldP spid="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722911" cy="68595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圆角矩形 66"/>
          <p:cNvSpPr/>
          <p:nvPr/>
        </p:nvSpPr>
        <p:spPr>
          <a:xfrm>
            <a:off x="5791629" y="1573726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6673143" y="1573725"/>
            <a:ext cx="5114664" cy="1025213"/>
            <a:chOff x="6339097" y="1573726"/>
            <a:chExt cx="3744416" cy="1025213"/>
          </a:xfrm>
        </p:grpSpPr>
        <p:sp>
          <p:nvSpPr>
            <p:cNvPr id="69" name="圆角矩形 68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6723350" y="1614014"/>
              <a:ext cx="2653075" cy="984925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en-US" altLang="zh-CN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</a:t>
              </a:r>
              <a:r>
                <a:rPr lang="zh-CN" altLang="en-US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与面向对象设计</a:t>
              </a:r>
              <a:endParaRPr lang="zh-CN" altLang="zh-CN" sz="28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圆角矩形 70"/>
          <p:cNvSpPr/>
          <p:nvPr/>
        </p:nvSpPr>
        <p:spPr>
          <a:xfrm>
            <a:off x="5791629" y="2410178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6649261" y="2410178"/>
            <a:ext cx="5114664" cy="594326"/>
            <a:chOff x="6315199" y="2410178"/>
            <a:chExt cx="3744416" cy="594326"/>
          </a:xfrm>
        </p:grpSpPr>
        <p:sp>
          <p:nvSpPr>
            <p:cNvPr id="73" name="圆角矩形 72"/>
            <p:cNvSpPr/>
            <p:nvPr/>
          </p:nvSpPr>
          <p:spPr>
            <a:xfrm>
              <a:off x="6315199" y="2410178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6747248" y="2450466"/>
              <a:ext cx="265307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8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类</a:t>
              </a:r>
              <a:r>
                <a:rPr lang="zh-CN" altLang="en-US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之间的关系</a:t>
              </a:r>
              <a:endParaRPr lang="zh-CN" altLang="zh-CN" sz="28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圆角矩形 74"/>
          <p:cNvSpPr/>
          <p:nvPr/>
        </p:nvSpPr>
        <p:spPr>
          <a:xfrm>
            <a:off x="5791629" y="3296032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6673143" y="3296030"/>
            <a:ext cx="5114664" cy="594326"/>
            <a:chOff x="6339097" y="3296031"/>
            <a:chExt cx="3744416" cy="594326"/>
          </a:xfrm>
        </p:grpSpPr>
        <p:sp>
          <p:nvSpPr>
            <p:cNvPr id="77" name="圆角矩形 76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6723349" y="3336319"/>
              <a:ext cx="273630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en-US" altLang="zh-CN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</a:t>
              </a:r>
              <a:r>
                <a:rPr lang="zh-CN" altLang="en-US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抽象类</a:t>
              </a:r>
              <a:endParaRPr lang="zh-CN" altLang="zh-CN" sz="28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9" name="圆角矩形 78"/>
          <p:cNvSpPr/>
          <p:nvPr/>
        </p:nvSpPr>
        <p:spPr>
          <a:xfrm>
            <a:off x="5791629" y="4180903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6673143" y="4180901"/>
            <a:ext cx="5114664" cy="595017"/>
            <a:chOff x="6339097" y="4180903"/>
            <a:chExt cx="3744416" cy="595018"/>
          </a:xfrm>
        </p:grpSpPr>
        <p:sp>
          <p:nvSpPr>
            <p:cNvPr id="81" name="圆角矩形 80"/>
            <p:cNvSpPr/>
            <p:nvPr/>
          </p:nvSpPr>
          <p:spPr>
            <a:xfrm>
              <a:off x="6339097" y="418090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6723349" y="4221882"/>
              <a:ext cx="2736305" cy="554039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en-US" altLang="zh-CN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</a:t>
              </a:r>
              <a:r>
                <a:rPr lang="zh-CN" altLang="en-US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接口</a:t>
              </a:r>
              <a:endParaRPr lang="zh-CN" altLang="zh-CN" sz="28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3" name="圆角矩形 82"/>
          <p:cNvSpPr/>
          <p:nvPr/>
        </p:nvSpPr>
        <p:spPr>
          <a:xfrm>
            <a:off x="5791758" y="5057483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6673143" y="5057483"/>
            <a:ext cx="5114664" cy="1013420"/>
            <a:chOff x="6339097" y="5057483"/>
            <a:chExt cx="3744416" cy="1013420"/>
          </a:xfrm>
        </p:grpSpPr>
        <p:sp>
          <p:nvSpPr>
            <p:cNvPr id="85" name="圆角矩形 84"/>
            <p:cNvSpPr/>
            <p:nvPr/>
          </p:nvSpPr>
          <p:spPr>
            <a:xfrm>
              <a:off x="6339097" y="505748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6723478" y="5085978"/>
              <a:ext cx="2736174" cy="984925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面向对象设计原则</a:t>
              </a:r>
              <a:endParaRPr lang="zh-CN" altLang="zh-CN" sz="28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338535" y="2219568"/>
            <a:ext cx="2806485" cy="1354243"/>
          </a:xfrm>
          <a:prstGeom prst="rect">
            <a:avLst/>
          </a:prstGeom>
          <a:noFill/>
        </p:spPr>
        <p:txBody>
          <a:bodyPr wrap="square" lIns="121880" tIns="60938" rIns="121880" bIns="60938">
            <a:spAutoFit/>
          </a:bodyPr>
          <a:lstStyle/>
          <a:p>
            <a:pPr algn="r">
              <a:defRPr/>
            </a:pPr>
            <a:r>
              <a:rPr lang="zh-CN" altLang="en-US" sz="48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endParaRPr lang="en-US" altLang="zh-CN" sz="48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defRPr/>
            </a:pPr>
            <a:r>
              <a:rPr lang="en-US" altLang="zh-CN" sz="32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下箭头 87"/>
          <p:cNvSpPr/>
          <p:nvPr/>
        </p:nvSpPr>
        <p:spPr>
          <a:xfrm rot="16200000">
            <a:off x="4614050" y="1505925"/>
            <a:ext cx="576064" cy="679386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8" tIns="45695" rIns="91388" bIns="45695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7 0.04121 L -6.25E-7 -3.33333E-6 " pathEditMode="relative" rAng="0" ptsTypes="AA">
                                      <p:cBhvr>
                                        <p:cTn id="21" dur="7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6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7 0.0412 L -6.25E-7 2.96296E-6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6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7 0.0412 L -6.25E-7 -7.40741E-7 " pathEditMode="relative" rAng="0" ptsTypes="AA">
                                      <p:cBhvr>
                                        <p:cTn id="37" dur="7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6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3737 0.04121 L -6.25E-7 -4.44444E-6 " pathEditMode="relative" rAng="0" ptsTypes="AA">
                                      <p:cBhvr>
                                        <p:cTn id="45" dur="7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6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3737 0.04121 L -6.25E-7 -4.44444E-6 " pathEditMode="relative" rAng="0" ptsTypes="AA">
                                      <p:cBhvr>
                                        <p:cTn id="53" dur="7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750"/>
                            </p:stCondLst>
                            <p:childTnLst>
                              <p:par>
                                <p:cTn id="5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7" grpId="0" animBg="1"/>
      <p:bldP spid="67" grpId="1" animBg="1"/>
      <p:bldP spid="67" grpId="2" animBg="1"/>
      <p:bldP spid="71" grpId="0" animBg="1"/>
      <p:bldP spid="71" grpId="1" animBg="1"/>
      <p:bldP spid="75" grpId="0" animBg="1"/>
      <p:bldP spid="75" grpId="1" animBg="1"/>
      <p:bldP spid="79" grpId="0" animBg="1"/>
      <p:bldP spid="79" grpId="1" animBg="1"/>
      <p:bldP spid="83" grpId="0" animBg="1"/>
      <p:bldP spid="83" grpId="1" animBg="1"/>
      <p:bldP spid="87" grpId="0"/>
      <p:bldP spid="8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Java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与面向对象设计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482551" y="3024354"/>
            <a:ext cx="403294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Java Class</a:t>
            </a:r>
            <a:endParaRPr lang="en-US" altLang="zh-CN" sz="40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4947047" y="1557784"/>
            <a:ext cx="5832648" cy="4032250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类被定义为：  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150000"/>
              </a:lnSpc>
              <a:buFontTx/>
              <a:buAutoNum type="alphaLcParenR"/>
            </a:pPr>
            <a:r>
              <a:rPr lang="zh-CN" altLang="en-US" sz="28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封装数据结构</a:t>
            </a:r>
            <a:endParaRPr lang="zh-CN" altLang="en-US" sz="2800" dirty="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150000"/>
              </a:lnSpc>
              <a:buFontTx/>
              <a:buAutoNum type="alphaLcParenR"/>
            </a:pPr>
            <a:r>
              <a:rPr lang="zh-CN" altLang="en-US" sz="28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封装一些功能</a:t>
            </a:r>
            <a:endParaRPr lang="zh-CN" altLang="en-US" sz="2800" dirty="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类与对象之间的关系：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lvl="1" indent="-609600">
              <a:lnSpc>
                <a:spcPct val="150000"/>
              </a:lnSpc>
            </a:pPr>
            <a:r>
              <a:rPr lang="zh-CN" altLang="en-US" sz="28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类提供定义</a:t>
            </a:r>
            <a:endParaRPr lang="zh-CN" altLang="en-US" sz="2800" dirty="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lvl="1" indent="-609600">
              <a:lnSpc>
                <a:spcPct val="150000"/>
              </a:lnSpc>
            </a:pPr>
            <a:r>
              <a:rPr lang="zh-CN" altLang="en-US" sz="28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对象是类的实例</a:t>
            </a:r>
            <a:endParaRPr lang="zh-CN" altLang="en-US" sz="2800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Straight Connector 59"/>
          <p:cNvCxnSpPr/>
          <p:nvPr/>
        </p:nvCxnSpPr>
        <p:spPr>
          <a:xfrm flipV="1">
            <a:off x="4005832" y="1472308"/>
            <a:ext cx="0" cy="4483417"/>
          </a:xfrm>
          <a:prstGeom prst="line">
            <a:avLst/>
          </a:prstGeom>
          <a:ln w="3175">
            <a:solidFill>
              <a:srgbClr val="41445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Java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与面向对象设计  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1418655" y="837506"/>
            <a:ext cx="8784976" cy="5832475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public Class Person {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en-US" altLang="zh-CN" sz="2400" dirty="0" smtClean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private String name;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en-US" altLang="zh-CN" sz="2400" dirty="0" smtClean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private String sex;</a:t>
            </a:r>
            <a:endParaRPr lang="en-US" altLang="zh-CN" sz="2400" dirty="0" smtClean="0">
              <a:solidFill>
                <a:srgbClr val="0000CC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private int age;</a:t>
            </a:r>
            <a:endParaRPr lang="en-US" altLang="zh-CN" sz="2400" dirty="0" smtClean="0">
              <a:solidFill>
                <a:srgbClr val="0000CC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private String race;</a:t>
            </a:r>
            <a:endParaRPr lang="en-US" altLang="zh-CN" sz="2400" dirty="0" smtClean="0">
              <a:solidFill>
                <a:srgbClr val="0000CC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public Person( String name, String sex, int age, String race ) {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this.name = name;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this.sex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= sex;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this.age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= age;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this.race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= race;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}  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String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getName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 { 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return name;     }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String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getSex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 { 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return sex;     }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String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getAge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 { 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return age;     }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String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getRace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 { 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return race;     }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  <a:endParaRPr lang="en-US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 rot="10800000">
            <a:off x="5482590" y="1341755"/>
            <a:ext cx="3713480" cy="647700"/>
          </a:xfrm>
          <a:prstGeom prst="homePlate">
            <a:avLst>
              <a:gd name="adj" fmla="val 105904"/>
            </a:avLst>
          </a:prstGeom>
          <a:solidFill>
            <a:srgbClr val="FF99CC">
              <a:alpha val="58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r>
              <a:rPr lang="zh-CN" altLang="en-US" sz="2400" b="1"/>
              <a:t>数据封装</a:t>
            </a:r>
            <a:endParaRPr lang="zh-CN" altLang="en-US" sz="2400" b="1"/>
          </a:p>
        </p:txBody>
      </p:sp>
      <p:sp>
        <p:nvSpPr>
          <p:cNvPr id="8" name="AutoShape 10"/>
          <p:cNvSpPr>
            <a:spLocks noChangeArrowheads="1"/>
          </p:cNvSpPr>
          <p:nvPr/>
        </p:nvSpPr>
        <p:spPr bwMode="auto">
          <a:xfrm rot="10800000">
            <a:off x="5837555" y="4582160"/>
            <a:ext cx="3070860" cy="647700"/>
          </a:xfrm>
          <a:prstGeom prst="homePlate">
            <a:avLst>
              <a:gd name="adj" fmla="val 84819"/>
            </a:avLst>
          </a:prstGeom>
          <a:solidFill>
            <a:srgbClr val="00FFFF">
              <a:alpha val="63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r>
              <a:rPr lang="zh-CN" altLang="en-US" sz="2400" b="1"/>
              <a:t>功能封装</a:t>
            </a:r>
            <a:endParaRPr lang="zh-CN" altLang="en-US" sz="2400" b="1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Java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与面向对象设计  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181943" y="5876925"/>
            <a:ext cx="8229600" cy="504825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lang="en-US" altLang="zh-CN" sz="2800" b="1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Person </a:t>
            </a:r>
            <a:r>
              <a:rPr lang="zh-CN" altLang="en-US" sz="2800" b="1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类的一个实例</a:t>
            </a:r>
            <a:endParaRPr lang="zh-CN" altLang="en-US" sz="28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193055" y="981075"/>
            <a:ext cx="987467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产生对象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Person </a:t>
            </a:r>
            <a:r>
              <a:rPr lang="en-US" altLang="zh-CN" sz="32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yg</a:t>
            </a:r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= new Person(“Lisa”</a:t>
            </a:r>
            <a:r>
              <a:rPr lang="zh-CN" altLang="en-US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，“</a:t>
            </a:r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female”, 1, “Asian”);</a:t>
            </a:r>
            <a:endParaRPr lang="en-US" altLang="zh-CN" sz="32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1" name="Picture 4" descr="DSCF001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85" y="3063875"/>
            <a:ext cx="2111375" cy="2598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6304806" y="3341688"/>
            <a:ext cx="375480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 lovely young lady</a:t>
            </a:r>
            <a:endParaRPr lang="en-US" altLang="zh-CN" sz="28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Java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与面向对象设计  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68313" y="1056432"/>
            <a:ext cx="1088744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产生另外一个对象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Person </a:t>
            </a:r>
            <a:r>
              <a:rPr lang="en-US" altLang="zh-CN" sz="32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mb</a:t>
            </a:r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= new Person(“Mike”</a:t>
            </a:r>
            <a:r>
              <a:rPr lang="zh-CN" altLang="en-US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，“</a:t>
            </a:r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male”, 45, “Asian”);</a:t>
            </a:r>
            <a:endParaRPr lang="en-US" altLang="zh-CN" sz="32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8" name="Picture 4" descr="20056141441889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70" y="2931795"/>
            <a:ext cx="2651760" cy="2442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5055059" y="2493690"/>
            <a:ext cx="583264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An instance (object) of a class maybe very different from another instance (object)</a:t>
            </a:r>
            <a:r>
              <a:rPr lang="en-US" altLang="zh-CN" sz="2800" dirty="0">
                <a:solidFill>
                  <a:schemeClr val="accent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en-US" altLang="zh-CN" sz="2800" dirty="0">
              <a:solidFill>
                <a:schemeClr val="accent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" name="Rectangle 19"/>
          <p:cNvSpPr txBox="1">
            <a:spLocks noChangeArrowheads="1"/>
          </p:cNvSpPr>
          <p:nvPr/>
        </p:nvSpPr>
        <p:spPr>
          <a:xfrm>
            <a:off x="457200" y="6019800"/>
            <a:ext cx="8229600" cy="504825"/>
          </a:xfrm>
          <a:prstGeom prst="rect">
            <a:avLst/>
          </a:prstGeom>
          <a:noFill/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lang="en-US" altLang="zh-CN" sz="2800" b="1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Person </a:t>
            </a:r>
            <a:r>
              <a:rPr lang="zh-CN" altLang="en-US" sz="2800" b="1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类的另外一个实例</a:t>
            </a:r>
            <a:endParaRPr lang="zh-CN" altLang="en-US" sz="28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Java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与面向对象设计  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68313" y="1367691"/>
            <a:ext cx="10887446" cy="2959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两个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Java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类可能封装不同的数据结构，但是却可能提供相同的功能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见下例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5148263" y="3644900"/>
            <a:ext cx="360362" cy="1584325"/>
          </a:xfrm>
          <a:prstGeom prst="downArrow">
            <a:avLst>
              <a:gd name="adj1" fmla="val 50000"/>
              <a:gd name="adj2" fmla="val 109912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282751" y="124694"/>
            <a:ext cx="7128792" cy="496788"/>
          </a:xfrm>
          <a:prstGeom prst="rect">
            <a:avLst/>
          </a:prstGeom>
        </p:spPr>
        <p:txBody>
          <a:bodyPr/>
          <a:lstStyle>
            <a:lvl1pPr algn="ctr" defTabSz="1219835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WaitingQueue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的例子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使用数组实现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074750" y="1052895"/>
            <a:ext cx="5986463" cy="5688632"/>
          </a:xfrm>
          <a:prstGeom prst="rect">
            <a:avLst/>
          </a:prstGeom>
          <a:noFill/>
          <a:ln w="25400">
            <a:solidFill>
              <a:srgbClr val="0000FF"/>
            </a:solidFill>
            <a:miter lim="800000"/>
          </a:ln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public class </a:t>
            </a:r>
            <a:r>
              <a:rPr lang="en-US" altLang="zh-CN" sz="2400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WaitingQueue</a:t>
            </a:r>
            <a:r>
              <a:rPr lang="en-US" altLang="zh-CN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{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en-US" altLang="zh-CN" sz="2400" dirty="0" smtClean="0">
                <a:solidFill>
                  <a:srgbClr val="99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private String[ ] queue=new String[100];</a:t>
            </a:r>
            <a:endParaRPr lang="en-US" altLang="zh-CN" sz="2400" dirty="0" smtClean="0">
              <a:solidFill>
                <a:srgbClr val="99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solidFill>
                  <a:srgbClr val="99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private int length;</a:t>
            </a:r>
            <a:endParaRPr lang="en-US" altLang="zh-CN" sz="2400" dirty="0" smtClean="0">
              <a:solidFill>
                <a:srgbClr val="99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en-US" altLang="zh-CN" sz="24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public </a:t>
            </a:r>
            <a:r>
              <a:rPr lang="en-US" altLang="zh-CN" sz="2400" dirty="0" err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WaitingQueue</a:t>
            </a:r>
            <a:r>
              <a:rPr lang="en-US" altLang="zh-CN" sz="24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(){</a:t>
            </a:r>
            <a:endParaRPr lang="en-US" altLang="zh-CN" sz="2400" dirty="0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length=0;     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}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en-US" altLang="zh-CN" sz="24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void </a:t>
            </a:r>
            <a:r>
              <a:rPr lang="en-US" altLang="zh-CN" sz="2400" dirty="0" err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enQueue</a:t>
            </a:r>
            <a:r>
              <a:rPr lang="en-US" altLang="zh-CN" sz="24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(String name){</a:t>
            </a:r>
            <a:endParaRPr lang="en-US" altLang="zh-CN" sz="2400" dirty="0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queue[length]=name;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      length++;      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}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en-US" altLang="zh-CN" sz="24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String </a:t>
            </a:r>
            <a:r>
              <a:rPr lang="en-US" altLang="zh-CN" sz="2400" dirty="0" err="1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deQueue</a:t>
            </a:r>
            <a:r>
              <a:rPr lang="en-US" altLang="zh-CN" sz="2400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(){</a:t>
            </a:r>
            <a:endParaRPr lang="en-US" altLang="zh-CN" sz="2400" dirty="0" smtClean="0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String a=queue[0];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     for(int j=1;j&lt;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length;j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++)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	queue[j-1] = queue[j];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        length--;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        return a;      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}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  <a:endParaRPr lang="en-US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181943" y="117426"/>
            <a:ext cx="8229600" cy="490537"/>
          </a:xfrm>
          <a:prstGeom prst="rect">
            <a:avLst/>
          </a:prstGeom>
        </p:spPr>
        <p:txBody>
          <a:bodyPr/>
          <a:lstStyle>
            <a:lvl1pPr algn="ctr" defTabSz="1219835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测试类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10543" y="1197546"/>
            <a:ext cx="6635750" cy="4823073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public class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TryQueue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{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public static void main(String[]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args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 {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WaitingQueue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wq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= new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WaitingQueue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();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wq.enQueue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(“Johnson");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  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wq.enQueue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(“Peter");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wq.enQueue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(“Mike");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  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wq.enQueue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(“Bill");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	    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String a =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pq.deQueue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 );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4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System.out.println</a:t>
            </a: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(“a= "+a);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}</a:t>
            </a:r>
            <a:endParaRPr lang="en-US" altLang="zh-CN" sz="24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Tx/>
              <a:buNone/>
            </a:pPr>
            <a:r>
              <a:rPr lang="en-US" altLang="zh-CN" sz="24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  <a:endParaRPr lang="en-US" altLang="zh-CN" sz="24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6902897" y="3141861"/>
            <a:ext cx="1356518" cy="503238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 anchor="ctr"/>
          <a:lstStyle/>
          <a:p>
            <a:pPr algn="ctr"/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Johnson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8234564" y="3141861"/>
            <a:ext cx="1176979" cy="503238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Peter</a:t>
            </a:r>
            <a:endParaRPr lang="en-US" altLang="zh-CN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9407481" y="3141861"/>
            <a:ext cx="724142" cy="503238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Mike</a:t>
            </a:r>
            <a:endParaRPr lang="en-US" altLang="zh-CN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0090044" y="3141861"/>
            <a:ext cx="905675" cy="503238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Bill</a:t>
            </a:r>
            <a:endParaRPr lang="en-US" altLang="zh-CN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8156428" y="5128369"/>
            <a:ext cx="26232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 = “Johnson”</a:t>
            </a:r>
            <a:endParaRPr lang="en-US" altLang="zh-CN" sz="2800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6" name="Rectangle 36"/>
          <p:cNvSpPr>
            <a:spLocks noChangeArrowheads="1"/>
          </p:cNvSpPr>
          <p:nvPr/>
        </p:nvSpPr>
        <p:spPr bwMode="auto">
          <a:xfrm>
            <a:off x="8234564" y="4078486"/>
            <a:ext cx="1176979" cy="503238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Peter</a:t>
            </a:r>
            <a:endParaRPr lang="en-US" altLang="zh-CN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" name="Rectangle 37"/>
          <p:cNvSpPr>
            <a:spLocks noChangeArrowheads="1"/>
          </p:cNvSpPr>
          <p:nvPr/>
        </p:nvSpPr>
        <p:spPr bwMode="auto">
          <a:xfrm>
            <a:off x="9411543" y="4078486"/>
            <a:ext cx="724142" cy="503238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Mike</a:t>
            </a:r>
            <a:endParaRPr lang="en-US" altLang="zh-CN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" name="Rectangle 38"/>
          <p:cNvSpPr>
            <a:spLocks noChangeArrowheads="1"/>
          </p:cNvSpPr>
          <p:nvPr/>
        </p:nvSpPr>
        <p:spPr bwMode="auto">
          <a:xfrm>
            <a:off x="10162052" y="4078486"/>
            <a:ext cx="905675" cy="503238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Bill</a:t>
            </a:r>
            <a:endParaRPr lang="en-US" altLang="zh-CN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048246" y="765498"/>
            <a:ext cx="5915025" cy="5761038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b="1" dirty="0" smtClean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public class </a:t>
            </a:r>
            <a:r>
              <a:rPr lang="en-US" altLang="zh-CN" sz="2300" b="1" dirty="0" err="1" smtClean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WaitingQueue</a:t>
            </a:r>
            <a:r>
              <a:rPr lang="en-US" altLang="zh-CN" sz="2300" b="1" dirty="0" smtClean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{      </a:t>
            </a:r>
            <a:endParaRPr lang="en-US" altLang="zh-CN" sz="23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private </a:t>
            </a:r>
            <a:r>
              <a:rPr lang="en-US" altLang="zh-CN" sz="23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ArrayList</a:t>
            </a: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queue = new </a:t>
            </a:r>
            <a:r>
              <a:rPr lang="en-US" altLang="zh-CN" sz="23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ArrayList</a:t>
            </a: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();</a:t>
            </a:r>
            <a:endParaRPr lang="en-US" altLang="zh-CN" sz="23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private int length;</a:t>
            </a:r>
            <a:endParaRPr lang="en-US" altLang="zh-CN" sz="23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300" b="1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public </a:t>
            </a:r>
            <a:r>
              <a:rPr lang="en-US" altLang="zh-CN" sz="2300" b="1" dirty="0" err="1" smtClean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WaitingQueue</a:t>
            </a:r>
            <a:r>
              <a:rPr lang="en-US" altLang="zh-CN" sz="2300" b="1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() {</a:t>
            </a:r>
            <a:endParaRPr lang="en-US" altLang="zh-CN" sz="2300" b="1" dirty="0" smtClean="0"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length=0;    </a:t>
            </a:r>
            <a:endParaRPr lang="en-US" altLang="zh-CN" sz="23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}</a:t>
            </a:r>
            <a:endParaRPr lang="en-US" altLang="zh-CN" sz="23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300" b="1" dirty="0" smtClean="0">
                <a:solidFill>
                  <a:srgbClr val="99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public void </a:t>
            </a:r>
            <a:r>
              <a:rPr lang="en-US" altLang="zh-CN" sz="2300" b="1" dirty="0" err="1" smtClean="0">
                <a:solidFill>
                  <a:srgbClr val="99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enQueue</a:t>
            </a:r>
            <a:r>
              <a:rPr lang="en-US" altLang="zh-CN" sz="2300" b="1" dirty="0" smtClean="0">
                <a:solidFill>
                  <a:srgbClr val="99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(String name) {</a:t>
            </a:r>
            <a:endParaRPr lang="en-US" altLang="zh-CN" sz="2300" b="1" dirty="0" smtClean="0">
              <a:solidFill>
                <a:srgbClr val="99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    </a:t>
            </a:r>
            <a:r>
              <a:rPr lang="en-US" altLang="zh-CN" sz="23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queue.add</a:t>
            </a: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(name);</a:t>
            </a:r>
            <a:endParaRPr lang="en-US" altLang="zh-CN" sz="23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    length++;    </a:t>
            </a:r>
            <a:endParaRPr lang="en-US" altLang="zh-CN" sz="23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}</a:t>
            </a:r>
            <a:endParaRPr lang="en-US" altLang="zh-CN" sz="23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300" b="1" dirty="0" smtClean="0">
                <a:solidFill>
                  <a:srgbClr val="99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public String </a:t>
            </a:r>
            <a:r>
              <a:rPr lang="en-US" altLang="zh-CN" sz="2300" b="1" dirty="0" err="1" smtClean="0">
                <a:solidFill>
                  <a:srgbClr val="99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deQueue</a:t>
            </a:r>
            <a:r>
              <a:rPr lang="en-US" altLang="zh-CN" sz="2300" b="1" dirty="0" smtClean="0">
                <a:solidFill>
                  <a:srgbClr val="99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  {</a:t>
            </a:r>
            <a:endParaRPr lang="en-US" altLang="zh-CN" sz="2300" b="1" dirty="0" smtClean="0">
              <a:solidFill>
                <a:srgbClr val="99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String a = (String)</a:t>
            </a:r>
            <a:r>
              <a:rPr lang="en-US" altLang="zh-CN" sz="23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queue.get</a:t>
            </a: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(0);</a:t>
            </a:r>
            <a:endParaRPr lang="en-US" altLang="zh-CN" sz="23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</a:t>
            </a:r>
            <a:r>
              <a:rPr lang="en-US" altLang="zh-CN" sz="2300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queue.remove</a:t>
            </a: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(0);</a:t>
            </a:r>
            <a:endParaRPr lang="en-US" altLang="zh-CN" sz="23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    length--;</a:t>
            </a:r>
            <a:endParaRPr lang="en-US" altLang="zh-CN" sz="23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    return a;      </a:t>
            </a:r>
            <a:endParaRPr lang="en-US" altLang="zh-CN" sz="23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}</a:t>
            </a:r>
            <a:endParaRPr lang="en-US" altLang="zh-CN" sz="23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</a:t>
            </a:r>
            <a:r>
              <a:rPr lang="en-US" altLang="zh-CN" sz="2300" b="1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public int </a:t>
            </a:r>
            <a:r>
              <a:rPr lang="en-US" altLang="zh-CN" sz="2300" b="1" dirty="0" err="1" smtClean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getSise</a:t>
            </a:r>
            <a:r>
              <a:rPr lang="en-US" altLang="zh-CN" sz="2300" b="1" dirty="0" smtClean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 {</a:t>
            </a:r>
            <a:endParaRPr lang="en-US" altLang="zh-CN" sz="2300" b="1" dirty="0" smtClean="0"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    return length;    </a:t>
            </a:r>
            <a:endParaRPr lang="en-US" altLang="zh-CN" sz="23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}</a:t>
            </a:r>
            <a:endParaRPr lang="en-US" altLang="zh-CN" sz="2300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zh-CN" sz="23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  <a:endParaRPr lang="en-US" altLang="zh-CN" sz="23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2190055" y="189434"/>
            <a:ext cx="8949680" cy="417512"/>
          </a:xfrm>
          <a:prstGeom prst="rect">
            <a:avLst/>
          </a:prstGeom>
          <a:noFill/>
        </p:spPr>
        <p:txBody>
          <a:bodyPr/>
          <a:lstStyle>
            <a:lvl1pPr algn="ctr" defTabSz="1219835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另外一个</a:t>
            </a:r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WaitingQueue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的例子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ArrayList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1253951" y="2349624"/>
            <a:ext cx="8229600" cy="863600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Tx/>
              <a:buNone/>
            </a:pPr>
            <a:r>
              <a:rPr lang="en-US" altLang="zh-CN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：怎样从一个实际问题出发设计类？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346647" y="3501802"/>
            <a:ext cx="9885784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遵从面向对象设计步骤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对于简单问题，可以使用如下的简单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404888" y="966912"/>
            <a:ext cx="5545138" cy="6625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简单面向对象设计</a:t>
            </a:r>
            <a:endParaRPr lang="zh-CN" altLang="en-US" sz="2800" b="1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Java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与面向对象设计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468313" y="1052513"/>
            <a:ext cx="7127875" cy="4730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zh-CN" altLang="en-US" sz="2800" b="1" dirty="0">
                <a:ea typeface="黑体" panose="02010609060101010101" pitchFamily="2" charset="-122"/>
              </a:rPr>
              <a:t>例子</a:t>
            </a:r>
            <a:r>
              <a:rPr lang="en-US" altLang="zh-CN" sz="2800" b="1" dirty="0">
                <a:ea typeface="黑体" panose="02010609060101010101" pitchFamily="2" charset="-122"/>
              </a:rPr>
              <a:t>: </a:t>
            </a:r>
            <a:r>
              <a:rPr lang="zh-CN" altLang="en-US" sz="2800" b="1" dirty="0">
                <a:ea typeface="黑体" panose="02010609060101010101" pitchFamily="2" charset="-122"/>
              </a:rPr>
              <a:t>动物家庭 </a:t>
            </a:r>
            <a:r>
              <a:rPr lang="en-US" altLang="zh-CN" sz="2800" b="1" dirty="0">
                <a:ea typeface="黑体" panose="02010609060101010101" pitchFamily="2" charset="-122"/>
              </a:rPr>
              <a:t>Animal Family</a:t>
            </a:r>
            <a:endParaRPr lang="en-US" altLang="zh-CN" sz="2800" b="1" dirty="0">
              <a:ea typeface="黑体" panose="02010609060101010101" pitchFamily="2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540321" y="1557586"/>
            <a:ext cx="10743430" cy="45370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简单需求描述（英文描述）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:</a:t>
            </a:r>
            <a:endParaRPr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Write a program to tell a story happened in an    animal family that includes a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tiger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 a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dog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and a </a:t>
            </a:r>
            <a:r>
              <a:rPr lang="en-US" altLang="zh-CN" sz="2800" dirty="0" smtClean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cat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. </a:t>
            </a:r>
            <a:endParaRPr lang="en-US" altLang="zh-CN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When a 3-year-old male tiger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sees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the 2-year old female dog, he will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chase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it. Tigers can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see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 and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laugh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. </a:t>
            </a:r>
            <a:endParaRPr lang="en-US" altLang="zh-CN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When the 2-year female dog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sees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the a 3-year male cat he will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chase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it. Dogs can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chase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run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and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bark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. </a:t>
            </a:r>
            <a:endParaRPr lang="en-US" altLang="zh-CN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when the 3-year old male cat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sees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the tiger or the dog he will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escape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and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climb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up to a tree. Cats can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laugh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climb, mew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 and </a:t>
            </a:r>
            <a:r>
              <a:rPr lang="en-US" altLang="zh-CN" sz="2800" dirty="0">
                <a:solidFill>
                  <a:srgbClr val="0000CC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escape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.</a:t>
            </a:r>
            <a:endParaRPr lang="en-US" altLang="zh-CN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Java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与面向对象设计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Rot="1" noChangeArrowheads="1"/>
          </p:cNvSpPr>
          <p:nvPr/>
        </p:nvSpPr>
        <p:spPr bwMode="auto">
          <a:xfrm>
            <a:off x="1274539" y="908050"/>
            <a:ext cx="7200900" cy="520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3200" b="1" dirty="0">
                <a:solidFill>
                  <a:srgbClr val="660066"/>
                </a:solidFill>
              </a:rPr>
              <a:t>怎样进行面向对象设计</a:t>
            </a:r>
            <a:r>
              <a:rPr lang="en-US" altLang="zh-CN" sz="3200" b="1" dirty="0">
                <a:solidFill>
                  <a:srgbClr val="660066"/>
                </a:solidFill>
              </a:rPr>
              <a:t>?</a:t>
            </a:r>
            <a:endParaRPr lang="en-US" altLang="zh-CN" sz="3200" b="1" dirty="0">
              <a:solidFill>
                <a:srgbClr val="660066"/>
              </a:solidFill>
            </a:endParaRPr>
          </a:p>
        </p:txBody>
      </p:sp>
      <p:sp>
        <p:nvSpPr>
          <p:cNvPr id="3" name="Rectangle 5"/>
          <p:cNvSpPr>
            <a:spLocks noRot="1" noChangeArrowheads="1"/>
          </p:cNvSpPr>
          <p:nvPr/>
        </p:nvSpPr>
        <p:spPr bwMode="auto">
          <a:xfrm>
            <a:off x="539750" y="1628775"/>
            <a:ext cx="10527977" cy="4679950"/>
          </a:xfrm>
          <a:prstGeom prst="rect">
            <a:avLst/>
          </a:prstGeom>
          <a:solidFill>
            <a:schemeClr val="bg1"/>
          </a:solidFill>
          <a:ln w="25400">
            <a:solidFill>
              <a:srgbClr val="9933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确认类 </a:t>
            </a:r>
            <a:endParaRPr lang="zh-CN" altLang="en-US" sz="2800" b="1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rgbClr val="0000CC"/>
                </a:solidFill>
              </a:rPr>
              <a:t>需求描述中的名词可能成为类名</a:t>
            </a:r>
            <a:r>
              <a:rPr lang="zh-CN" altLang="en-US" sz="2800" b="1" dirty="0"/>
              <a:t> </a:t>
            </a:r>
            <a:r>
              <a:rPr lang="en-US" altLang="zh-CN" sz="28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program, story, animal family, tiger, dog, cat)</a:t>
            </a:r>
            <a:r>
              <a:rPr lang="en-US" altLang="zh-CN" sz="28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en-US" altLang="zh-CN" sz="28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800" b="1" dirty="0"/>
              <a:t>需要祛除同义词</a:t>
            </a:r>
            <a:endParaRPr lang="zh-CN" altLang="en-US" sz="2800" b="1" dirty="0"/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800" b="1" dirty="0"/>
              <a:t>适当的聚合（确认某些类之间的聚合关系）确定关键类  </a:t>
            </a:r>
            <a:endParaRPr lang="zh-CN" altLang="en-US" sz="2800" b="1" dirty="0"/>
          </a:p>
          <a:p>
            <a:pPr marL="342900" indent="-342900">
              <a:lnSpc>
                <a:spcPct val="12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rgbClr val="0000CC"/>
                </a:solidFill>
              </a:rPr>
              <a:t>需求描述中的动词可能成为方法名（</a:t>
            </a:r>
            <a:r>
              <a:rPr lang="en-US" altLang="zh-CN" sz="28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see, chase, laugh, run, bark, escape, mew</a:t>
            </a:r>
            <a:r>
              <a:rPr lang="zh-CN" altLang="en-US" sz="28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endParaRPr lang="zh-CN" altLang="en-US" sz="2800" b="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Java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与面向对象设计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5306864" y="1629594"/>
            <a:ext cx="2160463" cy="385762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Dog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5166995" y="2015490"/>
            <a:ext cx="2447925" cy="1607820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String species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 age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String sex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String color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5306864" y="3616822"/>
            <a:ext cx="2160463" cy="1325140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chase()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See()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Run()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bark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7755334" y="1629594"/>
            <a:ext cx="2592313" cy="385763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Cat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7755334" y="2015358"/>
            <a:ext cx="2592313" cy="1564952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String species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 age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String sex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String Color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7755334" y="3580309"/>
            <a:ext cx="2592313" cy="1865310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see</a:t>
            </a:r>
            <a:r>
              <a:rPr lang="en-US" altLang="zh-CN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</a:t>
            </a:r>
            <a:endParaRPr lang="en-US" altLang="zh-CN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escape()</a:t>
            </a:r>
            <a:endParaRPr lang="en-US" altLang="zh-CN" dirty="0" smtClean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dirty="0" err="1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climbTree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mew()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laugh</a:t>
            </a:r>
            <a:r>
              <a:rPr lang="en-US" altLang="zh-CN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" name="Rectangle 14"/>
          <p:cNvSpPr>
            <a:spLocks noChangeArrowheads="1"/>
          </p:cNvSpPr>
          <p:nvPr/>
        </p:nvSpPr>
        <p:spPr bwMode="auto">
          <a:xfrm>
            <a:off x="2987675" y="1773610"/>
            <a:ext cx="2031380" cy="385762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>
              <a:lnSpc>
                <a:spcPct val="90000"/>
              </a:lnSpc>
            </a:pPr>
            <a:r>
              <a:rPr lang="en-US" altLang="zh-CN" sz="28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Tiger</a:t>
            </a:r>
            <a:endParaRPr lang="en-US" altLang="zh-CN" sz="2800" dirty="0">
              <a:effectLst>
                <a:outerShdw blurRad="38100" dist="38100" dir="2700000" algn="tl">
                  <a:srgbClr val="C0C0C0"/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2987675" y="2159374"/>
            <a:ext cx="2031380" cy="1457448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String species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 age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String sex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String </a:t>
            </a:r>
            <a:r>
              <a:rPr lang="en-US" altLang="zh-CN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color</a:t>
            </a:r>
            <a:endParaRPr lang="en-US" altLang="zh-CN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" name="Rectangle 16"/>
          <p:cNvSpPr>
            <a:spLocks noChangeArrowheads="1"/>
          </p:cNvSpPr>
          <p:nvPr/>
        </p:nvSpPr>
        <p:spPr bwMode="auto">
          <a:xfrm>
            <a:off x="2987675" y="3623171"/>
            <a:ext cx="2031380" cy="921544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lnSpc>
                <a:spcPct val="90000"/>
              </a:lnSpc>
            </a:pP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chase()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laugh()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eaLnBrk="0" hangingPunct="0">
              <a:lnSpc>
                <a:spcPct val="90000"/>
              </a:lnSpc>
            </a:pP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See()</a:t>
            </a:r>
            <a:endParaRPr lang="en-US" altLang="zh-CN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11" name="Group 29"/>
          <p:cNvGrpSpPr/>
          <p:nvPr/>
        </p:nvGrpSpPr>
        <p:grpSpPr bwMode="auto">
          <a:xfrm>
            <a:off x="179388" y="1845618"/>
            <a:ext cx="2476500" cy="863600"/>
            <a:chOff x="2018" y="890"/>
            <a:chExt cx="1560" cy="544"/>
          </a:xfrm>
        </p:grpSpPr>
        <p:sp>
          <p:nvSpPr>
            <p:cNvPr id="12" name="Rectangle 18"/>
            <p:cNvSpPr>
              <a:spLocks noChangeArrowheads="1"/>
            </p:cNvSpPr>
            <p:nvPr/>
          </p:nvSpPr>
          <p:spPr bwMode="auto">
            <a:xfrm>
              <a:off x="2018" y="890"/>
              <a:ext cx="1560" cy="31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AnimalFamily</a:t>
              </a:r>
              <a:endPara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3" name="Rectangle 19"/>
            <p:cNvSpPr>
              <a:spLocks noChangeArrowheads="1"/>
            </p:cNvSpPr>
            <p:nvPr/>
          </p:nvSpPr>
          <p:spPr bwMode="auto">
            <a:xfrm>
              <a:off x="2018" y="1214"/>
              <a:ext cx="1560" cy="2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dirty="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main</a:t>
              </a:r>
              <a:endPara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14" name="Text Box 31"/>
          <p:cNvSpPr txBox="1">
            <a:spLocks noChangeArrowheads="1"/>
          </p:cNvSpPr>
          <p:nvPr/>
        </p:nvSpPr>
        <p:spPr bwMode="auto">
          <a:xfrm>
            <a:off x="1187450" y="2924671"/>
            <a:ext cx="792163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call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" name="Line 33"/>
          <p:cNvSpPr>
            <a:spLocks noChangeShapeType="1"/>
          </p:cNvSpPr>
          <p:nvPr/>
        </p:nvSpPr>
        <p:spPr bwMode="auto">
          <a:xfrm>
            <a:off x="900113" y="2709218"/>
            <a:ext cx="0" cy="302374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6" name="Line 34"/>
          <p:cNvSpPr>
            <a:spLocks noChangeShapeType="1"/>
          </p:cNvSpPr>
          <p:nvPr/>
        </p:nvSpPr>
        <p:spPr bwMode="auto">
          <a:xfrm>
            <a:off x="900113" y="5732959"/>
            <a:ext cx="77913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7" name="Line 35"/>
          <p:cNvSpPr>
            <a:spLocks noChangeShapeType="1"/>
          </p:cNvSpPr>
          <p:nvPr/>
        </p:nvSpPr>
        <p:spPr bwMode="auto">
          <a:xfrm flipV="1">
            <a:off x="8691462" y="5445620"/>
            <a:ext cx="0" cy="2873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" name="Line 36"/>
          <p:cNvSpPr>
            <a:spLocks noChangeShapeType="1"/>
          </p:cNvSpPr>
          <p:nvPr/>
        </p:nvSpPr>
        <p:spPr bwMode="auto">
          <a:xfrm>
            <a:off x="1187450" y="2709218"/>
            <a:ext cx="0" cy="27364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" name="Line 37"/>
          <p:cNvSpPr>
            <a:spLocks noChangeShapeType="1"/>
          </p:cNvSpPr>
          <p:nvPr/>
        </p:nvSpPr>
        <p:spPr bwMode="auto">
          <a:xfrm>
            <a:off x="1187450" y="5445621"/>
            <a:ext cx="45370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" name="Line 38"/>
          <p:cNvSpPr>
            <a:spLocks noChangeShapeType="1"/>
          </p:cNvSpPr>
          <p:nvPr/>
        </p:nvSpPr>
        <p:spPr bwMode="auto">
          <a:xfrm flipV="1">
            <a:off x="5724525" y="4941961"/>
            <a:ext cx="0" cy="50365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" name="Line 39"/>
          <p:cNvSpPr>
            <a:spLocks noChangeShapeType="1"/>
          </p:cNvSpPr>
          <p:nvPr/>
        </p:nvSpPr>
        <p:spPr bwMode="auto">
          <a:xfrm>
            <a:off x="2124075" y="2853234"/>
            <a:ext cx="0" cy="1943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" name="Line 40"/>
          <p:cNvSpPr>
            <a:spLocks noChangeShapeType="1"/>
          </p:cNvSpPr>
          <p:nvPr/>
        </p:nvSpPr>
        <p:spPr bwMode="auto">
          <a:xfrm>
            <a:off x="2124075" y="4796334"/>
            <a:ext cx="172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3" name="Line 41"/>
          <p:cNvSpPr>
            <a:spLocks noChangeShapeType="1"/>
          </p:cNvSpPr>
          <p:nvPr/>
        </p:nvSpPr>
        <p:spPr bwMode="auto">
          <a:xfrm flipV="1">
            <a:off x="3851275" y="4583608"/>
            <a:ext cx="0" cy="212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20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" name="Text Box 43"/>
          <p:cNvSpPr txBox="1">
            <a:spLocks noChangeArrowheads="1"/>
          </p:cNvSpPr>
          <p:nvPr/>
        </p:nvSpPr>
        <p:spPr bwMode="auto">
          <a:xfrm>
            <a:off x="914599" y="5948859"/>
            <a:ext cx="993817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AnimalFamily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calls classes Tiger, Dog, and Cat respectively</a:t>
            </a:r>
            <a:endParaRPr lang="en-US" altLang="zh-CN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" name="Text Box 44"/>
          <p:cNvSpPr txBox="1">
            <a:spLocks noChangeArrowheads="1"/>
          </p:cNvSpPr>
          <p:nvPr/>
        </p:nvSpPr>
        <p:spPr bwMode="auto">
          <a:xfrm>
            <a:off x="1203300" y="981522"/>
            <a:ext cx="66240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类的初步设计如下：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Java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与面向对象设计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987351" y="765498"/>
            <a:ext cx="5903912" cy="6001643"/>
          </a:xfrm>
          <a:prstGeom prst="rect">
            <a:avLst/>
          </a:prstGeom>
          <a:solidFill>
            <a:schemeClr val="bg1"/>
          </a:solidFill>
          <a:ln w="25400">
            <a:solidFill>
              <a:srgbClr val="00FF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 dirty="0"/>
              <a:t>Public class </a:t>
            </a:r>
            <a:r>
              <a:rPr lang="en-US" altLang="zh-CN" b="1" dirty="0" err="1"/>
              <a:t>AnimalFamily</a:t>
            </a:r>
            <a:r>
              <a:rPr lang="en-US" altLang="zh-CN" b="1" dirty="0"/>
              <a:t> {</a:t>
            </a:r>
            <a:endParaRPr lang="en-US" altLang="zh-CN" b="1" dirty="0"/>
          </a:p>
          <a:p>
            <a:r>
              <a:rPr lang="en-US" altLang="zh-CN" b="1" dirty="0"/>
              <a:t>    Public static void main(String[] </a:t>
            </a:r>
            <a:r>
              <a:rPr lang="en-US" altLang="zh-CN" b="1" dirty="0" err="1"/>
              <a:t>args</a:t>
            </a:r>
            <a:r>
              <a:rPr lang="en-US" altLang="zh-CN" b="1" dirty="0"/>
              <a:t>) </a:t>
            </a:r>
            <a:r>
              <a:rPr lang="en-US" altLang="zh-CN" b="1" dirty="0" smtClean="0"/>
              <a:t>{</a:t>
            </a:r>
            <a:endParaRPr lang="en-US" altLang="zh-CN" b="1" dirty="0"/>
          </a:p>
          <a:p>
            <a:r>
              <a:rPr lang="en-US" altLang="zh-CN" b="1" dirty="0"/>
              <a:t>        Tiger </a:t>
            </a:r>
            <a:r>
              <a:rPr lang="en-US" altLang="zh-CN" b="1" dirty="0" err="1"/>
              <a:t>bigTiger</a:t>
            </a:r>
            <a:r>
              <a:rPr lang="en-US" altLang="zh-CN" b="1" dirty="0"/>
              <a:t> = new Tiger();</a:t>
            </a:r>
            <a:endParaRPr lang="en-US" altLang="zh-CN" b="1" dirty="0"/>
          </a:p>
          <a:p>
            <a:r>
              <a:rPr lang="en-US" altLang="zh-CN" b="1" dirty="0"/>
              <a:t>         Dog </a:t>
            </a:r>
            <a:r>
              <a:rPr lang="en-US" altLang="zh-CN" b="1" dirty="0" err="1"/>
              <a:t>youngDog</a:t>
            </a:r>
            <a:r>
              <a:rPr lang="en-US" altLang="zh-CN" b="1" dirty="0"/>
              <a:t>=new Dog();</a:t>
            </a:r>
            <a:endParaRPr lang="en-US" altLang="zh-CN" b="1" dirty="0"/>
          </a:p>
          <a:p>
            <a:r>
              <a:rPr lang="en-US" altLang="zh-CN" b="1" dirty="0"/>
              <a:t>         Cat </a:t>
            </a:r>
            <a:r>
              <a:rPr lang="en-US" altLang="zh-CN" b="1" dirty="0" err="1"/>
              <a:t>cleverCat</a:t>
            </a:r>
            <a:r>
              <a:rPr lang="en-US" altLang="zh-CN" b="1" dirty="0"/>
              <a:t>= new Cat();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         </a:t>
            </a:r>
            <a:r>
              <a:rPr lang="en-US" altLang="zh-CN" b="1" dirty="0" err="1"/>
              <a:t>bigTiger.see</a:t>
            </a:r>
            <a:r>
              <a:rPr lang="en-US" altLang="zh-CN" b="1" dirty="0"/>
              <a:t>(</a:t>
            </a:r>
            <a:r>
              <a:rPr lang="en-US" altLang="zh-CN" b="1" dirty="0" err="1"/>
              <a:t>YoungDog</a:t>
            </a:r>
            <a:r>
              <a:rPr lang="en-US" altLang="zh-CN" b="1" dirty="0"/>
              <a:t>);</a:t>
            </a:r>
            <a:endParaRPr lang="en-US" altLang="zh-CN" b="1" dirty="0"/>
          </a:p>
          <a:p>
            <a:r>
              <a:rPr lang="en-US" altLang="zh-CN" b="1" dirty="0"/>
              <a:t>         </a:t>
            </a:r>
            <a:r>
              <a:rPr lang="en-US" altLang="zh-CN" b="1" dirty="0" err="1"/>
              <a:t>bigTiger.chase</a:t>
            </a:r>
            <a:r>
              <a:rPr lang="en-US" altLang="zh-CN" b="1" dirty="0"/>
              <a:t>(</a:t>
            </a:r>
            <a:r>
              <a:rPr lang="en-US" altLang="zh-CN" b="1" dirty="0" err="1"/>
              <a:t>YoungDog</a:t>
            </a:r>
            <a:r>
              <a:rPr lang="en-US" altLang="zh-CN" b="1" dirty="0"/>
              <a:t>);</a:t>
            </a:r>
            <a:endParaRPr lang="en-US" altLang="zh-CN" b="1" dirty="0"/>
          </a:p>
          <a:p>
            <a:r>
              <a:rPr lang="en-US" altLang="zh-CN" b="1" dirty="0"/>
              <a:t>         </a:t>
            </a:r>
            <a:r>
              <a:rPr lang="en-US" altLang="zh-CN" b="1" dirty="0" err="1"/>
              <a:t>youngDog.run</a:t>
            </a:r>
            <a:r>
              <a:rPr lang="en-US" altLang="zh-CN" b="1" dirty="0"/>
              <a:t>();</a:t>
            </a:r>
            <a:endParaRPr lang="en-US" altLang="zh-CN" b="1" dirty="0"/>
          </a:p>
          <a:p>
            <a:r>
              <a:rPr lang="en-US" altLang="zh-CN" b="1" dirty="0"/>
              <a:t>         </a:t>
            </a:r>
            <a:r>
              <a:rPr lang="en-US" altLang="zh-CN" b="1" dirty="0" err="1"/>
              <a:t>bigTiger.see</a:t>
            </a:r>
            <a:r>
              <a:rPr lang="en-US" altLang="zh-CN" b="1" dirty="0"/>
              <a:t>(</a:t>
            </a:r>
            <a:r>
              <a:rPr lang="en-US" altLang="zh-CN" b="1" dirty="0" err="1"/>
              <a:t>CleverCat</a:t>
            </a:r>
            <a:r>
              <a:rPr lang="en-US" altLang="zh-CN" b="1" dirty="0"/>
              <a:t>);</a:t>
            </a:r>
            <a:endParaRPr lang="en-US" altLang="zh-CN" b="1" dirty="0"/>
          </a:p>
          <a:p>
            <a:r>
              <a:rPr lang="en-US" altLang="zh-CN" b="1" dirty="0"/>
              <a:t>         </a:t>
            </a:r>
            <a:r>
              <a:rPr lang="en-US" altLang="zh-CN" b="1" dirty="0" err="1"/>
              <a:t>bigTiger.chase</a:t>
            </a:r>
            <a:r>
              <a:rPr lang="en-US" altLang="zh-CN" b="1" dirty="0"/>
              <a:t>(</a:t>
            </a:r>
            <a:r>
              <a:rPr lang="en-US" altLang="zh-CN" b="1" dirty="0" err="1"/>
              <a:t>CleverCat</a:t>
            </a:r>
            <a:r>
              <a:rPr lang="en-US" altLang="zh-CN" b="1" dirty="0"/>
              <a:t>);</a:t>
            </a:r>
            <a:endParaRPr lang="en-US" altLang="zh-CN" b="1" dirty="0"/>
          </a:p>
          <a:p>
            <a:r>
              <a:rPr lang="en-US" altLang="zh-CN" b="1" dirty="0"/>
              <a:t>         </a:t>
            </a:r>
            <a:r>
              <a:rPr lang="en-US" altLang="zh-CN" b="1" dirty="0" err="1"/>
              <a:t>cleverCat.mew</a:t>
            </a:r>
            <a:r>
              <a:rPr lang="en-US" altLang="zh-CN" b="1" dirty="0"/>
              <a:t>();</a:t>
            </a:r>
            <a:endParaRPr lang="en-US" altLang="zh-CN" b="1" dirty="0"/>
          </a:p>
          <a:p>
            <a:r>
              <a:rPr lang="en-US" altLang="zh-CN" b="1" dirty="0"/>
              <a:t>         </a:t>
            </a:r>
            <a:r>
              <a:rPr lang="en-US" altLang="zh-CN" b="1" dirty="0" err="1"/>
              <a:t>cleverCat.escape</a:t>
            </a:r>
            <a:r>
              <a:rPr lang="en-US" altLang="zh-CN" b="1" dirty="0"/>
              <a:t>();</a:t>
            </a:r>
            <a:endParaRPr lang="en-US" altLang="zh-CN" b="1" dirty="0"/>
          </a:p>
          <a:p>
            <a:r>
              <a:rPr lang="en-US" altLang="zh-CN" b="1" dirty="0"/>
              <a:t>         </a:t>
            </a:r>
            <a:r>
              <a:rPr lang="en-US" altLang="zh-CN" b="1" dirty="0" err="1"/>
              <a:t>cleverCat.climbTree</a:t>
            </a:r>
            <a:r>
              <a:rPr lang="en-US" altLang="zh-CN" b="1" dirty="0"/>
              <a:t>();</a:t>
            </a:r>
            <a:endParaRPr lang="en-US" altLang="zh-CN" b="1" dirty="0"/>
          </a:p>
          <a:p>
            <a:r>
              <a:rPr lang="en-US" altLang="zh-CN" b="1" dirty="0"/>
              <a:t>         </a:t>
            </a:r>
            <a:r>
              <a:rPr lang="en-US" altLang="zh-CN" b="1" dirty="0" err="1"/>
              <a:t>bigTiger.laugh</a:t>
            </a:r>
            <a:r>
              <a:rPr lang="en-US" altLang="zh-CN" b="1" dirty="0"/>
              <a:t>();   </a:t>
            </a:r>
            <a:endParaRPr lang="en-US" altLang="zh-CN" b="1" dirty="0"/>
          </a:p>
          <a:p>
            <a:r>
              <a:rPr lang="en-US" altLang="zh-CN" b="1" dirty="0"/>
              <a:t>       </a:t>
            </a:r>
            <a:r>
              <a:rPr lang="en-US" altLang="zh-CN" b="1" dirty="0" smtClean="0"/>
              <a:t>}  }</a:t>
            </a:r>
            <a:endParaRPr lang="en-US" altLang="zh-CN" b="1" dirty="0"/>
          </a:p>
        </p:txBody>
      </p:sp>
      <p:sp>
        <p:nvSpPr>
          <p:cNvPr id="3" name="AutoShape 6"/>
          <p:cNvSpPr>
            <a:spLocks noChangeArrowheads="1"/>
          </p:cNvSpPr>
          <p:nvPr/>
        </p:nvSpPr>
        <p:spPr bwMode="auto">
          <a:xfrm rot="10800000">
            <a:off x="5881836" y="2925738"/>
            <a:ext cx="3241675" cy="1223963"/>
          </a:xfrm>
          <a:prstGeom prst="homePlate">
            <a:avLst>
              <a:gd name="adj" fmla="val 35546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r>
              <a:rPr lang="en-US" altLang="zh-CN" sz="2400" b="1"/>
              <a:t>OO program</a:t>
            </a:r>
            <a:endParaRPr lang="en-US" altLang="zh-CN" sz="2400" b="1"/>
          </a:p>
          <a:p>
            <a:pPr algn="ctr"/>
            <a:r>
              <a:rPr lang="en-US" altLang="zh-CN" sz="2400" b="1"/>
              <a:t>Good readability</a:t>
            </a:r>
            <a:endParaRPr lang="en-US" altLang="zh-CN" sz="2400" b="1"/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7364131" y="1629594"/>
            <a:ext cx="3487572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简单面向对象设计</a:t>
            </a:r>
            <a:endParaRPr lang="zh-CN" altLang="en-US" sz="28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Java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与面向对象设计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605879" y="1269555"/>
            <a:ext cx="10389840" cy="1058862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进一步的改善设计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800" b="1" dirty="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buFontTx/>
              <a:buNone/>
            </a:pPr>
            <a:r>
              <a:rPr lang="en-US" altLang="zh-CN" sz="24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个动物类应该有共同的属性，所以应该一个超类，并且形成了层次类</a:t>
            </a:r>
            <a:endParaRPr lang="zh-CN" altLang="en-US" sz="24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98575" y="2638450"/>
            <a:ext cx="7772400" cy="17276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步骤：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细化上述类的设计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可能进行如下设计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161533" y="2421459"/>
            <a:ext cx="5618162" cy="2376487"/>
            <a:chOff x="5161533" y="2421459"/>
            <a:chExt cx="5618162" cy="2376487"/>
          </a:xfrm>
        </p:grpSpPr>
        <p:sp>
          <p:nvSpPr>
            <p:cNvPr id="5" name="Rectangle 60"/>
            <p:cNvSpPr>
              <a:spLocks noChangeArrowheads="1"/>
            </p:cNvSpPr>
            <p:nvPr/>
          </p:nvSpPr>
          <p:spPr bwMode="auto">
            <a:xfrm>
              <a:off x="5161533" y="2421459"/>
              <a:ext cx="5618162" cy="23764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/>
            </a:p>
          </p:txBody>
        </p:sp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>
              <a:off x="5305995" y="2564334"/>
              <a:ext cx="2447925" cy="57626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pitchFamily="34" charset="0"/>
                </a:rPr>
                <a:t>AnimalFamily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8784208" y="3813696"/>
              <a:ext cx="815975" cy="38576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pitchFamily="34" charset="0"/>
                </a:rPr>
                <a:t>Dog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9925620" y="3788296"/>
              <a:ext cx="720725" cy="38576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pitchFamily="34" charset="0"/>
                </a:rPr>
                <a:t>Cat 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7611045" y="3813696"/>
              <a:ext cx="946150" cy="38576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pitchFamily="34" charset="0"/>
                </a:rPr>
                <a:t>Tiger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</a:endParaRPr>
            </a:p>
          </p:txBody>
        </p:sp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7992045" y="2564334"/>
              <a:ext cx="2447925" cy="53022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4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Helvetica" pitchFamily="34" charset="0"/>
                </a:rPr>
                <a:t>LandAnimal</a:t>
              </a:r>
              <a:endParaRPr lang="en-US" altLang="zh-CN" sz="2400" b="1" i="1"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</a:endParaRPr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>
              <a:off x="8053958" y="3572396"/>
              <a:ext cx="2232025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>
              <a:off x="8053958" y="3572396"/>
              <a:ext cx="0" cy="287338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Line 18"/>
            <p:cNvSpPr>
              <a:spLocks noChangeShapeType="1"/>
            </p:cNvSpPr>
            <p:nvPr/>
          </p:nvSpPr>
          <p:spPr bwMode="auto">
            <a:xfrm>
              <a:off x="9216008" y="3572396"/>
              <a:ext cx="0" cy="25241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" name="AutoShape 50"/>
            <p:cNvSpPr>
              <a:spLocks noChangeArrowheads="1"/>
            </p:cNvSpPr>
            <p:nvPr/>
          </p:nvSpPr>
          <p:spPr bwMode="auto">
            <a:xfrm>
              <a:off x="9041383" y="3104084"/>
              <a:ext cx="360362" cy="504825"/>
            </a:xfrm>
            <a:prstGeom prst="upArrow">
              <a:avLst>
                <a:gd name="adj1" fmla="val 0"/>
                <a:gd name="adj2" fmla="val 70044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52"/>
            <p:cNvSpPr>
              <a:spLocks noChangeShapeType="1"/>
            </p:cNvSpPr>
            <p:nvPr/>
          </p:nvSpPr>
          <p:spPr bwMode="auto">
            <a:xfrm>
              <a:off x="6387083" y="3104084"/>
              <a:ext cx="0" cy="147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53"/>
            <p:cNvSpPr>
              <a:spLocks noChangeShapeType="1"/>
            </p:cNvSpPr>
            <p:nvPr/>
          </p:nvSpPr>
          <p:spPr bwMode="auto">
            <a:xfrm flipV="1">
              <a:off x="6387083" y="4580458"/>
              <a:ext cx="3887787" cy="15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55"/>
            <p:cNvSpPr>
              <a:spLocks noChangeShapeType="1"/>
            </p:cNvSpPr>
            <p:nvPr/>
          </p:nvSpPr>
          <p:spPr bwMode="auto">
            <a:xfrm>
              <a:off x="6529958" y="3140596"/>
              <a:ext cx="0" cy="1295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56"/>
            <p:cNvSpPr>
              <a:spLocks noChangeShapeType="1"/>
            </p:cNvSpPr>
            <p:nvPr/>
          </p:nvSpPr>
          <p:spPr bwMode="auto">
            <a:xfrm>
              <a:off x="6529958" y="4435996"/>
              <a:ext cx="26654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57"/>
            <p:cNvSpPr>
              <a:spLocks noChangeShapeType="1"/>
            </p:cNvSpPr>
            <p:nvPr/>
          </p:nvSpPr>
          <p:spPr bwMode="auto">
            <a:xfrm flipV="1">
              <a:off x="9195370" y="4220096"/>
              <a:ext cx="0" cy="2159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59"/>
            <p:cNvSpPr>
              <a:spLocks noChangeShapeType="1"/>
            </p:cNvSpPr>
            <p:nvPr/>
          </p:nvSpPr>
          <p:spPr bwMode="auto">
            <a:xfrm flipV="1">
              <a:off x="6745858" y="3981177"/>
              <a:ext cx="865187" cy="230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58"/>
            <p:cNvSpPr>
              <a:spLocks noChangeShapeType="1"/>
            </p:cNvSpPr>
            <p:nvPr/>
          </p:nvSpPr>
          <p:spPr bwMode="auto">
            <a:xfrm flipH="1">
              <a:off x="6745858" y="3140596"/>
              <a:ext cx="0" cy="863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62"/>
            <p:cNvSpPr>
              <a:spLocks noChangeArrowheads="1"/>
            </p:cNvSpPr>
            <p:nvPr/>
          </p:nvSpPr>
          <p:spPr bwMode="auto">
            <a:xfrm>
              <a:off x="6818610" y="3184153"/>
              <a:ext cx="720725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call</a:t>
              </a:r>
              <a:endParaRPr lang="en-US" altLang="zh-CN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3" name="Line 64"/>
            <p:cNvSpPr>
              <a:spLocks noChangeShapeType="1"/>
            </p:cNvSpPr>
            <p:nvPr/>
          </p:nvSpPr>
          <p:spPr bwMode="auto">
            <a:xfrm flipV="1">
              <a:off x="10274870" y="4150246"/>
              <a:ext cx="0" cy="43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67"/>
            <p:cNvSpPr>
              <a:spLocks noChangeShapeType="1"/>
            </p:cNvSpPr>
            <p:nvPr/>
          </p:nvSpPr>
          <p:spPr bwMode="auto">
            <a:xfrm>
              <a:off x="10274870" y="3573984"/>
              <a:ext cx="0" cy="25241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7" name="Text Box 47"/>
          <p:cNvSpPr txBox="1">
            <a:spLocks noChangeArrowheads="1"/>
          </p:cNvSpPr>
          <p:nvPr/>
        </p:nvSpPr>
        <p:spPr bwMode="auto">
          <a:xfrm>
            <a:off x="1922288" y="4949825"/>
            <a:ext cx="3744913" cy="1431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800" b="1" dirty="0">
                <a:ea typeface="黑体" panose="02010609060101010101" pitchFamily="2" charset="-122"/>
              </a:rPr>
              <a:t>Tiger </a:t>
            </a:r>
            <a:r>
              <a:rPr lang="en-US" altLang="zh-CN" sz="2800" b="1" dirty="0" err="1">
                <a:ea typeface="黑体" panose="02010609060101010101" pitchFamily="2" charset="-122"/>
              </a:rPr>
              <a:t>tiger</a:t>
            </a:r>
            <a:r>
              <a:rPr lang="en-US" altLang="zh-CN" sz="2800" b="1" dirty="0">
                <a:ea typeface="黑体" panose="02010609060101010101" pitchFamily="2" charset="-122"/>
              </a:rPr>
              <a:t> =new Tiger();</a:t>
            </a:r>
            <a:endParaRPr lang="en-US" altLang="zh-CN" sz="2800" b="1" dirty="0">
              <a:ea typeface="黑体" panose="0201060906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800" b="1" dirty="0">
                <a:ea typeface="黑体" panose="02010609060101010101" pitchFamily="2" charset="-122"/>
              </a:rPr>
              <a:t>Dog </a:t>
            </a:r>
            <a:r>
              <a:rPr lang="en-US" altLang="zh-CN" sz="2800" b="1" dirty="0" err="1">
                <a:ea typeface="黑体" panose="02010609060101010101" pitchFamily="2" charset="-122"/>
              </a:rPr>
              <a:t>dog</a:t>
            </a:r>
            <a:r>
              <a:rPr lang="en-US" altLang="zh-CN" sz="2800" b="1" dirty="0">
                <a:ea typeface="黑体" panose="02010609060101010101" pitchFamily="2" charset="-122"/>
              </a:rPr>
              <a:t> = new Dog();</a:t>
            </a:r>
            <a:endParaRPr lang="en-US" altLang="zh-CN" sz="2800" b="1" dirty="0">
              <a:ea typeface="黑体" panose="0201060906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800" b="1" dirty="0" err="1">
                <a:ea typeface="黑体" panose="02010609060101010101" pitchFamily="2" charset="-122"/>
              </a:rPr>
              <a:t>tiger.chase</a:t>
            </a:r>
            <a:r>
              <a:rPr lang="en-US" altLang="zh-CN" sz="2800" b="1" dirty="0">
                <a:ea typeface="黑体" panose="02010609060101010101" pitchFamily="2" charset="-122"/>
              </a:rPr>
              <a:t>(dog);</a:t>
            </a:r>
            <a:endParaRPr lang="en-US" altLang="zh-CN" sz="2800" b="1" dirty="0">
              <a:ea typeface="黑体" panose="02010609060101010101" pitchFamily="2" charset="-122"/>
            </a:endParaRPr>
          </a:p>
        </p:txBody>
      </p:sp>
      <p:sp>
        <p:nvSpPr>
          <p:cNvPr id="28" name="AutoShape 65"/>
          <p:cNvSpPr>
            <a:spLocks noChangeArrowheads="1"/>
          </p:cNvSpPr>
          <p:nvPr/>
        </p:nvSpPr>
        <p:spPr bwMode="auto">
          <a:xfrm>
            <a:off x="6746626" y="5086350"/>
            <a:ext cx="3529013" cy="1150938"/>
          </a:xfrm>
          <a:prstGeom prst="bevel">
            <a:avLst>
              <a:gd name="adj" fmla="val 3722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400" b="1">
                <a:ea typeface="黑体" panose="02010609060101010101" pitchFamily="2" charset="-122"/>
              </a:rPr>
              <a:t>问题</a:t>
            </a:r>
            <a:r>
              <a:rPr lang="en-US" altLang="zh-CN" sz="2400" b="1">
                <a:ea typeface="黑体" panose="02010609060101010101" pitchFamily="2" charset="-122"/>
              </a:rPr>
              <a:t>: </a:t>
            </a:r>
            <a:r>
              <a:rPr lang="zh-CN" altLang="en-US" sz="2400" b="1">
                <a:ea typeface="黑体" panose="02010609060101010101" pitchFamily="2" charset="-122"/>
              </a:rPr>
              <a:t>这样的代码</a:t>
            </a:r>
            <a:endParaRPr lang="zh-CN" altLang="en-US" sz="2400" b="1">
              <a:ea typeface="黑体" panose="02010609060101010101" pitchFamily="2" charset="-122"/>
            </a:endParaRPr>
          </a:p>
          <a:p>
            <a:r>
              <a:rPr lang="zh-CN" altLang="en-US" sz="2400" b="1">
                <a:ea typeface="黑体" panose="02010609060101010101" pitchFamily="2" charset="-122"/>
              </a:rPr>
              <a:t>         是否可以接受</a:t>
            </a:r>
            <a:endParaRPr lang="zh-CN" altLang="en-US" sz="2400" b="1">
              <a:ea typeface="黑体" panose="02010609060101010101" pitchFamily="2" charset="-122"/>
            </a:endParaRPr>
          </a:p>
        </p:txBody>
      </p:sp>
      <p:sp>
        <p:nvSpPr>
          <p:cNvPr id="29" name="AutoShape 66"/>
          <p:cNvSpPr>
            <a:spLocks noChangeArrowheads="1"/>
          </p:cNvSpPr>
          <p:nvPr/>
        </p:nvSpPr>
        <p:spPr bwMode="auto">
          <a:xfrm>
            <a:off x="842591" y="5157788"/>
            <a:ext cx="647700" cy="647700"/>
          </a:xfrm>
          <a:custGeom>
            <a:avLst/>
            <a:gdLst>
              <a:gd name="G0" fmla="+- 2700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Java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与面向对象设计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672778" y="1916113"/>
            <a:ext cx="10826997" cy="2449512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None/>
            </a:pPr>
            <a:r>
              <a:rPr lang="zh-CN" altLang="en-US" sz="3200" b="1" dirty="0" smtClean="0">
                <a:ea typeface="黑体" panose="02010609060101010101" pitchFamily="2" charset="-122"/>
              </a:rPr>
              <a:t>回答：以上代码运行没有问题，但是效率不高</a:t>
            </a:r>
            <a:endParaRPr lang="zh-CN" altLang="en-US" sz="3200" dirty="0" smtClean="0">
              <a:solidFill>
                <a:srgbClr val="0000CC"/>
              </a:solidFill>
            </a:endParaRPr>
          </a:p>
          <a:p>
            <a:pPr marL="609600" indent="-609600">
              <a:buFontTx/>
              <a:buNone/>
            </a:pPr>
            <a:endParaRPr lang="zh-CN" altLang="en-US" sz="3200" b="1" dirty="0" smtClean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  <a:p>
            <a:pPr marL="609600" indent="-609600">
              <a:buFontTx/>
              <a:buNone/>
            </a:pPr>
            <a:r>
              <a:rPr lang="zh-CN" altLang="en-US" sz="32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缺点</a:t>
            </a:r>
            <a:r>
              <a:rPr lang="zh-CN" altLang="en-US" sz="3200" b="1" dirty="0" smtClean="0">
                <a:solidFill>
                  <a:srgbClr val="0000CC"/>
                </a:solidFill>
                <a:ea typeface="黑体" panose="02010609060101010101" pitchFamily="2" charset="-122"/>
              </a:rPr>
              <a:t>：以上代码不适合动态绑定，可扩展性大受影响</a:t>
            </a:r>
            <a:endParaRPr lang="zh-CN" altLang="en-US" sz="3200" b="1" dirty="0">
              <a:solidFill>
                <a:srgbClr val="0000CC"/>
              </a:solidFill>
              <a:ea typeface="黑体" panose="0201060906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Java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与面向对象设计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323850" y="1196975"/>
            <a:ext cx="3240088" cy="3600450"/>
            <a:chOff x="323850" y="1196975"/>
            <a:chExt cx="3240088" cy="3600450"/>
          </a:xfrm>
        </p:grpSpPr>
        <p:sp>
          <p:nvSpPr>
            <p:cNvPr id="2" name="Rectangle 4"/>
            <p:cNvSpPr>
              <a:spLocks noChangeArrowheads="1"/>
            </p:cNvSpPr>
            <p:nvPr/>
          </p:nvSpPr>
          <p:spPr bwMode="auto">
            <a:xfrm>
              <a:off x="323850" y="1196975"/>
              <a:ext cx="3240088" cy="3600450"/>
            </a:xfrm>
            <a:prstGeom prst="rect">
              <a:avLst/>
            </a:prstGeom>
            <a:solidFill>
              <a:srgbClr val="FFCC00">
                <a:alpha val="28999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/>
            </a:p>
          </p:txBody>
        </p:sp>
        <p:sp>
          <p:nvSpPr>
            <p:cNvPr id="3" name="Rectangle 6"/>
            <p:cNvSpPr>
              <a:spLocks noChangeArrowheads="1"/>
            </p:cNvSpPr>
            <p:nvPr/>
          </p:nvSpPr>
          <p:spPr bwMode="auto">
            <a:xfrm>
              <a:off x="900113" y="1557338"/>
              <a:ext cx="2087562" cy="57626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</a:rPr>
                <a:t>AnimalFamily</a:t>
              </a:r>
              <a:endPara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endParaRPr>
            </a:p>
          </p:txBody>
        </p:sp>
        <p:sp>
          <p:nvSpPr>
            <p:cNvPr id="4" name="Rectangle 7"/>
            <p:cNvSpPr>
              <a:spLocks noChangeArrowheads="1"/>
            </p:cNvSpPr>
            <p:nvPr/>
          </p:nvSpPr>
          <p:spPr bwMode="auto">
            <a:xfrm>
              <a:off x="1617663" y="4100513"/>
              <a:ext cx="815975" cy="38576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</a:rPr>
                <a:t>Dog</a:t>
              </a:r>
              <a:endParaRPr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endParaRPr>
            </a:p>
          </p:txBody>
        </p:sp>
        <p:sp>
          <p:nvSpPr>
            <p:cNvPr id="5" name="Rectangle 8"/>
            <p:cNvSpPr>
              <a:spLocks noChangeArrowheads="1"/>
            </p:cNvSpPr>
            <p:nvPr/>
          </p:nvSpPr>
          <p:spPr bwMode="auto">
            <a:xfrm>
              <a:off x="2698750" y="4075113"/>
              <a:ext cx="720725" cy="38576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</a:rPr>
                <a:t>Cat </a:t>
              </a:r>
              <a:endParaRPr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endParaRPr>
            </a:p>
          </p:txBody>
        </p:sp>
        <p:sp>
          <p:nvSpPr>
            <p:cNvPr id="6" name="Rectangle 9"/>
            <p:cNvSpPr>
              <a:spLocks noChangeArrowheads="1"/>
            </p:cNvSpPr>
            <p:nvPr/>
          </p:nvSpPr>
          <p:spPr bwMode="auto">
            <a:xfrm>
              <a:off x="457200" y="4100513"/>
              <a:ext cx="946150" cy="38576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4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</a:rPr>
                <a:t>Tiger</a:t>
              </a:r>
              <a:endParaRPr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endParaRPr>
            </a:p>
          </p:txBody>
        </p:sp>
        <p:sp>
          <p:nvSpPr>
            <p:cNvPr id="7" name="Rectangle 10"/>
            <p:cNvSpPr>
              <a:spLocks noChangeArrowheads="1"/>
            </p:cNvSpPr>
            <p:nvPr/>
          </p:nvSpPr>
          <p:spPr bwMode="auto">
            <a:xfrm>
              <a:off x="754063" y="2636838"/>
              <a:ext cx="2447925" cy="530225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8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2400" b="1" i="1">
                  <a:effectLst>
                    <a:outerShdw blurRad="38100" dist="38100" dir="2700000" algn="tl">
                      <a:srgbClr val="FFFFFF"/>
                    </a:outerShdw>
                  </a:effectLst>
                  <a:latin typeface="Helvetica" pitchFamily="34" charset="0"/>
                </a:rPr>
                <a:t>LandAnimal</a:t>
              </a:r>
              <a:endParaRPr lang="en-US" altLang="zh-CN" sz="2400" b="1" i="1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endParaRPr>
            </a:p>
          </p:txBody>
        </p:sp>
        <p:sp>
          <p:nvSpPr>
            <p:cNvPr id="8" name="Line 11"/>
            <p:cNvSpPr>
              <a:spLocks noChangeShapeType="1"/>
            </p:cNvSpPr>
            <p:nvPr/>
          </p:nvSpPr>
          <p:spPr bwMode="auto">
            <a:xfrm>
              <a:off x="898525" y="3668713"/>
              <a:ext cx="2160588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Line 12"/>
            <p:cNvSpPr>
              <a:spLocks noChangeShapeType="1"/>
            </p:cNvSpPr>
            <p:nvPr/>
          </p:nvSpPr>
          <p:spPr bwMode="auto">
            <a:xfrm>
              <a:off x="900113" y="3668713"/>
              <a:ext cx="0" cy="43180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>
              <a:off x="3059113" y="3668713"/>
              <a:ext cx="0" cy="43180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>
              <a:off x="2011363" y="3668713"/>
              <a:ext cx="0" cy="43180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>
              <a:off x="1979613" y="2133600"/>
              <a:ext cx="0" cy="50323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7"/>
            <p:cNvSpPr>
              <a:spLocks noChangeArrowheads="1"/>
            </p:cNvSpPr>
            <p:nvPr/>
          </p:nvSpPr>
          <p:spPr bwMode="auto">
            <a:xfrm>
              <a:off x="2124075" y="2205038"/>
              <a:ext cx="1295400" cy="427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b="1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Call</a:t>
              </a:r>
              <a:r>
                <a:rPr lang="zh-CN" altLang="en-US" b="1"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调用 </a:t>
              </a:r>
              <a:endParaRPr lang="zh-CN" altLang="en-US" b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4" name="AutoShape 18"/>
            <p:cNvSpPr>
              <a:spLocks noChangeArrowheads="1"/>
            </p:cNvSpPr>
            <p:nvPr/>
          </p:nvSpPr>
          <p:spPr bwMode="auto">
            <a:xfrm>
              <a:off x="1835150" y="3163888"/>
              <a:ext cx="360363" cy="504825"/>
            </a:xfrm>
            <a:prstGeom prst="upArrow">
              <a:avLst>
                <a:gd name="adj1" fmla="val 0"/>
                <a:gd name="adj2" fmla="val 7004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/>
            </a:p>
          </p:txBody>
        </p:sp>
        <p:sp>
          <p:nvSpPr>
            <p:cNvPr id="15" name="AutoShape 20"/>
            <p:cNvSpPr>
              <a:spLocks noChangeArrowheads="1"/>
            </p:cNvSpPr>
            <p:nvPr/>
          </p:nvSpPr>
          <p:spPr bwMode="auto">
            <a:xfrm>
              <a:off x="1908175" y="2133600"/>
              <a:ext cx="142875" cy="142875"/>
            </a:xfrm>
            <a:prstGeom prst="diamond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/>
            </a:p>
          </p:txBody>
        </p:sp>
      </p:grp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4082951" y="837506"/>
            <a:ext cx="7920880" cy="4050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b="1" dirty="0" err="1">
                <a:solidFill>
                  <a:srgbClr val="0000CC"/>
                </a:solidFill>
                <a:ea typeface="黑体" panose="02010609060101010101" pitchFamily="2" charset="-122"/>
              </a:rPr>
              <a:t>AnimalFamily</a:t>
            </a:r>
            <a:r>
              <a:rPr lang="zh-CN" altLang="en-US" b="1" dirty="0">
                <a:solidFill>
                  <a:srgbClr val="0000CC"/>
                </a:solidFill>
                <a:ea typeface="黑体" panose="02010609060101010101" pitchFamily="2" charset="-122"/>
              </a:rPr>
              <a:t>中的正确的代码</a:t>
            </a:r>
            <a:r>
              <a:rPr lang="zh-CN" altLang="en-US" dirty="0">
                <a:ea typeface="黑体" panose="02010609060101010101" pitchFamily="2" charset="-122"/>
              </a:rPr>
              <a:t>：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spcBef>
                <a:spcPct val="10000"/>
              </a:spcBef>
            </a:pPr>
            <a:endParaRPr lang="zh-CN" altLang="en-US" b="1" dirty="0">
              <a:ea typeface="黑体" panose="02010609060101010101" pitchFamily="2" charset="-122"/>
            </a:endParaRPr>
          </a:p>
          <a:p>
            <a:pPr>
              <a:spcBef>
                <a:spcPct val="10000"/>
              </a:spcBef>
            </a:pPr>
            <a:r>
              <a:rPr lang="en-US" altLang="zh-CN" sz="2800" b="1" dirty="0" err="1"/>
              <a:t>LandAnimal</a:t>
            </a:r>
            <a:r>
              <a:rPr lang="en-US" altLang="zh-CN" sz="2800" b="1" dirty="0"/>
              <a:t> a; </a:t>
            </a:r>
            <a:r>
              <a:rPr lang="en-US" altLang="zh-CN" sz="2800" b="1" dirty="0" smtClean="0"/>
              <a:t>      </a:t>
            </a:r>
            <a:r>
              <a:rPr lang="en-US" altLang="zh-CN" dirty="0" smtClean="0"/>
              <a:t>//</a:t>
            </a:r>
            <a:r>
              <a:rPr lang="en-US" altLang="zh-CN" dirty="0"/>
              <a:t>Claim object type of </a:t>
            </a:r>
            <a:r>
              <a:rPr lang="en-US" altLang="zh-CN" dirty="0" smtClean="0"/>
              <a:t>   super class                           </a:t>
            </a:r>
            <a:endParaRPr lang="en-US" altLang="zh-CN" dirty="0" smtClean="0"/>
          </a:p>
          <a:p>
            <a:pPr>
              <a:spcBef>
                <a:spcPct val="10000"/>
              </a:spcBef>
            </a:pPr>
            <a:r>
              <a:rPr lang="en-US" altLang="zh-CN" b="1" dirty="0"/>
              <a:t> </a:t>
            </a:r>
            <a:r>
              <a:rPr lang="en-US" altLang="zh-CN" b="1" dirty="0" smtClean="0"/>
              <a:t> </a:t>
            </a:r>
            <a:r>
              <a:rPr lang="en-US" altLang="zh-CN" sz="2800" b="1" dirty="0" smtClean="0"/>
              <a:t> …</a:t>
            </a:r>
            <a:endParaRPr lang="en-US" altLang="zh-CN" sz="2800" b="1" dirty="0"/>
          </a:p>
          <a:p>
            <a:pPr>
              <a:spcBef>
                <a:spcPct val="10000"/>
              </a:spcBef>
            </a:pPr>
            <a:r>
              <a:rPr lang="en-US" altLang="zh-CN" sz="2800" b="1" dirty="0"/>
              <a:t>if(condition1==true)</a:t>
            </a:r>
            <a:endParaRPr lang="en-US" altLang="zh-CN" sz="2800" b="1" dirty="0"/>
          </a:p>
          <a:p>
            <a:pPr>
              <a:spcBef>
                <a:spcPct val="10000"/>
              </a:spcBef>
            </a:pPr>
            <a:r>
              <a:rPr lang="en-US" altLang="zh-CN" b="1" dirty="0"/>
              <a:t>    </a:t>
            </a:r>
            <a:r>
              <a:rPr lang="en-US" altLang="zh-CN" sz="2800" b="1" dirty="0"/>
              <a:t>a= new Tiger(); </a:t>
            </a:r>
            <a:r>
              <a:rPr lang="en-US" altLang="zh-CN" sz="2800" b="1" dirty="0" smtClean="0"/>
              <a:t>  </a:t>
            </a:r>
            <a:r>
              <a:rPr lang="en-US" altLang="zh-CN" dirty="0" smtClean="0"/>
              <a:t>// </a:t>
            </a:r>
            <a:r>
              <a:rPr lang="en-US" altLang="zh-CN" dirty="0"/>
              <a:t>actually create object type </a:t>
            </a:r>
            <a:r>
              <a:rPr lang="en-US" altLang="zh-CN" dirty="0" smtClean="0"/>
              <a:t>of  subclass                                         </a:t>
            </a:r>
            <a:r>
              <a:rPr lang="en-US" altLang="zh-CN" sz="2800" b="1" dirty="0" smtClean="0"/>
              <a:t>else </a:t>
            </a:r>
            <a:r>
              <a:rPr lang="en-US" altLang="zh-CN" sz="2800" b="1" dirty="0"/>
              <a:t>if(condition2==true)</a:t>
            </a:r>
            <a:endParaRPr lang="en-US" altLang="zh-CN" sz="2800" b="1" dirty="0"/>
          </a:p>
          <a:p>
            <a:pPr>
              <a:spcBef>
                <a:spcPct val="10000"/>
              </a:spcBef>
            </a:pPr>
            <a:r>
              <a:rPr lang="en-US" altLang="zh-CN" b="1" dirty="0"/>
              <a:t>    </a:t>
            </a:r>
            <a:r>
              <a:rPr lang="en-US" altLang="zh-CN" sz="2800" b="1" dirty="0"/>
              <a:t>a= new Dog();</a:t>
            </a:r>
            <a:endParaRPr lang="en-US" altLang="zh-CN" sz="2800" b="1" dirty="0"/>
          </a:p>
          <a:p>
            <a:pPr>
              <a:spcBef>
                <a:spcPct val="10000"/>
              </a:spcBef>
            </a:pPr>
            <a:r>
              <a:rPr lang="en-US" altLang="zh-CN" sz="2800" b="1" dirty="0" err="1"/>
              <a:t>a.chase</a:t>
            </a:r>
            <a:r>
              <a:rPr lang="en-US" altLang="zh-CN" sz="2800" b="1" dirty="0"/>
              <a:t>();</a:t>
            </a:r>
            <a:endParaRPr lang="en-US" altLang="zh-CN" sz="2800" b="1" dirty="0"/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611882" y="5414963"/>
            <a:ext cx="1052785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以上代码适合动态绑定与层次类的可扩展性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：你可以增添另外一个子类，例如类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Panda,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而不会影响现存代码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Java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与面向对象设计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722911" cy="68595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圆角矩形 66"/>
          <p:cNvSpPr/>
          <p:nvPr/>
        </p:nvSpPr>
        <p:spPr>
          <a:xfrm>
            <a:off x="5791629" y="2486242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 smtClean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6673143" y="2475428"/>
            <a:ext cx="5114664" cy="594326"/>
            <a:chOff x="6339097" y="1573726"/>
            <a:chExt cx="3744416" cy="594326"/>
          </a:xfrm>
        </p:grpSpPr>
        <p:sp>
          <p:nvSpPr>
            <p:cNvPr id="69" name="圆角矩形 68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bg1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6723350" y="1614014"/>
              <a:ext cx="265307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类之间的关系</a:t>
              </a:r>
              <a:endParaRPr lang="zh-CN" altLang="zh-CN" sz="28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圆角矩形 70"/>
          <p:cNvSpPr/>
          <p:nvPr/>
        </p:nvSpPr>
        <p:spPr>
          <a:xfrm>
            <a:off x="5791629" y="1694154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 smtClean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6649261" y="1683340"/>
            <a:ext cx="5114664" cy="594326"/>
            <a:chOff x="6315199" y="2410178"/>
            <a:chExt cx="3744416" cy="594326"/>
          </a:xfrm>
        </p:grpSpPr>
        <p:sp>
          <p:nvSpPr>
            <p:cNvPr id="73" name="圆角矩形 72"/>
            <p:cNvSpPr/>
            <p:nvPr/>
          </p:nvSpPr>
          <p:spPr>
            <a:xfrm>
              <a:off x="6315199" y="2410178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4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6747248" y="2450466"/>
              <a:ext cx="265307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en-US" altLang="zh-CN" sz="2800" b="1" kern="100" dirty="0" smtClean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</a:t>
              </a:r>
              <a:r>
                <a:rPr lang="zh-CN" altLang="en-US" sz="2800" b="1" kern="100" dirty="0" smtClean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与面向对象设计</a:t>
              </a:r>
              <a:endParaRPr lang="zh-CN" altLang="zh-CN" sz="2800" b="1" kern="1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圆角矩形 74"/>
          <p:cNvSpPr/>
          <p:nvPr/>
        </p:nvSpPr>
        <p:spPr>
          <a:xfrm>
            <a:off x="5791629" y="3296032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6673143" y="3296030"/>
            <a:ext cx="5114664" cy="594326"/>
            <a:chOff x="6339097" y="3296031"/>
            <a:chExt cx="3744416" cy="594326"/>
          </a:xfrm>
        </p:grpSpPr>
        <p:sp>
          <p:nvSpPr>
            <p:cNvPr id="77" name="圆角矩形 76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3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6723349" y="3336319"/>
              <a:ext cx="273630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en-US" altLang="zh-CN" sz="2800" b="1" kern="100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</a:t>
              </a:r>
              <a:r>
                <a:rPr lang="zh-CN" altLang="en-US" sz="2800" b="1" kern="100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抽象类</a:t>
              </a:r>
              <a:endParaRPr lang="zh-CN" altLang="zh-CN" sz="2800" b="1" kern="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9" name="圆角矩形 78"/>
          <p:cNvSpPr/>
          <p:nvPr/>
        </p:nvSpPr>
        <p:spPr>
          <a:xfrm>
            <a:off x="5791629" y="4180903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6673143" y="4180901"/>
            <a:ext cx="5114664" cy="595017"/>
            <a:chOff x="6339097" y="4180903"/>
            <a:chExt cx="3744416" cy="595018"/>
          </a:xfrm>
        </p:grpSpPr>
        <p:sp>
          <p:nvSpPr>
            <p:cNvPr id="81" name="圆角矩形 80"/>
            <p:cNvSpPr/>
            <p:nvPr/>
          </p:nvSpPr>
          <p:spPr>
            <a:xfrm>
              <a:off x="6339097" y="418090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3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6723349" y="4221882"/>
              <a:ext cx="2736305" cy="554039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en-US" altLang="zh-CN" sz="2800" b="1" kern="100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</a:t>
              </a:r>
              <a:r>
                <a:rPr lang="zh-CN" altLang="en-US" sz="2800" b="1" kern="100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接口</a:t>
              </a:r>
              <a:endParaRPr lang="zh-CN" altLang="zh-CN" sz="2800" b="1" kern="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3" name="圆角矩形 82"/>
          <p:cNvSpPr/>
          <p:nvPr/>
        </p:nvSpPr>
        <p:spPr>
          <a:xfrm>
            <a:off x="5791758" y="5057483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6673143" y="5057483"/>
            <a:ext cx="5114664" cy="582533"/>
            <a:chOff x="6339097" y="5057483"/>
            <a:chExt cx="3744416" cy="582533"/>
          </a:xfrm>
        </p:grpSpPr>
        <p:sp>
          <p:nvSpPr>
            <p:cNvPr id="85" name="圆角矩形 84"/>
            <p:cNvSpPr/>
            <p:nvPr/>
          </p:nvSpPr>
          <p:spPr>
            <a:xfrm>
              <a:off x="6339097" y="505748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3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6723478" y="5085978"/>
              <a:ext cx="2736174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800" b="1" kern="100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面向对象设计原则</a:t>
              </a:r>
              <a:endParaRPr lang="zh-CN" altLang="zh-CN" sz="2800" b="1" kern="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338535" y="2219568"/>
            <a:ext cx="2806485" cy="1354243"/>
          </a:xfrm>
          <a:prstGeom prst="rect">
            <a:avLst/>
          </a:prstGeom>
          <a:noFill/>
        </p:spPr>
        <p:txBody>
          <a:bodyPr wrap="square" lIns="121880" tIns="60938" rIns="121880" bIns="60938">
            <a:spAutoFit/>
          </a:bodyPr>
          <a:lstStyle/>
          <a:p>
            <a:pPr algn="r">
              <a:defRPr/>
            </a:pPr>
            <a:r>
              <a:rPr lang="zh-CN" altLang="en-US" sz="48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endParaRPr lang="en-US" altLang="zh-CN" sz="48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defRPr/>
            </a:pPr>
            <a:r>
              <a:rPr lang="en-US" altLang="zh-CN" sz="32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下箭头 87"/>
          <p:cNvSpPr/>
          <p:nvPr/>
        </p:nvSpPr>
        <p:spPr>
          <a:xfrm rot="16200000">
            <a:off x="4614050" y="2370020"/>
            <a:ext cx="576064" cy="679386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8" tIns="45695" rIns="91388" bIns="45695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7 0.04121 L -6.25E-7 -3.33333E-6 " pathEditMode="relative" rAng="0" ptsTypes="AA">
                                      <p:cBhvr>
                                        <p:cTn id="21" dur="7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6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7 0.0412 L -6.25E-7 2.96296E-6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6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7 0.0412 L -6.25E-7 -7.40741E-7 " pathEditMode="relative" rAng="0" ptsTypes="AA">
                                      <p:cBhvr>
                                        <p:cTn id="37" dur="7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6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3737 0.04121 L -6.25E-7 -4.44444E-6 " pathEditMode="relative" rAng="0" ptsTypes="AA">
                                      <p:cBhvr>
                                        <p:cTn id="45" dur="7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6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3737 0.04121 L -6.25E-7 -4.44444E-6 " pathEditMode="relative" rAng="0" ptsTypes="AA">
                                      <p:cBhvr>
                                        <p:cTn id="53" dur="7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750"/>
                            </p:stCondLst>
                            <p:childTnLst>
                              <p:par>
                                <p:cTn id="5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7" grpId="0" animBg="1"/>
      <p:bldP spid="67" grpId="1" animBg="1"/>
      <p:bldP spid="67" grpId="2" animBg="1"/>
      <p:bldP spid="71" grpId="0" animBg="1"/>
      <p:bldP spid="71" grpId="1" animBg="1"/>
      <p:bldP spid="75" grpId="0" animBg="1"/>
      <p:bldP spid="75" grpId="1" animBg="1"/>
      <p:bldP spid="79" grpId="0" animBg="1"/>
      <p:bldP spid="79" grpId="1" animBg="1"/>
      <p:bldP spid="83" grpId="0" animBg="1"/>
      <p:bldP spid="83" grpId="1" animBg="1"/>
      <p:bldP spid="87" grpId="0"/>
      <p:bldP spid="8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类之间的关系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397967" y="6021388"/>
            <a:ext cx="8229600" cy="392112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lang="zh-CN" altLang="en-US" sz="2800" b="1" dirty="0" smtClean="0">
                <a:latin typeface="黑体" panose="02010609060101010101" pitchFamily="2" charset="-122"/>
                <a:ea typeface="黑体" panose="02010609060101010101" pitchFamily="2" charset="-122"/>
              </a:rPr>
              <a:t>标准的类图的三个区域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" name="Group 13"/>
          <p:cNvGrpSpPr/>
          <p:nvPr/>
        </p:nvGrpSpPr>
        <p:grpSpPr bwMode="auto">
          <a:xfrm>
            <a:off x="1396379" y="1196975"/>
            <a:ext cx="3960813" cy="4176713"/>
            <a:chOff x="431" y="1116"/>
            <a:chExt cx="2948" cy="2223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431" y="2160"/>
              <a:ext cx="2948" cy="117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2800" b="1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Operations: </a:t>
              </a:r>
              <a:endParaRPr lang="en-US" altLang="zh-CN" sz="28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  <a:p>
              <a:r>
                <a:rPr lang="en-US" altLang="zh-CN" sz="28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+Function1(): int</a:t>
              </a:r>
              <a:endParaRPr lang="en-US" altLang="zh-CN" sz="2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  <a:p>
              <a:r>
                <a:rPr lang="en-US" altLang="zh-CN" sz="28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+Function2(): void</a:t>
              </a:r>
              <a:endParaRPr lang="en-US" altLang="zh-CN" sz="2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  <a:p>
              <a:r>
                <a:rPr lang="en-US" altLang="zh-CN" sz="28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+Function3(): String</a:t>
              </a:r>
              <a:endParaRPr lang="en-US" altLang="zh-CN" sz="2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  <a:p>
              <a:r>
                <a:rPr lang="en-US" altLang="zh-CN" sz="28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#Function4(): void</a:t>
              </a:r>
              <a:endParaRPr lang="en-US" altLang="zh-CN" sz="2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431" y="1116"/>
              <a:ext cx="2948" cy="2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Class name</a:t>
              </a:r>
              <a:endParaRPr lang="en-US" altLang="zh-CN" sz="2800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431" y="1389"/>
              <a:ext cx="2948" cy="77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2800" dirty="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Attributes:</a:t>
              </a:r>
              <a:endPara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  <a:p>
              <a:r>
                <a:rPr lang="en-US" altLang="zh-CN" sz="2800" dirty="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-variable1: String</a:t>
              </a:r>
              <a:endPara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  <a:p>
              <a:r>
                <a:rPr lang="en-US" altLang="zh-CN" sz="2800" dirty="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-variable2: String </a:t>
              </a:r>
              <a:endPara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5790579" y="4843463"/>
            <a:ext cx="48451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私有；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公有；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受保护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19"/>
          <p:cNvSpPr txBox="1">
            <a:spLocks noChangeArrowheads="1"/>
          </p:cNvSpPr>
          <p:nvPr/>
        </p:nvSpPr>
        <p:spPr bwMode="auto">
          <a:xfrm>
            <a:off x="5935042" y="1109663"/>
            <a:ext cx="1225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类名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5933454" y="2262188"/>
            <a:ext cx="28813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类的属性（数据）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Box 21"/>
          <p:cNvSpPr txBox="1">
            <a:spLocks noChangeArrowheads="1"/>
          </p:cNvSpPr>
          <p:nvPr/>
        </p:nvSpPr>
        <p:spPr bwMode="auto">
          <a:xfrm>
            <a:off x="5935042" y="3846513"/>
            <a:ext cx="2881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类的方法（功能）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类之间的关系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57200" y="1341562"/>
            <a:ext cx="8229600" cy="2044700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 smtClean="0"/>
              <a:t>基本的类图记号</a:t>
            </a:r>
            <a:endParaRPr lang="zh-CN" altLang="en-US" sz="2800" b="1" dirty="0" smtClean="0"/>
          </a:p>
          <a:p>
            <a:pPr lvl="1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0000CC"/>
                </a:solidFill>
                <a:ea typeface="黑体" panose="02010609060101010101" pitchFamily="2" charset="-122"/>
              </a:rPr>
              <a:t>类</a:t>
            </a:r>
            <a:r>
              <a:rPr lang="en-US" altLang="zh-CN" sz="2800" b="1" dirty="0" smtClean="0">
                <a:solidFill>
                  <a:srgbClr val="0000CC"/>
                </a:solidFill>
              </a:rPr>
              <a:t>:</a:t>
            </a:r>
            <a:r>
              <a:rPr lang="en-US" altLang="zh-CN" sz="2800" dirty="0" smtClean="0"/>
              <a:t> </a:t>
            </a:r>
            <a:r>
              <a:rPr lang="zh-CN" altLang="en-US" sz="2800" dirty="0" smtClean="0"/>
              <a:t>类代表具有相同特点的实体的抽象</a:t>
            </a:r>
            <a:endParaRPr lang="zh-CN" altLang="en-US" sz="2800" dirty="0" smtClean="0"/>
          </a:p>
          <a:p>
            <a:pPr lvl="1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0000CC"/>
                </a:solidFill>
                <a:ea typeface="黑体" panose="02010609060101010101" pitchFamily="2" charset="-122"/>
              </a:rPr>
              <a:t>关联</a:t>
            </a:r>
            <a:r>
              <a:rPr lang="en-US" altLang="zh-CN" sz="2800" dirty="0" smtClean="0"/>
              <a:t>: </a:t>
            </a:r>
            <a:r>
              <a:rPr lang="zh-CN" altLang="en-US" sz="2800" dirty="0" smtClean="0"/>
              <a:t>关联代表类之间的关系 </a:t>
            </a:r>
            <a:endParaRPr lang="zh-CN" altLang="en-US" sz="28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3646736"/>
            <a:ext cx="11042575" cy="2519362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ct val="100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ea typeface="黑体" panose="02010609060101010101" pitchFamily="2" charset="-122"/>
              </a:rPr>
              <a:t>关联的定义</a:t>
            </a:r>
            <a:endParaRPr lang="zh-CN" altLang="en-US" sz="2800" b="1" dirty="0" smtClean="0">
              <a:ea typeface="黑体" panose="0201060906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ct val="10000"/>
              </a:spcBef>
              <a:buNone/>
            </a:pPr>
            <a:r>
              <a:rPr lang="zh-CN" altLang="en-GB" sz="2800" dirty="0" smtClean="0"/>
              <a:t>    如果一个类的实例为了进行某方面的工作，必须知道另外一个类的属性与方法，则我们就说该两个类之间存在关联。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类之间的关系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635769" y="981522"/>
            <a:ext cx="8351838" cy="1955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这样利用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UML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表示关联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使用填充箭头表示关联方向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在关联线的上方、或者下方用文字表示关联名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1491506" y="3141613"/>
            <a:ext cx="1873250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3200" b="1"/>
              <a:t>Driver</a:t>
            </a:r>
            <a:r>
              <a:rPr lang="en-US" altLang="zh-CN" sz="3200"/>
              <a:t> </a:t>
            </a:r>
            <a:endParaRPr lang="en-US" altLang="zh-CN" sz="3200"/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1491506" y="3717875"/>
            <a:ext cx="1873250" cy="4318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2800" dirty="0">
                <a:solidFill>
                  <a:srgbClr val="0000CC"/>
                </a:solidFill>
              </a:rPr>
              <a:t>-c: </a:t>
            </a:r>
            <a:r>
              <a:rPr lang="en-US" altLang="zh-CN" sz="2800" b="1" dirty="0"/>
              <a:t>Car</a:t>
            </a:r>
            <a:r>
              <a:rPr lang="en-US" altLang="zh-CN" sz="2800" dirty="0"/>
              <a:t> </a:t>
            </a:r>
            <a:endParaRPr lang="en-US" altLang="zh-CN" sz="2800" dirty="0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1491506" y="4149675"/>
            <a:ext cx="1873250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/>
              <a:t> </a:t>
            </a:r>
            <a:endParaRPr lang="en-US" altLang="zh-CN" sz="2800"/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4653806" y="3173869"/>
            <a:ext cx="1592262" cy="5847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>
            <a:spAutoFit/>
          </a:bodyPr>
          <a:lstStyle/>
          <a:p>
            <a:pPr algn="ctr"/>
            <a:r>
              <a:rPr lang="en-US" altLang="zh-CN" sz="3200" b="1"/>
              <a:t>Car</a:t>
            </a:r>
            <a:r>
              <a:rPr lang="en-US" altLang="zh-CN" sz="3200"/>
              <a:t>  </a:t>
            </a:r>
            <a:endParaRPr lang="en-US" altLang="zh-CN" sz="3200"/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4653806" y="3717875"/>
            <a:ext cx="1592262" cy="4318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/>
              <a:t> </a:t>
            </a:r>
            <a:endParaRPr lang="en-US" altLang="zh-CN" sz="2800"/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4653806" y="4149675"/>
            <a:ext cx="1592262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/>
              <a:t> </a:t>
            </a:r>
            <a:endParaRPr lang="en-US" altLang="zh-CN" sz="2800"/>
          </a:p>
        </p:txBody>
      </p:sp>
      <p:grpSp>
        <p:nvGrpSpPr>
          <p:cNvPr id="19" name="Group 28"/>
          <p:cNvGrpSpPr/>
          <p:nvPr/>
        </p:nvGrpSpPr>
        <p:grpSpPr bwMode="auto">
          <a:xfrm>
            <a:off x="6674693" y="2997150"/>
            <a:ext cx="2736850" cy="1727200"/>
            <a:chOff x="1520" y="1706"/>
            <a:chExt cx="1360" cy="1088"/>
          </a:xfrm>
        </p:grpSpPr>
        <p:sp>
          <p:nvSpPr>
            <p:cNvPr id="20" name="Oval 29"/>
            <p:cNvSpPr>
              <a:spLocks noChangeArrowheads="1"/>
            </p:cNvSpPr>
            <p:nvPr/>
          </p:nvSpPr>
          <p:spPr bwMode="auto">
            <a:xfrm>
              <a:off x="1520" y="1706"/>
              <a:ext cx="1360" cy="10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3200" b="1"/>
                <a:t>Driver</a:t>
              </a:r>
              <a:endParaRPr lang="en-US" altLang="zh-CN" sz="3200" b="1"/>
            </a:p>
          </p:txBody>
        </p:sp>
        <p:sp>
          <p:nvSpPr>
            <p:cNvPr id="21" name="Oval 30"/>
            <p:cNvSpPr>
              <a:spLocks noChangeArrowheads="1"/>
            </p:cNvSpPr>
            <p:nvPr/>
          </p:nvSpPr>
          <p:spPr bwMode="auto">
            <a:xfrm>
              <a:off x="2335" y="2024"/>
              <a:ext cx="454" cy="454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/>
                <a:t>c</a:t>
              </a:r>
              <a:endParaRPr lang="en-US" altLang="zh-CN" sz="3200" b="1"/>
            </a:p>
          </p:txBody>
        </p:sp>
      </p:grpSp>
      <p:sp>
        <p:nvSpPr>
          <p:cNvPr id="22" name="Line 32"/>
          <p:cNvSpPr>
            <a:spLocks noChangeShapeType="1"/>
          </p:cNvSpPr>
          <p:nvPr/>
        </p:nvSpPr>
        <p:spPr bwMode="auto">
          <a:xfrm>
            <a:off x="3366343" y="3789313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Box 17"/>
          <p:cNvSpPr txBox="1">
            <a:spLocks noChangeArrowheads="1"/>
          </p:cNvSpPr>
          <p:nvPr/>
        </p:nvSpPr>
        <p:spPr bwMode="auto">
          <a:xfrm>
            <a:off x="539749" y="5080000"/>
            <a:ext cx="1059998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语言中，关联关系被实例变量来实现，例如，在以上图中，变量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Driver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类中的变量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Car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的变量。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类之间的关系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57199" y="1239838"/>
            <a:ext cx="10826551" cy="2333625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如果类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保持了类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的引用，我们则理解类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与类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之间存在关联。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好像是一个国家中有另外一个国家的大使馆一样。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Oval 5"/>
          <p:cNvSpPr>
            <a:spLocks noChangeArrowheads="1"/>
          </p:cNvSpPr>
          <p:nvPr/>
        </p:nvSpPr>
        <p:spPr bwMode="auto">
          <a:xfrm>
            <a:off x="3203575" y="3789363"/>
            <a:ext cx="5040313" cy="22320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2800" b="1" dirty="0"/>
              <a:t>China</a:t>
            </a:r>
            <a:endParaRPr lang="en-US" altLang="zh-CN" sz="2800" b="1" dirty="0"/>
          </a:p>
        </p:txBody>
      </p:sp>
      <p:sp>
        <p:nvSpPr>
          <p:cNvPr id="5" name="Oval 6"/>
          <p:cNvSpPr>
            <a:spLocks noChangeArrowheads="1"/>
          </p:cNvSpPr>
          <p:nvPr/>
        </p:nvSpPr>
        <p:spPr bwMode="auto">
          <a:xfrm>
            <a:off x="5580063" y="4441825"/>
            <a:ext cx="2305050" cy="931863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/>
              <a:t>French</a:t>
            </a:r>
            <a:endParaRPr lang="en-US" altLang="zh-CN" sz="2800" b="1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类之间的关系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5152" y="1269555"/>
            <a:ext cx="11762655" cy="1274762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zh-CN" altLang="en-GB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关联关系：关联关系是一种结构化关系，用于表示一类对象与另一类</a:t>
            </a:r>
            <a:r>
              <a:rPr lang="zh-CN" altLang="en-GB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对象之间有联系</a:t>
            </a:r>
            <a:r>
              <a:rPr lang="en-GB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GB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10235" lvl="1" indent="0">
              <a:lnSpc>
                <a:spcPct val="110000"/>
              </a:lnSpc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Group 36"/>
          <p:cNvGrpSpPr/>
          <p:nvPr/>
        </p:nvGrpSpPr>
        <p:grpSpPr bwMode="auto">
          <a:xfrm>
            <a:off x="1802606" y="3076704"/>
            <a:ext cx="6813550" cy="2808287"/>
            <a:chOff x="675" y="1026"/>
            <a:chExt cx="4292" cy="1769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675" y="1026"/>
              <a:ext cx="2095" cy="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/>
                <a:t>LoginF</a:t>
              </a:r>
              <a:r>
                <a:rPr lang="en-US" altLang="zh-CN" sz="2800" b="1"/>
                <a:t>orm </a:t>
              </a:r>
              <a:endParaRPr lang="en-US" altLang="zh-CN" sz="2800" b="1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675" y="1298"/>
              <a:ext cx="2095" cy="8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2400" dirty="0"/>
                <a:t>-Login Button</a:t>
              </a:r>
              <a:r>
                <a:rPr lang="zh-CN" altLang="en-US" sz="2400" dirty="0"/>
                <a:t>：</a:t>
              </a:r>
              <a:r>
                <a:rPr lang="en-US" altLang="zh-CN" sz="2400" dirty="0"/>
                <a:t>JButton </a:t>
              </a:r>
              <a:endParaRPr lang="en-US" altLang="zh-CN" sz="2400" dirty="0"/>
            </a:p>
            <a:p>
              <a:endParaRPr lang="en-US" altLang="zh-CN" sz="2400" dirty="0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675" y="2160"/>
              <a:ext cx="2095" cy="6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3920" y="1027"/>
              <a:ext cx="1047" cy="2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algn="ctr"/>
              <a:r>
                <a:rPr lang="en-US" altLang="zh-CN" sz="2800" b="1"/>
                <a:t>Jbutton</a:t>
              </a:r>
              <a:endParaRPr lang="en-US" altLang="zh-CN" sz="2800" b="1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3920" y="1298"/>
              <a:ext cx="1047" cy="1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3920" y="1434"/>
              <a:ext cx="1047" cy="18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 flipV="1">
              <a:off x="2811" y="1364"/>
              <a:ext cx="1109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2872" y="1071"/>
              <a:ext cx="845" cy="2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contains</a:t>
              </a:r>
              <a:endParaRPr lang="en-US" altLang="zh-CN" b="1"/>
            </a:p>
            <a:p>
              <a:pPr>
                <a:spcBef>
                  <a:spcPct val="50000"/>
                </a:spcBef>
              </a:pPr>
              <a:endParaRPr lang="en-US" altLang="zh-CN" b="1"/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3700" y="1071"/>
              <a:ext cx="133" cy="2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b="1"/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2872" y="1661"/>
              <a:ext cx="275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b="1" dirty="0"/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3700" y="1661"/>
              <a:ext cx="133" cy="2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b="1"/>
            </a:p>
          </p:txBody>
        </p:sp>
        <p:sp>
          <p:nvSpPr>
            <p:cNvPr id="26" name="Text Box 29"/>
            <p:cNvSpPr txBox="1">
              <a:spLocks noChangeArrowheads="1"/>
            </p:cNvSpPr>
            <p:nvPr/>
          </p:nvSpPr>
          <p:spPr bwMode="auto">
            <a:xfrm>
              <a:off x="3717" y="2205"/>
              <a:ext cx="142" cy="2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b="1"/>
            </a:p>
          </p:txBody>
        </p:sp>
      </p:grp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1181943" y="5950074"/>
            <a:ext cx="8229600" cy="465137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lang="zh-CN" altLang="en-GB" sz="2800" b="1" smtClean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关联关系的一个例子：登陆界面与</a:t>
            </a:r>
            <a:r>
              <a:rPr lang="zh-CN" altLang="en-GB" sz="2800" b="1" smtClean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按钮</a:t>
            </a:r>
            <a:endParaRPr lang="zh-CN" altLang="en-GB" sz="2800" b="1" smtClean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类之间的关系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5152" y="1269555"/>
            <a:ext cx="11762655" cy="1274762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zh-CN" altLang="en-GB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关联关系：关联关系是一种结构化关系，用于表示一类对象与另一类</a:t>
            </a:r>
            <a:r>
              <a:rPr lang="zh-CN" altLang="en-GB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对象之间有联系</a:t>
            </a:r>
            <a:r>
              <a:rPr lang="en-GB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GB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10235" lvl="1" indent="0">
              <a:lnSpc>
                <a:spcPct val="110000"/>
              </a:lnSpc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Group 36"/>
          <p:cNvGrpSpPr/>
          <p:nvPr/>
        </p:nvGrpSpPr>
        <p:grpSpPr bwMode="auto">
          <a:xfrm>
            <a:off x="1802606" y="3048129"/>
            <a:ext cx="7975600" cy="2836862"/>
            <a:chOff x="675" y="1008"/>
            <a:chExt cx="5024" cy="1787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675" y="1026"/>
              <a:ext cx="1751" cy="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/>
                <a:t>customer </a:t>
              </a:r>
              <a:endParaRPr lang="en-US" altLang="zh-CN" sz="2800" b="1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675" y="1298"/>
              <a:ext cx="1741" cy="8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2400" dirty="0"/>
                <a:t>-products</a:t>
              </a:r>
              <a:r>
                <a:rPr lang="zh-CN" altLang="en-US" sz="2400" dirty="0"/>
                <a:t>：</a:t>
              </a:r>
              <a:r>
                <a:rPr lang="en-US" altLang="zh-CN" sz="2400" dirty="0"/>
                <a:t>product[] </a:t>
              </a:r>
              <a:endParaRPr lang="en-US" altLang="zh-CN" sz="2400" dirty="0"/>
            </a:p>
            <a:p>
              <a:endParaRPr lang="en-US" altLang="zh-CN" sz="2400" dirty="0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675" y="2160"/>
              <a:ext cx="1741" cy="6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017" y="1008"/>
              <a:ext cx="1682" cy="2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zh-CN" sz="2800" b="1"/>
                <a:t>product</a:t>
              </a:r>
              <a:endParaRPr lang="en-US" altLang="zh-CN" sz="2800" b="1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4017" y="1294"/>
              <a:ext cx="1682" cy="2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-customer:Customer </a:t>
              </a:r>
              <a:endParaRPr lang="en-US" altLang="zh-CN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4017" y="1596"/>
              <a:ext cx="1679" cy="18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 flipV="1">
              <a:off x="2457" y="1364"/>
              <a:ext cx="1464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2872" y="1071"/>
              <a:ext cx="845" cy="2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no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purchase</a:t>
              </a:r>
              <a:endParaRPr lang="en-US" altLang="zh-CN" b="1"/>
            </a:p>
            <a:p>
              <a:pPr>
                <a:spcBef>
                  <a:spcPct val="50000"/>
                </a:spcBef>
              </a:pPr>
              <a:r>
                <a:rPr lang="en-US" altLang="zh-CN" b="1"/>
                <a:t>is sold to</a:t>
              </a:r>
              <a:endParaRPr lang="en-US" altLang="zh-CN" b="1"/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3700" y="1071"/>
              <a:ext cx="133" cy="2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b="1"/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2872" y="1661"/>
              <a:ext cx="275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b="1" dirty="0"/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3700" y="1661"/>
              <a:ext cx="133" cy="2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b="1"/>
            </a:p>
          </p:txBody>
        </p:sp>
        <p:sp>
          <p:nvSpPr>
            <p:cNvPr id="26" name="Text Box 29"/>
            <p:cNvSpPr txBox="1">
              <a:spLocks noChangeArrowheads="1"/>
            </p:cNvSpPr>
            <p:nvPr/>
          </p:nvSpPr>
          <p:spPr bwMode="auto">
            <a:xfrm>
              <a:off x="3717" y="2205"/>
              <a:ext cx="142" cy="2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b="1"/>
            </a:p>
          </p:txBody>
        </p:sp>
      </p:grp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1181943" y="5950074"/>
            <a:ext cx="8229600" cy="465137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lang="zh-CN" altLang="en-GB" sz="2800" b="1" smtClean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双向</a:t>
            </a:r>
            <a:r>
              <a:rPr lang="zh-CN" altLang="en-GB" sz="2800" b="1" smtClean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关联</a:t>
            </a:r>
            <a:endParaRPr lang="zh-CN" altLang="en-GB" sz="2800" b="1" smtClean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类之间的关系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5152" y="1269555"/>
            <a:ext cx="11762655" cy="1274762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zh-CN" altLang="en-GB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关联关系：关联关系是一种结构化关系，用于表示一类对象与另一类</a:t>
            </a:r>
            <a:r>
              <a:rPr lang="zh-CN" altLang="en-GB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对象之间有联系</a:t>
            </a:r>
            <a:r>
              <a:rPr lang="en-GB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GB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10235" lvl="1" indent="0">
              <a:lnSpc>
                <a:spcPct val="110000"/>
              </a:lnSpc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Group 36"/>
          <p:cNvGrpSpPr/>
          <p:nvPr/>
        </p:nvGrpSpPr>
        <p:grpSpPr bwMode="auto">
          <a:xfrm>
            <a:off x="3883501" y="3076704"/>
            <a:ext cx="5054600" cy="2808287"/>
            <a:chOff x="675" y="1026"/>
            <a:chExt cx="3184" cy="1769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675" y="1026"/>
              <a:ext cx="1751" cy="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/>
                <a:t>Node</a:t>
              </a:r>
              <a:endParaRPr lang="en-US" altLang="zh-CN" sz="2800" b="1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675" y="1298"/>
              <a:ext cx="1741" cy="8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2400" dirty="0"/>
                <a:t>-subNode</a:t>
              </a:r>
              <a:r>
                <a:rPr lang="zh-CN" altLang="en-US" sz="2400" dirty="0"/>
                <a:t>：</a:t>
              </a:r>
              <a:r>
                <a:rPr lang="en-US" altLang="zh-CN" sz="2400" dirty="0"/>
                <a:t>Node</a:t>
              </a:r>
              <a:endParaRPr lang="en-US" altLang="zh-CN" sz="2400" dirty="0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675" y="2160"/>
              <a:ext cx="1741" cy="6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3700" y="1071"/>
              <a:ext cx="133" cy="2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b="1"/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2872" y="1661"/>
              <a:ext cx="275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b="1" dirty="0"/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3700" y="1661"/>
              <a:ext cx="133" cy="2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b="1"/>
            </a:p>
          </p:txBody>
        </p:sp>
        <p:sp>
          <p:nvSpPr>
            <p:cNvPr id="26" name="Text Box 29"/>
            <p:cNvSpPr txBox="1">
              <a:spLocks noChangeArrowheads="1"/>
            </p:cNvSpPr>
            <p:nvPr/>
          </p:nvSpPr>
          <p:spPr bwMode="auto">
            <a:xfrm>
              <a:off x="3717" y="2205"/>
              <a:ext cx="142" cy="2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zh-CN" b="1"/>
            </a:p>
          </p:txBody>
        </p:sp>
      </p:grp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1181943" y="5950074"/>
            <a:ext cx="8229600" cy="465137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lang="zh-CN" altLang="en-GB" sz="2800" b="1" smtClean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自关联</a:t>
            </a:r>
            <a:endParaRPr lang="zh-CN" altLang="en-GB" sz="2800" b="1" smtClean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6676390" y="4365625"/>
            <a:ext cx="1871345" cy="4445"/>
          </a:xfrm>
          <a:prstGeom prst="line">
            <a:avLst/>
          </a:prstGeom>
          <a:ln>
            <a:solidFill>
              <a:srgbClr val="41445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 flipV="1">
            <a:off x="8547735" y="2277745"/>
            <a:ext cx="3810" cy="2062480"/>
          </a:xfrm>
          <a:prstGeom prst="line">
            <a:avLst/>
          </a:prstGeom>
          <a:ln>
            <a:solidFill>
              <a:srgbClr val="41445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5739130" y="2272665"/>
            <a:ext cx="2767965" cy="5080"/>
          </a:xfrm>
          <a:prstGeom prst="line">
            <a:avLst/>
          </a:prstGeom>
          <a:ln>
            <a:solidFill>
              <a:srgbClr val="41445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727700" y="2287270"/>
            <a:ext cx="11430" cy="854075"/>
          </a:xfrm>
          <a:prstGeom prst="line">
            <a:avLst/>
          </a:prstGeom>
          <a:ln>
            <a:solidFill>
              <a:srgbClr val="414455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662670" y="3524885"/>
            <a:ext cx="1252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contains</a:t>
            </a:r>
            <a:endParaRPr lang="en-US" altLang="zh-CN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类之间的关系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5152" y="1269555"/>
            <a:ext cx="11762655" cy="1274762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Tx/>
              <a:buNone/>
            </a:pPr>
            <a:r>
              <a:rPr lang="zh-CN" altLang="en-GB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聚合关系：</a:t>
            </a:r>
            <a:r>
              <a:rPr lang="zh-CN" altLang="en-GB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聚合关系是一种比较强的关联关系，代表整体</a:t>
            </a:r>
            <a:r>
              <a:rPr lang="en-GB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GB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部分关系。</a:t>
            </a:r>
            <a:r>
              <a:rPr lang="en-GB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GB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GB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记号，箭尾使用空心的钻石记号代表“整体”，“箭头”指向部分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Group 36"/>
          <p:cNvGrpSpPr/>
          <p:nvPr/>
        </p:nvGrpSpPr>
        <p:grpSpPr bwMode="auto">
          <a:xfrm>
            <a:off x="1589881" y="2565847"/>
            <a:ext cx="6813550" cy="3024187"/>
            <a:chOff x="675" y="1025"/>
            <a:chExt cx="4292" cy="1905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675" y="1026"/>
              <a:ext cx="2095" cy="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/>
                <a:t>Car </a:t>
              </a:r>
              <a:endParaRPr lang="en-US" altLang="zh-CN" sz="2800" b="1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675" y="1298"/>
              <a:ext cx="2095" cy="8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2400" dirty="0"/>
                <a:t>-engine: Engine </a:t>
              </a:r>
              <a:endParaRPr lang="en-US" altLang="zh-CN" sz="2400" dirty="0"/>
            </a:p>
            <a:p>
              <a:r>
                <a:rPr lang="en-US" altLang="zh-CN" sz="2400" dirty="0"/>
                <a:t>-wheels: Wheels</a:t>
              </a:r>
              <a:endParaRPr lang="en-US" altLang="zh-CN" sz="2400" dirty="0"/>
            </a:p>
            <a:p>
              <a:r>
                <a:rPr lang="en-US" altLang="zh-CN" sz="2400" dirty="0"/>
                <a:t>-parts: Parts</a:t>
              </a:r>
              <a:endParaRPr lang="en-US" altLang="zh-CN" sz="2400" dirty="0"/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675" y="2160"/>
              <a:ext cx="2095" cy="6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3920" y="1025"/>
              <a:ext cx="1047" cy="2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algn="ctr"/>
              <a:r>
                <a:rPr lang="en-US" altLang="zh-CN" sz="2800" b="1"/>
                <a:t>Engine</a:t>
              </a:r>
              <a:r>
                <a:rPr lang="en-US" altLang="zh-CN"/>
                <a:t>   </a:t>
              </a:r>
              <a:endParaRPr lang="en-US" altLang="zh-CN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3920" y="1298"/>
              <a:ext cx="1047" cy="1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3920" y="1434"/>
              <a:ext cx="1047" cy="18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 flipV="1">
              <a:off x="2928" y="1364"/>
              <a:ext cx="9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13"/>
            <p:cNvSpPr>
              <a:spLocks noChangeArrowheads="1"/>
            </p:cNvSpPr>
            <p:nvPr/>
          </p:nvSpPr>
          <p:spPr bwMode="auto">
            <a:xfrm>
              <a:off x="3920" y="1705"/>
              <a:ext cx="1047" cy="2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algn="ctr"/>
              <a:r>
                <a:rPr lang="en-US" altLang="zh-CN" sz="2800" b="1"/>
                <a:t>Wheels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3" name="Rectangle 14"/>
            <p:cNvSpPr>
              <a:spLocks noChangeArrowheads="1"/>
            </p:cNvSpPr>
            <p:nvPr/>
          </p:nvSpPr>
          <p:spPr bwMode="auto">
            <a:xfrm>
              <a:off x="3920" y="1978"/>
              <a:ext cx="1047" cy="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3920" y="2068"/>
              <a:ext cx="1047" cy="18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3920" y="2340"/>
              <a:ext cx="1047" cy="2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algn="ctr"/>
              <a:r>
                <a:rPr lang="en-US" altLang="zh-CN" sz="2800" b="1"/>
                <a:t>Parts</a:t>
              </a:r>
              <a:r>
                <a:rPr lang="en-US" altLang="zh-CN"/>
                <a:t>  </a:t>
              </a:r>
              <a:endParaRPr lang="en-US" altLang="zh-CN"/>
            </a:p>
          </p:txBody>
        </p:sp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3920" y="2613"/>
              <a:ext cx="1047" cy="1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7" name="Rectangle 18"/>
            <p:cNvSpPr>
              <a:spLocks noChangeArrowheads="1"/>
            </p:cNvSpPr>
            <p:nvPr/>
          </p:nvSpPr>
          <p:spPr bwMode="auto">
            <a:xfrm>
              <a:off x="3920" y="2749"/>
              <a:ext cx="1047" cy="18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8" name="AutoShape 19"/>
            <p:cNvSpPr>
              <a:spLocks noChangeArrowheads="1"/>
            </p:cNvSpPr>
            <p:nvPr/>
          </p:nvSpPr>
          <p:spPr bwMode="auto">
            <a:xfrm>
              <a:off x="2770" y="1298"/>
              <a:ext cx="152" cy="136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2872" y="1071"/>
              <a:ext cx="275" cy="2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1</a:t>
              </a:r>
              <a:endParaRPr lang="en-US" altLang="zh-CN" b="1"/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3700" y="1071"/>
              <a:ext cx="133" cy="2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1</a:t>
              </a:r>
              <a:endParaRPr lang="en-US" altLang="zh-CN" b="1"/>
            </a:p>
          </p:txBody>
        </p:sp>
        <p:sp>
          <p:nvSpPr>
            <p:cNvPr id="21" name="Line 22"/>
            <p:cNvSpPr>
              <a:spLocks noChangeShapeType="1"/>
            </p:cNvSpPr>
            <p:nvPr/>
          </p:nvSpPr>
          <p:spPr bwMode="auto">
            <a:xfrm flipV="1">
              <a:off x="2928" y="1956"/>
              <a:ext cx="9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2872" y="1661"/>
              <a:ext cx="275" cy="2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/>
                <a:t>1</a:t>
              </a:r>
              <a:endParaRPr lang="en-US" altLang="zh-CN" b="1" dirty="0"/>
            </a:p>
          </p:txBody>
        </p:sp>
        <p:sp>
          <p:nvSpPr>
            <p:cNvPr id="23" name="Text Box 25"/>
            <p:cNvSpPr txBox="1">
              <a:spLocks noChangeArrowheads="1"/>
            </p:cNvSpPr>
            <p:nvPr/>
          </p:nvSpPr>
          <p:spPr bwMode="auto">
            <a:xfrm>
              <a:off x="3700" y="1661"/>
              <a:ext cx="133" cy="2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endParaRPr lang="en-US" altLang="zh-CN" b="1"/>
            </a:p>
          </p:txBody>
        </p:sp>
        <p:sp>
          <p:nvSpPr>
            <p:cNvPr id="24" name="Line 26"/>
            <p:cNvSpPr>
              <a:spLocks noChangeShapeType="1"/>
            </p:cNvSpPr>
            <p:nvPr/>
          </p:nvSpPr>
          <p:spPr bwMode="auto">
            <a:xfrm flipV="1">
              <a:off x="2928" y="2498"/>
              <a:ext cx="98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Box 28"/>
            <p:cNvSpPr txBox="1">
              <a:spLocks noChangeArrowheads="1"/>
            </p:cNvSpPr>
            <p:nvPr/>
          </p:nvSpPr>
          <p:spPr bwMode="auto">
            <a:xfrm>
              <a:off x="2817" y="2205"/>
              <a:ext cx="275" cy="2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1</a:t>
              </a:r>
              <a:endParaRPr lang="en-US" altLang="zh-CN" b="1"/>
            </a:p>
          </p:txBody>
        </p:sp>
        <p:sp>
          <p:nvSpPr>
            <p:cNvPr id="26" name="Text Box 29"/>
            <p:cNvSpPr txBox="1">
              <a:spLocks noChangeArrowheads="1"/>
            </p:cNvSpPr>
            <p:nvPr/>
          </p:nvSpPr>
          <p:spPr bwMode="auto">
            <a:xfrm>
              <a:off x="3717" y="2205"/>
              <a:ext cx="142" cy="2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*</a:t>
              </a:r>
              <a:endParaRPr lang="en-US" altLang="zh-CN" b="1"/>
            </a:p>
          </p:txBody>
        </p:sp>
        <p:sp>
          <p:nvSpPr>
            <p:cNvPr id="27" name="AutoShape 32"/>
            <p:cNvSpPr>
              <a:spLocks noChangeArrowheads="1"/>
            </p:cNvSpPr>
            <p:nvPr/>
          </p:nvSpPr>
          <p:spPr bwMode="auto">
            <a:xfrm>
              <a:off x="2770" y="1888"/>
              <a:ext cx="152" cy="136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AutoShape 33"/>
            <p:cNvSpPr>
              <a:spLocks noChangeArrowheads="1"/>
            </p:cNvSpPr>
            <p:nvPr/>
          </p:nvSpPr>
          <p:spPr bwMode="auto">
            <a:xfrm>
              <a:off x="2770" y="2432"/>
              <a:ext cx="152" cy="136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1181943" y="5950074"/>
            <a:ext cx="8229600" cy="465137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buFontTx/>
              <a:buNone/>
            </a:pPr>
            <a:r>
              <a:rPr lang="zh-CN" altLang="en-GB" sz="2800" b="1" smtClean="0">
                <a:solidFill>
                  <a:srgbClr val="0000CC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聚合关系的一个例子：轿车及其零件</a:t>
            </a:r>
            <a:endParaRPr lang="zh-CN" altLang="en-US" sz="2800" b="1" dirty="0">
              <a:solidFill>
                <a:srgbClr val="0000CC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类之间的关系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57199" y="1600200"/>
            <a:ext cx="11042575" cy="3629025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Tx/>
              <a:buNone/>
            </a:pPr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聚合关系与一般的关联关系的区别</a:t>
            </a:r>
            <a:r>
              <a:rPr lang="en-US" altLang="zh-CN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800" b="1" dirty="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Like association, aggregation is realized by instance variables. But the difference is that: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一般的关联关系，两个关联的类处于相同的层次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在聚合关系中，两个类不属于同一个层次，其中一个代表整体类，另外一个代表部分类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类之间的关系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601216" y="1197546"/>
            <a:ext cx="10970567" cy="4641850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组合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复合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关系：组合关系也是一种整体与部分的关系，其中整体部分负责创建和消灭部分类的对象。</a:t>
            </a:r>
            <a:endParaRPr lang="zh-CN" altLang="en-US" sz="28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sz="28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关系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组合关系比聚合关系更强，整体类负责部分类的对象的生命周期。</a:t>
            </a:r>
            <a:r>
              <a:rPr lang="zh-CN" altLang="en-US" sz="28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800" dirty="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28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objects of the “whole” class is in charge of the creation and destroy of the object of the “part” class. </a:t>
            </a:r>
            <a:endParaRPr lang="en-US" altLang="zh-CN" sz="2800" dirty="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the objects of the “whole” class can pass  the object of the “part” class to another object, the latter is in charge of the life cycle of the object.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类之间的关系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154487" y="5805488"/>
            <a:ext cx="6553200" cy="431800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r>
              <a:rPr lang="en-US" altLang="zh-CN" sz="2800" b="1" smtClean="0"/>
              <a:t>Example of composition relation</a:t>
            </a:r>
            <a:endParaRPr lang="en-US" altLang="zh-CN" sz="2800" b="1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443412" y="2276475"/>
            <a:ext cx="2663825" cy="43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Tiger</a:t>
            </a:r>
            <a:r>
              <a:rPr lang="en-US" altLang="zh-CN" sz="2800"/>
              <a:t> </a:t>
            </a:r>
            <a:endParaRPr lang="en-US" altLang="zh-CN" sz="280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443412" y="2708275"/>
            <a:ext cx="2663825" cy="13684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dirty="0"/>
              <a:t>-limbs: </a:t>
            </a:r>
            <a:r>
              <a:rPr lang="en-US" altLang="zh-CN" dirty="0" err="1"/>
              <a:t>TigerLimb</a:t>
            </a:r>
            <a:r>
              <a:rPr lang="en-US" altLang="zh-CN" dirty="0"/>
              <a:t>[ ]</a:t>
            </a:r>
            <a:endParaRPr lang="en-US" altLang="zh-CN" dirty="0"/>
          </a:p>
          <a:p>
            <a:r>
              <a:rPr lang="en-US" altLang="zh-CN" dirty="0"/>
              <a:t>-head: </a:t>
            </a:r>
            <a:r>
              <a:rPr lang="en-US" altLang="zh-CN" dirty="0" err="1"/>
              <a:t>TigerHead</a:t>
            </a:r>
            <a:endParaRPr lang="en-US" altLang="zh-CN" dirty="0"/>
          </a:p>
          <a:p>
            <a:r>
              <a:rPr lang="en-US" altLang="zh-CN" dirty="0"/>
              <a:t>-gut: </a:t>
            </a:r>
            <a:r>
              <a:rPr lang="en-US" altLang="zh-CN" dirty="0" err="1"/>
              <a:t>TigerGut</a:t>
            </a:r>
            <a:endParaRPr lang="en-US" altLang="zh-CN" dirty="0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4443412" y="4076700"/>
            <a:ext cx="2663825" cy="6477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8710612" y="2060575"/>
            <a:ext cx="1752600" cy="43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1"/>
              <a:t>TigerLimb </a:t>
            </a:r>
            <a:endParaRPr lang="en-US" altLang="zh-CN" sz="2400" b="1"/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8710612" y="2493963"/>
            <a:ext cx="1752600" cy="215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8710612" y="2709863"/>
            <a:ext cx="1752600" cy="288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7343774" y="2528888"/>
            <a:ext cx="1366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8710612" y="3141663"/>
            <a:ext cx="1752600" cy="43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1"/>
              <a:t>TigerHead</a:t>
            </a:r>
            <a:endParaRPr lang="en-US" altLang="zh-CN" sz="2400" b="1"/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8710612" y="3573463"/>
            <a:ext cx="1752600" cy="1428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8710612" y="3716338"/>
            <a:ext cx="1752600" cy="288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4" name="AutoShape 18"/>
          <p:cNvSpPr>
            <a:spLocks noChangeArrowheads="1"/>
          </p:cNvSpPr>
          <p:nvPr/>
        </p:nvSpPr>
        <p:spPr bwMode="auto">
          <a:xfrm>
            <a:off x="7107237" y="2420938"/>
            <a:ext cx="215900" cy="215900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7323137" y="2060575"/>
            <a:ext cx="515937" cy="4270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1</a:t>
            </a:r>
            <a:endParaRPr lang="en-US" altLang="zh-CN" b="1"/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8380412" y="2117725"/>
            <a:ext cx="239712" cy="3349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4</a:t>
            </a:r>
            <a:endParaRPr lang="en-US" altLang="zh-CN" b="1"/>
          </a:p>
        </p:txBody>
      </p:sp>
      <p:sp>
        <p:nvSpPr>
          <p:cNvPr id="17" name="Line 21"/>
          <p:cNvSpPr>
            <a:spLocks noChangeShapeType="1"/>
          </p:cNvSpPr>
          <p:nvPr/>
        </p:nvSpPr>
        <p:spPr bwMode="auto">
          <a:xfrm flipV="1">
            <a:off x="7299324" y="3429000"/>
            <a:ext cx="1366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Box 23"/>
          <p:cNvSpPr txBox="1">
            <a:spLocks noChangeArrowheads="1"/>
          </p:cNvSpPr>
          <p:nvPr/>
        </p:nvSpPr>
        <p:spPr bwMode="auto">
          <a:xfrm>
            <a:off x="7323137" y="2997200"/>
            <a:ext cx="515937" cy="4270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1</a:t>
            </a:r>
            <a:endParaRPr lang="en-US" altLang="zh-CN" b="1"/>
          </a:p>
        </p:txBody>
      </p:sp>
      <p:sp>
        <p:nvSpPr>
          <p:cNvPr id="19" name="Text Box 24"/>
          <p:cNvSpPr txBox="1">
            <a:spLocks noChangeArrowheads="1"/>
          </p:cNvSpPr>
          <p:nvPr/>
        </p:nvSpPr>
        <p:spPr bwMode="auto">
          <a:xfrm>
            <a:off x="8380412" y="3054350"/>
            <a:ext cx="311150" cy="3349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1</a:t>
            </a:r>
            <a:endParaRPr lang="en-US" altLang="zh-CN" b="1"/>
          </a:p>
        </p:txBody>
      </p:sp>
      <p:sp>
        <p:nvSpPr>
          <p:cNvPr id="20" name="Rectangle 33"/>
          <p:cNvSpPr>
            <a:spLocks noChangeArrowheads="1"/>
          </p:cNvSpPr>
          <p:nvPr/>
        </p:nvSpPr>
        <p:spPr bwMode="auto">
          <a:xfrm>
            <a:off x="8710612" y="4148138"/>
            <a:ext cx="1752600" cy="43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1"/>
              <a:t>TigerGut</a:t>
            </a:r>
            <a:endParaRPr lang="en-US" altLang="zh-CN" sz="2400" b="1"/>
          </a:p>
        </p:txBody>
      </p:sp>
      <p:sp>
        <p:nvSpPr>
          <p:cNvPr id="21" name="Rectangle 34"/>
          <p:cNvSpPr>
            <a:spLocks noChangeArrowheads="1"/>
          </p:cNvSpPr>
          <p:nvPr/>
        </p:nvSpPr>
        <p:spPr bwMode="auto">
          <a:xfrm>
            <a:off x="8710612" y="4579938"/>
            <a:ext cx="1752600" cy="1428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8710612" y="4722813"/>
            <a:ext cx="1752600" cy="288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3" name="Line 36"/>
          <p:cNvSpPr>
            <a:spLocks noChangeShapeType="1"/>
          </p:cNvSpPr>
          <p:nvPr/>
        </p:nvSpPr>
        <p:spPr bwMode="auto">
          <a:xfrm>
            <a:off x="7326312" y="4545013"/>
            <a:ext cx="13668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Box 38"/>
          <p:cNvSpPr txBox="1">
            <a:spLocks noChangeArrowheads="1"/>
          </p:cNvSpPr>
          <p:nvPr/>
        </p:nvSpPr>
        <p:spPr bwMode="auto">
          <a:xfrm>
            <a:off x="7250112" y="4076700"/>
            <a:ext cx="515937" cy="4270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1</a:t>
            </a:r>
            <a:endParaRPr lang="en-US" altLang="zh-CN" b="1"/>
          </a:p>
        </p:txBody>
      </p:sp>
      <p:sp>
        <p:nvSpPr>
          <p:cNvPr id="25" name="Text Box 39"/>
          <p:cNvSpPr txBox="1">
            <a:spLocks noChangeArrowheads="1"/>
          </p:cNvSpPr>
          <p:nvPr/>
        </p:nvSpPr>
        <p:spPr bwMode="auto">
          <a:xfrm>
            <a:off x="8404224" y="4133850"/>
            <a:ext cx="212725" cy="3349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1</a:t>
            </a:r>
            <a:endParaRPr lang="en-US" altLang="zh-CN" b="1"/>
          </a:p>
        </p:txBody>
      </p:sp>
      <p:sp>
        <p:nvSpPr>
          <p:cNvPr id="26" name="AutoShape 41"/>
          <p:cNvSpPr>
            <a:spLocks noChangeArrowheads="1"/>
          </p:cNvSpPr>
          <p:nvPr/>
        </p:nvSpPr>
        <p:spPr bwMode="auto">
          <a:xfrm>
            <a:off x="7107237" y="3314700"/>
            <a:ext cx="215900" cy="215900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AutoShape 42"/>
          <p:cNvSpPr>
            <a:spLocks noChangeArrowheads="1"/>
          </p:cNvSpPr>
          <p:nvPr/>
        </p:nvSpPr>
        <p:spPr bwMode="auto">
          <a:xfrm>
            <a:off x="7107237" y="4437063"/>
            <a:ext cx="215900" cy="215900"/>
          </a:xfrm>
          <a:prstGeom prst="diamond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338535" y="2845019"/>
            <a:ext cx="30700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组合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复合</a:t>
            </a:r>
            <a:r>
              <a:rPr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r>
              <a:rPr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关系</a:t>
            </a:r>
            <a:endParaRPr lang="zh-CN" altLang="en-US" sz="3200" dirty="0"/>
          </a:p>
        </p:txBody>
      </p:sp>
      <p:cxnSp>
        <p:nvCxnSpPr>
          <p:cNvPr id="29" name="Straight Connector 59"/>
          <p:cNvCxnSpPr/>
          <p:nvPr/>
        </p:nvCxnSpPr>
        <p:spPr>
          <a:xfrm flipV="1">
            <a:off x="3578895" y="1472308"/>
            <a:ext cx="0" cy="4483417"/>
          </a:xfrm>
          <a:prstGeom prst="line">
            <a:avLst/>
          </a:prstGeom>
          <a:ln w="3175">
            <a:solidFill>
              <a:srgbClr val="41445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类之间的关系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57200" y="1484313"/>
            <a:ext cx="10826551" cy="3313112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依赖关系：两个类存在依赖关系，如果一个类依赖于另外一个类。</a:t>
            </a:r>
            <a:endParaRPr lang="zh-CN" altLang="en-US" sz="28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28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person</a:t>
            </a:r>
            <a:r>
              <a:rPr lang="zh-CN" altLang="en-US" sz="28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可以买一个</a:t>
            </a:r>
            <a:r>
              <a:rPr lang="en-US" altLang="zh-CN" sz="28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car</a:t>
            </a:r>
            <a:r>
              <a:rPr lang="zh-CN" altLang="en-US" sz="28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和一个</a:t>
            </a:r>
            <a:r>
              <a:rPr lang="en-US" altLang="zh-CN" sz="28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house</a:t>
            </a:r>
            <a:r>
              <a:rPr lang="zh-CN" altLang="en-US" sz="28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 </a:t>
            </a:r>
            <a:r>
              <a:rPr lang="en-US" altLang="zh-CN" sz="28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Person</a:t>
            </a:r>
            <a:r>
              <a:rPr lang="zh-CN" altLang="en-US" sz="28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类依赖于</a:t>
            </a:r>
            <a:r>
              <a:rPr lang="en-US" altLang="zh-CN" sz="28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Car</a:t>
            </a:r>
            <a:r>
              <a:rPr lang="zh-CN" altLang="en-US" sz="28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类和</a:t>
            </a:r>
            <a:r>
              <a:rPr lang="en-US" altLang="zh-CN" sz="28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House</a:t>
            </a:r>
            <a:r>
              <a:rPr lang="zh-CN" altLang="en-US" sz="28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280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altLang="zh-CN" sz="280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使用虚线表示依赖关系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类之间的关系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38535" y="2349674"/>
            <a:ext cx="18261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依赖关联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Straight Connector 59"/>
          <p:cNvCxnSpPr/>
          <p:nvPr/>
        </p:nvCxnSpPr>
        <p:spPr>
          <a:xfrm flipV="1">
            <a:off x="3578895" y="1472309"/>
            <a:ext cx="0" cy="2391592"/>
          </a:xfrm>
          <a:prstGeom prst="line">
            <a:avLst/>
          </a:prstGeom>
          <a:ln w="3175">
            <a:solidFill>
              <a:srgbClr val="414455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5449366" y="1917626"/>
            <a:ext cx="3240088" cy="43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/>
              <a:t>Person  </a:t>
            </a:r>
            <a:endParaRPr lang="en-US" altLang="zh-CN" sz="2800" b="1"/>
          </a:p>
        </p:txBody>
      </p:sp>
      <p:sp>
        <p:nvSpPr>
          <p:cNvPr id="31" name="Rectangle 6"/>
          <p:cNvSpPr>
            <a:spLocks noChangeArrowheads="1"/>
          </p:cNvSpPr>
          <p:nvPr/>
        </p:nvSpPr>
        <p:spPr bwMode="auto">
          <a:xfrm>
            <a:off x="5449366" y="2349426"/>
            <a:ext cx="3240088" cy="36036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5449366" y="2709789"/>
            <a:ext cx="3240088" cy="86518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/>
              <a:t>buy(Car car): void</a:t>
            </a:r>
            <a:endParaRPr lang="en-US" altLang="zh-CN"/>
          </a:p>
          <a:p>
            <a:r>
              <a:rPr lang="en-US" altLang="zh-CN"/>
              <a:t>buy(House house): void</a:t>
            </a:r>
            <a:endParaRPr lang="en-US" altLang="zh-CN"/>
          </a:p>
        </p:txBody>
      </p:sp>
      <p:sp>
        <p:nvSpPr>
          <p:cNvPr id="33" name="Rectangle 8"/>
          <p:cNvSpPr>
            <a:spLocks noChangeArrowheads="1"/>
          </p:cNvSpPr>
          <p:nvPr/>
        </p:nvSpPr>
        <p:spPr bwMode="auto">
          <a:xfrm>
            <a:off x="10059466" y="1920801"/>
            <a:ext cx="1584325" cy="43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/>
              <a:t>Car  </a:t>
            </a:r>
            <a:endParaRPr lang="en-US" altLang="zh-CN" sz="2800" b="1"/>
          </a:p>
        </p:txBody>
      </p:sp>
      <p:sp>
        <p:nvSpPr>
          <p:cNvPr id="34" name="Rectangle 9"/>
          <p:cNvSpPr>
            <a:spLocks noChangeArrowheads="1"/>
          </p:cNvSpPr>
          <p:nvPr/>
        </p:nvSpPr>
        <p:spPr bwMode="auto">
          <a:xfrm>
            <a:off x="10059466" y="2352601"/>
            <a:ext cx="1584325" cy="215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5" name="Rectangle 10"/>
          <p:cNvSpPr>
            <a:spLocks noChangeArrowheads="1"/>
          </p:cNvSpPr>
          <p:nvPr/>
        </p:nvSpPr>
        <p:spPr bwMode="auto">
          <a:xfrm>
            <a:off x="10059466" y="2568501"/>
            <a:ext cx="1584325" cy="288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6" name="Rectangle 12"/>
          <p:cNvSpPr>
            <a:spLocks noChangeArrowheads="1"/>
          </p:cNvSpPr>
          <p:nvPr/>
        </p:nvSpPr>
        <p:spPr bwMode="auto">
          <a:xfrm>
            <a:off x="10059466" y="3000301"/>
            <a:ext cx="1584325" cy="431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/>
              <a:t>House </a:t>
            </a:r>
            <a:endParaRPr lang="en-US" altLang="zh-CN" sz="2800" b="1"/>
          </a:p>
        </p:txBody>
      </p:sp>
      <p:sp>
        <p:nvSpPr>
          <p:cNvPr id="37" name="Rectangle 13"/>
          <p:cNvSpPr>
            <a:spLocks noChangeArrowheads="1"/>
          </p:cNvSpPr>
          <p:nvPr/>
        </p:nvSpPr>
        <p:spPr bwMode="auto">
          <a:xfrm>
            <a:off x="10059466" y="3432101"/>
            <a:ext cx="1584325" cy="1428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>
            <a:off x="10059466" y="3574976"/>
            <a:ext cx="1584325" cy="288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9" name="Line 18"/>
          <p:cNvSpPr>
            <a:spLocks noChangeShapeType="1"/>
          </p:cNvSpPr>
          <p:nvPr/>
        </p:nvSpPr>
        <p:spPr bwMode="auto">
          <a:xfrm>
            <a:off x="8689454" y="3213026"/>
            <a:ext cx="1368425" cy="1588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22"/>
          <p:cNvSpPr>
            <a:spLocks noChangeShapeType="1"/>
          </p:cNvSpPr>
          <p:nvPr/>
        </p:nvSpPr>
        <p:spPr bwMode="auto">
          <a:xfrm>
            <a:off x="8689454" y="2495476"/>
            <a:ext cx="1368425" cy="1588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Text Box 27"/>
          <p:cNvSpPr txBox="1">
            <a:spLocks noChangeArrowheads="1"/>
          </p:cNvSpPr>
          <p:nvPr/>
        </p:nvSpPr>
        <p:spPr bwMode="auto">
          <a:xfrm>
            <a:off x="3650729" y="2811389"/>
            <a:ext cx="1368425" cy="692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10800" rIns="36000" bIns="10800">
            <a:spAutoFit/>
          </a:bodyPr>
          <a:lstStyle/>
          <a:p>
            <a:r>
              <a:rPr lang="zh-CN" altLang="en-US" b="1">
                <a:ea typeface="黑体" panose="02010609060101010101" pitchFamily="2" charset="-122"/>
              </a:rPr>
              <a:t>通过参数</a:t>
            </a:r>
            <a:endParaRPr lang="zh-CN" altLang="en-US" b="1">
              <a:ea typeface="黑体" panose="02010609060101010101" pitchFamily="2" charset="-122"/>
            </a:endParaRPr>
          </a:p>
          <a:p>
            <a:r>
              <a:rPr lang="zh-CN" altLang="en-US" b="1">
                <a:ea typeface="黑体" panose="02010609060101010101" pitchFamily="2" charset="-122"/>
              </a:rPr>
              <a:t>实现关联</a:t>
            </a:r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42" name="Line 28"/>
          <p:cNvSpPr>
            <a:spLocks noChangeShapeType="1"/>
          </p:cNvSpPr>
          <p:nvPr/>
        </p:nvSpPr>
        <p:spPr bwMode="auto">
          <a:xfrm>
            <a:off x="4874691" y="3143176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Rectangle 3"/>
          <p:cNvSpPr txBox="1">
            <a:spLocks noChangeArrowheads="1"/>
          </p:cNvSpPr>
          <p:nvPr/>
        </p:nvSpPr>
        <p:spPr>
          <a:xfrm>
            <a:off x="724235" y="4077519"/>
            <a:ext cx="10487508" cy="2160587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 smtClean="0"/>
              <a:t>Person</a:t>
            </a:r>
            <a:r>
              <a:rPr lang="zh-CN" altLang="en-US" sz="2800" b="1" dirty="0" smtClean="0"/>
              <a:t>类没有包含</a:t>
            </a:r>
            <a:r>
              <a:rPr lang="en-US" altLang="zh-CN" sz="2800" b="1" dirty="0" smtClean="0"/>
              <a:t>Car</a:t>
            </a:r>
            <a:r>
              <a:rPr lang="zh-CN" altLang="en-US" sz="2800" b="1" dirty="0" smtClean="0"/>
              <a:t>类与</a:t>
            </a:r>
            <a:r>
              <a:rPr lang="en-US" altLang="zh-CN" sz="2800" b="1" dirty="0" smtClean="0"/>
              <a:t>House</a:t>
            </a:r>
            <a:r>
              <a:rPr lang="zh-CN" altLang="en-US" sz="2800" b="1" dirty="0" smtClean="0"/>
              <a:t>类的属性</a:t>
            </a:r>
            <a:endParaRPr lang="zh-CN" altLang="en-US" sz="2800" b="1" dirty="0" smtClean="0"/>
          </a:p>
          <a:p>
            <a:r>
              <a:rPr lang="en-US" altLang="zh-CN" sz="2800" b="1" dirty="0" smtClean="0"/>
              <a:t>Car</a:t>
            </a:r>
            <a:r>
              <a:rPr lang="zh-CN" altLang="en-US" sz="2800" b="1" dirty="0" smtClean="0"/>
              <a:t>类和</a:t>
            </a:r>
            <a:r>
              <a:rPr lang="en-US" altLang="zh-CN" sz="2800" b="1" dirty="0" smtClean="0"/>
              <a:t>house</a:t>
            </a:r>
            <a:r>
              <a:rPr lang="zh-CN" altLang="en-US" sz="2800" b="1" dirty="0" smtClean="0"/>
              <a:t>类的对象通过方法的参数传入到</a:t>
            </a:r>
            <a:r>
              <a:rPr lang="en-US" altLang="zh-CN" sz="2800" b="1" dirty="0" smtClean="0"/>
              <a:t>Person</a:t>
            </a:r>
            <a:r>
              <a:rPr lang="zh-CN" altLang="en-US" sz="2800" b="1" dirty="0" smtClean="0"/>
              <a:t>类</a:t>
            </a:r>
            <a:endParaRPr lang="zh-CN" altLang="en-US" sz="2800" b="1" dirty="0" smtClean="0"/>
          </a:p>
          <a:p>
            <a:pPr lvl="1"/>
            <a:r>
              <a:rPr lang="en-US" altLang="zh-CN" sz="2800" b="1" dirty="0" smtClean="0">
                <a:solidFill>
                  <a:srgbClr val="0000CC"/>
                </a:solidFill>
              </a:rPr>
              <a:t>buy(Car car) </a:t>
            </a:r>
            <a:endParaRPr lang="en-US" altLang="zh-CN" sz="2800" b="1" dirty="0" smtClean="0">
              <a:solidFill>
                <a:srgbClr val="0000CC"/>
              </a:solidFill>
            </a:endParaRPr>
          </a:p>
          <a:p>
            <a:pPr lvl="1"/>
            <a:r>
              <a:rPr lang="en-US" altLang="zh-CN" sz="2800" b="1" dirty="0" smtClean="0">
                <a:solidFill>
                  <a:srgbClr val="0000CC"/>
                </a:solidFill>
              </a:rPr>
              <a:t>buy(House house) </a:t>
            </a:r>
            <a:endParaRPr lang="en-US" altLang="zh-CN" sz="2800" b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类之间的关系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323850" y="1268413"/>
            <a:ext cx="10887893" cy="4537075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泛化关系</a:t>
            </a:r>
            <a:r>
              <a:rPr lang="en-US" altLang="zh-CN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(Generalization)  </a:t>
            </a:r>
            <a:endParaRPr lang="en-US" altLang="zh-CN" sz="2800" b="1" dirty="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在面向对象设计中，泛化、继承关系是同义词。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代表一个类是另外一个类的特别版本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Honda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（本田轿车）是一种特殊类型的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Car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（轿车），因此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Honda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类和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Car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类有泛化关系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类之间的关系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6"/>
          <p:cNvSpPr>
            <a:spLocks noChangeArrowheads="1"/>
          </p:cNvSpPr>
          <p:nvPr/>
        </p:nvSpPr>
        <p:spPr bwMode="auto">
          <a:xfrm>
            <a:off x="914599" y="5662042"/>
            <a:ext cx="104711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继承关系允许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Tiger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类和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Lion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类访问其超类的公有或者被保护方法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Rectangle 19"/>
          <p:cNvSpPr>
            <a:spLocks noChangeArrowheads="1"/>
          </p:cNvSpPr>
          <p:nvPr/>
        </p:nvSpPr>
        <p:spPr bwMode="auto">
          <a:xfrm>
            <a:off x="991890" y="1341438"/>
            <a:ext cx="698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  <a:ea typeface="黑体" panose="02010609060101010101" pitchFamily="2" charset="-122"/>
              </a:rPr>
              <a:t>泛化关系与聚合关系的区别的例子</a:t>
            </a:r>
            <a:endParaRPr lang="zh-CN" altLang="en-US" sz="2800" b="1" dirty="0">
              <a:solidFill>
                <a:srgbClr val="0000CC"/>
              </a:solidFill>
              <a:ea typeface="黑体" panose="02010609060101010101" pitchFamily="2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071640" y="2276475"/>
            <a:ext cx="2481262" cy="78105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 i="1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CatFamily</a:t>
            </a:r>
            <a:endParaRPr lang="en-US" altLang="zh-CN" sz="2800" b="1" i="1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2936577" y="4232275"/>
            <a:ext cx="2220913" cy="78105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Tiger</a:t>
            </a:r>
            <a:endParaRPr lang="en-US" altLang="zh-CN" sz="2800" b="1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>
            <a:off x="4041477" y="3743325"/>
            <a:ext cx="258762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>
            <a:off x="4073227" y="3743325"/>
            <a:ext cx="0" cy="4889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>
            <a:off x="6630690" y="3743325"/>
            <a:ext cx="0" cy="4889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5468640" y="4232275"/>
            <a:ext cx="2220912" cy="78105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Lion </a:t>
            </a:r>
            <a:endParaRPr lang="en-US" altLang="zh-CN" sz="2800" b="1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1" name="AutoShape 21"/>
          <p:cNvSpPr>
            <a:spLocks noChangeArrowheads="1"/>
          </p:cNvSpPr>
          <p:nvPr/>
        </p:nvSpPr>
        <p:spPr bwMode="auto">
          <a:xfrm>
            <a:off x="5138440" y="3060700"/>
            <a:ext cx="374650" cy="682625"/>
          </a:xfrm>
          <a:prstGeom prst="upArrow">
            <a:avLst>
              <a:gd name="adj1" fmla="val 0"/>
              <a:gd name="adj2" fmla="val 66099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0"/>
          <p:cNvSpPr>
            <a:spLocks noChangeArrowheads="1"/>
          </p:cNvSpPr>
          <p:nvPr/>
        </p:nvSpPr>
        <p:spPr bwMode="auto">
          <a:xfrm>
            <a:off x="2003003" y="5513388"/>
            <a:ext cx="7048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Car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类仅仅可以访问右端的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个类的公有方法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" name="Rectangle 33"/>
          <p:cNvSpPr>
            <a:spLocks noChangeArrowheads="1"/>
          </p:cNvSpPr>
          <p:nvPr/>
        </p:nvSpPr>
        <p:spPr bwMode="auto">
          <a:xfrm>
            <a:off x="1498178" y="1125538"/>
            <a:ext cx="50403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泛化和聚合关系的区别的例子</a:t>
            </a:r>
            <a:endParaRPr lang="zh-CN" altLang="en-US" sz="2800" b="1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Group 35"/>
          <p:cNvGrpSpPr/>
          <p:nvPr/>
        </p:nvGrpSpPr>
        <p:grpSpPr bwMode="auto">
          <a:xfrm>
            <a:off x="2074440" y="2133600"/>
            <a:ext cx="6813550" cy="3024188"/>
            <a:chOff x="675" y="1025"/>
            <a:chExt cx="4292" cy="1905"/>
          </a:xfrm>
        </p:grpSpPr>
        <p:sp>
          <p:nvSpPr>
            <p:cNvPr id="5" name="Rectangle 36"/>
            <p:cNvSpPr>
              <a:spLocks noChangeArrowheads="1"/>
            </p:cNvSpPr>
            <p:nvPr/>
          </p:nvSpPr>
          <p:spPr bwMode="auto">
            <a:xfrm>
              <a:off x="675" y="1026"/>
              <a:ext cx="2095" cy="2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/>
                <a:t>Car </a:t>
              </a:r>
              <a:endParaRPr lang="en-US" altLang="zh-CN" sz="2800" b="1"/>
            </a:p>
          </p:txBody>
        </p:sp>
        <p:sp>
          <p:nvSpPr>
            <p:cNvPr id="6" name="Rectangle 37"/>
            <p:cNvSpPr>
              <a:spLocks noChangeArrowheads="1"/>
            </p:cNvSpPr>
            <p:nvPr/>
          </p:nvSpPr>
          <p:spPr bwMode="auto">
            <a:xfrm>
              <a:off x="675" y="1298"/>
              <a:ext cx="2095" cy="8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2800" dirty="0"/>
                <a:t>-engine: Engine </a:t>
              </a:r>
              <a:endParaRPr lang="en-US" altLang="zh-CN" sz="2800" dirty="0"/>
            </a:p>
            <a:p>
              <a:r>
                <a:rPr lang="en-US" altLang="zh-CN" sz="2800" dirty="0"/>
                <a:t>-wheels: Wheels</a:t>
              </a:r>
              <a:endParaRPr lang="en-US" altLang="zh-CN" sz="2800" dirty="0"/>
            </a:p>
            <a:p>
              <a:r>
                <a:rPr lang="en-US" altLang="zh-CN" sz="2800" dirty="0"/>
                <a:t>-parts: Parts</a:t>
              </a:r>
              <a:endParaRPr lang="en-US" altLang="zh-CN" sz="2800" dirty="0"/>
            </a:p>
          </p:txBody>
        </p:sp>
        <p:sp>
          <p:nvSpPr>
            <p:cNvPr id="7" name="Rectangle 38"/>
            <p:cNvSpPr>
              <a:spLocks noChangeArrowheads="1"/>
            </p:cNvSpPr>
            <p:nvPr/>
          </p:nvSpPr>
          <p:spPr bwMode="auto">
            <a:xfrm>
              <a:off x="675" y="2160"/>
              <a:ext cx="2095" cy="6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8" name="Rectangle 39"/>
            <p:cNvSpPr>
              <a:spLocks noChangeArrowheads="1"/>
            </p:cNvSpPr>
            <p:nvPr/>
          </p:nvSpPr>
          <p:spPr bwMode="auto">
            <a:xfrm>
              <a:off x="3920" y="1025"/>
              <a:ext cx="1047" cy="2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algn="ctr"/>
              <a:r>
                <a:rPr lang="en-US" altLang="zh-CN" sz="2800" b="1"/>
                <a:t>Engine</a:t>
              </a:r>
              <a:r>
                <a:rPr lang="en-US" altLang="zh-CN"/>
                <a:t>   </a:t>
              </a:r>
              <a:endParaRPr lang="en-US" altLang="zh-CN"/>
            </a:p>
          </p:txBody>
        </p:sp>
        <p:sp>
          <p:nvSpPr>
            <p:cNvPr id="9" name="Rectangle 40"/>
            <p:cNvSpPr>
              <a:spLocks noChangeArrowheads="1"/>
            </p:cNvSpPr>
            <p:nvPr/>
          </p:nvSpPr>
          <p:spPr bwMode="auto">
            <a:xfrm>
              <a:off x="3920" y="1298"/>
              <a:ext cx="1047" cy="1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0" name="Rectangle 41"/>
            <p:cNvSpPr>
              <a:spLocks noChangeArrowheads="1"/>
            </p:cNvSpPr>
            <p:nvPr/>
          </p:nvSpPr>
          <p:spPr bwMode="auto">
            <a:xfrm>
              <a:off x="3920" y="1434"/>
              <a:ext cx="1047" cy="18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1" name="Line 42"/>
            <p:cNvSpPr>
              <a:spLocks noChangeShapeType="1"/>
            </p:cNvSpPr>
            <p:nvPr/>
          </p:nvSpPr>
          <p:spPr bwMode="auto">
            <a:xfrm flipV="1">
              <a:off x="2928" y="1364"/>
              <a:ext cx="9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43"/>
            <p:cNvSpPr>
              <a:spLocks noChangeArrowheads="1"/>
            </p:cNvSpPr>
            <p:nvPr/>
          </p:nvSpPr>
          <p:spPr bwMode="auto">
            <a:xfrm>
              <a:off x="3920" y="1705"/>
              <a:ext cx="1047" cy="2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algn="ctr"/>
              <a:r>
                <a:rPr lang="en-US" altLang="zh-CN" sz="2800" b="1"/>
                <a:t>Wheels</a:t>
              </a:r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3" name="Rectangle 44"/>
            <p:cNvSpPr>
              <a:spLocks noChangeArrowheads="1"/>
            </p:cNvSpPr>
            <p:nvPr/>
          </p:nvSpPr>
          <p:spPr bwMode="auto">
            <a:xfrm>
              <a:off x="3920" y="1978"/>
              <a:ext cx="1047" cy="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4" name="Rectangle 45"/>
            <p:cNvSpPr>
              <a:spLocks noChangeArrowheads="1"/>
            </p:cNvSpPr>
            <p:nvPr/>
          </p:nvSpPr>
          <p:spPr bwMode="auto">
            <a:xfrm>
              <a:off x="3920" y="2068"/>
              <a:ext cx="1047" cy="18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5" name="Rectangle 46"/>
            <p:cNvSpPr>
              <a:spLocks noChangeArrowheads="1"/>
            </p:cNvSpPr>
            <p:nvPr/>
          </p:nvSpPr>
          <p:spPr bwMode="auto">
            <a:xfrm>
              <a:off x="3920" y="2340"/>
              <a:ext cx="1047" cy="2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algn="ctr"/>
              <a:r>
                <a:rPr lang="en-US" altLang="zh-CN" sz="2800" b="1"/>
                <a:t>Parts</a:t>
              </a:r>
              <a:r>
                <a:rPr lang="en-US" altLang="zh-CN"/>
                <a:t>  </a:t>
              </a:r>
              <a:endParaRPr lang="en-US" altLang="zh-CN"/>
            </a:p>
          </p:txBody>
        </p:sp>
        <p:sp>
          <p:nvSpPr>
            <p:cNvPr id="16" name="Rectangle 47"/>
            <p:cNvSpPr>
              <a:spLocks noChangeArrowheads="1"/>
            </p:cNvSpPr>
            <p:nvPr/>
          </p:nvSpPr>
          <p:spPr bwMode="auto">
            <a:xfrm>
              <a:off x="3920" y="2613"/>
              <a:ext cx="1047" cy="1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7" name="Rectangle 48"/>
            <p:cNvSpPr>
              <a:spLocks noChangeArrowheads="1"/>
            </p:cNvSpPr>
            <p:nvPr/>
          </p:nvSpPr>
          <p:spPr bwMode="auto">
            <a:xfrm>
              <a:off x="3920" y="2749"/>
              <a:ext cx="1047" cy="18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/>
                <a:t> </a:t>
              </a:r>
              <a:endParaRPr lang="en-US" altLang="zh-CN"/>
            </a:p>
          </p:txBody>
        </p:sp>
        <p:sp>
          <p:nvSpPr>
            <p:cNvPr id="18" name="AutoShape 49"/>
            <p:cNvSpPr>
              <a:spLocks noChangeArrowheads="1"/>
            </p:cNvSpPr>
            <p:nvPr/>
          </p:nvSpPr>
          <p:spPr bwMode="auto">
            <a:xfrm>
              <a:off x="2770" y="1298"/>
              <a:ext cx="152" cy="136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Text Box 50"/>
            <p:cNvSpPr txBox="1">
              <a:spLocks noChangeArrowheads="1"/>
            </p:cNvSpPr>
            <p:nvPr/>
          </p:nvSpPr>
          <p:spPr bwMode="auto">
            <a:xfrm>
              <a:off x="2872" y="1071"/>
              <a:ext cx="275" cy="2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1</a:t>
              </a:r>
              <a:endParaRPr lang="en-US" altLang="zh-CN" b="1"/>
            </a:p>
          </p:txBody>
        </p:sp>
        <p:sp>
          <p:nvSpPr>
            <p:cNvPr id="20" name="Text Box 51"/>
            <p:cNvSpPr txBox="1">
              <a:spLocks noChangeArrowheads="1"/>
            </p:cNvSpPr>
            <p:nvPr/>
          </p:nvSpPr>
          <p:spPr bwMode="auto">
            <a:xfrm>
              <a:off x="3700" y="1071"/>
              <a:ext cx="133" cy="2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1</a:t>
              </a:r>
              <a:endParaRPr lang="en-US" altLang="zh-CN" b="1"/>
            </a:p>
          </p:txBody>
        </p:sp>
        <p:sp>
          <p:nvSpPr>
            <p:cNvPr id="21" name="Line 52"/>
            <p:cNvSpPr>
              <a:spLocks noChangeShapeType="1"/>
            </p:cNvSpPr>
            <p:nvPr/>
          </p:nvSpPr>
          <p:spPr bwMode="auto">
            <a:xfrm flipV="1">
              <a:off x="2928" y="1956"/>
              <a:ext cx="9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53"/>
            <p:cNvSpPr txBox="1">
              <a:spLocks noChangeArrowheads="1"/>
            </p:cNvSpPr>
            <p:nvPr/>
          </p:nvSpPr>
          <p:spPr bwMode="auto">
            <a:xfrm>
              <a:off x="2872" y="1661"/>
              <a:ext cx="275" cy="2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1</a:t>
              </a:r>
              <a:endParaRPr lang="en-US" altLang="zh-CN" b="1"/>
            </a:p>
          </p:txBody>
        </p:sp>
        <p:sp>
          <p:nvSpPr>
            <p:cNvPr id="23" name="Text Box 54"/>
            <p:cNvSpPr txBox="1">
              <a:spLocks noChangeArrowheads="1"/>
            </p:cNvSpPr>
            <p:nvPr/>
          </p:nvSpPr>
          <p:spPr bwMode="auto">
            <a:xfrm>
              <a:off x="3700" y="1661"/>
              <a:ext cx="133" cy="2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4</a:t>
              </a:r>
              <a:endParaRPr lang="en-US" altLang="zh-CN" b="1"/>
            </a:p>
          </p:txBody>
        </p:sp>
        <p:sp>
          <p:nvSpPr>
            <p:cNvPr id="24" name="Line 55"/>
            <p:cNvSpPr>
              <a:spLocks noChangeShapeType="1"/>
            </p:cNvSpPr>
            <p:nvPr/>
          </p:nvSpPr>
          <p:spPr bwMode="auto">
            <a:xfrm flipV="1">
              <a:off x="2928" y="2498"/>
              <a:ext cx="98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Box 56"/>
            <p:cNvSpPr txBox="1">
              <a:spLocks noChangeArrowheads="1"/>
            </p:cNvSpPr>
            <p:nvPr/>
          </p:nvSpPr>
          <p:spPr bwMode="auto">
            <a:xfrm>
              <a:off x="2817" y="2205"/>
              <a:ext cx="275" cy="2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1</a:t>
              </a:r>
              <a:endParaRPr lang="en-US" altLang="zh-CN" b="1"/>
            </a:p>
          </p:txBody>
        </p:sp>
        <p:sp>
          <p:nvSpPr>
            <p:cNvPr id="26" name="Text Box 57"/>
            <p:cNvSpPr txBox="1">
              <a:spLocks noChangeArrowheads="1"/>
            </p:cNvSpPr>
            <p:nvPr/>
          </p:nvSpPr>
          <p:spPr bwMode="auto">
            <a:xfrm>
              <a:off x="3717" y="2205"/>
              <a:ext cx="142" cy="2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*</a:t>
              </a:r>
              <a:endParaRPr lang="en-US" altLang="zh-CN" b="1"/>
            </a:p>
          </p:txBody>
        </p:sp>
        <p:sp>
          <p:nvSpPr>
            <p:cNvPr id="27" name="AutoShape 58"/>
            <p:cNvSpPr>
              <a:spLocks noChangeArrowheads="1"/>
            </p:cNvSpPr>
            <p:nvPr/>
          </p:nvSpPr>
          <p:spPr bwMode="auto">
            <a:xfrm>
              <a:off x="2770" y="1888"/>
              <a:ext cx="152" cy="136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AutoShape 59"/>
            <p:cNvSpPr>
              <a:spLocks noChangeArrowheads="1"/>
            </p:cNvSpPr>
            <p:nvPr/>
          </p:nvSpPr>
          <p:spPr bwMode="auto">
            <a:xfrm>
              <a:off x="2770" y="2432"/>
              <a:ext cx="152" cy="136"/>
            </a:xfrm>
            <a:prstGeom prst="diamond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类之间的关系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675640" y="920750"/>
          <a:ext cx="10527030" cy="5346065"/>
        </p:xfrm>
        <a:graphic>
          <a:graphicData uri="http://schemas.openxmlformats.org/drawingml/2006/table">
            <a:tbl>
              <a:tblPr/>
              <a:tblGrid>
                <a:gridCol w="965200"/>
                <a:gridCol w="1790700"/>
                <a:gridCol w="1327150"/>
                <a:gridCol w="2041525"/>
                <a:gridCol w="2404745"/>
                <a:gridCol w="1997710"/>
              </a:tblGrid>
              <a:tr h="802640">
                <a:tc>
                  <a:txBody>
                    <a:bodyPr/>
                    <a:p>
                      <a:pPr algn="l" fontAlgn="ctr" latinLnBrk="0"/>
                      <a:r>
                        <a:rPr lang="zh-CN" altLang="en-US" sz="2400" b="1"/>
                        <a:t>关系类型</a:t>
                      </a:r>
                      <a:endParaRPr lang="zh-CN" altLang="en-US" sz="2400" b="1"/>
                    </a:p>
                  </a:txBody>
                  <a:tcPr marL="0" marR="127317" marT="63817" marB="63817" anchor="ctr" anchorCtr="0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 latinLnBrk="0"/>
                      <a:r>
                        <a:rPr lang="zh-CN" altLang="en-US" sz="2400" b="1"/>
                        <a:t>英文关键字</a:t>
                      </a:r>
                      <a:endParaRPr lang="zh-CN" altLang="en-US" sz="2400" b="1"/>
                    </a:p>
                  </a:txBody>
                  <a:tcPr marL="0" marR="127317" marT="63817" marB="63817" anchor="ctr" anchorCtr="0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 latinLnBrk="0"/>
                      <a:r>
                        <a:rPr lang="zh-CN" altLang="en-US" sz="2400" b="1"/>
                        <a:t>语义</a:t>
                      </a:r>
                      <a:endParaRPr lang="zh-CN" altLang="en-US" sz="2400" b="1"/>
                    </a:p>
                  </a:txBody>
                  <a:tcPr marL="0" marR="127317" marT="63817" marB="63817" anchor="ctr" anchorCtr="0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 latinLnBrk="0"/>
                      <a:r>
                        <a:rPr lang="zh-CN" altLang="en-US" sz="2400" b="1"/>
                        <a:t>代码体现</a:t>
                      </a:r>
                      <a:endParaRPr lang="zh-CN" altLang="en-US" sz="2400" b="1"/>
                    </a:p>
                  </a:txBody>
                  <a:tcPr marL="0" marR="127317" marT="63817" marB="63817" anchor="ctr" anchorCtr="0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 latinLnBrk="0"/>
                      <a:r>
                        <a:rPr lang="zh-CN" altLang="en-US" sz="2400" b="1"/>
                        <a:t>生命周期</a:t>
                      </a:r>
                      <a:r>
                        <a:rPr lang="en-US" altLang="zh-CN" sz="2400" b="1"/>
                        <a:t>/</a:t>
                      </a:r>
                      <a:r>
                        <a:rPr lang="zh-CN" altLang="en-US" sz="2400" b="1"/>
                        <a:t>独立性</a:t>
                      </a:r>
                      <a:endParaRPr lang="zh-CN" altLang="en-US" sz="2400" b="1"/>
                    </a:p>
                  </a:txBody>
                  <a:tcPr marL="0" marR="127317" marT="63817" marB="63817" anchor="ctr" anchorCtr="0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 latinLnBrk="0"/>
                      <a:r>
                        <a:rPr lang="zh-CN" altLang="en-US" sz="2400" b="1"/>
                        <a:t>耦合强度</a:t>
                      </a:r>
                      <a:endParaRPr lang="zh-CN" altLang="en-US" sz="2400" b="1"/>
                    </a:p>
                  </a:txBody>
                  <a:tcPr marL="0" marR="127317" marT="63817" marB="63817" anchor="ctr" anchorCtr="0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08685"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依赖</a:t>
                      </a:r>
                      <a:r>
                        <a:rPr lang="en-US" altLang="zh-CN" sz="2400"/>
                        <a:t>​</a:t>
                      </a:r>
                      <a:endParaRPr lang="en-US" altLang="zh-CN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en-US" altLang="zh-CN" sz="2400"/>
                        <a:t>use-a</a:t>
                      </a:r>
                      <a:endParaRPr lang="en-US" altLang="zh-CN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使用</a:t>
                      </a:r>
                      <a:endParaRPr lang="zh-CN" altLang="en-US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方法参数</a:t>
                      </a:r>
                      <a:r>
                        <a:rPr lang="en-US" altLang="zh-CN" sz="2400"/>
                        <a:t>/</a:t>
                      </a:r>
                      <a:r>
                        <a:rPr lang="zh-CN" altLang="en-US" sz="2400"/>
                        <a:t>局部变量</a:t>
                      </a:r>
                      <a:endParaRPr lang="zh-CN" altLang="en-US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临时，方法结束即解耦</a:t>
                      </a:r>
                      <a:endParaRPr lang="zh-CN" altLang="en-US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en-US" altLang="zh-CN" sz="2400"/>
                        <a:t>⭐ (</a:t>
                      </a:r>
                      <a:r>
                        <a:rPr lang="zh-CN" altLang="en-US" sz="2400"/>
                        <a:t>最弱</a:t>
                      </a:r>
                      <a:r>
                        <a:rPr lang="en-US" altLang="zh-CN" sz="2400"/>
                        <a:t>)</a:t>
                      </a:r>
                      <a:endParaRPr lang="en-US" altLang="zh-CN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08685"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关联</a:t>
                      </a:r>
                      <a:r>
                        <a:rPr lang="en-US" altLang="zh-CN" sz="2400"/>
                        <a:t>​</a:t>
                      </a:r>
                      <a:endParaRPr lang="en-US" altLang="zh-CN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en-US" altLang="zh-CN" sz="2400"/>
                        <a:t>has-a</a:t>
                      </a:r>
                      <a:endParaRPr lang="en-US" altLang="zh-CN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拥有（平等）</a:t>
                      </a:r>
                      <a:endParaRPr lang="zh-CN" altLang="en-US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成员变量</a:t>
                      </a:r>
                      <a:endParaRPr lang="zh-CN" altLang="en-US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双方独立</a:t>
                      </a:r>
                      <a:endParaRPr lang="zh-CN" altLang="en-US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en-US" altLang="zh-CN" sz="2400"/>
                        <a:t>⭐⭐</a:t>
                      </a:r>
                      <a:endParaRPr lang="en-US" altLang="zh-CN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08685"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聚合</a:t>
                      </a:r>
                      <a:r>
                        <a:rPr lang="en-US" altLang="zh-CN" sz="2400"/>
                        <a:t>​</a:t>
                      </a:r>
                      <a:endParaRPr lang="en-US" altLang="zh-CN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en-US" altLang="zh-CN" sz="2400"/>
                        <a:t>has-a (</a:t>
                      </a:r>
                      <a:r>
                        <a:rPr lang="zh-CN" altLang="en-US" sz="2400"/>
                        <a:t>整体</a:t>
                      </a:r>
                      <a:r>
                        <a:rPr lang="en-US" altLang="zh-CN" sz="2400"/>
                        <a:t>-</a:t>
                      </a:r>
                      <a:r>
                        <a:rPr lang="zh-CN" altLang="en-US" sz="2400"/>
                        <a:t>部分</a:t>
                      </a:r>
                      <a:r>
                        <a:rPr lang="en-US" altLang="zh-CN" sz="2400"/>
                        <a:t>)</a:t>
                      </a:r>
                      <a:endParaRPr lang="en-US" altLang="zh-CN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弱拥有</a:t>
                      </a:r>
                      <a:endParaRPr lang="zh-CN" altLang="en-US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成员变量（外部传入）</a:t>
                      </a:r>
                      <a:endParaRPr lang="zh-CN" altLang="en-US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部分可脱离整体独立存在</a:t>
                      </a:r>
                      <a:endParaRPr lang="zh-CN" altLang="en-US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en-US" altLang="zh-CN" sz="2400"/>
                        <a:t>⭐⭐⭐</a:t>
                      </a:r>
                      <a:endParaRPr lang="en-US" altLang="zh-CN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08685"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组合</a:t>
                      </a:r>
                      <a:r>
                        <a:rPr lang="en-US" altLang="zh-CN" sz="2400"/>
                        <a:t>​</a:t>
                      </a:r>
                      <a:endParaRPr lang="en-US" altLang="zh-CN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en-US" altLang="zh-CN" sz="2400"/>
                        <a:t>contains-a</a:t>
                      </a:r>
                      <a:endParaRPr lang="en-US" altLang="zh-CN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强拥有</a:t>
                      </a:r>
                      <a:endParaRPr lang="zh-CN" altLang="en-US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成员变量（内部创建）</a:t>
                      </a:r>
                      <a:endParaRPr lang="zh-CN" altLang="en-US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同生共死，部分不能独立</a:t>
                      </a:r>
                      <a:endParaRPr lang="zh-CN" altLang="en-US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en-US" altLang="zh-CN" sz="2400"/>
                        <a:t>⭐⭐⭐⭐</a:t>
                      </a:r>
                      <a:endParaRPr lang="en-US" altLang="zh-CN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08685"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泛化</a:t>
                      </a:r>
                      <a:r>
                        <a:rPr lang="en-US" altLang="zh-CN" sz="2400"/>
                        <a:t>​</a:t>
                      </a:r>
                      <a:endParaRPr lang="en-US" altLang="zh-CN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en-US" altLang="zh-CN" sz="2400"/>
                        <a:t>is-a</a:t>
                      </a:r>
                      <a:endParaRPr lang="en-US" altLang="zh-CN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继承</a:t>
                      </a:r>
                      <a:endParaRPr lang="zh-CN" altLang="en-US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en-US" altLang="zh-CN" sz="2400"/>
                        <a:t>extends/implements</a:t>
                      </a:r>
                      <a:endParaRPr lang="en-US" altLang="zh-CN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400"/>
                        <a:t>编译期绑定，子类复用父类</a:t>
                      </a:r>
                      <a:endParaRPr lang="zh-CN" altLang="en-US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en-US" altLang="zh-CN" sz="2400"/>
                        <a:t>⭐⭐⭐⭐⭐ (</a:t>
                      </a:r>
                      <a:r>
                        <a:rPr lang="zh-CN" altLang="en-US" sz="2400"/>
                        <a:t>最强</a:t>
                      </a:r>
                      <a:r>
                        <a:rPr lang="en-US" altLang="zh-CN" sz="2400"/>
                        <a:t>)</a:t>
                      </a:r>
                      <a:endParaRPr lang="en-US" altLang="zh-CN" sz="24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0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722911" cy="68595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圆角矩形 66"/>
          <p:cNvSpPr/>
          <p:nvPr/>
        </p:nvSpPr>
        <p:spPr>
          <a:xfrm>
            <a:off x="5791629" y="3350338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6673143" y="3339524"/>
            <a:ext cx="5114664" cy="594326"/>
            <a:chOff x="6339097" y="1573726"/>
            <a:chExt cx="3744416" cy="594326"/>
          </a:xfrm>
        </p:grpSpPr>
        <p:sp>
          <p:nvSpPr>
            <p:cNvPr id="69" name="圆角矩形 68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bg1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6723350" y="1614014"/>
              <a:ext cx="265307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en-US" altLang="zh-CN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</a:t>
              </a:r>
              <a:r>
                <a:rPr lang="zh-CN" altLang="en-US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抽象类</a:t>
              </a:r>
              <a:endParaRPr lang="zh-CN" altLang="zh-CN" sz="28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圆角矩形 70"/>
          <p:cNvSpPr/>
          <p:nvPr/>
        </p:nvSpPr>
        <p:spPr>
          <a:xfrm>
            <a:off x="5791629" y="1694154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 smtClean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6649261" y="1683340"/>
            <a:ext cx="5114664" cy="594326"/>
            <a:chOff x="6315199" y="2410178"/>
            <a:chExt cx="3744416" cy="594326"/>
          </a:xfrm>
        </p:grpSpPr>
        <p:sp>
          <p:nvSpPr>
            <p:cNvPr id="73" name="圆角矩形 72"/>
            <p:cNvSpPr/>
            <p:nvPr/>
          </p:nvSpPr>
          <p:spPr>
            <a:xfrm>
              <a:off x="6315199" y="2410178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4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6747248" y="2450466"/>
              <a:ext cx="265307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en-US" altLang="zh-CN" sz="2800" b="1" kern="100" dirty="0" smtClean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</a:t>
              </a:r>
              <a:r>
                <a:rPr lang="zh-CN" altLang="en-US" sz="2800" b="1" kern="100" dirty="0" smtClean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与面向对象设计</a:t>
              </a:r>
              <a:endParaRPr lang="zh-CN" altLang="zh-CN" sz="2800" b="1" kern="1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圆角矩形 74"/>
          <p:cNvSpPr/>
          <p:nvPr/>
        </p:nvSpPr>
        <p:spPr>
          <a:xfrm>
            <a:off x="5791629" y="2547438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6673143" y="2547436"/>
            <a:ext cx="5114664" cy="594326"/>
            <a:chOff x="6339097" y="3296031"/>
            <a:chExt cx="3744416" cy="594326"/>
          </a:xfrm>
        </p:grpSpPr>
        <p:sp>
          <p:nvSpPr>
            <p:cNvPr id="77" name="圆角矩形 76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3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6723349" y="3336319"/>
              <a:ext cx="273630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800" b="1" kern="100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类之间的关系</a:t>
              </a:r>
              <a:endParaRPr lang="zh-CN" altLang="zh-CN" sz="2800" b="1" kern="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9" name="圆角矩形 78"/>
          <p:cNvSpPr/>
          <p:nvPr/>
        </p:nvSpPr>
        <p:spPr>
          <a:xfrm>
            <a:off x="5791629" y="4180903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6673143" y="4180901"/>
            <a:ext cx="5114664" cy="595017"/>
            <a:chOff x="6339097" y="4180903"/>
            <a:chExt cx="3744416" cy="595018"/>
          </a:xfrm>
        </p:grpSpPr>
        <p:sp>
          <p:nvSpPr>
            <p:cNvPr id="81" name="圆角矩形 80"/>
            <p:cNvSpPr/>
            <p:nvPr/>
          </p:nvSpPr>
          <p:spPr>
            <a:xfrm>
              <a:off x="6339097" y="418090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3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6723349" y="4221882"/>
              <a:ext cx="2736305" cy="554039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en-US" altLang="zh-CN" sz="2800" b="1" kern="100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</a:t>
              </a:r>
              <a:r>
                <a:rPr lang="zh-CN" altLang="en-US" sz="2800" b="1" kern="100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接口</a:t>
              </a:r>
              <a:endParaRPr lang="zh-CN" altLang="zh-CN" sz="2800" b="1" kern="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3" name="圆角矩形 82"/>
          <p:cNvSpPr/>
          <p:nvPr/>
        </p:nvSpPr>
        <p:spPr>
          <a:xfrm>
            <a:off x="5791758" y="5057483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6673143" y="5057483"/>
            <a:ext cx="5114664" cy="582533"/>
            <a:chOff x="6339097" y="5057483"/>
            <a:chExt cx="3744416" cy="582533"/>
          </a:xfrm>
        </p:grpSpPr>
        <p:sp>
          <p:nvSpPr>
            <p:cNvPr id="85" name="圆角矩形 84"/>
            <p:cNvSpPr/>
            <p:nvPr/>
          </p:nvSpPr>
          <p:spPr>
            <a:xfrm>
              <a:off x="6339097" y="505748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3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6723478" y="5085978"/>
              <a:ext cx="2736174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800" b="1" kern="100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面向对象设计原则</a:t>
              </a:r>
              <a:endParaRPr lang="zh-CN" altLang="zh-CN" sz="2800" b="1" kern="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338535" y="2219568"/>
            <a:ext cx="2806485" cy="1354243"/>
          </a:xfrm>
          <a:prstGeom prst="rect">
            <a:avLst/>
          </a:prstGeom>
          <a:noFill/>
        </p:spPr>
        <p:txBody>
          <a:bodyPr wrap="square" lIns="121880" tIns="60938" rIns="121880" bIns="60938">
            <a:spAutoFit/>
          </a:bodyPr>
          <a:lstStyle/>
          <a:p>
            <a:pPr algn="r">
              <a:defRPr/>
            </a:pPr>
            <a:r>
              <a:rPr lang="zh-CN" altLang="en-US" sz="48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endParaRPr lang="en-US" altLang="zh-CN" sz="48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defRPr/>
            </a:pPr>
            <a:r>
              <a:rPr lang="en-US" altLang="zh-CN" sz="32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下箭头 87"/>
          <p:cNvSpPr/>
          <p:nvPr/>
        </p:nvSpPr>
        <p:spPr>
          <a:xfrm rot="16200000">
            <a:off x="4614050" y="3234117"/>
            <a:ext cx="576064" cy="679386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8" tIns="45695" rIns="91388" bIns="45695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7 0.04121 L -6.25E-7 -3.33333E-6 " pathEditMode="relative" rAng="0" ptsTypes="AA">
                                      <p:cBhvr>
                                        <p:cTn id="21" dur="7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6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7 0.0412 L -6.25E-7 2.96296E-6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6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7 0.0412 L -6.25E-7 -7.40741E-7 " pathEditMode="relative" rAng="0" ptsTypes="AA">
                                      <p:cBhvr>
                                        <p:cTn id="37" dur="7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6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3737 0.04121 L -6.25E-7 -4.44444E-6 " pathEditMode="relative" rAng="0" ptsTypes="AA">
                                      <p:cBhvr>
                                        <p:cTn id="45" dur="7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6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3737 0.04121 L -6.25E-7 -4.44444E-6 " pathEditMode="relative" rAng="0" ptsTypes="AA">
                                      <p:cBhvr>
                                        <p:cTn id="53" dur="7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750"/>
                            </p:stCondLst>
                            <p:childTnLst>
                              <p:par>
                                <p:cTn id="5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7" grpId="0" animBg="1"/>
      <p:bldP spid="67" grpId="1" animBg="1"/>
      <p:bldP spid="67" grpId="2" animBg="1"/>
      <p:bldP spid="71" grpId="0" animBg="1"/>
      <p:bldP spid="71" grpId="1" animBg="1"/>
      <p:bldP spid="75" grpId="0" animBg="1"/>
      <p:bldP spid="75" grpId="1" animBg="1"/>
      <p:bldP spid="79" grpId="0" animBg="1"/>
      <p:bldP spid="79" grpId="1" animBg="1"/>
      <p:bldP spid="83" grpId="0" animBg="1"/>
      <p:bldP spid="83" grpId="1" animBg="1"/>
      <p:bldP spid="87" grpId="0"/>
      <p:bldP spid="8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192411" y="693539"/>
            <a:ext cx="8229600" cy="777875"/>
          </a:xfrm>
          <a:prstGeom prst="rect">
            <a:avLst/>
          </a:prstGeom>
        </p:spPr>
        <p:txBody>
          <a:bodyPr/>
          <a:lstStyle>
            <a:lvl1pPr algn="ctr" defTabSz="1219835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Java</a:t>
            </a:r>
            <a:r>
              <a:rPr lang="zh-CN" altLang="en-US" sz="3200" b="1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抽象类的形式</a:t>
            </a:r>
            <a:endParaRPr lang="zh-CN" altLang="en-US" sz="3200" b="1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914599" y="1413570"/>
            <a:ext cx="9793088" cy="4464050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US" altLang="zh-CN" sz="3200" b="1" dirty="0" smtClean="0"/>
              <a:t>abstract public class </a:t>
            </a:r>
            <a:r>
              <a:rPr lang="en-US" altLang="zh-CN" sz="3200" b="1" dirty="0" err="1" smtClean="0"/>
              <a:t>SortStrategy</a:t>
            </a:r>
            <a:r>
              <a:rPr lang="en-US" altLang="zh-CN" sz="3200" b="1" dirty="0" smtClean="0"/>
              <a:t> {</a:t>
            </a:r>
            <a:endParaRPr lang="en-US" altLang="zh-CN" sz="3200" b="1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b="1" dirty="0" smtClean="0"/>
              <a:t>    private String </a:t>
            </a:r>
            <a:r>
              <a:rPr lang="en-US" altLang="zh-CN" sz="2800" b="1" dirty="0" err="1" smtClean="0"/>
              <a:t>algorithmName</a:t>
            </a:r>
            <a:r>
              <a:rPr lang="en-US" altLang="zh-CN" sz="2800" b="1" dirty="0" smtClean="0"/>
              <a:t> = “”;   </a:t>
            </a:r>
            <a:r>
              <a:rPr lang="en-US" altLang="zh-CN" sz="2400" dirty="0" smtClean="0"/>
              <a:t>//private variable</a:t>
            </a:r>
            <a:endParaRPr lang="en-US" altLang="zh-CN" sz="240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b="1" dirty="0" smtClean="0"/>
              <a:t>    </a:t>
            </a:r>
            <a:endParaRPr lang="en-US" altLang="zh-CN" sz="2800" b="1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b="1" dirty="0" smtClean="0"/>
              <a:t>    public </a:t>
            </a:r>
            <a:r>
              <a:rPr lang="en-US" altLang="zh-CN" sz="2800" b="1" dirty="0" err="1" smtClean="0"/>
              <a:t>SortStrategy</a:t>
            </a:r>
            <a:r>
              <a:rPr lang="en-US" altLang="zh-CN" sz="2800" b="1" dirty="0" smtClean="0"/>
              <a:t>                       </a:t>
            </a:r>
            <a:r>
              <a:rPr lang="en-US" altLang="zh-CN" sz="2800" dirty="0" smtClean="0"/>
              <a:t>//constructor</a:t>
            </a:r>
            <a:endParaRPr lang="en-US" altLang="zh-CN" sz="280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b="1" dirty="0" smtClean="0"/>
              <a:t>    </a:t>
            </a:r>
            <a:r>
              <a:rPr lang="en-US" altLang="zh-CN" sz="2800" dirty="0" smtClean="0"/>
              <a:t>{// code omitted}</a:t>
            </a:r>
            <a:endParaRPr lang="en-US" altLang="zh-CN" sz="280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b="1" dirty="0" smtClean="0"/>
              <a:t>    </a:t>
            </a:r>
            <a:r>
              <a:rPr lang="en-US" altLang="zh-CN" sz="2800" b="1" dirty="0" smtClean="0">
                <a:solidFill>
                  <a:srgbClr val="0000CC"/>
                </a:solidFill>
              </a:rPr>
              <a:t>public abstract void sort();</a:t>
            </a:r>
            <a:r>
              <a:rPr lang="en-US" altLang="zh-CN" sz="2800" b="1" dirty="0" smtClean="0"/>
              <a:t>           </a:t>
            </a:r>
            <a:r>
              <a:rPr lang="en-US" altLang="zh-CN" sz="2800" dirty="0" smtClean="0"/>
              <a:t>//abstract function</a:t>
            </a:r>
            <a:endParaRPr lang="en-US" altLang="zh-CN" sz="280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b="1" dirty="0" smtClean="0"/>
              <a:t>    </a:t>
            </a:r>
            <a:endParaRPr lang="en-US" altLang="zh-CN" sz="2800" b="1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b="1" dirty="0" smtClean="0"/>
              <a:t>    </a:t>
            </a:r>
            <a:r>
              <a:rPr lang="en-US" altLang="zh-CN" sz="2800" b="1" dirty="0" smtClean="0">
                <a:solidFill>
                  <a:srgbClr val="0000CC"/>
                </a:solidFill>
              </a:rPr>
              <a:t>protected void </a:t>
            </a:r>
            <a:r>
              <a:rPr lang="en-US" altLang="zh-CN" sz="2800" b="1" dirty="0" err="1" smtClean="0">
                <a:solidFill>
                  <a:srgbClr val="0000CC"/>
                </a:solidFill>
              </a:rPr>
              <a:t>showInfo</a:t>
            </a:r>
            <a:r>
              <a:rPr lang="en-US" altLang="zh-CN" sz="2800" b="1" dirty="0" smtClean="0">
                <a:solidFill>
                  <a:srgbClr val="0000CC"/>
                </a:solidFill>
              </a:rPr>
              <a:t>(){</a:t>
            </a:r>
            <a:r>
              <a:rPr lang="en-US" altLang="zh-CN" sz="2800" b="1" dirty="0" smtClean="0"/>
              <a:t>              </a:t>
            </a:r>
            <a:r>
              <a:rPr lang="en-US" altLang="zh-CN" sz="2400" b="1" dirty="0" smtClean="0"/>
              <a:t>// concrete function</a:t>
            </a:r>
            <a:endParaRPr lang="en-US" altLang="zh-CN" sz="2800" b="1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b="1" dirty="0" smtClean="0"/>
              <a:t>       </a:t>
            </a:r>
            <a:r>
              <a:rPr lang="en-US" altLang="zh-CN" sz="2400" dirty="0" err="1" smtClean="0"/>
              <a:t>System.out.println</a:t>
            </a:r>
            <a:r>
              <a:rPr lang="en-US" altLang="zh-CN" sz="2400" dirty="0" smtClean="0"/>
              <a:t>(“I can be called from my subclass.”);</a:t>
            </a:r>
            <a:endParaRPr lang="en-US" altLang="zh-CN" sz="2400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b="1" dirty="0" smtClean="0"/>
              <a:t>    }</a:t>
            </a:r>
            <a:endParaRPr lang="en-US" altLang="zh-CN" sz="2800" b="1" dirty="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b="1" dirty="0" smtClean="0"/>
              <a:t>}</a:t>
            </a:r>
            <a:endParaRPr lang="en-US" altLang="zh-CN" sz="2800" b="1" dirty="0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986607" y="2061642"/>
            <a:ext cx="10054952" cy="3960812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抽象类仅仅提供了一个类型的部分实现</a:t>
            </a:r>
            <a:endParaRPr lang="zh-CN" altLang="en-US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抽象类可以有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私有变量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(Private variables)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构造函数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由子类调用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抽象方法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由子类实现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已实现方法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可以由子类直接调用，或者供其它的类调用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>
          <a:xfrm>
            <a:off x="1507182" y="981323"/>
            <a:ext cx="8229600" cy="777875"/>
          </a:xfrm>
          <a:prstGeom prst="rect">
            <a:avLst/>
          </a:prstGeom>
          <a:noFill/>
        </p:spPr>
        <p:txBody>
          <a:bodyPr/>
          <a:lstStyle>
            <a:lvl1pPr algn="ctr" defTabSz="1219835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32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抽象类的性质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57199" y="1125538"/>
            <a:ext cx="11258599" cy="1728192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lang="en-US" altLang="zh-CN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抽象类是否可以被用来创建对象？</a:t>
            </a:r>
            <a:endParaRPr lang="zh-CN" altLang="en-US" sz="2800" b="1" dirty="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例如：假设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SortStrategy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为抽象类，你是否可以写出如下的语句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None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SortStrategy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= new </a:t>
            </a:r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SortStrategy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82551" y="3070597"/>
            <a:ext cx="10461848" cy="3311525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ct val="35000"/>
              </a:spcBef>
            </a:pPr>
            <a:r>
              <a:rPr lang="zh-CN" altLang="en-US" sz="2800" b="1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回答：抽象类不可以被用来创建对象</a:t>
            </a:r>
            <a:endParaRPr lang="zh-CN" altLang="en-US" sz="2800" b="1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35000"/>
              </a:spcBef>
            </a:pP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所以</a:t>
            </a:r>
            <a:r>
              <a:rPr lang="en-US" altLang="zh-CN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如果你需要使用（带有子类的）抽象类，你应该创建其子类的对象</a:t>
            </a:r>
            <a:endParaRPr lang="zh-CN" altLang="en-US" sz="28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35000"/>
              </a:spcBef>
            </a:pP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然后，你可以用该对象调用其子类的方法；当然，也可以调用超类的已经实现的方法。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6747247" y="1053530"/>
            <a:ext cx="5198814" cy="1151285"/>
          </a:xfrm>
          <a:prstGeom prst="rect">
            <a:avLst/>
          </a:prstGeom>
          <a:solidFill>
            <a:srgbClr val="FFCC00"/>
          </a:solidFill>
          <a:ln w="12700">
            <a:solidFill>
              <a:srgbClr val="008080"/>
            </a:solidFill>
            <a:miter lim="800000"/>
          </a:ln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2" charset="-122"/>
              </a:rPr>
              <a:t>问题：</a:t>
            </a:r>
            <a:endParaRPr lang="zh-CN" altLang="en-US" sz="2800" b="1" dirty="0" smtClean="0">
              <a:effectLst>
                <a:outerShdw blurRad="38100" dist="38100" dir="2700000" algn="tl">
                  <a:srgbClr val="FFFFFF"/>
                </a:outerShdw>
              </a:effectLst>
              <a:ea typeface="黑体" panose="02010609060101010101" pitchFamily="2" charset="-122"/>
            </a:endParaRPr>
          </a:p>
          <a:p>
            <a:pPr algn="ctr">
              <a:lnSpc>
                <a:spcPct val="80000"/>
              </a:lnSpc>
              <a:buFontTx/>
              <a:buNone/>
            </a:pPr>
            <a:r>
              <a:rPr lang="zh-CN" altLang="en-US" sz="2800" b="1" dirty="0" smtClean="0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2" charset="-122"/>
              </a:rPr>
              <a:t>怎样使用抽象类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FFFFFF"/>
                  </a:outerShdw>
                </a:effectLst>
                <a:ea typeface="黑体" panose="02010609060101010101" pitchFamily="2" charset="-122"/>
              </a:rPr>
              <a:t>?</a:t>
            </a:r>
            <a:endParaRPr lang="en-US" altLang="zh-CN" sz="2800" b="1" dirty="0">
              <a:effectLst>
                <a:outerShdw blurRad="38100" dist="38100" dir="2700000" algn="tl">
                  <a:srgbClr val="FFFFFF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419350" y="1484313"/>
            <a:ext cx="2286000" cy="530225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</p:spPr>
        <p:txBody>
          <a:bodyPr/>
          <a:lstStyle/>
          <a:p>
            <a:pPr algn="ctr" eaLnBrk="0" hangingPunct="0">
              <a:lnSpc>
                <a:spcPct val="80000"/>
              </a:lnSpc>
            </a:pPr>
            <a:r>
              <a:rPr lang="en-US" altLang="zh-CN" sz="2800" b="1" i="1"/>
              <a:t>USCar</a:t>
            </a:r>
            <a:r>
              <a:rPr lang="en-US" altLang="zh-CN" sz="1800" b="1"/>
              <a:t>   </a:t>
            </a:r>
            <a:endParaRPr lang="en-US" altLang="zh-CN" sz="1800" b="1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419350" y="1989138"/>
            <a:ext cx="2286000" cy="159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</p:spPr>
        <p:txBody>
          <a:bodyPr/>
          <a:lstStyle/>
          <a:p>
            <a:pPr eaLnBrk="0" hangingPunct="0"/>
            <a:r>
              <a:rPr lang="en-US" altLang="zh-CN" sz="2000" b="1" dirty="0"/>
              <a:t>+run()</a:t>
            </a:r>
            <a:endParaRPr lang="en-US" altLang="zh-CN" sz="2000" b="1" dirty="0"/>
          </a:p>
          <a:p>
            <a:pPr eaLnBrk="0" hangingPunct="0"/>
            <a:r>
              <a:rPr lang="en-US" altLang="zh-CN" sz="2000" b="1" dirty="0"/>
              <a:t>+break()</a:t>
            </a:r>
            <a:endParaRPr lang="en-US" altLang="zh-CN" sz="2000" b="1" dirty="0"/>
          </a:p>
          <a:p>
            <a:pPr eaLnBrk="0" hangingPunct="0"/>
            <a:r>
              <a:rPr lang="en-US" altLang="zh-CN" sz="2000" b="1" dirty="0"/>
              <a:t>+accelerate</a:t>
            </a:r>
            <a:endParaRPr lang="en-US" altLang="zh-CN" sz="2000" b="1" dirty="0"/>
          </a:p>
          <a:p>
            <a:pPr eaLnBrk="0" hangingPunct="0"/>
            <a:r>
              <a:rPr lang="en-US" altLang="zh-CN" sz="2000" b="1" dirty="0"/>
              <a:t>+stop()</a:t>
            </a:r>
            <a:endParaRPr lang="en-US" altLang="zh-CN" sz="2000" b="1" dirty="0"/>
          </a:p>
          <a:p>
            <a:pPr eaLnBrk="0" hangingPunct="0"/>
            <a:r>
              <a:rPr lang="en-US" altLang="zh-CN" sz="2000" b="1" dirty="0"/>
              <a:t>+</a:t>
            </a:r>
            <a:r>
              <a:rPr lang="en-US" altLang="zh-CN" sz="2000" b="1" dirty="0" err="1"/>
              <a:t>getInstructions</a:t>
            </a:r>
            <a:r>
              <a:rPr lang="en-US" altLang="zh-CN" sz="2000" b="1" dirty="0"/>
              <a:t>()</a:t>
            </a:r>
            <a:endParaRPr lang="en-US" altLang="zh-CN" sz="2000" b="1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419350" y="1939925"/>
            <a:ext cx="2297113" cy="90488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046163" y="4165600"/>
            <a:ext cx="1690687" cy="417513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</p:spPr>
        <p:txBody>
          <a:bodyPr lIns="0" rIns="0"/>
          <a:lstStyle/>
          <a:p>
            <a:pPr algn="ctr" eaLnBrk="0" hangingPunct="0">
              <a:lnSpc>
                <a:spcPct val="85000"/>
              </a:lnSpc>
            </a:pP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Lincoln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1046163" y="4583113"/>
            <a:ext cx="1690687" cy="10001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 anchor="ctr"/>
          <a:lstStyle/>
          <a:p>
            <a:endParaRPr lang="zh-CN" altLang="en-US"/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2874963" y="4165600"/>
            <a:ext cx="1600200" cy="417513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</p:spPr>
        <p:txBody>
          <a:bodyPr/>
          <a:lstStyle/>
          <a:p>
            <a:pPr algn="ctr" eaLnBrk="0" hangingPunct="0">
              <a:lnSpc>
                <a:spcPct val="85000"/>
              </a:lnSpc>
            </a:pP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Cadillac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2874963" y="4556125"/>
            <a:ext cx="1600200" cy="10477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4627563" y="4165600"/>
            <a:ext cx="1600200" cy="417513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</p:spPr>
        <p:txBody>
          <a:bodyPr/>
          <a:lstStyle/>
          <a:p>
            <a:pPr algn="ctr" eaLnBrk="0" hangingPunct="0">
              <a:lnSpc>
                <a:spcPct val="85000"/>
              </a:lnSpc>
            </a:pPr>
            <a:r>
              <a:rPr lang="en-US" altLang="zh-CN" sz="1800" b="1"/>
              <a:t> 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Buick</a:t>
            </a:r>
            <a:endParaRPr lang="en-US" altLang="zh-CN" sz="24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4627563" y="4583113"/>
            <a:ext cx="1600200" cy="10477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7"/>
          <p:cNvSpPr>
            <a:spLocks noChangeShapeType="1"/>
          </p:cNvSpPr>
          <p:nvPr/>
        </p:nvSpPr>
        <p:spPr bwMode="auto">
          <a:xfrm>
            <a:off x="1884363" y="3962400"/>
            <a:ext cx="3581400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8"/>
          <p:cNvSpPr>
            <a:spLocks noChangeShapeType="1"/>
          </p:cNvSpPr>
          <p:nvPr/>
        </p:nvSpPr>
        <p:spPr bwMode="auto">
          <a:xfrm>
            <a:off x="1884363" y="3962400"/>
            <a:ext cx="0" cy="2047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endParaRPr lang="zh-CN" altLang="en-US"/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>
            <a:off x="3560763" y="3962400"/>
            <a:ext cx="0" cy="2047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20"/>
          <p:cNvSpPr>
            <a:spLocks noChangeShapeType="1"/>
          </p:cNvSpPr>
          <p:nvPr/>
        </p:nvSpPr>
        <p:spPr bwMode="auto">
          <a:xfrm>
            <a:off x="5465763" y="3962400"/>
            <a:ext cx="0" cy="2047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AutoShape 24"/>
          <p:cNvSpPr>
            <a:spLocks noChangeArrowheads="1"/>
          </p:cNvSpPr>
          <p:nvPr/>
        </p:nvSpPr>
        <p:spPr bwMode="auto">
          <a:xfrm>
            <a:off x="3370263" y="3602038"/>
            <a:ext cx="379412" cy="349250"/>
          </a:xfrm>
          <a:prstGeom prst="upArrow">
            <a:avLst>
              <a:gd name="adj1" fmla="val 0"/>
              <a:gd name="adj2" fmla="val 68019"/>
            </a:avLst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8" name="Rectangle 25"/>
          <p:cNvSpPr>
            <a:spLocks noChangeArrowheads="1"/>
          </p:cNvSpPr>
          <p:nvPr/>
        </p:nvSpPr>
        <p:spPr bwMode="auto">
          <a:xfrm>
            <a:off x="1042988" y="4652963"/>
            <a:ext cx="1690687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</p:spPr>
        <p:txBody>
          <a:bodyPr/>
          <a:lstStyle/>
          <a:p>
            <a:pPr eaLnBrk="0" hangingPunct="0"/>
            <a:r>
              <a:rPr lang="en-US" altLang="zh-CN" sz="2000" b="1" dirty="0"/>
              <a:t>+run()</a:t>
            </a:r>
            <a:endParaRPr lang="en-US" altLang="zh-CN" sz="2000" b="1" dirty="0"/>
          </a:p>
          <a:p>
            <a:pPr eaLnBrk="0" hangingPunct="0"/>
            <a:r>
              <a:rPr lang="en-US" altLang="zh-CN" sz="2000" b="1" dirty="0"/>
              <a:t>+break()</a:t>
            </a:r>
            <a:endParaRPr lang="en-US" altLang="zh-CN" sz="2000" b="1" dirty="0"/>
          </a:p>
          <a:p>
            <a:pPr eaLnBrk="0" hangingPunct="0"/>
            <a:r>
              <a:rPr lang="en-US" altLang="zh-CN" sz="2000" b="1" dirty="0"/>
              <a:t>+accelerate</a:t>
            </a:r>
            <a:endParaRPr lang="en-US" altLang="zh-CN" sz="2000" b="1" dirty="0"/>
          </a:p>
          <a:p>
            <a:pPr eaLnBrk="0" hangingPunct="0"/>
            <a:r>
              <a:rPr lang="en-US" altLang="zh-CN" sz="2000" b="1" dirty="0"/>
              <a:t>+stop()</a:t>
            </a:r>
            <a:endParaRPr lang="en-US" altLang="zh-CN" sz="2000" b="1" dirty="0"/>
          </a:p>
        </p:txBody>
      </p:sp>
      <p:sp>
        <p:nvSpPr>
          <p:cNvPr id="19" name="Rectangle 26"/>
          <p:cNvSpPr>
            <a:spLocks noChangeArrowheads="1"/>
          </p:cNvSpPr>
          <p:nvPr/>
        </p:nvSpPr>
        <p:spPr bwMode="auto">
          <a:xfrm>
            <a:off x="2878138" y="4668838"/>
            <a:ext cx="1584325" cy="1279525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</p:spPr>
        <p:txBody>
          <a:bodyPr/>
          <a:lstStyle/>
          <a:p>
            <a:pPr eaLnBrk="0" hangingPunct="0"/>
            <a:r>
              <a:rPr lang="en-US" altLang="zh-CN" sz="2000" b="1"/>
              <a:t>+run()</a:t>
            </a:r>
            <a:endParaRPr lang="en-US" altLang="zh-CN" sz="2000" b="1"/>
          </a:p>
          <a:p>
            <a:pPr eaLnBrk="0" hangingPunct="0"/>
            <a:r>
              <a:rPr lang="en-US" altLang="zh-CN" sz="2000" b="1"/>
              <a:t>+break()</a:t>
            </a:r>
            <a:endParaRPr lang="en-US" altLang="zh-CN" sz="2000" b="1"/>
          </a:p>
          <a:p>
            <a:pPr eaLnBrk="0" hangingPunct="0"/>
            <a:r>
              <a:rPr lang="en-US" altLang="zh-CN" sz="2000" b="1"/>
              <a:t>+accelerate</a:t>
            </a:r>
            <a:endParaRPr lang="en-US" altLang="zh-CN" sz="2000" b="1"/>
          </a:p>
          <a:p>
            <a:pPr eaLnBrk="0" hangingPunct="0"/>
            <a:r>
              <a:rPr lang="en-US" altLang="zh-CN" sz="2000" b="1"/>
              <a:t>+stop()</a:t>
            </a:r>
            <a:endParaRPr lang="en-US" altLang="zh-CN" sz="2000" b="1"/>
          </a:p>
        </p:txBody>
      </p:sp>
      <p:sp>
        <p:nvSpPr>
          <p:cNvPr id="20" name="Rectangle 27"/>
          <p:cNvSpPr>
            <a:spLocks noChangeArrowheads="1"/>
          </p:cNvSpPr>
          <p:nvPr/>
        </p:nvSpPr>
        <p:spPr bwMode="auto">
          <a:xfrm>
            <a:off x="4643438" y="4652963"/>
            <a:ext cx="1584325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00"/>
            </a:solidFill>
            <a:miter lim="800000"/>
          </a:ln>
        </p:spPr>
        <p:txBody>
          <a:bodyPr/>
          <a:lstStyle/>
          <a:p>
            <a:pPr eaLnBrk="0" hangingPunct="0"/>
            <a:r>
              <a:rPr lang="en-US" altLang="zh-CN" sz="2000" b="1" dirty="0"/>
              <a:t>+run()</a:t>
            </a:r>
            <a:endParaRPr lang="en-US" altLang="zh-CN" sz="2000" b="1" dirty="0"/>
          </a:p>
          <a:p>
            <a:pPr eaLnBrk="0" hangingPunct="0"/>
            <a:r>
              <a:rPr lang="en-US" altLang="zh-CN" sz="2000" b="1" dirty="0"/>
              <a:t>+break()</a:t>
            </a:r>
            <a:endParaRPr lang="en-US" altLang="zh-CN" sz="2000" b="1" dirty="0"/>
          </a:p>
          <a:p>
            <a:pPr eaLnBrk="0" hangingPunct="0"/>
            <a:r>
              <a:rPr lang="en-US" altLang="zh-CN" sz="2000" b="1" dirty="0"/>
              <a:t>+accelerate</a:t>
            </a:r>
            <a:endParaRPr lang="en-US" altLang="zh-CN" sz="2000" b="1" dirty="0"/>
          </a:p>
          <a:p>
            <a:pPr eaLnBrk="0" hangingPunct="0"/>
            <a:r>
              <a:rPr lang="en-US" altLang="zh-CN" sz="2000" b="1" dirty="0"/>
              <a:t>+stop()</a:t>
            </a:r>
            <a:endParaRPr lang="en-US" altLang="zh-CN" sz="2000" b="1" dirty="0"/>
          </a:p>
        </p:txBody>
      </p:sp>
      <p:sp>
        <p:nvSpPr>
          <p:cNvPr id="21" name="Text Box 31"/>
          <p:cNvSpPr txBox="1">
            <a:spLocks noChangeArrowheads="1"/>
          </p:cNvSpPr>
          <p:nvPr/>
        </p:nvSpPr>
        <p:spPr bwMode="auto">
          <a:xfrm>
            <a:off x="395288" y="6092825"/>
            <a:ext cx="6481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/>
              <a:t>层次类的例子：</a:t>
            </a:r>
            <a:r>
              <a:rPr lang="en-US" altLang="zh-CN" sz="2400" b="1"/>
              <a:t>US cars</a:t>
            </a:r>
            <a:endParaRPr lang="en-US" altLang="zh-CN" sz="2400" b="1"/>
          </a:p>
        </p:txBody>
      </p:sp>
      <p:sp>
        <p:nvSpPr>
          <p:cNvPr id="22" name="Rectangle 32"/>
          <p:cNvSpPr>
            <a:spLocks noChangeArrowheads="1"/>
          </p:cNvSpPr>
          <p:nvPr/>
        </p:nvSpPr>
        <p:spPr bwMode="auto">
          <a:xfrm>
            <a:off x="5091063" y="2421682"/>
            <a:ext cx="299402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抽象类名称由斜体表示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23" name="Rectangle 33"/>
          <p:cNvSpPr>
            <a:spLocks noChangeArrowheads="1"/>
          </p:cNvSpPr>
          <p:nvPr/>
        </p:nvSpPr>
        <p:spPr bwMode="auto">
          <a:xfrm>
            <a:off x="6481763" y="4811713"/>
            <a:ext cx="215106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已经实现的类由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  <a:p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正体字表示</a:t>
            </a:r>
            <a:endParaRPr lang="zh-CN" altLang="en-US" b="1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181943" y="981522"/>
            <a:ext cx="9741768" cy="5399087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>
              <a:buFontTx/>
              <a:buNone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怎样使用抽象类？</a:t>
            </a:r>
            <a:endParaRPr lang="zh-CN" altLang="en-US" sz="2800" b="1" dirty="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3400" indent="-533400">
              <a:buFontTx/>
              <a:buAutoNum type="arabicParenR"/>
            </a:pPr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第一种方法：使用其子类</a:t>
            </a:r>
            <a:endParaRPr lang="zh-CN" altLang="en-US" sz="2800" b="1" dirty="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3400" indent="-533400">
              <a:buFontTx/>
              <a:buNone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首先声明抽象类类型的变量，然后，利用该变量创建其资料的对象。最后，可以使用该对象调用子类的方法</a:t>
            </a:r>
            <a:r>
              <a:rPr lang="zh-CN" altLang="en-US" sz="28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zh-CN" altLang="en-US" sz="2800" dirty="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3400" indent="-533400">
              <a:buFontTx/>
              <a:buNone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USCar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myCar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3400" indent="-533400">
              <a:buFontTx/>
              <a:buNone/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//…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3400" indent="-533400">
              <a:buFontTx/>
              <a:buNone/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if(condition1==true)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3400" indent="-533400">
              <a:buFontTx/>
              <a:buNone/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myCar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= new Lincoln();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3400" indent="-533400">
              <a:buFontTx/>
              <a:buNone/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else if(condition2==true)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3400" indent="-533400">
              <a:buFontTx/>
              <a:buNone/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myCar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= new </a:t>
            </a:r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Buik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33400" indent="-533400">
              <a:buFontTx/>
              <a:buNone/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myCar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getInstructions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037927" y="1557586"/>
            <a:ext cx="10101808" cy="3921125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None/>
            </a:pPr>
            <a:r>
              <a:rPr lang="en-US" altLang="zh-CN" sz="28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第二种方法：继承超类 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indent="-609600">
              <a:buFontTx/>
              <a:buNone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indent="-609600">
              <a:buFontTx/>
              <a:buAutoNum type="alphaLcParenR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将抽象类作为超类，这样即可继承其公有方法和被保护方法所提供的功能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indent="-609600">
              <a:buFontTx/>
              <a:buAutoNum type="alphaLcParenR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不同的子类可以对其超类的抽象方法有不同的实现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05879" y="981522"/>
            <a:ext cx="8229600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zh-CN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Java</a:t>
            </a: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抽象类与具体类的区别</a:t>
            </a:r>
            <a:endParaRPr lang="zh-CN" altLang="en-US" sz="32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842541" y="1846461"/>
            <a:ext cx="8713018" cy="4319637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Tx/>
              <a:buNone/>
            </a:pPr>
            <a:r>
              <a:rPr lang="zh-CN" altLang="en-US" sz="2800" b="1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具体类 </a:t>
            </a:r>
            <a:r>
              <a:rPr lang="en-US" altLang="zh-CN" sz="2800" b="1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(Concrete class )</a:t>
            </a:r>
            <a:endParaRPr lang="en-US" altLang="zh-CN" sz="2800" b="1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可以被其它的类用来创建对象</a:t>
            </a:r>
            <a:endParaRPr lang="zh-CN" altLang="en-US" sz="28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可以被其子类继承</a:t>
            </a:r>
            <a:endParaRPr lang="zh-CN" altLang="en-US" sz="28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zh-CN" altLang="en-US" sz="2800" b="1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抽象类 </a:t>
            </a:r>
            <a:r>
              <a:rPr lang="en-US" altLang="zh-CN" sz="2800" b="1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(Abstract  class )</a:t>
            </a:r>
            <a:endParaRPr lang="en-US" altLang="zh-CN" sz="2800" b="1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不能被其它类用来创建对象</a:t>
            </a:r>
            <a:endParaRPr lang="zh-CN" altLang="en-US" sz="28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可以被其子类继承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1"/>
          <p:cNvSpPr>
            <a:spLocks noChangeArrowheads="1"/>
          </p:cNvSpPr>
          <p:nvPr/>
        </p:nvSpPr>
        <p:spPr bwMode="auto">
          <a:xfrm>
            <a:off x="533871" y="851025"/>
            <a:ext cx="82296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使用抽象类的例子</a:t>
            </a:r>
            <a:endParaRPr lang="zh-CN" altLang="en-US" sz="3200">
              <a:solidFill>
                <a:schemeClr val="tx2"/>
              </a:solidFill>
              <a:ea typeface="黑体" panose="02010609060101010101" pitchFamily="2" charset="-122"/>
            </a:endParaRPr>
          </a:p>
        </p:txBody>
      </p:sp>
      <p:sp>
        <p:nvSpPr>
          <p:cNvPr id="4" name="Text Box 20"/>
          <p:cNvSpPr txBox="1">
            <a:spLocks noChangeArrowheads="1"/>
          </p:cNvSpPr>
          <p:nvPr/>
        </p:nvSpPr>
        <p:spPr bwMode="auto">
          <a:xfrm>
            <a:off x="1274639" y="5086722"/>
            <a:ext cx="80645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climbTree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可以被其子类以不同的方式实现；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三种动物有三种不同的爬树方法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371851" y="1773610"/>
            <a:ext cx="2087563" cy="431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CatFamily</a:t>
            </a:r>
            <a:endParaRPr lang="en-US" altLang="zh-CN" sz="2800" b="1" i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354139" y="3575422"/>
            <a:ext cx="1944687" cy="431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Cat</a:t>
            </a:r>
            <a:endParaRPr lang="en-US" altLang="zh-CN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4371851" y="2205410"/>
            <a:ext cx="2087563" cy="431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ClimbTree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() </a:t>
            </a:r>
            <a:endParaRPr lang="en-US" altLang="zh-CN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517901" y="3573835"/>
            <a:ext cx="1941513" cy="431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Cheetah </a:t>
            </a:r>
            <a:endParaRPr lang="en-US" altLang="zh-CN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3363789" y="3142035"/>
            <a:ext cx="43195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>
            <a:off x="3363789" y="3142035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2354139" y="4007222"/>
            <a:ext cx="1944687" cy="431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ClimbTree()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en-US" altLang="zh-CN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4516314" y="4007222"/>
            <a:ext cx="1943100" cy="431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ClimbTree()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en-US" altLang="zh-CN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6676901" y="3573835"/>
            <a:ext cx="2012950" cy="431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Lion </a:t>
            </a:r>
            <a:endParaRPr lang="en-US" altLang="zh-CN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" name="Rectangle 18"/>
          <p:cNvSpPr>
            <a:spLocks noChangeArrowheads="1"/>
          </p:cNvSpPr>
          <p:nvPr/>
        </p:nvSpPr>
        <p:spPr bwMode="auto">
          <a:xfrm>
            <a:off x="6675314" y="4007222"/>
            <a:ext cx="2014537" cy="431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ClimbTree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() </a:t>
            </a:r>
            <a:endParaRPr lang="en-US" altLang="zh-CN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" name="AutoShape 22"/>
          <p:cNvSpPr>
            <a:spLocks noChangeArrowheads="1"/>
          </p:cNvSpPr>
          <p:nvPr/>
        </p:nvSpPr>
        <p:spPr bwMode="auto">
          <a:xfrm>
            <a:off x="5254501" y="2638797"/>
            <a:ext cx="360363" cy="503238"/>
          </a:xfrm>
          <a:prstGeom prst="upArrow">
            <a:avLst>
              <a:gd name="adj1" fmla="val 0"/>
              <a:gd name="adj2" fmla="val 62557"/>
            </a:avLst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23"/>
          <p:cNvSpPr>
            <a:spLocks noChangeShapeType="1"/>
          </p:cNvSpPr>
          <p:nvPr/>
        </p:nvSpPr>
        <p:spPr bwMode="auto">
          <a:xfrm>
            <a:off x="5438651" y="3142035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24"/>
          <p:cNvSpPr>
            <a:spLocks noChangeShapeType="1"/>
          </p:cNvSpPr>
          <p:nvPr/>
        </p:nvSpPr>
        <p:spPr bwMode="auto">
          <a:xfrm>
            <a:off x="7683376" y="3142035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037927" y="852166"/>
            <a:ext cx="8229600" cy="633412"/>
          </a:xfrm>
          <a:prstGeom prst="rect">
            <a:avLst/>
          </a:prstGeom>
        </p:spPr>
        <p:txBody>
          <a:bodyPr/>
          <a:lstStyle>
            <a:lvl1pPr algn="ctr" defTabSz="1219835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smtClean="0">
                <a:ea typeface="黑体" panose="02010609060101010101" pitchFamily="2" charset="-122"/>
              </a:rPr>
              <a:t>层次类的形状</a:t>
            </a:r>
            <a:endParaRPr lang="zh-CN" altLang="en-US" sz="3200" b="1">
              <a:ea typeface="黑体" panose="0201060906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55985" y="1457375"/>
            <a:ext cx="8323510" cy="676275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理想状态层次类可以被设计如下：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Group 33"/>
          <p:cNvGrpSpPr/>
          <p:nvPr/>
        </p:nvGrpSpPr>
        <p:grpSpPr bwMode="auto">
          <a:xfrm>
            <a:off x="1000472" y="2276475"/>
            <a:ext cx="9347175" cy="4062413"/>
            <a:chOff x="466" y="1434"/>
            <a:chExt cx="4754" cy="2559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534" y="1434"/>
              <a:ext cx="1417" cy="3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 i="1"/>
                <a:t>Abstract class</a:t>
              </a:r>
              <a:endParaRPr lang="en-US" altLang="zh-CN" sz="2800" b="1" i="1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466" y="3018"/>
              <a:ext cx="1417" cy="341"/>
            </a:xfrm>
            <a:prstGeom prst="rect">
              <a:avLst/>
            </a:prstGeom>
            <a:solidFill>
              <a:srgbClr val="FF99CC">
                <a:alpha val="62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/>
                <a:t>Concrete class</a:t>
              </a:r>
              <a:endParaRPr lang="en-US" altLang="zh-CN" sz="2800" b="1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776" y="2217"/>
              <a:ext cx="1417" cy="3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 i="1"/>
                <a:t>Abstract class</a:t>
              </a:r>
              <a:endParaRPr lang="en-US" altLang="zh-CN" sz="2800" b="1" i="1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295" y="2217"/>
              <a:ext cx="1418" cy="3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 i="1"/>
                <a:t>Abstract class</a:t>
              </a:r>
              <a:endParaRPr lang="en-US" altLang="zh-CN" sz="2800" b="1" i="1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035" y="3018"/>
              <a:ext cx="1417" cy="34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 i="1"/>
                <a:t>Abstract class</a:t>
              </a:r>
              <a:endParaRPr lang="en-US" altLang="zh-CN" sz="2800" b="1" i="1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3803" y="2854"/>
              <a:ext cx="1417" cy="341"/>
            </a:xfrm>
            <a:prstGeom prst="rect">
              <a:avLst/>
            </a:prstGeom>
            <a:solidFill>
              <a:srgbClr val="FF99CC">
                <a:alpha val="62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/>
                <a:t>Concrete class</a:t>
              </a:r>
              <a:endParaRPr lang="en-US" altLang="zh-CN" sz="2800" b="1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049" y="3652"/>
              <a:ext cx="1417" cy="341"/>
            </a:xfrm>
            <a:prstGeom prst="rect">
              <a:avLst/>
            </a:prstGeom>
            <a:solidFill>
              <a:srgbClr val="FF99CC">
                <a:alpha val="62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/>
                <a:t>Concrete class</a:t>
              </a:r>
              <a:endParaRPr lang="en-US" altLang="zh-CN" sz="2800" b="1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2004" y="2071"/>
              <a:ext cx="24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2004" y="2071"/>
              <a:ext cx="0" cy="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4434" y="2071"/>
              <a:ext cx="0" cy="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1123" y="2872"/>
              <a:ext cx="16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1123" y="2872"/>
              <a:ext cx="0" cy="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>
              <a:off x="2794" y="2872"/>
              <a:ext cx="0" cy="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9" name="AutoShape 28"/>
            <p:cNvSpPr>
              <a:spLocks noChangeArrowheads="1"/>
            </p:cNvSpPr>
            <p:nvPr/>
          </p:nvSpPr>
          <p:spPr bwMode="auto">
            <a:xfrm>
              <a:off x="3152" y="1778"/>
              <a:ext cx="181" cy="295"/>
            </a:xfrm>
            <a:prstGeom prst="upArrow">
              <a:avLst>
                <a:gd name="adj1" fmla="val 0"/>
                <a:gd name="adj2" fmla="val 68694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0" name="AutoShape 29"/>
            <p:cNvSpPr>
              <a:spLocks noChangeArrowheads="1"/>
            </p:cNvSpPr>
            <p:nvPr/>
          </p:nvSpPr>
          <p:spPr bwMode="auto">
            <a:xfrm>
              <a:off x="1891" y="2568"/>
              <a:ext cx="181" cy="295"/>
            </a:xfrm>
            <a:prstGeom prst="upArrow">
              <a:avLst>
                <a:gd name="adj1" fmla="val 0"/>
                <a:gd name="adj2" fmla="val 68694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1" name="AutoShape 30"/>
            <p:cNvSpPr>
              <a:spLocks noChangeArrowheads="1"/>
            </p:cNvSpPr>
            <p:nvPr/>
          </p:nvSpPr>
          <p:spPr bwMode="auto">
            <a:xfrm>
              <a:off x="4431" y="2554"/>
              <a:ext cx="181" cy="295"/>
            </a:xfrm>
            <a:prstGeom prst="upArrow">
              <a:avLst>
                <a:gd name="adj1" fmla="val 0"/>
                <a:gd name="adj2" fmla="val 68694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2" name="AutoShape 31"/>
            <p:cNvSpPr>
              <a:spLocks noChangeArrowheads="1"/>
            </p:cNvSpPr>
            <p:nvPr/>
          </p:nvSpPr>
          <p:spPr bwMode="auto">
            <a:xfrm>
              <a:off x="2670" y="3358"/>
              <a:ext cx="181" cy="295"/>
            </a:xfrm>
            <a:prstGeom prst="upArrow">
              <a:avLst>
                <a:gd name="adj1" fmla="val 0"/>
                <a:gd name="adj2" fmla="val 68694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6"/>
          <p:cNvSpPr txBox="1">
            <a:spLocks noChangeArrowheads="1"/>
          </p:cNvSpPr>
          <p:nvPr/>
        </p:nvSpPr>
        <p:spPr>
          <a:xfrm>
            <a:off x="-669577" y="924174"/>
            <a:ext cx="8229600" cy="633412"/>
          </a:xfrm>
          <a:prstGeom prst="rect">
            <a:avLst/>
          </a:prstGeom>
          <a:noFill/>
        </p:spPr>
        <p:txBody>
          <a:bodyPr/>
          <a:lstStyle>
            <a:lvl1pPr algn="ctr" defTabSz="1219835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 smtClean="0">
                <a:ea typeface="黑体" panose="02010609060101010101" pitchFamily="2" charset="-122"/>
              </a:rPr>
              <a:t>层次类的形状</a:t>
            </a:r>
            <a:endParaRPr lang="zh-CN" altLang="en-US" sz="3200" b="1" dirty="0">
              <a:ea typeface="黑体" panose="0201060906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211710" y="6061571"/>
            <a:ext cx="8135937" cy="536575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lang="zh-CN" altLang="en-US" sz="2800" b="1" dirty="0" smtClean="0">
                <a:ea typeface="黑体" panose="02010609060101010101" pitchFamily="2" charset="-122"/>
              </a:rPr>
              <a:t>层次类的形状的例子</a:t>
            </a:r>
            <a:endParaRPr lang="zh-CN" altLang="en-US" sz="2800" b="1" dirty="0">
              <a:ea typeface="黑体" panose="02010609060101010101" pitchFamily="2" charset="-122"/>
            </a:endParaRPr>
          </a:p>
        </p:txBody>
      </p:sp>
      <p:grpSp>
        <p:nvGrpSpPr>
          <p:cNvPr id="5" name="Group 33"/>
          <p:cNvGrpSpPr/>
          <p:nvPr/>
        </p:nvGrpSpPr>
        <p:grpSpPr bwMode="auto">
          <a:xfrm>
            <a:off x="1475730" y="1627684"/>
            <a:ext cx="8943925" cy="3962400"/>
            <a:chOff x="657" y="889"/>
            <a:chExt cx="4808" cy="2496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2835" y="889"/>
              <a:ext cx="1083" cy="31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 i="1">
                  <a:ea typeface="黑体" panose="02010609060101010101" pitchFamily="2" charset="-122"/>
                </a:rPr>
                <a:t>Animal</a:t>
              </a:r>
              <a:endParaRPr lang="en-US" altLang="zh-CN" sz="2800" b="1" i="1">
                <a:ea typeface="黑体" panose="02010609060101010101" pitchFamily="2" charset="-122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657" y="2431"/>
              <a:ext cx="1089" cy="318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a typeface="黑体" panose="02010609060101010101" pitchFamily="2" charset="-122"/>
                </a:rPr>
                <a:t>Human</a:t>
              </a:r>
              <a:endParaRPr lang="en-US" altLang="zh-CN" sz="2800" b="1">
                <a:ea typeface="黑体" panose="02010609060101010101" pitchFamily="2" charset="-122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4272" y="1660"/>
              <a:ext cx="740" cy="31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 i="1">
                  <a:ea typeface="黑体" panose="02010609060101010101" pitchFamily="2" charset="-122"/>
                </a:rPr>
                <a:t>Bird</a:t>
              </a:r>
              <a:endParaRPr lang="en-US" altLang="zh-CN" sz="2800" b="1" i="1">
                <a:ea typeface="黑体" panose="02010609060101010101" pitchFamily="2" charset="-122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583" y="1660"/>
              <a:ext cx="979" cy="31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 i="1" dirty="0"/>
                <a:t>Mammal</a:t>
              </a:r>
              <a:endParaRPr lang="en-US" altLang="zh-CN" sz="2800" b="1" i="1" dirty="0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012" y="2431"/>
              <a:ext cx="1511" cy="31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 i="1">
                  <a:ea typeface="黑体" panose="02010609060101010101" pitchFamily="2" charset="-122"/>
                </a:rPr>
                <a:t>CatFamily</a:t>
              </a:r>
              <a:endParaRPr lang="en-US" altLang="zh-CN" sz="2800" b="1" i="1">
                <a:ea typeface="黑体" panose="02010609060101010101" pitchFamily="2" charset="-122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3954" y="2295"/>
              <a:ext cx="1511" cy="318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/>
                <a:t>Swallow</a:t>
              </a:r>
              <a:endParaRPr lang="en-US" altLang="zh-CN" sz="2800" b="1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066" y="3067"/>
              <a:ext cx="1510" cy="318"/>
            </a:xfrm>
            <a:prstGeom prst="rect">
              <a:avLst/>
            </a:prstGeom>
            <a:solidFill>
              <a:srgbClr val="FF99CC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800" b="1">
                  <a:ea typeface="黑体" panose="02010609060101010101" pitchFamily="2" charset="-122"/>
                </a:rPr>
                <a:t>Tiger</a:t>
              </a:r>
              <a:endParaRPr lang="en-US" altLang="zh-CN" sz="2800" b="1">
                <a:ea typeface="黑体" panose="02010609060101010101" pitchFamily="2" charset="-122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2066" y="1524"/>
              <a:ext cx="259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2066" y="152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4656" y="1524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 flipV="1">
              <a:off x="1202" y="2295"/>
              <a:ext cx="1619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1202" y="2295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>
              <a:off x="2821" y="2295"/>
              <a:ext cx="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19" name="AutoShape 29"/>
            <p:cNvSpPr>
              <a:spLocks noChangeArrowheads="1"/>
            </p:cNvSpPr>
            <p:nvPr/>
          </p:nvSpPr>
          <p:spPr bwMode="auto">
            <a:xfrm>
              <a:off x="3288" y="1207"/>
              <a:ext cx="227" cy="318"/>
            </a:xfrm>
            <a:prstGeom prst="upArrow">
              <a:avLst>
                <a:gd name="adj1" fmla="val 0"/>
                <a:gd name="adj2" fmla="val 6123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0" name="AutoShape 30"/>
            <p:cNvSpPr>
              <a:spLocks noChangeArrowheads="1"/>
            </p:cNvSpPr>
            <p:nvPr/>
          </p:nvSpPr>
          <p:spPr bwMode="auto">
            <a:xfrm>
              <a:off x="1973" y="1978"/>
              <a:ext cx="227" cy="318"/>
            </a:xfrm>
            <a:prstGeom prst="upArrow">
              <a:avLst>
                <a:gd name="adj1" fmla="val 0"/>
                <a:gd name="adj2" fmla="val 6123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1" name="AutoShape 31"/>
            <p:cNvSpPr>
              <a:spLocks noChangeArrowheads="1"/>
            </p:cNvSpPr>
            <p:nvPr/>
          </p:nvSpPr>
          <p:spPr bwMode="auto">
            <a:xfrm>
              <a:off x="4604" y="1979"/>
              <a:ext cx="227" cy="318"/>
            </a:xfrm>
            <a:prstGeom prst="upArrow">
              <a:avLst>
                <a:gd name="adj1" fmla="val 0"/>
                <a:gd name="adj2" fmla="val 6123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22" name="AutoShape 32"/>
            <p:cNvSpPr>
              <a:spLocks noChangeArrowheads="1"/>
            </p:cNvSpPr>
            <p:nvPr/>
          </p:nvSpPr>
          <p:spPr bwMode="auto">
            <a:xfrm>
              <a:off x="2698" y="2749"/>
              <a:ext cx="227" cy="318"/>
            </a:xfrm>
            <a:prstGeom prst="upArrow">
              <a:avLst>
                <a:gd name="adj1" fmla="val 0"/>
                <a:gd name="adj2" fmla="val 6123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</p:grp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-118864" y="1989634"/>
            <a:ext cx="4633863" cy="2447925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构建层次类的原则</a:t>
            </a:r>
            <a:r>
              <a:rPr lang="en-US" altLang="zh-CN" sz="2800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800" dirty="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尽可能将常用的功能放在顶层抽象类中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尽可能将数据放在低层具体的子类中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190055" y="837506"/>
            <a:ext cx="8229600" cy="706437"/>
          </a:xfrm>
          <a:prstGeom prst="rect">
            <a:avLst/>
          </a:prstGeom>
        </p:spPr>
        <p:txBody>
          <a:bodyPr/>
          <a:lstStyle>
            <a:lvl1pPr algn="ctr" defTabSz="1219835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 smtClean="0">
                <a:ea typeface="黑体" panose="02010609060101010101" pitchFamily="2" charset="-122"/>
              </a:rPr>
              <a:t>构建层次类的原则</a:t>
            </a:r>
            <a:endParaRPr lang="zh-CN" altLang="en-US" sz="2800" b="1" dirty="0">
              <a:ea typeface="黑体" panose="02010609060101010101" pitchFamily="2" charset="-122"/>
            </a:endParaRPr>
          </a:p>
        </p:txBody>
      </p:sp>
      <p:sp>
        <p:nvSpPr>
          <p:cNvPr id="5" name="AutoShape 5"/>
          <p:cNvSpPr>
            <a:spLocks noChangeAspect="1" noChangeArrowheads="1"/>
          </p:cNvSpPr>
          <p:nvPr/>
        </p:nvSpPr>
        <p:spPr bwMode="auto">
          <a:xfrm>
            <a:off x="5018882" y="1341438"/>
            <a:ext cx="5834062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380957" y="1509713"/>
            <a:ext cx="3106737" cy="55086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74981" tIns="37490" rIns="74981" bIns="37490" anchor="ctr"/>
          <a:lstStyle/>
          <a:p>
            <a:pPr algn="ctr"/>
            <a:r>
              <a:rPr lang="en-US" altLang="zh-CN" sz="2400" b="1">
                <a:solidFill>
                  <a:srgbClr val="000000"/>
                </a:solidFill>
                <a:ea typeface="黑体" panose="02010609060101010101" pitchFamily="2" charset="-122"/>
              </a:rPr>
              <a:t>Bank</a:t>
            </a:r>
            <a:endParaRPr lang="en-US" altLang="zh-CN" sz="2400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6380957" y="3430588"/>
            <a:ext cx="31115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6379369" y="3430588"/>
            <a:ext cx="1588" cy="5016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9490869" y="3430588"/>
            <a:ext cx="1588" cy="5016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5198269" y="3644900"/>
            <a:ext cx="2335213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lIns="74981" tIns="37490" rIns="74981" bIns="37490" anchor="ctr"/>
          <a:lstStyle/>
          <a:p>
            <a:pPr algn="ctr"/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Savings</a:t>
            </a:r>
            <a:endParaRPr lang="en-US" altLang="zh-CN" sz="2400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6395244" y="2060575"/>
            <a:ext cx="3097213" cy="8858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lIns="74981" tIns="37490" rIns="74981" bIns="37490" anchor="ctr"/>
          <a:lstStyle/>
          <a:p>
            <a:pPr algn="just"/>
            <a:r>
              <a:rPr lang="en-US" altLang="zh-CN" sz="2400" dirty="0">
                <a:solidFill>
                  <a:srgbClr val="000000"/>
                </a:solidFill>
              </a:rPr>
              <a:t>+</a:t>
            </a:r>
            <a:r>
              <a:rPr lang="en-US" altLang="zh-CN" sz="2400" dirty="0" err="1">
                <a:solidFill>
                  <a:srgbClr val="000000"/>
                </a:solidFill>
              </a:rPr>
              <a:t>printStatement</a:t>
            </a:r>
            <a:r>
              <a:rPr lang="en-US" altLang="zh-CN" sz="2400" dirty="0">
                <a:solidFill>
                  <a:srgbClr val="000000"/>
                </a:solidFill>
              </a:rPr>
              <a:t>: void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algn="just"/>
            <a:r>
              <a:rPr lang="en-US" altLang="zh-CN" sz="2400" dirty="0">
                <a:solidFill>
                  <a:srgbClr val="000000"/>
                </a:solidFill>
              </a:rPr>
              <a:t>+</a:t>
            </a:r>
            <a:r>
              <a:rPr lang="en-US" altLang="zh-CN" sz="2400" dirty="0" err="1">
                <a:solidFill>
                  <a:srgbClr val="000000"/>
                </a:solidFill>
              </a:rPr>
              <a:t>sendMsg</a:t>
            </a:r>
            <a:r>
              <a:rPr lang="en-US" altLang="zh-CN" sz="2400" dirty="0">
                <a:solidFill>
                  <a:srgbClr val="000000"/>
                </a:solidFill>
              </a:rPr>
              <a:t>: void</a:t>
            </a:r>
            <a:endParaRPr lang="en-US" altLang="zh-CN" sz="2400" dirty="0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5198269" y="4652963"/>
            <a:ext cx="2333625" cy="7572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lIns="74981" tIns="37490" rIns="74981" bIns="37490" anchor="ctr"/>
          <a:lstStyle/>
          <a:p>
            <a:pPr algn="just"/>
            <a:r>
              <a:rPr lang="en-US" altLang="zh-CN" sz="2400">
                <a:solidFill>
                  <a:srgbClr val="000000"/>
                </a:solidFill>
              </a:rPr>
              <a:t>+deposit: void</a:t>
            </a:r>
            <a:endParaRPr lang="en-US" altLang="zh-CN" sz="2400">
              <a:solidFill>
                <a:srgbClr val="000000"/>
              </a:solidFill>
            </a:endParaRPr>
          </a:p>
          <a:p>
            <a:pPr algn="just"/>
            <a:r>
              <a:rPr lang="en-US" altLang="zh-CN" sz="2400">
                <a:solidFill>
                  <a:srgbClr val="000000"/>
                </a:solidFill>
              </a:rPr>
              <a:t>+withdraw: void</a:t>
            </a:r>
            <a:endParaRPr lang="en-US" altLang="zh-CN" sz="2400"/>
          </a:p>
        </p:txBody>
      </p:sp>
      <p:sp>
        <p:nvSpPr>
          <p:cNvPr id="13" name="AutoShape 13"/>
          <p:cNvSpPr>
            <a:spLocks noChangeArrowheads="1"/>
          </p:cNvSpPr>
          <p:nvPr/>
        </p:nvSpPr>
        <p:spPr bwMode="auto">
          <a:xfrm>
            <a:off x="7741444" y="2924175"/>
            <a:ext cx="388938" cy="506413"/>
          </a:xfrm>
          <a:prstGeom prst="upArrow">
            <a:avLst>
              <a:gd name="adj1" fmla="val 0"/>
              <a:gd name="adj2" fmla="val 57591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8324057" y="3644900"/>
            <a:ext cx="2335212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lIns="74981" tIns="37490" rIns="74981" bIns="37490" anchor="ctr"/>
          <a:lstStyle/>
          <a:p>
            <a:pPr algn="ctr"/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Checking</a:t>
            </a:r>
            <a:endParaRPr lang="en-US" altLang="zh-CN" sz="2400"/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8324057" y="4618038"/>
            <a:ext cx="2333625" cy="755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lIns="74981" tIns="37490" rIns="74981" bIns="37490" anchor="ctr"/>
          <a:lstStyle/>
          <a:p>
            <a:pPr algn="just"/>
            <a:r>
              <a:rPr lang="en-US" altLang="zh-CN" sz="2400" dirty="0">
                <a:solidFill>
                  <a:srgbClr val="000000"/>
                </a:solidFill>
              </a:rPr>
              <a:t>+deposit: void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algn="just"/>
            <a:r>
              <a:rPr lang="en-US" altLang="zh-CN" sz="2400" dirty="0">
                <a:solidFill>
                  <a:srgbClr val="000000"/>
                </a:solidFill>
              </a:rPr>
              <a:t>+withdraw: void</a:t>
            </a:r>
            <a:endParaRPr lang="en-US" altLang="zh-CN" sz="2400" dirty="0"/>
          </a:p>
        </p:txBody>
      </p:sp>
      <p:sp>
        <p:nvSpPr>
          <p:cNvPr id="16" name="Line 17"/>
          <p:cNvSpPr>
            <a:spLocks noChangeShapeType="1"/>
          </p:cNvSpPr>
          <p:nvPr/>
        </p:nvSpPr>
        <p:spPr bwMode="auto">
          <a:xfrm flipV="1">
            <a:off x="11211719" y="1412875"/>
            <a:ext cx="0" cy="45132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10348119" y="5876925"/>
            <a:ext cx="1871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代码向上走</a:t>
            </a:r>
            <a:endParaRPr lang="zh-CN" altLang="en-US" sz="2400" b="1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18" name="Line 19"/>
          <p:cNvSpPr>
            <a:spLocks noChangeShapeType="1"/>
          </p:cNvSpPr>
          <p:nvPr/>
        </p:nvSpPr>
        <p:spPr bwMode="auto">
          <a:xfrm>
            <a:off x="4660107" y="1412875"/>
            <a:ext cx="0" cy="44386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3794919" y="5949950"/>
            <a:ext cx="2447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数据向下走</a:t>
            </a:r>
            <a:endParaRPr lang="zh-CN" altLang="en-US" sz="2400" b="1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20" name="Rectangle 22"/>
          <p:cNvSpPr>
            <a:spLocks noChangeArrowheads="1"/>
          </p:cNvSpPr>
          <p:nvPr/>
        </p:nvSpPr>
        <p:spPr bwMode="auto">
          <a:xfrm>
            <a:off x="5198269" y="4148138"/>
            <a:ext cx="2335213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lIns="74981" tIns="37490" rIns="74981" bIns="37490" anchor="ctr"/>
          <a:lstStyle/>
          <a:p>
            <a:r>
              <a:rPr lang="en-US" altLang="zh-CN" sz="1800" b="1">
                <a:solidFill>
                  <a:srgbClr val="000000"/>
                </a:solidFill>
              </a:rPr>
              <a:t>ArrayList: cusName</a:t>
            </a:r>
            <a:endParaRPr lang="en-US" altLang="zh-CN" sz="1800"/>
          </a:p>
        </p:txBody>
      </p:sp>
      <p:sp>
        <p:nvSpPr>
          <p:cNvPr id="21" name="Rectangle 23"/>
          <p:cNvSpPr>
            <a:spLocks noChangeArrowheads="1"/>
          </p:cNvSpPr>
          <p:nvPr/>
        </p:nvSpPr>
        <p:spPr bwMode="auto">
          <a:xfrm>
            <a:off x="8322469" y="4149725"/>
            <a:ext cx="2335213" cy="5048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lIns="74981" tIns="37490" rIns="74981" bIns="37490" anchor="ctr"/>
          <a:lstStyle/>
          <a:p>
            <a:r>
              <a:rPr lang="en-US" altLang="zh-CN" sz="1800" b="1">
                <a:solidFill>
                  <a:srgbClr val="000000"/>
                </a:solidFill>
              </a:rPr>
              <a:t>ArrayList: cusName</a:t>
            </a:r>
            <a:endParaRPr lang="en-US" altLang="zh-CN" sz="1800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抽象类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9"/>
          <p:cNvSpPr txBox="1">
            <a:spLocks noChangeArrowheads="1"/>
          </p:cNvSpPr>
          <p:nvPr/>
        </p:nvSpPr>
        <p:spPr>
          <a:xfrm>
            <a:off x="1403350" y="779140"/>
            <a:ext cx="6562725" cy="706438"/>
          </a:xfrm>
          <a:prstGeom prst="rect">
            <a:avLst/>
          </a:prstGeom>
          <a:noFill/>
        </p:spPr>
        <p:txBody>
          <a:bodyPr/>
          <a:lstStyle>
            <a:lvl1pPr algn="ctr" defTabSz="1219835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Java</a:t>
            </a:r>
            <a:r>
              <a:rPr lang="zh-CN" altLang="en-US" sz="3600" b="1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与</a:t>
            </a:r>
            <a:r>
              <a:rPr lang="en-US" altLang="zh-CN" sz="3600" b="1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C++</a:t>
            </a:r>
            <a:r>
              <a:rPr lang="zh-CN" altLang="en-US" sz="3600" b="1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在继承方面的不同</a:t>
            </a:r>
            <a:endParaRPr lang="zh-CN" altLang="en-US" sz="3600" b="1" dirty="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128018" y="5630218"/>
            <a:ext cx="3754438" cy="752475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smtClean="0"/>
              <a:t>A java class can’t inherit </a:t>
            </a:r>
            <a:endParaRPr lang="en-US" altLang="zh-CN" sz="2400" smtClean="0"/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400" smtClean="0"/>
              <a:t>more than one class</a:t>
            </a:r>
            <a:endParaRPr lang="en-US" altLang="zh-CN" sz="2400"/>
          </a:p>
        </p:txBody>
      </p:sp>
      <p:sp>
        <p:nvSpPr>
          <p:cNvPr id="5" name="Rectangle 38"/>
          <p:cNvSpPr>
            <a:spLocks noChangeArrowheads="1"/>
          </p:cNvSpPr>
          <p:nvPr/>
        </p:nvSpPr>
        <p:spPr bwMode="auto">
          <a:xfrm>
            <a:off x="6881241" y="5518026"/>
            <a:ext cx="3754438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sz="2400" dirty="0"/>
              <a:t>A C++ class can inherit </a:t>
            </a:r>
            <a:endParaRPr lang="en-US" altLang="zh-CN" sz="2400" dirty="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altLang="zh-CN" sz="2400" dirty="0"/>
              <a:t>more than one class</a:t>
            </a:r>
            <a:endParaRPr lang="en-US" altLang="zh-CN" sz="2400" dirty="0"/>
          </a:p>
        </p:txBody>
      </p:sp>
      <p:sp>
        <p:nvSpPr>
          <p:cNvPr id="6" name="Text Box 42"/>
          <p:cNvSpPr txBox="1">
            <a:spLocks noChangeArrowheads="1"/>
          </p:cNvSpPr>
          <p:nvPr/>
        </p:nvSpPr>
        <p:spPr bwMode="auto">
          <a:xfrm>
            <a:off x="4442593" y="4007793"/>
            <a:ext cx="18002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000CC"/>
                </a:solidFill>
                <a:ea typeface="黑体" panose="02010609060101010101" pitchFamily="2" charset="-122"/>
              </a:rPr>
              <a:t>Java</a:t>
            </a:r>
            <a:r>
              <a:rPr lang="zh-CN" altLang="en-US" sz="2800" b="1">
                <a:solidFill>
                  <a:srgbClr val="0000CC"/>
                </a:solidFill>
                <a:ea typeface="黑体" panose="02010609060101010101" pitchFamily="2" charset="-122"/>
              </a:rPr>
              <a:t>不允许多继承</a:t>
            </a:r>
            <a:endParaRPr lang="zh-CN" altLang="en-US" sz="2800" b="1">
              <a:solidFill>
                <a:srgbClr val="0000CC"/>
              </a:solidFill>
              <a:ea typeface="黑体" panose="02010609060101010101" pitchFamily="2" charset="-122"/>
            </a:endParaRPr>
          </a:p>
        </p:txBody>
      </p:sp>
      <p:grpSp>
        <p:nvGrpSpPr>
          <p:cNvPr id="7" name="Group 45"/>
          <p:cNvGrpSpPr/>
          <p:nvPr/>
        </p:nvGrpSpPr>
        <p:grpSpPr bwMode="auto">
          <a:xfrm>
            <a:off x="2066106" y="1845618"/>
            <a:ext cx="3671887" cy="1985962"/>
            <a:chOff x="249" y="1434"/>
            <a:chExt cx="2313" cy="1251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839" y="2341"/>
              <a:ext cx="1270" cy="34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BirdFamily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249" y="1434"/>
              <a:ext cx="1134" cy="36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i="1" dirty="0" err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ChirpSounds</a:t>
              </a:r>
              <a:endParaRPr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1565" y="1434"/>
              <a:ext cx="997" cy="363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FlyingSkills</a:t>
              </a:r>
              <a:endParaRPr lang="en-US" altLang="zh-CN" sz="2000" b="1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 flipV="1">
              <a:off x="839" y="2069"/>
              <a:ext cx="1224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4"/>
            <p:cNvSpPr>
              <a:spLocks noChangeShapeType="1"/>
            </p:cNvSpPr>
            <p:nvPr/>
          </p:nvSpPr>
          <p:spPr bwMode="auto">
            <a:xfrm flipV="1">
              <a:off x="1474" y="2069"/>
              <a:ext cx="0" cy="27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AutoShape 43"/>
            <p:cNvSpPr>
              <a:spLocks noChangeArrowheads="1"/>
            </p:cNvSpPr>
            <p:nvPr/>
          </p:nvSpPr>
          <p:spPr bwMode="auto">
            <a:xfrm>
              <a:off x="749" y="1797"/>
              <a:ext cx="181" cy="272"/>
            </a:xfrm>
            <a:prstGeom prst="upArrow">
              <a:avLst>
                <a:gd name="adj1" fmla="val 0"/>
                <a:gd name="adj2" fmla="val 70720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AutoShape 44"/>
            <p:cNvSpPr>
              <a:spLocks noChangeArrowheads="1"/>
            </p:cNvSpPr>
            <p:nvPr/>
          </p:nvSpPr>
          <p:spPr bwMode="auto">
            <a:xfrm>
              <a:off x="1973" y="1797"/>
              <a:ext cx="181" cy="272"/>
            </a:xfrm>
            <a:prstGeom prst="upArrow">
              <a:avLst>
                <a:gd name="adj1" fmla="val 0"/>
                <a:gd name="adj2" fmla="val 70720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" name="AutoShape 49"/>
          <p:cNvSpPr>
            <a:spLocks noChangeArrowheads="1"/>
          </p:cNvSpPr>
          <p:nvPr/>
        </p:nvSpPr>
        <p:spPr bwMode="auto">
          <a:xfrm>
            <a:off x="3721868" y="4150668"/>
            <a:ext cx="647700" cy="647700"/>
          </a:xfrm>
          <a:custGeom>
            <a:avLst/>
            <a:gdLst>
              <a:gd name="G0" fmla="+- 2700 0 0"/>
              <a:gd name="G1" fmla="*/ G0 2 1"/>
              <a:gd name="G2" fmla="+- 21600 0 G1"/>
              <a:gd name="G3" fmla="*/ G2 G2 1"/>
              <a:gd name="G4" fmla="*/ G0 G0 1"/>
              <a:gd name="G5" fmla="+- G3 0 G4"/>
              <a:gd name="G6" fmla="*/ G5 1 8"/>
              <a:gd name="G7" fmla="sqrt G6"/>
              <a:gd name="G8" fmla="*/ G4 1 8"/>
              <a:gd name="G9" fmla="sqrt G8"/>
              <a:gd name="G10" fmla="+- G7 G9 0"/>
              <a:gd name="G11" fmla="+- G7 0 G9"/>
              <a:gd name="G12" fmla="+- G10 10800 0"/>
              <a:gd name="G13" fmla="+- 10800 0 G10"/>
              <a:gd name="G14" fmla="+- G11 10800 0"/>
              <a:gd name="G15" fmla="+- 10800 0 G11"/>
              <a:gd name="G16" fmla="+- 21600 0 G0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401" y="15493"/>
                </a:moveTo>
                <a:cubicBezTo>
                  <a:pt x="18376" y="14122"/>
                  <a:pt x="18900" y="12482"/>
                  <a:pt x="18900" y="10800"/>
                </a:cubicBezTo>
                <a:cubicBezTo>
                  <a:pt x="18900" y="6326"/>
                  <a:pt x="15273" y="2700"/>
                  <a:pt x="10800" y="2700"/>
                </a:cubicBezTo>
                <a:cubicBezTo>
                  <a:pt x="9117" y="2699"/>
                  <a:pt x="7477" y="3223"/>
                  <a:pt x="6106" y="4198"/>
                </a:cubicBezTo>
                <a:close/>
                <a:moveTo>
                  <a:pt x="4198" y="6106"/>
                </a:moveTo>
                <a:cubicBezTo>
                  <a:pt x="3223" y="7477"/>
                  <a:pt x="2700" y="9117"/>
                  <a:pt x="2700" y="10799"/>
                </a:cubicBezTo>
                <a:cubicBezTo>
                  <a:pt x="2700" y="15273"/>
                  <a:pt x="6326" y="18900"/>
                  <a:pt x="10800" y="18900"/>
                </a:cubicBezTo>
                <a:cubicBezTo>
                  <a:pt x="12482" y="18900"/>
                  <a:pt x="14122" y="18376"/>
                  <a:pt x="15493" y="17401"/>
                </a:cubicBez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Text Box 51"/>
          <p:cNvSpPr txBox="1">
            <a:spLocks noChangeArrowheads="1"/>
          </p:cNvSpPr>
          <p:nvPr/>
        </p:nvSpPr>
        <p:spPr bwMode="auto">
          <a:xfrm>
            <a:off x="7395343" y="4072880"/>
            <a:ext cx="20875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CC"/>
                </a:solidFill>
                <a:ea typeface="黑体" panose="02010609060101010101" pitchFamily="2" charset="-122"/>
              </a:rPr>
              <a:t>在</a:t>
            </a:r>
            <a:r>
              <a:rPr lang="en-US" altLang="zh-CN" sz="2800" b="1">
                <a:solidFill>
                  <a:srgbClr val="0000CC"/>
                </a:solidFill>
                <a:ea typeface="黑体" panose="02010609060101010101" pitchFamily="2" charset="-122"/>
              </a:rPr>
              <a:t>C++</a:t>
            </a:r>
            <a:r>
              <a:rPr lang="zh-CN" altLang="en-US" sz="2800" b="1">
                <a:solidFill>
                  <a:srgbClr val="0000CC"/>
                </a:solidFill>
                <a:ea typeface="黑体" panose="02010609060101010101" pitchFamily="2" charset="-122"/>
              </a:rPr>
              <a:t>中允许多继承</a:t>
            </a:r>
            <a:endParaRPr lang="zh-CN" altLang="en-US" sz="2800" b="1">
              <a:solidFill>
                <a:srgbClr val="0000CC"/>
              </a:solidFill>
              <a:ea typeface="黑体" panose="02010609060101010101" pitchFamily="2" charset="-122"/>
            </a:endParaRPr>
          </a:p>
        </p:txBody>
      </p:sp>
      <p:grpSp>
        <p:nvGrpSpPr>
          <p:cNvPr id="17" name="Group 50"/>
          <p:cNvGrpSpPr/>
          <p:nvPr/>
        </p:nvGrpSpPr>
        <p:grpSpPr bwMode="auto">
          <a:xfrm>
            <a:off x="6603231" y="1845618"/>
            <a:ext cx="3671888" cy="2016125"/>
            <a:chOff x="3016" y="1434"/>
            <a:chExt cx="2313" cy="1270"/>
          </a:xfrm>
        </p:grpSpPr>
        <p:sp>
          <p:nvSpPr>
            <p:cNvPr id="18" name="Rectangle 29"/>
            <p:cNvSpPr>
              <a:spLocks noChangeArrowheads="1"/>
            </p:cNvSpPr>
            <p:nvPr/>
          </p:nvSpPr>
          <p:spPr bwMode="auto">
            <a:xfrm>
              <a:off x="3560" y="2360"/>
              <a:ext cx="1270" cy="34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4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BirdFamily</a:t>
              </a:r>
              <a:endPara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9" name="Rectangle 30"/>
            <p:cNvSpPr>
              <a:spLocks noChangeArrowheads="1"/>
            </p:cNvSpPr>
            <p:nvPr/>
          </p:nvSpPr>
          <p:spPr bwMode="auto">
            <a:xfrm>
              <a:off x="3016" y="1434"/>
              <a:ext cx="1134" cy="363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i="1" dirty="0" err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ChirpSounds</a:t>
              </a:r>
              <a:endParaRPr lang="en-US" altLang="zh-CN" sz="2000" b="1" i="1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0" name="Rectangle 31"/>
            <p:cNvSpPr>
              <a:spLocks noChangeArrowheads="1"/>
            </p:cNvSpPr>
            <p:nvPr/>
          </p:nvSpPr>
          <p:spPr bwMode="auto">
            <a:xfrm>
              <a:off x="4332" y="1434"/>
              <a:ext cx="997" cy="363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2000" b="1" i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FlyingSkills</a:t>
              </a:r>
              <a:endParaRPr lang="en-US" altLang="zh-CN" sz="2000" b="1" i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21" name="Line 32"/>
            <p:cNvSpPr>
              <a:spLocks noChangeShapeType="1"/>
            </p:cNvSpPr>
            <p:nvPr/>
          </p:nvSpPr>
          <p:spPr bwMode="auto">
            <a:xfrm flipV="1">
              <a:off x="3606" y="2069"/>
              <a:ext cx="1224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7"/>
            <p:cNvSpPr>
              <a:spLocks noChangeShapeType="1"/>
            </p:cNvSpPr>
            <p:nvPr/>
          </p:nvSpPr>
          <p:spPr bwMode="auto">
            <a:xfrm flipV="1">
              <a:off x="4195" y="2069"/>
              <a:ext cx="0" cy="27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AutoShape 46"/>
            <p:cNvSpPr>
              <a:spLocks noChangeArrowheads="1"/>
            </p:cNvSpPr>
            <p:nvPr/>
          </p:nvSpPr>
          <p:spPr bwMode="auto">
            <a:xfrm>
              <a:off x="3515" y="1797"/>
              <a:ext cx="181" cy="272"/>
            </a:xfrm>
            <a:prstGeom prst="upArrow">
              <a:avLst>
                <a:gd name="adj1" fmla="val 0"/>
                <a:gd name="adj2" fmla="val 70720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AutoShape 47"/>
            <p:cNvSpPr>
              <a:spLocks noChangeArrowheads="1"/>
            </p:cNvSpPr>
            <p:nvPr/>
          </p:nvSpPr>
          <p:spPr bwMode="auto">
            <a:xfrm>
              <a:off x="4740" y="1797"/>
              <a:ext cx="181" cy="272"/>
            </a:xfrm>
            <a:prstGeom prst="upArrow">
              <a:avLst>
                <a:gd name="adj1" fmla="val 0"/>
                <a:gd name="adj2" fmla="val 70720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722911" cy="68595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圆角矩形 66"/>
          <p:cNvSpPr/>
          <p:nvPr/>
        </p:nvSpPr>
        <p:spPr>
          <a:xfrm>
            <a:off x="5791629" y="4232696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 smtClean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6673143" y="4221882"/>
            <a:ext cx="5114664" cy="594326"/>
            <a:chOff x="6339097" y="1573726"/>
            <a:chExt cx="3744416" cy="594326"/>
          </a:xfrm>
        </p:grpSpPr>
        <p:sp>
          <p:nvSpPr>
            <p:cNvPr id="69" name="圆角矩形 68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bg1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6723350" y="1614014"/>
              <a:ext cx="265307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en-US" altLang="zh-CN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</a:t>
              </a:r>
              <a:r>
                <a:rPr lang="zh-CN" altLang="en-US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接口</a:t>
              </a:r>
              <a:endParaRPr lang="zh-CN" altLang="zh-CN" sz="28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圆角矩形 70"/>
          <p:cNvSpPr/>
          <p:nvPr/>
        </p:nvSpPr>
        <p:spPr>
          <a:xfrm>
            <a:off x="5791629" y="1694154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 smtClean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6649261" y="1683340"/>
            <a:ext cx="5114664" cy="594326"/>
            <a:chOff x="6315199" y="2410178"/>
            <a:chExt cx="3744416" cy="594326"/>
          </a:xfrm>
        </p:grpSpPr>
        <p:sp>
          <p:nvSpPr>
            <p:cNvPr id="73" name="圆角矩形 72"/>
            <p:cNvSpPr/>
            <p:nvPr/>
          </p:nvSpPr>
          <p:spPr>
            <a:xfrm>
              <a:off x="6315199" y="2410178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4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6747248" y="2450466"/>
              <a:ext cx="265307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en-US" altLang="zh-CN" sz="2800" b="1" kern="100" dirty="0" smtClean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</a:t>
              </a:r>
              <a:r>
                <a:rPr lang="zh-CN" altLang="en-US" sz="2800" b="1" kern="100" dirty="0" smtClean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与面向对象设计</a:t>
              </a:r>
              <a:endParaRPr lang="zh-CN" altLang="zh-CN" sz="2800" b="1" kern="1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圆角矩形 74"/>
          <p:cNvSpPr/>
          <p:nvPr/>
        </p:nvSpPr>
        <p:spPr>
          <a:xfrm>
            <a:off x="5791629" y="2547438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6673143" y="2547436"/>
            <a:ext cx="5114664" cy="594326"/>
            <a:chOff x="6339097" y="3296031"/>
            <a:chExt cx="3744416" cy="594326"/>
          </a:xfrm>
        </p:grpSpPr>
        <p:sp>
          <p:nvSpPr>
            <p:cNvPr id="77" name="圆角矩形 76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3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6723349" y="3336319"/>
              <a:ext cx="273630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800" b="1" kern="100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类之间的关系</a:t>
              </a:r>
              <a:endParaRPr lang="zh-CN" altLang="zh-CN" sz="2800" b="1" kern="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9" name="圆角矩形 78"/>
          <p:cNvSpPr/>
          <p:nvPr/>
        </p:nvSpPr>
        <p:spPr>
          <a:xfrm>
            <a:off x="5791629" y="3357788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 smtClean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6673143" y="3357786"/>
            <a:ext cx="5114664" cy="595017"/>
            <a:chOff x="6339097" y="4180903"/>
            <a:chExt cx="3744416" cy="595018"/>
          </a:xfrm>
        </p:grpSpPr>
        <p:sp>
          <p:nvSpPr>
            <p:cNvPr id="81" name="圆角矩形 80"/>
            <p:cNvSpPr/>
            <p:nvPr/>
          </p:nvSpPr>
          <p:spPr>
            <a:xfrm>
              <a:off x="6339097" y="418090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3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6723349" y="4221882"/>
              <a:ext cx="2736305" cy="554039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en-US" altLang="zh-CN" sz="2800" b="1" kern="100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</a:t>
              </a:r>
              <a:r>
                <a:rPr lang="zh-CN" altLang="en-US" sz="2800" b="1" kern="100" dirty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抽象类</a:t>
              </a:r>
              <a:endParaRPr lang="zh-CN" altLang="zh-CN" sz="2800" b="1" kern="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3" name="圆角矩形 82"/>
          <p:cNvSpPr/>
          <p:nvPr/>
        </p:nvSpPr>
        <p:spPr>
          <a:xfrm>
            <a:off x="5791758" y="5057483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6673143" y="5057483"/>
            <a:ext cx="5114664" cy="582533"/>
            <a:chOff x="6339097" y="5057483"/>
            <a:chExt cx="3744416" cy="582533"/>
          </a:xfrm>
        </p:grpSpPr>
        <p:sp>
          <p:nvSpPr>
            <p:cNvPr id="85" name="圆角矩形 84"/>
            <p:cNvSpPr/>
            <p:nvPr/>
          </p:nvSpPr>
          <p:spPr>
            <a:xfrm>
              <a:off x="6339097" y="505748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3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6723478" y="5085978"/>
              <a:ext cx="2736174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800" b="1" kern="100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面向对象设计原则</a:t>
              </a:r>
              <a:endParaRPr lang="zh-CN" altLang="zh-CN" sz="2800" b="1" kern="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338535" y="2219568"/>
            <a:ext cx="2806485" cy="1354243"/>
          </a:xfrm>
          <a:prstGeom prst="rect">
            <a:avLst/>
          </a:prstGeom>
          <a:noFill/>
        </p:spPr>
        <p:txBody>
          <a:bodyPr wrap="square" lIns="121880" tIns="60938" rIns="121880" bIns="60938">
            <a:spAutoFit/>
          </a:bodyPr>
          <a:lstStyle/>
          <a:p>
            <a:pPr algn="r">
              <a:defRPr/>
            </a:pPr>
            <a:r>
              <a:rPr lang="zh-CN" altLang="en-US" sz="48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endParaRPr lang="en-US" altLang="zh-CN" sz="48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defRPr/>
            </a:pPr>
            <a:r>
              <a:rPr lang="en-US" altLang="zh-CN" sz="32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下箭头 87"/>
          <p:cNvSpPr/>
          <p:nvPr/>
        </p:nvSpPr>
        <p:spPr>
          <a:xfrm rot="16200000">
            <a:off x="4614050" y="4098213"/>
            <a:ext cx="576064" cy="679386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8" tIns="45695" rIns="91388" bIns="45695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7 0.04121 L -6.25E-7 -3.33333E-6 " pathEditMode="relative" rAng="0" ptsTypes="AA">
                                      <p:cBhvr>
                                        <p:cTn id="21" dur="7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6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7 0.0412 L -6.25E-7 2.96296E-6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6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7 0.0412 L -6.25E-7 -7.40741E-7 " pathEditMode="relative" rAng="0" ptsTypes="AA">
                                      <p:cBhvr>
                                        <p:cTn id="37" dur="7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6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3737 0.04121 L -6.25E-7 -4.44444E-6 " pathEditMode="relative" rAng="0" ptsTypes="AA">
                                      <p:cBhvr>
                                        <p:cTn id="45" dur="7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6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3737 0.04121 L -6.25E-7 -4.44444E-6 " pathEditMode="relative" rAng="0" ptsTypes="AA">
                                      <p:cBhvr>
                                        <p:cTn id="53" dur="7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750"/>
                            </p:stCondLst>
                            <p:childTnLst>
                              <p:par>
                                <p:cTn id="5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7" grpId="0" animBg="1"/>
      <p:bldP spid="67" grpId="1" animBg="1"/>
      <p:bldP spid="67" grpId="2" animBg="1"/>
      <p:bldP spid="71" grpId="0" animBg="1"/>
      <p:bldP spid="71" grpId="1" animBg="1"/>
      <p:bldP spid="75" grpId="0" animBg="1"/>
      <p:bldP spid="75" grpId="1" animBg="1"/>
      <p:bldP spid="79" grpId="0" animBg="1"/>
      <p:bldP spid="79" grpId="1" animBg="1"/>
      <p:bldP spid="83" grpId="0" animBg="1"/>
      <p:bldP spid="83" grpId="1" animBg="1"/>
      <p:bldP spid="87" grpId="0"/>
      <p:bldP spid="8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 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(Java Interface)</a:t>
            </a:r>
            <a:endParaRPr lang="en-US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8615" y="981522"/>
            <a:ext cx="907300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接口是一些方法性质的集合，例如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public interface  Account {</a:t>
            </a:r>
            <a:endParaRPr lang="en-US" altLang="zh-CN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    public abstract deposit (double </a:t>
            </a:r>
            <a:r>
              <a:rPr lang="en-US" altLang="zh-CN" sz="28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amt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r>
              <a:rPr lang="zh-CN" altLang="en-US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； </a:t>
            </a:r>
            <a:endParaRPr lang="zh-CN" altLang="en-US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    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public abstract withdraw (double </a:t>
            </a:r>
            <a:r>
              <a:rPr lang="en-US" altLang="zh-CN" sz="28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amt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r>
              <a:rPr lang="zh-CN" altLang="en-US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；</a:t>
            </a:r>
            <a:endParaRPr lang="zh-CN" altLang="en-US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	    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public abstract transfer(double </a:t>
            </a:r>
            <a:r>
              <a:rPr lang="en-US" altLang="zh-CN" sz="28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amt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  <a:r>
              <a:rPr lang="zh-CN" altLang="en-US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；</a:t>
            </a:r>
            <a:endParaRPr lang="zh-CN" altLang="en-US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r>
              <a:rPr lang="zh-CN" altLang="en-US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altLang="zh-CN" sz="2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  <a:endParaRPr lang="en-US" altLang="zh-CN" sz="2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77887" y="4337967"/>
            <a:ext cx="10533856" cy="2188171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800" b="1" dirty="0" smtClean="0">
                <a:solidFill>
                  <a:srgbClr val="0000CC"/>
                </a:solidFill>
                <a:ea typeface="黑体" panose="02010609060101010101" pitchFamily="2" charset="-122"/>
              </a:rPr>
              <a:t>Java</a:t>
            </a:r>
            <a:r>
              <a:rPr lang="zh-CN" altLang="en-US" sz="2800" b="1" dirty="0" smtClean="0">
                <a:solidFill>
                  <a:srgbClr val="0000CC"/>
                </a:solidFill>
                <a:ea typeface="黑体" panose="02010609060101010101" pitchFamily="2" charset="-122"/>
              </a:rPr>
              <a:t>接口的性质：</a:t>
            </a:r>
            <a:r>
              <a:rPr lang="zh-CN" altLang="en-US" sz="2800" dirty="0" smtClean="0">
                <a:ea typeface="黑体" panose="02010609060101010101" pitchFamily="2" charset="-122"/>
              </a:rPr>
              <a:t> </a:t>
            </a:r>
            <a:endParaRPr lang="zh-CN" altLang="en-US" sz="2800" dirty="0" smtClean="0">
              <a:ea typeface="黑体" panose="02010609060101010101" pitchFamily="2" charset="-122"/>
            </a:endParaRPr>
          </a:p>
          <a:p>
            <a:pPr lvl="1"/>
            <a:r>
              <a:rPr lang="zh-CN" altLang="en-US" sz="2800" b="1" dirty="0" smtClean="0">
                <a:solidFill>
                  <a:srgbClr val="0000CC"/>
                </a:solidFill>
                <a:ea typeface="黑体" panose="02010609060101010101" pitchFamily="2" charset="-122"/>
              </a:rPr>
              <a:t>不允许有构造方法</a:t>
            </a:r>
            <a:r>
              <a:rPr lang="en-US" altLang="zh-CN" sz="2800" b="1" dirty="0" smtClean="0">
                <a:solidFill>
                  <a:srgbClr val="0000CC"/>
                </a:solidFill>
                <a:ea typeface="黑体" panose="02010609060101010101" pitchFamily="2" charset="-122"/>
              </a:rPr>
              <a:t>(</a:t>
            </a:r>
            <a:r>
              <a:rPr lang="zh-CN" altLang="en-US" sz="2800" b="1" dirty="0" smtClean="0">
                <a:solidFill>
                  <a:srgbClr val="0000CC"/>
                </a:solidFill>
                <a:ea typeface="黑体" panose="02010609060101010101" pitchFamily="2" charset="-122"/>
              </a:rPr>
              <a:t>函数</a:t>
            </a:r>
            <a:r>
              <a:rPr lang="en-US" altLang="zh-CN" sz="2800" b="1" dirty="0" smtClean="0">
                <a:solidFill>
                  <a:srgbClr val="0000CC"/>
                </a:solidFill>
                <a:ea typeface="黑体" panose="02010609060101010101" pitchFamily="2" charset="-122"/>
              </a:rPr>
              <a:t>)</a:t>
            </a:r>
            <a:endParaRPr lang="en-US" altLang="zh-CN" sz="2800" dirty="0" smtClean="0">
              <a:ea typeface="黑体" panose="02010609060101010101" pitchFamily="2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ea typeface="黑体" panose="02010609060101010101" pitchFamily="2" charset="-122"/>
              </a:rPr>
              <a:t>一个</a:t>
            </a:r>
            <a:r>
              <a:rPr lang="en-US" altLang="zh-CN" sz="2800" dirty="0" smtClean="0">
                <a:ea typeface="黑体" panose="02010609060101010101" pitchFamily="2" charset="-122"/>
              </a:rPr>
              <a:t>Java</a:t>
            </a:r>
            <a:r>
              <a:rPr lang="zh-CN" altLang="en-US" sz="2800" dirty="0" smtClean="0">
                <a:ea typeface="黑体" panose="02010609060101010101" pitchFamily="2" charset="-122"/>
              </a:rPr>
              <a:t>接口可以有许多不同的实现</a:t>
            </a:r>
            <a:endParaRPr lang="zh-CN" altLang="en-US" sz="2800" b="1" dirty="0" smtClean="0"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ea typeface="黑体" panose="02010609060101010101" pitchFamily="2" charset="-122"/>
              </a:rPr>
              <a:t>一个</a:t>
            </a:r>
            <a:r>
              <a:rPr lang="en-US" altLang="zh-CN" sz="2800" dirty="0" smtClean="0">
                <a:ea typeface="黑体" panose="02010609060101010101" pitchFamily="2" charset="-122"/>
              </a:rPr>
              <a:t>Java</a:t>
            </a:r>
            <a:r>
              <a:rPr lang="zh-CN" altLang="en-US" sz="2800" dirty="0" smtClean="0">
                <a:ea typeface="黑体" panose="02010609060101010101" pitchFamily="2" charset="-122"/>
              </a:rPr>
              <a:t>类可以实现许多不同的</a:t>
            </a:r>
            <a:r>
              <a:rPr lang="en-US" altLang="zh-CN" sz="2800" dirty="0" smtClean="0">
                <a:ea typeface="黑体" panose="02010609060101010101" pitchFamily="2" charset="-122"/>
              </a:rPr>
              <a:t>Java</a:t>
            </a:r>
            <a:r>
              <a:rPr lang="zh-CN" altLang="en-US" sz="2800" dirty="0" smtClean="0">
                <a:ea typeface="黑体" panose="02010609060101010101" pitchFamily="2" charset="-122"/>
              </a:rPr>
              <a:t>接口</a:t>
            </a:r>
            <a:endParaRPr lang="zh-CN" altLang="en-US" sz="2800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 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(Java Interface)</a:t>
            </a:r>
            <a:endParaRPr lang="en-US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490913" y="1055688"/>
            <a:ext cx="2016125" cy="83502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&lt;&lt;interface&gt;&gt;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Account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539750" y="3935413"/>
            <a:ext cx="2376488" cy="5762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SavingsAccount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059113" y="3935413"/>
            <a:ext cx="2592387" cy="57626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CheckingAccount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Line 7"/>
          <p:cNvSpPr>
            <a:spLocks noChangeShapeType="1"/>
          </p:cNvSpPr>
          <p:nvPr/>
        </p:nvSpPr>
        <p:spPr bwMode="auto">
          <a:xfrm>
            <a:off x="1835150" y="3575050"/>
            <a:ext cx="53292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AutoShape 10"/>
          <p:cNvSpPr>
            <a:spLocks noChangeArrowheads="1"/>
          </p:cNvSpPr>
          <p:nvPr/>
        </p:nvSpPr>
        <p:spPr bwMode="auto">
          <a:xfrm>
            <a:off x="4283075" y="2998788"/>
            <a:ext cx="360363" cy="576262"/>
          </a:xfrm>
          <a:prstGeom prst="upArrow">
            <a:avLst>
              <a:gd name="adj1" fmla="val 0"/>
              <a:gd name="adj2" fmla="val 79297"/>
            </a:avLst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867400" y="3954463"/>
            <a:ext cx="2592388" cy="48577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</a:rPr>
              <a:t>OnlineAccount</a:t>
            </a:r>
            <a:endParaRPr lang="en-US" altLang="zh-CN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3492500" y="1846263"/>
            <a:ext cx="2016125" cy="11525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i="1"/>
              <a:t>+deposit()</a:t>
            </a:r>
            <a:endParaRPr lang="en-US" altLang="zh-CN" i="1"/>
          </a:p>
          <a:p>
            <a:r>
              <a:rPr lang="en-US" altLang="zh-CN" i="1"/>
              <a:t>+withdraw()</a:t>
            </a:r>
            <a:endParaRPr lang="en-US" altLang="zh-CN" i="1"/>
          </a:p>
          <a:p>
            <a:r>
              <a:rPr lang="en-US" altLang="zh-CN" i="1"/>
              <a:t>+transfer()</a:t>
            </a:r>
            <a:endParaRPr lang="en-US" altLang="zh-CN" i="1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539750" y="4511675"/>
            <a:ext cx="2376488" cy="11525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/>
              <a:t>+deposit()</a:t>
            </a:r>
            <a:endParaRPr lang="en-US" altLang="zh-CN"/>
          </a:p>
          <a:p>
            <a:r>
              <a:rPr lang="en-US" altLang="zh-CN"/>
              <a:t>+withdraw()</a:t>
            </a:r>
            <a:endParaRPr lang="en-US" altLang="zh-CN"/>
          </a:p>
          <a:p>
            <a:r>
              <a:rPr lang="en-US" altLang="zh-CN"/>
              <a:t>+transfer()</a:t>
            </a:r>
            <a:endParaRPr lang="en-US" altLang="zh-CN"/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059113" y="4511675"/>
            <a:ext cx="2593975" cy="11525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/>
              <a:t>+deposit()</a:t>
            </a:r>
            <a:endParaRPr lang="en-US" altLang="zh-CN"/>
          </a:p>
          <a:p>
            <a:r>
              <a:rPr lang="en-US" altLang="zh-CN"/>
              <a:t>+withdraw()</a:t>
            </a:r>
            <a:endParaRPr lang="en-US" altLang="zh-CN"/>
          </a:p>
          <a:p>
            <a:r>
              <a:rPr lang="en-US" altLang="zh-CN"/>
              <a:t>+transfer()</a:t>
            </a:r>
            <a:endParaRPr lang="en-US" altLang="zh-CN"/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5867400" y="4440238"/>
            <a:ext cx="2593975" cy="11525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/>
              <a:t>+deposit()</a:t>
            </a:r>
            <a:endParaRPr lang="en-US" altLang="zh-CN"/>
          </a:p>
          <a:p>
            <a:r>
              <a:rPr lang="en-US" altLang="zh-CN"/>
              <a:t>+withdraw()</a:t>
            </a:r>
            <a:endParaRPr lang="en-US" altLang="zh-CN"/>
          </a:p>
          <a:p>
            <a:r>
              <a:rPr lang="en-US" altLang="zh-CN"/>
              <a:t>+transfer()</a:t>
            </a:r>
            <a:endParaRPr lang="en-US" altLang="zh-CN"/>
          </a:p>
        </p:txBody>
      </p:sp>
      <p:sp>
        <p:nvSpPr>
          <p:cNvPr id="13" name="Line 16"/>
          <p:cNvSpPr>
            <a:spLocks noChangeShapeType="1"/>
          </p:cNvSpPr>
          <p:nvPr/>
        </p:nvSpPr>
        <p:spPr bwMode="auto">
          <a:xfrm>
            <a:off x="1835150" y="3575050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7"/>
          <p:cNvSpPr>
            <a:spLocks noChangeShapeType="1"/>
          </p:cNvSpPr>
          <p:nvPr/>
        </p:nvSpPr>
        <p:spPr bwMode="auto">
          <a:xfrm>
            <a:off x="4462463" y="3503613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>
            <a:off x="7164388" y="3575050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20"/>
          <p:cNvSpPr>
            <a:spLocks noChangeArrowheads="1"/>
          </p:cNvSpPr>
          <p:nvPr/>
        </p:nvSpPr>
        <p:spPr bwMode="auto">
          <a:xfrm>
            <a:off x="1476375" y="5970588"/>
            <a:ext cx="6335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800" b="1"/>
              <a:t>Java</a:t>
            </a:r>
            <a:r>
              <a:rPr lang="zh-CN" altLang="en-US" sz="2800" b="1"/>
              <a:t>接口可以有许多不同的实现的例子</a:t>
            </a:r>
            <a:endParaRPr lang="zh-CN" altLang="en-US" sz="2800" b="1"/>
          </a:p>
        </p:txBody>
      </p:sp>
      <p:sp>
        <p:nvSpPr>
          <p:cNvPr id="17" name="Text Box 22"/>
          <p:cNvSpPr txBox="1">
            <a:spLocks noChangeArrowheads="1"/>
          </p:cNvSpPr>
          <p:nvPr/>
        </p:nvSpPr>
        <p:spPr bwMode="auto">
          <a:xfrm>
            <a:off x="6661150" y="1052513"/>
            <a:ext cx="1727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接口记号</a:t>
            </a:r>
            <a:endParaRPr lang="zh-CN" altLang="en-US" sz="2800" b="1"/>
          </a:p>
        </p:txBody>
      </p:sp>
      <p:sp>
        <p:nvSpPr>
          <p:cNvPr id="18" name="Line 23"/>
          <p:cNvSpPr>
            <a:spLocks noChangeShapeType="1"/>
          </p:cNvSpPr>
          <p:nvPr/>
        </p:nvSpPr>
        <p:spPr bwMode="auto">
          <a:xfrm flipH="1" flipV="1">
            <a:off x="5435600" y="1341438"/>
            <a:ext cx="12239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 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(Java Interface)</a:t>
            </a:r>
            <a:endParaRPr lang="en-US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336900" y="4105275"/>
            <a:ext cx="2233612" cy="61912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BirdFamily</a:t>
            </a:r>
            <a:endParaRPr lang="en-US" altLang="zh-CN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987400" y="1916113"/>
            <a:ext cx="3386137" cy="1106487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&lt;&lt;Interface&gt;&gt; </a:t>
            </a:r>
            <a:endParaRPr lang="en-US" altLang="zh-CN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en-US" altLang="zh-CN" sz="2800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ChirpSoundClass</a:t>
            </a:r>
            <a:endParaRPr lang="en-US" altLang="zh-CN" sz="2800" b="1" i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" name="Rectangle 29"/>
          <p:cNvSpPr>
            <a:spLocks noChangeArrowheads="1"/>
          </p:cNvSpPr>
          <p:nvPr/>
        </p:nvSpPr>
        <p:spPr bwMode="auto">
          <a:xfrm>
            <a:off x="4514825" y="1916113"/>
            <a:ext cx="3384550" cy="1106487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&lt;&lt;Interface&gt;&gt; </a:t>
            </a:r>
            <a:endParaRPr lang="en-US" altLang="zh-CN" sz="2800" b="1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en-US" altLang="zh-CN" sz="2800" b="1" i="1">
                <a:effectLst>
                  <a:outerShdw blurRad="38100" dist="38100" dir="2700000" algn="tl">
                    <a:srgbClr val="C0C0C0"/>
                  </a:outerShdw>
                </a:effectLst>
              </a:rPr>
              <a:t>FlyingTechnique</a:t>
            </a:r>
            <a:endParaRPr lang="en-US" altLang="zh-CN" sz="2800" b="1" i="1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" name="Line 30"/>
          <p:cNvSpPr>
            <a:spLocks noChangeShapeType="1"/>
          </p:cNvSpPr>
          <p:nvPr/>
        </p:nvSpPr>
        <p:spPr bwMode="auto">
          <a:xfrm>
            <a:off x="2701900" y="3644900"/>
            <a:ext cx="353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35"/>
          <p:cNvSpPr>
            <a:spLocks noChangeShapeType="1"/>
          </p:cNvSpPr>
          <p:nvPr/>
        </p:nvSpPr>
        <p:spPr bwMode="auto">
          <a:xfrm flipV="1">
            <a:off x="4476725" y="3644900"/>
            <a:ext cx="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AutoShape 40"/>
          <p:cNvSpPr>
            <a:spLocks noChangeArrowheads="1"/>
          </p:cNvSpPr>
          <p:nvPr/>
        </p:nvSpPr>
        <p:spPr bwMode="auto">
          <a:xfrm>
            <a:off x="2514575" y="3067050"/>
            <a:ext cx="360362" cy="576263"/>
          </a:xfrm>
          <a:prstGeom prst="upArrow">
            <a:avLst>
              <a:gd name="adj1" fmla="val 0"/>
              <a:gd name="adj2" fmla="val 79297"/>
            </a:avLst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1" name="AutoShape 41"/>
          <p:cNvSpPr>
            <a:spLocks noChangeArrowheads="1"/>
          </p:cNvSpPr>
          <p:nvPr/>
        </p:nvSpPr>
        <p:spPr bwMode="auto">
          <a:xfrm>
            <a:off x="6035650" y="3068638"/>
            <a:ext cx="360362" cy="576262"/>
          </a:xfrm>
          <a:prstGeom prst="upArrow">
            <a:avLst>
              <a:gd name="adj1" fmla="val 0"/>
              <a:gd name="adj2" fmla="val 79297"/>
            </a:avLst>
          </a:prstGeom>
          <a:solidFill>
            <a:srgbClr val="FFFFFF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684213" y="5589588"/>
            <a:ext cx="8229600" cy="576262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lang="zh-CN" altLang="en-US" sz="2800" smtClean="0"/>
              <a:t>一个</a:t>
            </a:r>
            <a:r>
              <a:rPr lang="en-US" altLang="zh-CN" sz="2800" smtClean="0"/>
              <a:t>Java</a:t>
            </a:r>
            <a:r>
              <a:rPr lang="zh-CN" altLang="en-US" sz="2800" smtClean="0"/>
              <a:t>类可以实现许多不同的接口的例子</a:t>
            </a:r>
            <a:endParaRPr lang="zh-CN" altLang="en-US" sz="2800" dirty="0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 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(Java Interface)</a:t>
            </a:r>
            <a:endParaRPr lang="en-US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50825" y="1485900"/>
            <a:ext cx="11176942" cy="4895850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lnSpc>
                <a:spcPct val="120000"/>
              </a:lnSpc>
              <a:buFontTx/>
              <a:buNone/>
            </a:pPr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为何使用接口</a:t>
            </a:r>
            <a:r>
              <a:rPr lang="en-US" altLang="zh-CN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 </a:t>
            </a:r>
            <a:endParaRPr lang="en-US" altLang="zh-CN" sz="2800" b="1" dirty="0" smtClean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Tx/>
              <a:buAutoNum type="arabicParenR"/>
            </a:pPr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为了重复利用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接口可以定义相关的（特殊）功能集合；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Tx/>
              <a:buAutoNum type="arabicParenR"/>
            </a:pPr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一个接口可以被用来声明一种类型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不同的接口可以实现其功能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目的是实现动态绑定；</a:t>
            </a:r>
            <a:endParaRPr lang="zh-CN" altLang="en-US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90600" lvl="1" indent="-533400">
              <a:lnSpc>
                <a:spcPct val="120000"/>
              </a:lnSpc>
              <a:buFontTx/>
              <a:buAutoNum type="arabicParenR"/>
            </a:pPr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使用接口作为协议。有些语言环境需要特殊需要的接口，例如，</a:t>
            </a:r>
            <a:r>
              <a:rPr lang="en-US" altLang="zh-CN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ava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Runnable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就是这样的接口，被用于实现多线程程序。一个程序如果要在多线程下运行，可以实现该接口。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Java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 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(Java Interface)</a:t>
            </a:r>
            <a:endParaRPr lang="en-US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131019" y="1125538"/>
            <a:ext cx="8064500" cy="4464050"/>
          </a:xfrm>
          <a:prstGeom prst="rect">
            <a:avLst/>
          </a:prstGeom>
        </p:spPr>
        <p:txBody>
          <a:bodyPr/>
          <a:lstStyle>
            <a:lvl1pPr marL="457200" indent="-4572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接口的例子</a:t>
            </a:r>
            <a:r>
              <a:rPr lang="en-US" altLang="zh-CN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 smtClean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实现动态绑定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Account act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if(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usrChoice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== 1)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act = new </a:t>
            </a:r>
            <a:r>
              <a:rPr lang="en-US" altLang="zh-CN" sz="2800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CheckingAccount</a:t>
            </a: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();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else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if(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usrChoice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== 2)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act = new 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Savings</a:t>
            </a:r>
            <a:r>
              <a:rPr lang="en-US" altLang="zh-CN" sz="2800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Account</a:t>
            </a: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();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else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if(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usrChoice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== 3)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act = new </a:t>
            </a:r>
            <a:r>
              <a:rPr lang="en-US" altLang="zh-CN" sz="28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Online</a:t>
            </a:r>
            <a:r>
              <a:rPr lang="en-US" altLang="zh-CN" sz="2800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Account</a:t>
            </a:r>
            <a:r>
              <a:rPr lang="en-US" altLang="zh-CN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();</a:t>
            </a:r>
            <a:endParaRPr lang="en-US" altLang="zh-CN" sz="2800" dirty="0" smtClean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act.deposit</a:t>
            </a:r>
            <a:r>
              <a:rPr lang="en-US" altLang="zh-CN" sz="2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(500.23)</a:t>
            </a:r>
            <a:endParaRPr lang="en-US" altLang="zh-CN" sz="28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722911" cy="68595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圆角矩形 66"/>
          <p:cNvSpPr/>
          <p:nvPr/>
        </p:nvSpPr>
        <p:spPr>
          <a:xfrm>
            <a:off x="5791629" y="5240808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6673143" y="5229994"/>
            <a:ext cx="5114664" cy="594326"/>
            <a:chOff x="6339097" y="1573726"/>
            <a:chExt cx="3744416" cy="594326"/>
          </a:xfrm>
        </p:grpSpPr>
        <p:sp>
          <p:nvSpPr>
            <p:cNvPr id="69" name="圆角矩形 68"/>
            <p:cNvSpPr/>
            <p:nvPr/>
          </p:nvSpPr>
          <p:spPr>
            <a:xfrm>
              <a:off x="6339097" y="1573726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bg1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6723350" y="1614014"/>
              <a:ext cx="265307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800" b="1" kern="1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面向对象设计原则</a:t>
              </a:r>
              <a:endParaRPr lang="zh-CN" altLang="zh-CN" sz="28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圆角矩形 70"/>
          <p:cNvSpPr/>
          <p:nvPr/>
        </p:nvSpPr>
        <p:spPr>
          <a:xfrm>
            <a:off x="5791629" y="1694154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 smtClean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6649261" y="1683340"/>
            <a:ext cx="5114664" cy="594326"/>
            <a:chOff x="6315199" y="2410178"/>
            <a:chExt cx="3744416" cy="594326"/>
          </a:xfrm>
        </p:grpSpPr>
        <p:sp>
          <p:nvSpPr>
            <p:cNvPr id="73" name="圆角矩形 72"/>
            <p:cNvSpPr/>
            <p:nvPr/>
          </p:nvSpPr>
          <p:spPr>
            <a:xfrm>
              <a:off x="6315199" y="2410178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4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6747248" y="2450466"/>
              <a:ext cx="265307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en-US" altLang="zh-CN" sz="2800" b="1" kern="100" dirty="0" smtClean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</a:t>
              </a:r>
              <a:r>
                <a:rPr lang="zh-CN" altLang="en-US" sz="2800" b="1" kern="100" dirty="0" smtClean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与面向对象设计</a:t>
              </a:r>
              <a:endParaRPr lang="zh-CN" altLang="zh-CN" sz="2800" b="1" kern="100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圆角矩形 74"/>
          <p:cNvSpPr/>
          <p:nvPr/>
        </p:nvSpPr>
        <p:spPr>
          <a:xfrm>
            <a:off x="5791629" y="2547438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6673143" y="2547436"/>
            <a:ext cx="5114664" cy="594326"/>
            <a:chOff x="6339097" y="3296031"/>
            <a:chExt cx="3744416" cy="594326"/>
          </a:xfrm>
        </p:grpSpPr>
        <p:sp>
          <p:nvSpPr>
            <p:cNvPr id="77" name="圆角矩形 76"/>
            <p:cNvSpPr/>
            <p:nvPr/>
          </p:nvSpPr>
          <p:spPr>
            <a:xfrm>
              <a:off x="6339097" y="3296031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3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6723349" y="3336319"/>
              <a:ext cx="2736305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zh-CN" altLang="en-US" sz="2800" b="1" kern="100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类之间的关系</a:t>
              </a:r>
              <a:endParaRPr lang="zh-CN" altLang="zh-CN" sz="2800" b="1" kern="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9" name="圆角矩形 78"/>
          <p:cNvSpPr/>
          <p:nvPr/>
        </p:nvSpPr>
        <p:spPr>
          <a:xfrm>
            <a:off x="5791629" y="3357788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 smtClean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6673143" y="3357786"/>
            <a:ext cx="5114664" cy="595017"/>
            <a:chOff x="6339097" y="4180903"/>
            <a:chExt cx="3744416" cy="595018"/>
          </a:xfrm>
        </p:grpSpPr>
        <p:sp>
          <p:nvSpPr>
            <p:cNvPr id="81" name="圆角矩形 80"/>
            <p:cNvSpPr/>
            <p:nvPr/>
          </p:nvSpPr>
          <p:spPr>
            <a:xfrm>
              <a:off x="6339097" y="418090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3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6723349" y="4221882"/>
              <a:ext cx="2736305" cy="554039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en-US" altLang="zh-CN" sz="2800" b="1" kern="100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</a:t>
              </a:r>
              <a:r>
                <a:rPr lang="zh-CN" altLang="en-US" sz="2800" b="1" kern="100" dirty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抽象类</a:t>
              </a:r>
              <a:endParaRPr lang="zh-CN" altLang="zh-CN" sz="2800" b="1" kern="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3" name="圆角矩形 82"/>
          <p:cNvSpPr/>
          <p:nvPr/>
        </p:nvSpPr>
        <p:spPr>
          <a:xfrm>
            <a:off x="5791758" y="4293890"/>
            <a:ext cx="512927" cy="511504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2" tIns="60946" rIns="121892" bIns="60946" anchor="ctr"/>
          <a:lstStyle/>
          <a:p>
            <a:pPr algn="ctr">
              <a:defRPr/>
            </a:pPr>
            <a:r>
              <a:rPr lang="en-US" altLang="zh-CN" sz="3600" dirty="0"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3600" dirty="0">
              <a:latin typeface="+mj-lt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6673143" y="4293890"/>
            <a:ext cx="5114664" cy="582533"/>
            <a:chOff x="6339097" y="5057483"/>
            <a:chExt cx="3744416" cy="582533"/>
          </a:xfrm>
        </p:grpSpPr>
        <p:sp>
          <p:nvSpPr>
            <p:cNvPr id="85" name="圆角矩形 84"/>
            <p:cNvSpPr/>
            <p:nvPr/>
          </p:nvSpPr>
          <p:spPr>
            <a:xfrm>
              <a:off x="6339097" y="5057483"/>
              <a:ext cx="3744416" cy="511504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60" tIns="60980" rIns="121960" bIns="60980" anchor="ctr"/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3"/>
                </a:solidFill>
                <a:latin typeface="+mj-lt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6723478" y="5085978"/>
              <a:ext cx="2736174" cy="554038"/>
            </a:xfrm>
            <a:prstGeom prst="rect">
              <a:avLst/>
            </a:prstGeom>
          </p:spPr>
          <p:txBody>
            <a:bodyPr wrap="square" lIns="121960" tIns="60980" rIns="121960" bIns="60980">
              <a:spAutoFit/>
            </a:bodyPr>
            <a:lstStyle/>
            <a:p>
              <a:pPr>
                <a:defRPr/>
              </a:pPr>
              <a:r>
                <a:rPr lang="en-US" altLang="zh-CN" sz="2800" b="1" kern="100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</a:t>
              </a:r>
              <a:r>
                <a:rPr lang="zh-CN" altLang="en-US" sz="2800" b="1" kern="100" dirty="0" smtClean="0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接口</a:t>
              </a:r>
              <a:endParaRPr lang="zh-CN" altLang="zh-CN" sz="2800" b="1" kern="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338535" y="2219568"/>
            <a:ext cx="2806485" cy="1354243"/>
          </a:xfrm>
          <a:prstGeom prst="rect">
            <a:avLst/>
          </a:prstGeom>
          <a:noFill/>
        </p:spPr>
        <p:txBody>
          <a:bodyPr wrap="square" lIns="121880" tIns="60938" rIns="121880" bIns="60938">
            <a:spAutoFit/>
          </a:bodyPr>
          <a:lstStyle/>
          <a:p>
            <a:pPr algn="r">
              <a:defRPr/>
            </a:pPr>
            <a:r>
              <a:rPr lang="zh-CN" altLang="en-US" sz="48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endParaRPr lang="en-US" altLang="zh-CN" sz="48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defRPr/>
            </a:pPr>
            <a:r>
              <a:rPr lang="en-US" altLang="zh-CN" sz="32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2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下箭头 87"/>
          <p:cNvSpPr/>
          <p:nvPr/>
        </p:nvSpPr>
        <p:spPr>
          <a:xfrm rot="16200000">
            <a:off x="4614050" y="5178333"/>
            <a:ext cx="576064" cy="679386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88" tIns="45695" rIns="91388" bIns="45695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7 0.04121 L -6.25E-7 -3.33333E-6 " pathEditMode="relative" rAng="0" ptsTypes="AA">
                                      <p:cBhvr>
                                        <p:cTn id="21" dur="7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6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7 0.0412 L -6.25E-7 2.96296E-6 " pathEditMode="relative" rAng="0" ptsTypes="AA">
                                      <p:cBhvr>
                                        <p:cTn id="29" dur="7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6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7 0.0412 L -6.25E-7 -7.40741E-7 " pathEditMode="relative" rAng="0" ptsTypes="AA">
                                      <p:cBhvr>
                                        <p:cTn id="37" dur="7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6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3737 0.04121 L -6.25E-7 -4.44444E-6 " pathEditMode="relative" rAng="0" ptsTypes="AA">
                                      <p:cBhvr>
                                        <p:cTn id="45" dur="7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6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3737 0.04121 L -6.25E-7 -4.44444E-6 " pathEditMode="relative" rAng="0" ptsTypes="AA">
                                      <p:cBhvr>
                                        <p:cTn id="53" dur="7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206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750"/>
                            </p:stCondLst>
                            <p:childTnLst>
                              <p:par>
                                <p:cTn id="5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7" grpId="0" animBg="1"/>
      <p:bldP spid="67" grpId="1" animBg="1"/>
      <p:bldP spid="67" grpId="2" animBg="1"/>
      <p:bldP spid="71" grpId="0" animBg="1"/>
      <p:bldP spid="71" grpId="1" animBg="1"/>
      <p:bldP spid="75" grpId="0" animBg="1"/>
      <p:bldP spid="75" grpId="1" animBg="1"/>
      <p:bldP spid="79" grpId="0" animBg="1"/>
      <p:bldP spid="79" grpId="1" animBg="1"/>
      <p:bldP spid="83" grpId="0" animBg="1"/>
      <p:bldP spid="83" grpId="1" animBg="1"/>
      <p:bldP spid="87" grpId="0"/>
      <p:bldP spid="8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qrcode_178904734268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0" y="-26670"/>
            <a:ext cx="3839845" cy="6818630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50165" y="1197610"/>
          <a:ext cx="8061325" cy="3674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265"/>
                <a:gridCol w="1612265"/>
                <a:gridCol w="1612265"/>
                <a:gridCol w="1612265"/>
                <a:gridCol w="1612265"/>
              </a:tblGrid>
              <a:tr h="1224915">
                <a:tc gridSpan="5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期末成绩占比</a:t>
                      </a:r>
                      <a:endParaRPr lang="zh-CN" altLang="en-US"/>
                    </a:p>
                  </a:txBody>
                  <a:tcPr anchor="ctr" anchorCtr="0"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224915">
                <a:tc gridSpan="3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平时成绩：</a:t>
                      </a:r>
                      <a:r>
                        <a:rPr lang="en-US" altLang="zh-CN"/>
                        <a:t>30%</a:t>
                      </a:r>
                      <a:endParaRPr lang="en-US" altLang="zh-CN"/>
                    </a:p>
                  </a:txBody>
                  <a:tcPr anchor="ctr" anchorCtr="0"/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考试成绩：</a:t>
                      </a:r>
                      <a:r>
                        <a:rPr lang="en-US" altLang="zh-CN"/>
                        <a:t>70%</a:t>
                      </a:r>
                      <a:endParaRPr lang="en-US" altLang="zh-CN"/>
                    </a:p>
                  </a:txBody>
                  <a:tcPr anchor="ctr" anchorCtr="0"/>
                </a:tc>
                <a:tc hMerge="1">
                  <a:tcPr anchor="ctr" anchorCtr="0"/>
                </a:tc>
              </a:tr>
              <a:tr h="12249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考勤：</a:t>
                      </a:r>
                      <a:r>
                        <a:rPr lang="en-US" altLang="zh-CN"/>
                        <a:t>10%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实验：</a:t>
                      </a:r>
                      <a:r>
                        <a:rPr lang="en-US" altLang="zh-CN"/>
                        <a:t>10%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头歌作业：</a:t>
                      </a:r>
                      <a:r>
                        <a:rPr lang="en-US" altLang="zh-CN"/>
                        <a:t>10%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281430" y="5187315"/>
            <a:ext cx="5609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群问题答案：软件详细设计</a:t>
            </a:r>
            <a:endParaRPr lang="zh-CN" altLang="en-US"/>
          </a:p>
        </p:txBody>
      </p:sp>
    </p:spTree>
  </p:cSld>
  <p:clrMapOvr>
    <a:masterClrMapping/>
  </p:clrMapOvr>
  <p:transition spd="slow" advTm="0"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面向对象设计原则</a:t>
            </a:r>
            <a:endParaRPr lang="en-US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图示 2"/>
          <p:cNvGraphicFramePr/>
          <p:nvPr/>
        </p:nvGraphicFramePr>
        <p:xfrm>
          <a:off x="2033058" y="816617"/>
          <a:ext cx="8132233" cy="54214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椭圆 3"/>
          <p:cNvSpPr/>
          <p:nvPr/>
        </p:nvSpPr>
        <p:spPr>
          <a:xfrm>
            <a:off x="5379095" y="2637706"/>
            <a:ext cx="1656184" cy="17281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开闭原则</a:t>
            </a:r>
            <a:endParaRPr lang="zh-CN" altLang="en-US" sz="3600" b="1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面向对象设计原则</a:t>
            </a:r>
            <a:endParaRPr lang="en-US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8615" y="981522"/>
            <a:ext cx="1000911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原则：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开闭原则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(Open-closed principle) 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对扩展是开发的 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对修改是封闭的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即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一个软件系统如果是可扩展的，并且在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扩展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的时候，不必修改现有代码，我们则说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该软件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系统设计符合开闭原则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）单一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职责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原则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存在多余一个导致类变更的原因，也就是每个类应该实现单一的职责，否则就应该拆分。 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面向对象设计原则</a:t>
            </a:r>
            <a:endParaRPr lang="en-US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8615" y="981522"/>
            <a:ext cx="1000911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接口隔离原则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((Interface segregation 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principle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每个接口中不存在子类用不到却必须实现的方法，如果不然，就要将接口拆分。使用多个隔离的接口，比使用单个接口（多个接口方法集合到一个接口）要好。避免接口污染。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面向对象设计原则</a:t>
            </a:r>
            <a:endParaRPr lang="en-US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9"/>
          <p:cNvSpPr>
            <a:spLocks noChangeArrowheads="1"/>
          </p:cNvSpPr>
          <p:nvPr/>
        </p:nvSpPr>
        <p:spPr bwMode="auto">
          <a:xfrm>
            <a:off x="843062" y="1052513"/>
            <a:ext cx="2663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rIns="18000">
            <a:spAutoFit/>
          </a:bodyPr>
          <a:lstStyle/>
          <a:p>
            <a:r>
              <a:rPr lang="zh-CN" altLang="en-US" sz="2800" b="1" dirty="0">
                <a:ea typeface="黑体" panose="02010609060101010101" pitchFamily="2" charset="-122"/>
              </a:rPr>
              <a:t>接口污染的例子</a:t>
            </a:r>
            <a:endParaRPr lang="zh-CN" altLang="en-US" sz="2800" b="1" dirty="0">
              <a:ea typeface="黑体" panose="02010609060101010101" pitchFamily="2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406997" y="1896369"/>
            <a:ext cx="2035175" cy="442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61265" tIns="30632" rIns="61265" bIns="30632" anchor="ctr"/>
          <a:lstStyle/>
          <a:p>
            <a:pPr algn="ctr"/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Client    </a:t>
            </a:r>
            <a:endParaRPr lang="en-US" altLang="zh-CN" sz="280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406997" y="2353569"/>
            <a:ext cx="2035175" cy="4381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61265" tIns="30632" rIns="61265" bIns="30632" anchor="ctr">
            <a:spAutoFit/>
          </a:bodyPr>
          <a:lstStyle/>
          <a:p>
            <a:pPr algn="just"/>
            <a:r>
              <a:rPr lang="en-US" altLang="zh-CN" sz="2400">
                <a:solidFill>
                  <a:srgbClr val="000000"/>
                </a:solidFill>
              </a:rPr>
              <a:t>-trade: Trade</a:t>
            </a:r>
            <a:endParaRPr lang="en-US" altLang="zh-CN" sz="240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050185" y="837506"/>
            <a:ext cx="3497262" cy="48101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61265" tIns="30632" rIns="61265" bIns="30632" anchor="ctr"/>
          <a:lstStyle/>
          <a:p>
            <a:pPr algn="ctr"/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Trade</a:t>
            </a:r>
            <a:endParaRPr lang="en-US" altLang="zh-CN" sz="2800" b="1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050185" y="3296544"/>
            <a:ext cx="3497262" cy="31781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61265" tIns="30632" rIns="61265" bIns="30632" anchor="ctr">
            <a:spAutoFit/>
          </a:bodyPr>
          <a:lstStyle/>
          <a:p>
            <a:pPr algn="just">
              <a:lnSpc>
                <a:spcPct val="85000"/>
              </a:lnSpc>
            </a:pPr>
            <a:r>
              <a:rPr lang="fr-FR" altLang="zh-CN" sz="2000" b="1" dirty="0">
                <a:solidFill>
                  <a:srgbClr val="000000"/>
                </a:solidFill>
              </a:rPr>
              <a:t>+setTrade : Trade</a:t>
            </a:r>
            <a:endParaRPr lang="fr-FR" altLang="zh-CN" sz="2000" b="1" dirty="0">
              <a:solidFill>
                <a:srgbClr val="000000"/>
              </a:solidFill>
            </a:endParaRPr>
          </a:p>
          <a:p>
            <a:pPr algn="just">
              <a:lnSpc>
                <a:spcPct val="85000"/>
              </a:lnSpc>
            </a:pPr>
            <a:r>
              <a:rPr lang="fr-FR" altLang="zh-CN" sz="2000" b="1" dirty="0">
                <a:solidFill>
                  <a:srgbClr val="000000"/>
                </a:solidFill>
              </a:rPr>
              <a:t>+transact : void</a:t>
            </a:r>
            <a:endParaRPr lang="fr-FR" altLang="zh-CN" sz="2000" b="1" dirty="0">
              <a:solidFill>
                <a:srgbClr val="000000"/>
              </a:solidFill>
            </a:endParaRPr>
          </a:p>
          <a:p>
            <a:pPr algn="just">
              <a:lnSpc>
                <a:spcPct val="85000"/>
              </a:lnSpc>
            </a:pPr>
            <a:r>
              <a:rPr lang="fr-FR" altLang="zh-CN" sz="2000" b="1" dirty="0">
                <a:solidFill>
                  <a:srgbClr val="000000"/>
                </a:solidFill>
              </a:rPr>
              <a:t>+import():void</a:t>
            </a:r>
            <a:endParaRPr lang="fr-FR" altLang="zh-CN" sz="2000" b="1" dirty="0">
              <a:solidFill>
                <a:srgbClr val="000000"/>
              </a:solidFill>
            </a:endParaRPr>
          </a:p>
          <a:p>
            <a:pPr algn="just">
              <a:lnSpc>
                <a:spcPct val="85000"/>
              </a:lnSpc>
            </a:pPr>
            <a:r>
              <a:rPr lang="fr-FR" altLang="zh-CN" sz="2000" b="1" dirty="0">
                <a:solidFill>
                  <a:srgbClr val="000000"/>
                </a:solidFill>
              </a:rPr>
              <a:t>+getTotalImport:void</a:t>
            </a:r>
            <a:endParaRPr lang="fr-FR" altLang="zh-CN" sz="2000" b="1" dirty="0">
              <a:solidFill>
                <a:srgbClr val="000000"/>
              </a:solidFill>
            </a:endParaRPr>
          </a:p>
          <a:p>
            <a:pPr algn="just">
              <a:lnSpc>
                <a:spcPct val="85000"/>
              </a:lnSpc>
            </a:pPr>
            <a:r>
              <a:rPr lang="fr-FR" altLang="zh-CN" sz="2000" b="1" dirty="0">
                <a:solidFill>
                  <a:srgbClr val="000000"/>
                </a:solidFill>
              </a:rPr>
              <a:t>+computeTax: void</a:t>
            </a:r>
            <a:endParaRPr lang="fr-FR" altLang="zh-CN" sz="2000" b="1" dirty="0">
              <a:solidFill>
                <a:srgbClr val="000000"/>
              </a:solidFill>
            </a:endParaRPr>
          </a:p>
          <a:p>
            <a:pPr algn="just">
              <a:lnSpc>
                <a:spcPct val="85000"/>
              </a:lnSpc>
            </a:pPr>
            <a:r>
              <a:rPr lang="en-US" altLang="zh-CN" sz="2000" b="1" dirty="0">
                <a:solidFill>
                  <a:srgbClr val="000000"/>
                </a:solidFill>
              </a:rPr>
              <a:t>+export():void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algn="just">
              <a:lnSpc>
                <a:spcPct val="85000"/>
              </a:lnSpc>
            </a:pPr>
            <a:r>
              <a:rPr lang="en-US" altLang="zh-CN" sz="2000" b="1" dirty="0">
                <a:solidFill>
                  <a:srgbClr val="000000"/>
                </a:solidFill>
              </a:rPr>
              <a:t>+</a:t>
            </a:r>
            <a:r>
              <a:rPr lang="en-US" altLang="zh-CN" sz="2000" b="1" dirty="0" err="1">
                <a:solidFill>
                  <a:srgbClr val="000000"/>
                </a:solidFill>
              </a:rPr>
              <a:t>getTotalExport:void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algn="just">
              <a:lnSpc>
                <a:spcPct val="85000"/>
              </a:lnSpc>
            </a:pPr>
            <a:r>
              <a:rPr lang="en-US" altLang="zh-CN" sz="2000" b="1" dirty="0">
                <a:solidFill>
                  <a:srgbClr val="000000"/>
                </a:solidFill>
              </a:rPr>
              <a:t>+</a:t>
            </a:r>
            <a:r>
              <a:rPr lang="en-US" altLang="zh-CN" sz="2000" b="1" dirty="0" err="1">
                <a:solidFill>
                  <a:srgbClr val="000000"/>
                </a:solidFill>
              </a:rPr>
              <a:t>computeTax</a:t>
            </a:r>
            <a:r>
              <a:rPr lang="en-US" altLang="zh-CN" sz="2000" b="1" dirty="0">
                <a:solidFill>
                  <a:srgbClr val="000000"/>
                </a:solidFill>
              </a:rPr>
              <a:t>: void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algn="just">
              <a:lnSpc>
                <a:spcPct val="85000"/>
              </a:lnSpc>
            </a:pPr>
            <a:r>
              <a:rPr lang="en-US" altLang="zh-CN" sz="2000" b="1" dirty="0">
                <a:solidFill>
                  <a:srgbClr val="000000"/>
                </a:solidFill>
              </a:rPr>
              <a:t>+</a:t>
            </a:r>
            <a:r>
              <a:rPr lang="en-US" altLang="zh-CN" sz="2000" b="1" dirty="0" err="1">
                <a:solidFill>
                  <a:srgbClr val="000000"/>
                </a:solidFill>
              </a:rPr>
              <a:t>setEmployee</a:t>
            </a:r>
            <a:r>
              <a:rPr lang="en-US" altLang="zh-CN" sz="2000" b="1" dirty="0">
                <a:solidFill>
                  <a:srgbClr val="000000"/>
                </a:solidFill>
              </a:rPr>
              <a:t>: void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algn="just">
              <a:lnSpc>
                <a:spcPct val="85000"/>
              </a:lnSpc>
            </a:pPr>
            <a:r>
              <a:rPr lang="en-US" altLang="zh-CN" sz="2000" b="1" dirty="0">
                <a:solidFill>
                  <a:srgbClr val="000000"/>
                </a:solidFill>
              </a:rPr>
              <a:t>+</a:t>
            </a:r>
            <a:r>
              <a:rPr lang="en-US" altLang="zh-CN" sz="2000" b="1" dirty="0" err="1">
                <a:solidFill>
                  <a:srgbClr val="000000"/>
                </a:solidFill>
              </a:rPr>
              <a:t>setSalary</a:t>
            </a:r>
            <a:r>
              <a:rPr lang="en-US" altLang="zh-CN" sz="2000" b="1" dirty="0">
                <a:solidFill>
                  <a:srgbClr val="000000"/>
                </a:solidFill>
              </a:rPr>
              <a:t>: void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algn="just">
              <a:lnSpc>
                <a:spcPct val="85000"/>
              </a:lnSpc>
            </a:pPr>
            <a:r>
              <a:rPr lang="en-US" altLang="zh-CN" sz="2000" b="1" dirty="0">
                <a:solidFill>
                  <a:srgbClr val="000000"/>
                </a:solidFill>
              </a:rPr>
              <a:t>+</a:t>
            </a:r>
            <a:r>
              <a:rPr lang="en-US" altLang="zh-CN" sz="2000" b="1" dirty="0" err="1">
                <a:solidFill>
                  <a:srgbClr val="000000"/>
                </a:solidFill>
              </a:rPr>
              <a:t>getEmployeeNm</a:t>
            </a:r>
            <a:r>
              <a:rPr lang="en-US" altLang="zh-CN" sz="2000" b="1" dirty="0">
                <a:solidFill>
                  <a:srgbClr val="000000"/>
                </a:solidFill>
              </a:rPr>
              <a:t>: String</a:t>
            </a:r>
            <a:endParaRPr lang="en-US" altLang="zh-CN" sz="2000" b="1" dirty="0">
              <a:solidFill>
                <a:srgbClr val="000000"/>
              </a:solidFill>
            </a:endParaRPr>
          </a:p>
          <a:p>
            <a:pPr algn="just">
              <a:lnSpc>
                <a:spcPct val="85000"/>
              </a:lnSpc>
            </a:pPr>
            <a:r>
              <a:rPr lang="en-US" altLang="zh-CN" sz="2000" b="1" dirty="0">
                <a:solidFill>
                  <a:srgbClr val="000000"/>
                </a:solidFill>
              </a:rPr>
              <a:t>+</a:t>
            </a:r>
            <a:r>
              <a:rPr lang="en-US" altLang="zh-CN" sz="2000" b="1" dirty="0" err="1">
                <a:solidFill>
                  <a:srgbClr val="000000"/>
                </a:solidFill>
              </a:rPr>
              <a:t>adjustSalary</a:t>
            </a:r>
            <a:r>
              <a:rPr lang="en-US" altLang="zh-CN" sz="2000" b="1" dirty="0">
                <a:solidFill>
                  <a:srgbClr val="000000"/>
                </a:solidFill>
              </a:rPr>
              <a:t>: double</a:t>
            </a:r>
            <a:endParaRPr lang="en-US" altLang="zh-CN" sz="2000" b="1" dirty="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5050185" y="1424881"/>
            <a:ext cx="3236912" cy="8826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 flipV="1">
            <a:off x="4442172" y="2298006"/>
            <a:ext cx="636588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5050185" y="1320106"/>
            <a:ext cx="3497262" cy="218752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/>
          <a:p>
            <a:pPr algn="just">
              <a:lnSpc>
                <a:spcPct val="85000"/>
              </a:lnSpc>
            </a:pPr>
            <a:r>
              <a:rPr lang="en-US" altLang="zh-CN" sz="2000" b="1" dirty="0"/>
              <a:t>-</a:t>
            </a:r>
            <a:r>
              <a:rPr lang="en-US" altLang="zh-CN" sz="2000" b="1" dirty="0" err="1"/>
              <a:t>companyName</a:t>
            </a:r>
            <a:r>
              <a:rPr lang="en-US" altLang="zh-CN" sz="2000" b="1" dirty="0"/>
              <a:t>: String</a:t>
            </a:r>
            <a:endParaRPr lang="en-US" altLang="zh-CN" sz="2000" b="1" dirty="0"/>
          </a:p>
          <a:p>
            <a:pPr algn="just">
              <a:lnSpc>
                <a:spcPct val="85000"/>
              </a:lnSpc>
            </a:pPr>
            <a:r>
              <a:rPr lang="en-US" altLang="zh-CN" sz="2000" b="1" dirty="0"/>
              <a:t>-</a:t>
            </a:r>
            <a:r>
              <a:rPr lang="en-US" altLang="zh-CN" sz="2000" b="1" dirty="0" err="1"/>
              <a:t>companyAddr</a:t>
            </a:r>
            <a:r>
              <a:rPr lang="en-US" altLang="zh-CN" sz="2000" b="1" dirty="0"/>
              <a:t>: String</a:t>
            </a:r>
            <a:endParaRPr lang="en-US" altLang="zh-CN" sz="2000" b="1" dirty="0"/>
          </a:p>
          <a:p>
            <a:pPr algn="just">
              <a:lnSpc>
                <a:spcPct val="85000"/>
              </a:lnSpc>
            </a:pPr>
            <a:r>
              <a:rPr lang="en-US" altLang="zh-CN" sz="2000" b="1" dirty="0"/>
              <a:t>-trade: </a:t>
            </a:r>
            <a:endParaRPr lang="en-US" altLang="zh-CN" sz="2000" b="1" dirty="0"/>
          </a:p>
          <a:p>
            <a:pPr algn="just">
              <a:lnSpc>
                <a:spcPct val="85000"/>
              </a:lnSpc>
            </a:pPr>
            <a:r>
              <a:rPr lang="en-US" altLang="zh-CN" sz="2000" b="1" dirty="0"/>
              <a:t>-amount: double</a:t>
            </a:r>
            <a:endParaRPr lang="en-US" altLang="zh-CN" sz="2000" b="1" dirty="0"/>
          </a:p>
          <a:p>
            <a:pPr algn="just">
              <a:lnSpc>
                <a:spcPct val="85000"/>
              </a:lnSpc>
            </a:pPr>
            <a:r>
              <a:rPr lang="en-US" altLang="zh-CN" sz="2000" b="1" dirty="0"/>
              <a:t>-</a:t>
            </a:r>
            <a:r>
              <a:rPr lang="en-US" altLang="zh-CN" sz="2000" b="1" dirty="0" err="1"/>
              <a:t>taxRate</a:t>
            </a:r>
            <a:r>
              <a:rPr lang="en-US" altLang="zh-CN" sz="2000" b="1" dirty="0"/>
              <a:t>: double</a:t>
            </a:r>
            <a:endParaRPr lang="en-US" altLang="zh-CN" sz="2000" b="1" dirty="0"/>
          </a:p>
          <a:p>
            <a:pPr algn="just">
              <a:lnSpc>
                <a:spcPct val="85000"/>
              </a:lnSpc>
            </a:pPr>
            <a:r>
              <a:rPr lang="en-US" altLang="zh-CN" sz="2000" b="1" dirty="0"/>
              <a:t>-</a:t>
            </a:r>
            <a:r>
              <a:rPr lang="en-US" altLang="zh-CN" sz="2000" b="1" dirty="0" err="1"/>
              <a:t>employeeName</a:t>
            </a:r>
            <a:r>
              <a:rPr lang="en-US" altLang="zh-CN" sz="2000" b="1" dirty="0"/>
              <a:t>: String</a:t>
            </a:r>
            <a:endParaRPr lang="en-US" altLang="zh-CN" sz="2000" b="1" dirty="0"/>
          </a:p>
          <a:p>
            <a:pPr algn="just">
              <a:lnSpc>
                <a:spcPct val="85000"/>
              </a:lnSpc>
            </a:pPr>
            <a:r>
              <a:rPr lang="en-US" altLang="zh-CN" sz="2000" b="1" dirty="0"/>
              <a:t>-</a:t>
            </a:r>
            <a:r>
              <a:rPr lang="en-US" altLang="zh-CN" sz="2000" b="1" dirty="0" err="1"/>
              <a:t>employeeNum</a:t>
            </a:r>
            <a:r>
              <a:rPr lang="en-US" altLang="zh-CN" sz="2000" b="1" dirty="0"/>
              <a:t>: String</a:t>
            </a:r>
            <a:endParaRPr lang="en-US" altLang="zh-CN" sz="2000" b="1" dirty="0"/>
          </a:p>
          <a:p>
            <a:pPr algn="just">
              <a:lnSpc>
                <a:spcPct val="85000"/>
              </a:lnSpc>
            </a:pPr>
            <a:r>
              <a:rPr lang="en-US" altLang="zh-CN" sz="2000" b="1" dirty="0"/>
              <a:t>-salary: double</a:t>
            </a:r>
            <a:endParaRPr lang="en-US" altLang="zh-CN" sz="2000" b="1" dirty="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130647" y="3723581"/>
            <a:ext cx="360045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ea typeface="黑体" panose="02010609060101010101" pitchFamily="2" charset="-122"/>
              </a:rPr>
              <a:t>此类有</a:t>
            </a:r>
            <a:r>
              <a:rPr lang="en-US" altLang="zh-CN" sz="2800" dirty="0">
                <a:ea typeface="黑体" panose="02010609060101010101" pitchFamily="2" charset="-122"/>
              </a:rPr>
              <a:t>12</a:t>
            </a:r>
            <a:r>
              <a:rPr lang="zh-CN" altLang="en-US" sz="2800" dirty="0">
                <a:ea typeface="黑体" panose="02010609060101010101" pitchFamily="2" charset="-122"/>
              </a:rPr>
              <a:t>个方法</a:t>
            </a:r>
            <a:r>
              <a:rPr lang="en-US" altLang="zh-CN" sz="2800" dirty="0">
                <a:ea typeface="黑体" panose="02010609060101010101" pitchFamily="2" charset="-122"/>
              </a:rPr>
              <a:t>, </a:t>
            </a:r>
            <a:r>
              <a:rPr lang="zh-CN" altLang="en-US" sz="2800" dirty="0">
                <a:ea typeface="黑体" panose="02010609060101010101" pitchFamily="2" charset="-122"/>
              </a:rPr>
              <a:t>其中有些方法之间是互不相关的，内聚性很差，说明此类的设计是接口污染的</a:t>
            </a:r>
            <a:endParaRPr lang="zh-CN" altLang="en-US" sz="2800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面向对象设计原则</a:t>
            </a:r>
            <a:endParaRPr lang="en-US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>
            <a:spLocks noChangeAspect="1" noChangeArrowheads="1"/>
          </p:cNvSpPr>
          <p:nvPr/>
        </p:nvSpPr>
        <p:spPr bwMode="auto">
          <a:xfrm>
            <a:off x="2463031" y="1125538"/>
            <a:ext cx="8748712" cy="45370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7125518" y="1125538"/>
            <a:ext cx="2968625" cy="7588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0" tIns="31547" rIns="0" bIns="31547" anchor="ctr"/>
          <a:lstStyle/>
          <a:p>
            <a:pPr algn="ctr"/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&lt;&lt;interface&gt;&gt;</a:t>
            </a:r>
            <a:endParaRPr lang="en-US" altLang="zh-CN" sz="24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Trade</a:t>
            </a:r>
            <a:endParaRPr lang="en-US" altLang="zh-CN" sz="2400" b="1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7128693" y="1828800"/>
            <a:ext cx="2593975" cy="52387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0" rIns="0" anchor="ctr"/>
          <a:lstStyle/>
          <a:p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463031" y="1162050"/>
            <a:ext cx="2606675" cy="474663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63094" tIns="31547" rIns="63094" bIns="31547" anchor="ctr"/>
          <a:lstStyle/>
          <a:p>
            <a:pPr algn="ctr"/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Client  </a:t>
            </a:r>
            <a:r>
              <a:rPr lang="en-US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endParaRPr lang="en-US" altLang="zh-CN" sz="2000" b="1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2463031" y="1636713"/>
            <a:ext cx="2606675" cy="54133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63094" tIns="31547" rIns="63094" bIns="31547" anchor="ctr"/>
          <a:lstStyle/>
          <a:p>
            <a:pPr algn="just"/>
            <a:r>
              <a:rPr lang="en-US" altLang="zh-CN" sz="2000" b="1" dirty="0">
                <a:solidFill>
                  <a:srgbClr val="000000"/>
                </a:solidFill>
              </a:rPr>
              <a:t>-company: Company</a:t>
            </a:r>
            <a:endParaRPr lang="en-US" altLang="zh-CN" sz="2000" b="1" dirty="0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5814243" y="3049588"/>
            <a:ext cx="2605088" cy="5969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0" tIns="31547" rIns="0" bIns="31547" anchor="ctr"/>
          <a:lstStyle/>
          <a:p>
            <a:pPr algn="ctr"/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Import</a:t>
            </a:r>
            <a:endParaRPr lang="en-US" altLang="zh-CN" sz="2400" b="1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5817418" y="3571875"/>
            <a:ext cx="2601913" cy="7302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0" rIns="0" anchor="ctr"/>
          <a:lstStyle/>
          <a:p>
            <a:endParaRPr lang="zh-CN" alt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5814243" y="4443413"/>
            <a:ext cx="2605088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0" tIns="31547" rIns="0" bIns="31547" anchor="ctr"/>
          <a:lstStyle/>
          <a:p>
            <a:pPr algn="just"/>
            <a:r>
              <a:rPr lang="fr-FR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+import():void</a:t>
            </a:r>
            <a:endParaRPr lang="fr-FR" altLang="zh-CN" sz="20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/>
            <a:r>
              <a:rPr lang="fr-FR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+getTotalImport:void</a:t>
            </a:r>
            <a:endParaRPr lang="fr-FR" altLang="zh-CN" sz="20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/>
            <a:r>
              <a:rPr lang="fr-FR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+computeTax: void</a:t>
            </a:r>
            <a:endParaRPr lang="en-US" altLang="zh-CN" sz="2000" b="1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8605068" y="3049588"/>
            <a:ext cx="2606675" cy="5969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0" tIns="31547" rIns="0" bIns="31547" anchor="ctr"/>
          <a:lstStyle/>
          <a:p>
            <a:pPr algn="ctr"/>
            <a:r>
              <a:rPr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Export</a:t>
            </a:r>
            <a:endParaRPr lang="en-US" altLang="zh-CN" sz="2400" b="1"/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8605068" y="4443413"/>
            <a:ext cx="2606675" cy="11287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0" tIns="31547" rIns="0" bIns="31547" anchor="ctr"/>
          <a:lstStyle/>
          <a:p>
            <a:pPr algn="just"/>
            <a:r>
              <a:rPr lang="en-US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+export():void</a:t>
            </a:r>
            <a:endParaRPr lang="en-US" altLang="zh-CN" sz="20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/>
            <a:r>
              <a:rPr lang="en-US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+getTotalExport:void</a:t>
            </a:r>
            <a:endParaRPr lang="en-US" altLang="zh-CN" sz="20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/>
            <a:r>
              <a:rPr lang="en-US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+computeTax: void</a:t>
            </a:r>
            <a:endParaRPr lang="en-US" altLang="zh-CN" sz="2000" b="1"/>
          </a:p>
        </p:txBody>
      </p:sp>
      <p:sp>
        <p:nvSpPr>
          <p:cNvPr id="13" name="AutoShape 13"/>
          <p:cNvSpPr>
            <a:spLocks noChangeArrowheads="1"/>
          </p:cNvSpPr>
          <p:nvPr/>
        </p:nvSpPr>
        <p:spPr bwMode="auto">
          <a:xfrm>
            <a:off x="8419331" y="2344738"/>
            <a:ext cx="373062" cy="469900"/>
          </a:xfrm>
          <a:prstGeom prst="upArrow">
            <a:avLst>
              <a:gd name="adj1" fmla="val 0"/>
              <a:gd name="adj2" fmla="val 53229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7115993" y="1828800"/>
            <a:ext cx="297815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/>
          <a:p>
            <a:pPr algn="just"/>
            <a:r>
              <a:rPr lang="en-US" altLang="zh-CN" sz="2000" b="1"/>
              <a:t>+computeTax(): void</a:t>
            </a:r>
            <a:endParaRPr lang="en-US" altLang="zh-CN" sz="2000" b="1"/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5814243" y="3571875"/>
            <a:ext cx="2605088" cy="8715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/>
          <a:p>
            <a:pPr algn="just"/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-amount: double</a:t>
            </a:r>
            <a:endParaRPr lang="en-US" altLang="zh-CN" sz="20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/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en-US" altLang="zh-CN" sz="20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taxRate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 double</a:t>
            </a:r>
            <a:endParaRPr lang="en-US" altLang="zh-CN" sz="2000" b="1" dirty="0"/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8608243" y="3617913"/>
            <a:ext cx="2603500" cy="7302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</a:ln>
        </p:spPr>
        <p:txBody>
          <a:bodyPr lIns="0" rIns="0" anchor="ctr"/>
          <a:lstStyle/>
          <a:p>
            <a:endParaRPr lang="zh-CN" altLang="en-US"/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8605068" y="3617913"/>
            <a:ext cx="2606675" cy="8255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/>
          <a:p>
            <a:pPr algn="just"/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-amount: double</a:t>
            </a:r>
            <a:endParaRPr lang="en-US" altLang="zh-CN" sz="20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just"/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en-US" altLang="zh-CN" sz="2000" b="1" dirty="0" err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taxRate</a:t>
            </a:r>
            <a:r>
              <a: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 double</a:t>
            </a:r>
            <a:endParaRPr lang="en-US" altLang="zh-CN" sz="2000" b="1" dirty="0"/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7115993" y="2811463"/>
            <a:ext cx="2792413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>
            <a:off x="7115993" y="2811463"/>
            <a:ext cx="1588" cy="241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24"/>
          <p:cNvSpPr>
            <a:spLocks noChangeShapeType="1"/>
          </p:cNvSpPr>
          <p:nvPr/>
        </p:nvSpPr>
        <p:spPr bwMode="auto">
          <a:xfrm>
            <a:off x="3766368" y="2178050"/>
            <a:ext cx="0" cy="8715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25"/>
          <p:cNvSpPr>
            <a:spLocks noChangeShapeType="1"/>
          </p:cNvSpPr>
          <p:nvPr/>
        </p:nvSpPr>
        <p:spPr bwMode="auto">
          <a:xfrm>
            <a:off x="4882381" y="4094163"/>
            <a:ext cx="7445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26"/>
          <p:cNvSpPr>
            <a:spLocks noChangeShapeType="1"/>
          </p:cNvSpPr>
          <p:nvPr/>
        </p:nvSpPr>
        <p:spPr bwMode="auto">
          <a:xfrm flipV="1">
            <a:off x="5626918" y="1481138"/>
            <a:ext cx="0" cy="26130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7"/>
          <p:cNvSpPr>
            <a:spLocks noChangeShapeType="1"/>
          </p:cNvSpPr>
          <p:nvPr/>
        </p:nvSpPr>
        <p:spPr bwMode="auto">
          <a:xfrm>
            <a:off x="5626918" y="1481138"/>
            <a:ext cx="1489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8"/>
          <p:cNvSpPr>
            <a:spLocks noChangeShapeType="1"/>
          </p:cNvSpPr>
          <p:nvPr/>
        </p:nvSpPr>
        <p:spPr bwMode="auto">
          <a:xfrm>
            <a:off x="9908406" y="2808288"/>
            <a:ext cx="1587" cy="241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Box 30"/>
          <p:cNvSpPr txBox="1">
            <a:spLocks noChangeArrowheads="1"/>
          </p:cNvSpPr>
          <p:nvPr/>
        </p:nvSpPr>
        <p:spPr bwMode="auto">
          <a:xfrm>
            <a:off x="2894831" y="5876925"/>
            <a:ext cx="8027987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According to functionalities, separate the original interface into several classes, i.e., follows the </a:t>
            </a:r>
            <a:r>
              <a:rPr lang="en-US" altLang="zh-CN">
                <a:solidFill>
                  <a:schemeClr val="tx2"/>
                </a:solidFill>
              </a:rPr>
              <a:t>Interface segregation principle</a:t>
            </a:r>
            <a:endParaRPr lang="en-US" altLang="zh-CN">
              <a:solidFill>
                <a:schemeClr val="tx2"/>
              </a:solidFill>
            </a:endParaRPr>
          </a:p>
        </p:txBody>
      </p:sp>
      <p:grpSp>
        <p:nvGrpSpPr>
          <p:cNvPr id="26" name="Group 31"/>
          <p:cNvGrpSpPr/>
          <p:nvPr/>
        </p:nvGrpSpPr>
        <p:grpSpPr bwMode="auto">
          <a:xfrm>
            <a:off x="2526531" y="3049588"/>
            <a:ext cx="2563812" cy="2479675"/>
            <a:chOff x="0" y="1921"/>
            <a:chExt cx="1615" cy="1562"/>
          </a:xfrm>
        </p:grpSpPr>
        <p:sp>
          <p:nvSpPr>
            <p:cNvPr id="27" name="Rectangle 20"/>
            <p:cNvSpPr>
              <a:spLocks noChangeArrowheads="1"/>
            </p:cNvSpPr>
            <p:nvPr/>
          </p:nvSpPr>
          <p:spPr bwMode="auto">
            <a:xfrm>
              <a:off x="0" y="1921"/>
              <a:ext cx="1615" cy="37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0" tIns="31547" rIns="0" bIns="31547" anchor="ctr"/>
            <a:lstStyle/>
            <a:p>
              <a:pPr algn="ctr"/>
              <a:r>
                <a:rPr lang="en-US" altLang="zh-CN" sz="24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Company</a:t>
              </a:r>
              <a:endParaRPr lang="en-US" altLang="zh-CN" sz="2400" b="1"/>
            </a:p>
          </p:txBody>
        </p:sp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1" y="2250"/>
              <a:ext cx="1614" cy="4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0" rIns="0" anchor="ctr"/>
            <a:lstStyle/>
            <a:p>
              <a:endParaRPr lang="zh-CN" altLang="en-US"/>
            </a:p>
          </p:txBody>
        </p:sp>
        <p:sp>
          <p:nvSpPr>
            <p:cNvPr id="29" name="Rectangle 22"/>
            <p:cNvSpPr>
              <a:spLocks noChangeArrowheads="1"/>
            </p:cNvSpPr>
            <p:nvPr/>
          </p:nvSpPr>
          <p:spPr bwMode="auto">
            <a:xfrm>
              <a:off x="0" y="2934"/>
              <a:ext cx="1615" cy="54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</a:ln>
          </p:spPr>
          <p:txBody>
            <a:bodyPr lIns="0" tIns="31547" rIns="0" bIns="31547" anchor="ctr"/>
            <a:lstStyle/>
            <a:p>
              <a:pPr algn="just"/>
              <a:r>
                <a:rPr lang="fr-FR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+setTrade : Trade</a:t>
              </a:r>
              <a:endParaRPr lang="fr-FR" altLang="zh-CN" sz="2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just"/>
              <a:r>
                <a:rPr lang="fr-FR" altLang="zh-CN" sz="20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+transact : void</a:t>
              </a:r>
              <a:endParaRPr lang="en-US" altLang="zh-CN" sz="2000" b="1"/>
            </a:p>
          </p:txBody>
        </p:sp>
        <p:sp>
          <p:nvSpPr>
            <p:cNvPr id="30" name="Text Box 23"/>
            <p:cNvSpPr txBox="1">
              <a:spLocks noChangeArrowheads="1"/>
            </p:cNvSpPr>
            <p:nvPr/>
          </p:nvSpPr>
          <p:spPr bwMode="auto">
            <a:xfrm>
              <a:off x="0" y="2250"/>
              <a:ext cx="1615" cy="6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tIns="10800" bIns="10800"/>
            <a:lstStyle/>
            <a:p>
              <a:pPr algn="just"/>
              <a:r>
                <a:rPr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-name: String</a:t>
              </a:r>
              <a:endPara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just"/>
              <a:r>
                <a:rPr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</a:t>
              </a:r>
              <a:r>
                <a:rPr lang="en-US" altLang="zh-CN" sz="2000" b="1" dirty="0" err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addr</a:t>
              </a:r>
              <a:r>
                <a:rPr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: String</a:t>
              </a:r>
              <a:endParaRPr lang="en-US" altLang="zh-C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just"/>
              <a:r>
                <a:rPr lang="en-US" altLang="zh-CN" sz="20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-trade: Trade</a:t>
              </a:r>
              <a:endParaRPr lang="en-US" altLang="zh-CN" sz="2000" b="1" dirty="0"/>
            </a:p>
          </p:txBody>
        </p:sp>
      </p:grpSp>
      <p:sp>
        <p:nvSpPr>
          <p:cNvPr id="31" name="Rectangle 33"/>
          <p:cNvSpPr txBox="1">
            <a:spLocks noChangeArrowheads="1"/>
          </p:cNvSpPr>
          <p:nvPr/>
        </p:nvSpPr>
        <p:spPr>
          <a:xfrm>
            <a:off x="266527" y="2349674"/>
            <a:ext cx="1224136" cy="1354633"/>
          </a:xfrm>
          <a:prstGeom prst="rect">
            <a:avLst/>
          </a:prstGeom>
          <a:noFill/>
        </p:spPr>
        <p:txBody>
          <a:bodyPr/>
          <a:lstStyle>
            <a:lvl1pPr algn="ctr" defTabSz="1219835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200" b="1" dirty="0" smtClean="0">
                <a:ea typeface="黑体" panose="02010609060101010101" pitchFamily="2" charset="-122"/>
              </a:rPr>
              <a:t>接口隔离原则</a:t>
            </a:r>
            <a:endParaRPr lang="zh-CN" altLang="en-US" sz="3200" b="1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面向对象设计原则</a:t>
            </a:r>
            <a:endParaRPr lang="en-US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8615" y="909514"/>
            <a:ext cx="1000911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3)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依赖倒转原则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(Dependency inversion Principle)) 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在传统的面向过程系统中，高层依赖于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低层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面向对象设计中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668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高级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业务逻辑依赖于接口，针对接口编程，而不是针对实现编程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668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程序不应该依赖于细节，细节应该依赖于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程序；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0668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面向接口编程，依赖于抽象而不依赖于具体。写代码时用到具体类时，不与具体类交互，而与具体类的上层接口交互。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面向对象设计原则</a:t>
            </a:r>
            <a:endParaRPr lang="en-US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8615" y="909514"/>
            <a:ext cx="1000911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4)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里氏替换原则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b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Liskov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Substitution Principle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 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任何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类可以出现的地方，子类一定可以出现。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LSP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是继承复用的基石，只有当衍生类可以替换掉基类，软件单位的功能不受到影响时，基类才能真正被复用，衍生类也能在基类基础上增加新的行为。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LSP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是对“开闭原则”的补充。实现“开闭原则”的关键步骤是抽象化，而基类与子类的继承关系就是抽象化的具体实现。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1706687" y="17027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面向对象设计原则</a:t>
            </a:r>
            <a:endParaRPr lang="en-US" altLang="zh-CN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8615" y="909514"/>
            <a:ext cx="10009112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5)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迪米特法则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(Demeter Principle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 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也称为“最少知道原则”。指一个类对自己依赖的类知道的越少越好，无论被依赖的类多么复杂，都应该将其逻辑封装在方法的内部，通过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方法提供给外部。这样当被依赖的类变化时，才能最小的影响该类。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6) 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合成复用原则 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(Composite Reuse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Principle)) 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原则是尽量首先使用合成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聚合的方式，而不是使用继承。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p="http://schemas.openxmlformats.org/presentationml/2006/main">
  <p:tag name="TABLE_ENDDRAG_ORIGIN_RECT" val="750*358"/>
  <p:tag name="TABLE_ENDDRAG_RECT" val="132*95*750*358"/>
</p:tagLst>
</file>

<file path=ppt/tags/tag2.xml><?xml version="1.0" encoding="utf-8"?>
<p:tagLst xmlns:p="http://schemas.openxmlformats.org/presentationml/2006/main">
  <p:tag name="TABLE_ENDDRAG_ORIGIN_RECT" val="634*289"/>
  <p:tag name="TABLE_ENDDRAG_RECT" val="3*94*634*289"/>
</p:tagLst>
</file>

<file path=ppt/tags/tag3.xml><?xml version="1.0" encoding="utf-8"?>
<p:tagLst xmlns:p="http://schemas.openxmlformats.org/presentationml/2006/main">
  <p:tag name="ISPRING_ULTRA_SCORM_SLIDE_COUNT" val="4"/>
  <p:tag name="ISPRING_PRESENTATION_TITLE" val="PowerPoint 演示文稿"/>
  <p:tag name="ISPRING_RESOURCE_PATHS_HASH_PRESENTER" val="af3f2d575d923f6e4ff64f325e7b41567660d7"/>
  <p:tag name="commondata" val="eyJoZGlkIjoiZmIwNTgzN2VkODcyMGZjYmE5ZDczYWZmOTUyYTJjOTMifQ=="/>
</p:tagLst>
</file>

<file path=ppt/theme/theme1.xml><?xml version="1.0" encoding="utf-8"?>
<a:theme xmlns:a="http://schemas.openxmlformats.org/drawingml/2006/main" name="第一PPT，www.1ppt.com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12326</Words>
  <Application>WPS 演示</Application>
  <PresentationFormat>自定义</PresentationFormat>
  <Paragraphs>1272</Paragraphs>
  <Slides>65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80" baseType="lpstr">
      <vt:lpstr>Arial</vt:lpstr>
      <vt:lpstr>宋体</vt:lpstr>
      <vt:lpstr>Wingdings</vt:lpstr>
      <vt:lpstr>微软雅黑</vt:lpstr>
      <vt:lpstr>Eras Bold ITC</vt:lpstr>
      <vt:lpstr>Arial Unicode MS</vt:lpstr>
      <vt:lpstr>Times New Roman</vt:lpstr>
      <vt:lpstr>Calibri</vt:lpstr>
      <vt:lpstr>黑体</vt:lpstr>
      <vt:lpstr>Helvetica</vt:lpstr>
      <vt:lpstr>Wingdings</vt:lpstr>
      <vt:lpstr>Helvetica LT Pro</vt:lpstr>
      <vt:lpstr>KSOFB4AB0A6B</vt:lpstr>
      <vt:lpstr>KSOF1E7780ED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蓝色简洁</dc:title>
  <dc:creator>第一PPT</dc:creator>
  <cp:keywords>www.1ppt.com</cp:keywords>
  <cp:lastModifiedBy>sxtyg</cp:lastModifiedBy>
  <cp:revision>149</cp:revision>
  <dcterms:created xsi:type="dcterms:W3CDTF">2014-08-23T07:50:00Z</dcterms:created>
  <dcterms:modified xsi:type="dcterms:W3CDTF">2026-09-10T13:45:22Z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3F1F4A084D054C139147F25F87823224_12</vt:lpwstr>
  </property>
  <property fmtid="{D5CDD505-2E9C-101B-9397-08002B2CF9AE}" pid="3" name="KSOProductBuildVer">
    <vt:lpwstr>2052-12.1.0.28488</vt:lpwstr>
  </property>
</Properties>
</file>