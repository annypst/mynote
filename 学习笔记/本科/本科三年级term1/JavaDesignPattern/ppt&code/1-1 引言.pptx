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2" r:id="rId3"/>
    <p:sldId id="320" r:id="rId5"/>
    <p:sldId id="381" r:id="rId6"/>
    <p:sldId id="384" r:id="rId7"/>
    <p:sldId id="382" r:id="rId8"/>
    <p:sldId id="383" r:id="rId9"/>
    <p:sldId id="385" r:id="rId10"/>
    <p:sldId id="386" r:id="rId11"/>
    <p:sldId id="380" r:id="rId12"/>
    <p:sldId id="366" r:id="rId13"/>
    <p:sldId id="309" r:id="rId14"/>
    <p:sldId id="371" r:id="rId15"/>
    <p:sldId id="372" r:id="rId16"/>
    <p:sldId id="373" r:id="rId17"/>
    <p:sldId id="374" r:id="rId18"/>
    <p:sldId id="375" r:id="rId19"/>
    <p:sldId id="376" r:id="rId20"/>
    <p:sldId id="377" r:id="rId21"/>
    <p:sldId id="378" r:id="rId22"/>
    <p:sldId id="321" r:id="rId23"/>
    <p:sldId id="368" r:id="rId24"/>
    <p:sldId id="367" r:id="rId25"/>
    <p:sldId id="343" r:id="rId26"/>
    <p:sldId id="344" r:id="rId27"/>
    <p:sldId id="360" r:id="rId28"/>
    <p:sldId id="370" r:id="rId29"/>
    <p:sldId id="363" r:id="rId30"/>
    <p:sldId id="347" r:id="rId31"/>
    <p:sldId id="353" r:id="rId32"/>
    <p:sldId id="354" r:id="rId33"/>
    <p:sldId id="369" r:id="rId34"/>
    <p:sldId id="351" r:id="rId35"/>
    <p:sldId id="365" r:id="rId36"/>
  </p:sldIdLst>
  <p:sldSz cx="12198350" cy="6859270"/>
  <p:notesSz cx="6858000" cy="9144000"/>
  <p:custDataLst>
    <p:tags r:id="rId40"/>
  </p:custDataLst>
  <p:defaultTex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guide id="3" pos="304" userDrawn="1">
          <p15:clr>
            <a:srgbClr val="A4A3A4"/>
          </p15:clr>
        </p15:guide>
        <p15:guide id="4" pos="1892" userDrawn="1">
          <p15:clr>
            <a:srgbClr val="A4A3A4"/>
          </p15:clr>
        </p15:guide>
        <p15:guide id="5" pos="12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a:srgbClr val="005DA2"/>
    <a:srgbClr val="FFC400"/>
    <a:srgbClr val="FFD347"/>
    <a:srgbClr val="FFC91D"/>
    <a:srgbClr val="0071C1"/>
    <a:srgbClr val="4144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59" autoAdjust="0"/>
    <p:restoredTop sz="92638" autoAdjust="0"/>
  </p:normalViewPr>
  <p:slideViewPr>
    <p:cSldViewPr showGuides="1">
      <p:cViewPr>
        <p:scale>
          <a:sx n="81" d="100"/>
          <a:sy n="81" d="100"/>
        </p:scale>
        <p:origin x="670" y="31"/>
      </p:cViewPr>
      <p:guideLst>
        <p:guide orient="horz" pos="2137"/>
        <p:guide pos="3840"/>
        <p:guide pos="304"/>
        <p:guide pos="1892"/>
        <p:guide pos="1211"/>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gs" Target="tags/tag1.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62AE03-6EE8-41FD-8A37-86C6BC5E264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21FD59-C920-460C-B1C9-0346C59420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835" rtl="0" eaLnBrk="1" latinLnBrk="0" hangingPunct="1">
      <a:defRPr sz="1600" kern="1200">
        <a:solidFill>
          <a:schemeClr val="tx1"/>
        </a:solidFill>
        <a:latin typeface="+mn-lt"/>
        <a:ea typeface="+mn-ea"/>
        <a:cs typeface="+mn-cs"/>
      </a:defRPr>
    </a:lvl1pPr>
    <a:lvl2pPr marL="609600" algn="l" defTabSz="1219835" rtl="0" eaLnBrk="1" latinLnBrk="0" hangingPunct="1">
      <a:defRPr sz="1600" kern="1200">
        <a:solidFill>
          <a:schemeClr val="tx1"/>
        </a:solidFill>
        <a:latin typeface="+mn-lt"/>
        <a:ea typeface="+mn-ea"/>
        <a:cs typeface="+mn-cs"/>
      </a:defRPr>
    </a:lvl2pPr>
    <a:lvl3pPr marL="1219835" algn="l" defTabSz="1219835" rtl="0" eaLnBrk="1" latinLnBrk="0" hangingPunct="1">
      <a:defRPr sz="1600" kern="1200">
        <a:solidFill>
          <a:schemeClr val="tx1"/>
        </a:solidFill>
        <a:latin typeface="+mn-lt"/>
        <a:ea typeface="+mn-ea"/>
        <a:cs typeface="+mn-cs"/>
      </a:defRPr>
    </a:lvl3pPr>
    <a:lvl4pPr marL="1829435" algn="l" defTabSz="1219835" rtl="0" eaLnBrk="1" latinLnBrk="0" hangingPunct="1">
      <a:defRPr sz="1600" kern="1200">
        <a:solidFill>
          <a:schemeClr val="tx1"/>
        </a:solidFill>
        <a:latin typeface="+mn-lt"/>
        <a:ea typeface="+mn-ea"/>
        <a:cs typeface="+mn-cs"/>
      </a:defRPr>
    </a:lvl4pPr>
    <a:lvl5pPr marL="2439035" algn="l" defTabSz="1219835" rtl="0" eaLnBrk="1" latinLnBrk="0" hangingPunct="1">
      <a:defRPr sz="1600" kern="1200">
        <a:solidFill>
          <a:schemeClr val="tx1"/>
        </a:solidFill>
        <a:latin typeface="+mn-lt"/>
        <a:ea typeface="+mn-ea"/>
        <a:cs typeface="+mn-cs"/>
      </a:defRPr>
    </a:lvl5pPr>
    <a:lvl6pPr marL="3049270" algn="l" defTabSz="1219835" rtl="0" eaLnBrk="1" latinLnBrk="0" hangingPunct="1">
      <a:defRPr sz="1600" kern="1200">
        <a:solidFill>
          <a:schemeClr val="tx1"/>
        </a:solidFill>
        <a:latin typeface="+mn-lt"/>
        <a:ea typeface="+mn-ea"/>
        <a:cs typeface="+mn-cs"/>
      </a:defRPr>
    </a:lvl6pPr>
    <a:lvl7pPr marL="3658870" algn="l" defTabSz="1219835" rtl="0" eaLnBrk="1" latinLnBrk="0" hangingPunct="1">
      <a:defRPr sz="1600" kern="1200">
        <a:solidFill>
          <a:schemeClr val="tx1"/>
        </a:solidFill>
        <a:latin typeface="+mn-lt"/>
        <a:ea typeface="+mn-ea"/>
        <a:cs typeface="+mn-cs"/>
      </a:defRPr>
    </a:lvl7pPr>
    <a:lvl8pPr marL="4268470" algn="l" defTabSz="1219835" rtl="0" eaLnBrk="1" latinLnBrk="0" hangingPunct="1">
      <a:defRPr sz="1600" kern="1200">
        <a:solidFill>
          <a:schemeClr val="tx1"/>
        </a:solidFill>
        <a:latin typeface="+mn-lt"/>
        <a:ea typeface="+mn-ea"/>
        <a:cs typeface="+mn-cs"/>
      </a:defRPr>
    </a:lvl8pPr>
    <a:lvl9pPr marL="4878705" algn="l" defTabSz="121983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slow" advTm="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1562671" y="693490"/>
            <a:ext cx="10635679"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2511" y="0"/>
            <a:ext cx="1155204" cy="1100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advTm="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a:t>单击此处编辑母版标题样式</a:t>
            </a:r>
            <a:endParaRPr lang="zh-CN" altLang="en-US"/>
          </a:p>
        </p:txBody>
      </p:sp>
      <p:sp>
        <p:nvSpPr>
          <p:cNvPr id="3" name="日期占位符 2"/>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4" name="页脚占位符 3"/>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3" name="页脚占位符 2"/>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920" y="273112"/>
            <a:ext cx="4013173" cy="1162320"/>
          </a:xfrm>
          <a:prstGeom prst="rect">
            <a:avLst/>
          </a:prstGeom>
        </p:spPr>
        <p:txBody>
          <a:bodyPr lIns="121963" tIns="60981" rIns="121963" bIns="60981" anchor="b"/>
          <a:lstStyle>
            <a:lvl1pPr algn="l">
              <a:defRPr sz="2700" b="1"/>
            </a:lvl1pPr>
          </a:lstStyle>
          <a:p>
            <a:r>
              <a:rPr lang="zh-CN" altLang="en-US"/>
              <a:t>单击此处编辑母版标题样式</a:t>
            </a:r>
            <a:endParaRPr lang="zh-CN" altLang="en-US"/>
          </a:p>
        </p:txBody>
      </p:sp>
      <p:sp>
        <p:nvSpPr>
          <p:cNvPr id="3" name="内容占位符 2"/>
          <p:cNvSpPr>
            <a:spLocks noGrp="1"/>
          </p:cNvSpPr>
          <p:nvPr>
            <p:ph idx="1"/>
          </p:nvPr>
        </p:nvSpPr>
        <p:spPr>
          <a:xfrm>
            <a:off x="4769216" y="273114"/>
            <a:ext cx="6819216" cy="5854469"/>
          </a:xfrm>
          <a:prstGeom prst="rect">
            <a:avLst/>
          </a:prstGeom>
        </p:spPr>
        <p:txBody>
          <a:bodyPr lIns="121963" tIns="60981" rIns="121963" bIns="60981"/>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920" y="1435434"/>
            <a:ext cx="4013173" cy="46921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962" y="4801712"/>
            <a:ext cx="7319010" cy="566870"/>
          </a:xfrm>
          <a:prstGeom prst="rect">
            <a:avLst/>
          </a:prstGeom>
        </p:spPr>
        <p:txBody>
          <a:bodyPr lIns="121963" tIns="60981" rIns="121963" bIns="60981" anchor="b"/>
          <a:lstStyle>
            <a:lvl1pPr algn="l">
              <a:defRPr sz="27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962" y="612916"/>
            <a:ext cx="7319010" cy="4115753"/>
          </a:xfrm>
          <a:prstGeom prst="rect">
            <a:avLst/>
          </a:prstGeom>
        </p:spPr>
        <p:txBody>
          <a:bodyPr lIns="121963" tIns="60981" rIns="121963" bIns="60981"/>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zh-CN" altLang="en-US"/>
          </a:p>
        </p:txBody>
      </p:sp>
      <p:sp>
        <p:nvSpPr>
          <p:cNvPr id="4" name="文本占位符 3"/>
          <p:cNvSpPr>
            <a:spLocks noGrp="1"/>
          </p:cNvSpPr>
          <p:nvPr>
            <p:ph type="body" sz="half" idx="2"/>
          </p:nvPr>
        </p:nvSpPr>
        <p:spPr>
          <a:xfrm>
            <a:off x="2390962" y="5368581"/>
            <a:ext cx="7319010" cy="8050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918" y="1600572"/>
            <a:ext cx="10978515" cy="4527011"/>
          </a:xfrm>
          <a:prstGeom prst="rect">
            <a:avLst/>
          </a:prstGeom>
        </p:spPr>
        <p:txBody>
          <a:bodyPr vert="eaVert" lIns="121963" tIns="60981" rIns="121963" bIns="6098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804" y="206422"/>
            <a:ext cx="2744629" cy="4388867"/>
          </a:xfrm>
          <a:prstGeom prst="rect">
            <a:avLst/>
          </a:prstGeom>
        </p:spPr>
        <p:txBody>
          <a:bodyPr vert="eaVert" lIns="121963" tIns="60981" rIns="121963" bIns="60981"/>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918" y="206422"/>
            <a:ext cx="8030580" cy="4388867"/>
          </a:xfrm>
          <a:prstGeom prst="rect">
            <a:avLst/>
          </a:prstGeom>
        </p:spPr>
        <p:txBody>
          <a:bodyPr vert="eaVert" lIns="121963" tIns="60981" rIns="121963" bIns="6098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spd="slow" advTm="0">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0">
    <p:wipe/>
  </p:transition>
  <p:txStyles>
    <p:titleStyle>
      <a:lvl1pPr algn="ctr" defTabSz="121983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image" Target="../media/image17.jpe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tretch>
            <a:fillRect/>
          </a:stretch>
        </p:blipFill>
        <p:spPr>
          <a:xfrm>
            <a:off x="-616" y="25536"/>
            <a:ext cx="12193647" cy="6860642"/>
          </a:xfrm>
          <a:prstGeom prst="rect">
            <a:avLst/>
          </a:prstGeom>
        </p:spPr>
      </p:pic>
      <p:sp>
        <p:nvSpPr>
          <p:cNvPr id="24" name="TextBox 23"/>
          <p:cNvSpPr txBox="1"/>
          <p:nvPr/>
        </p:nvSpPr>
        <p:spPr>
          <a:xfrm>
            <a:off x="3996949" y="3392234"/>
            <a:ext cx="7474155" cy="954103"/>
          </a:xfrm>
          <a:prstGeom prst="rect">
            <a:avLst/>
          </a:prstGeom>
          <a:noFill/>
        </p:spPr>
        <p:txBody>
          <a:bodyPr wrap="none" lIns="121917" tIns="60958" rIns="121917" bIns="60958" rtlCol="0">
            <a:spAutoFit/>
          </a:bodyPr>
          <a:lstStyle/>
          <a:p>
            <a:pPr algn="r"/>
            <a:r>
              <a:rPr lang="zh-CN" altLang="en-US" sz="5400" b="1" dirty="0">
                <a:solidFill>
                  <a:schemeClr val="accent1"/>
                </a:solidFill>
                <a:latin typeface="微软雅黑" panose="020B0503020204020204" pitchFamily="34" charset="-122"/>
                <a:ea typeface="微软雅黑" panose="020B0503020204020204" pitchFamily="34" charset="-122"/>
              </a:rPr>
              <a:t>软件详细设计</a:t>
            </a:r>
            <a:r>
              <a:rPr lang="en-US" altLang="zh-CN" sz="5400" b="1" dirty="0">
                <a:solidFill>
                  <a:schemeClr val="accent1"/>
                </a:solidFill>
                <a:latin typeface="微软雅黑" panose="020B0503020204020204" pitchFamily="34" charset="-122"/>
                <a:ea typeface="微软雅黑" panose="020B0503020204020204" pitchFamily="34" charset="-122"/>
              </a:rPr>
              <a:t>-</a:t>
            </a:r>
            <a:r>
              <a:rPr lang="zh-CN" altLang="en-US" sz="5400" b="1" dirty="0">
                <a:solidFill>
                  <a:schemeClr val="accent1"/>
                </a:solidFill>
                <a:latin typeface="微软雅黑" panose="020B0503020204020204" pitchFamily="34" charset="-122"/>
                <a:ea typeface="微软雅黑" panose="020B0503020204020204" pitchFamily="34" charset="-122"/>
              </a:rPr>
              <a:t>设计模式</a:t>
            </a:r>
            <a:endParaRPr lang="zh-CN" altLang="en-US" sz="5400" b="1" dirty="0">
              <a:solidFill>
                <a:schemeClr val="accent1"/>
              </a:solidFill>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5327222" y="4390123"/>
            <a:ext cx="602891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82825" y="455097"/>
            <a:ext cx="2152446" cy="861974"/>
          </a:xfrm>
          <a:prstGeom prst="rect">
            <a:avLst/>
          </a:prstGeom>
          <a:noFill/>
        </p:spPr>
        <p:txBody>
          <a:bodyPr wrap="none" lIns="121917" tIns="60958" rIns="121917" bIns="60958" rtlCol="0">
            <a:spAutoFit/>
          </a:bodyPr>
          <a:lstStyle/>
          <a:p>
            <a:r>
              <a:rPr lang="en-US" altLang="zh-CN" sz="4800" dirty="0">
                <a:solidFill>
                  <a:schemeClr val="bg1"/>
                </a:solidFill>
                <a:latin typeface="Eras Bold ITC" panose="020B0907030504020204" pitchFamily="34" charset="0"/>
              </a:rPr>
              <a:t>LOGO</a:t>
            </a:r>
            <a:endParaRPr lang="zh-CN" altLang="en-US" sz="4800" dirty="0">
              <a:solidFill>
                <a:schemeClr val="bg1"/>
              </a:solidFill>
              <a:latin typeface="Eras Bold ITC" panose="020B0907030504020204" pitchFamily="34" charset="0"/>
            </a:endParaRPr>
          </a:p>
        </p:txBody>
      </p:sp>
      <p:sp>
        <p:nvSpPr>
          <p:cNvPr id="30" name="TextBox 29"/>
          <p:cNvSpPr txBox="1"/>
          <p:nvPr/>
        </p:nvSpPr>
        <p:spPr>
          <a:xfrm>
            <a:off x="7085900" y="5197738"/>
            <a:ext cx="3693795" cy="612775"/>
          </a:xfrm>
          <a:prstGeom prst="rect">
            <a:avLst/>
          </a:prstGeom>
          <a:noFill/>
        </p:spPr>
        <p:txBody>
          <a:bodyPr wrap="none" lIns="121917" tIns="60958" rIns="121917" bIns="60958" rtlCol="0">
            <a:spAutoFit/>
          </a:bodyPr>
          <a:lstStyle/>
          <a:p>
            <a:pPr algn="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  郭羽翔</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软件学院  </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1.</a:t>
            </a:r>
            <a:r>
              <a:rPr lang="zh-CN" altLang="en-US" sz="2800" b="1" dirty="0">
                <a:solidFill>
                  <a:schemeClr val="accent1"/>
                </a:solidFill>
                <a:latin typeface="微软雅黑" panose="020B0503020204020204" pitchFamily="34" charset="-122"/>
                <a:ea typeface="微软雅黑" panose="020B0503020204020204" pitchFamily="34" charset="-122"/>
              </a:rPr>
              <a:t>什么是设计模式？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4" name="Picture 3"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14799" y="1413570"/>
            <a:ext cx="6629722" cy="4508211"/>
          </a:xfrm>
          <a:prstGeom prst="rect">
            <a:avLst/>
          </a:prstGeom>
        </p:spPr>
      </p:pic>
    </p:spTree>
  </p:cSld>
  <p:clrMapOvr>
    <a:masterClrMapping/>
  </p:clrMapOvr>
  <p:transition spd="slow" advTm="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1.</a:t>
            </a:r>
            <a:r>
              <a:rPr lang="zh-CN" altLang="en-US" sz="2800" b="1" dirty="0">
                <a:solidFill>
                  <a:schemeClr val="accent1"/>
                </a:solidFill>
                <a:latin typeface="微软雅黑" panose="020B0503020204020204" pitchFamily="34" charset="-122"/>
                <a:ea typeface="微软雅黑" panose="020B0503020204020204" pitchFamily="34" charset="-122"/>
              </a:rPr>
              <a:t>什么是设计模式？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2426767" y="1394406"/>
            <a:ext cx="7528174" cy="1938992"/>
          </a:xfrm>
          <a:prstGeom prst="rect">
            <a:avLst/>
          </a:prstGeom>
          <a:noFill/>
        </p:spPr>
        <p:txBody>
          <a:bodyPr wrap="square">
            <a:spAutoFit/>
          </a:bodyPr>
          <a:lstStyle/>
          <a:p>
            <a:r>
              <a:rPr lang="zh-CN" altLang="en-US" b="0" i="0" dirty="0">
                <a:solidFill>
                  <a:srgbClr val="333333"/>
                </a:solidFill>
                <a:effectLst/>
                <a:latin typeface="PingFang SC"/>
              </a:rPr>
              <a:t>需求：</a:t>
            </a:r>
            <a:endParaRPr lang="en-AU" altLang="zh-CN" b="0" i="0" dirty="0">
              <a:solidFill>
                <a:srgbClr val="333333"/>
              </a:solidFill>
              <a:effectLst/>
              <a:latin typeface="PingFang SC"/>
            </a:endParaRPr>
          </a:p>
          <a:p>
            <a:r>
              <a:rPr lang="zh-CN" altLang="en-US" b="0" i="0" dirty="0">
                <a:solidFill>
                  <a:srgbClr val="333333"/>
                </a:solidFill>
                <a:effectLst/>
                <a:latin typeface="PingFang SC"/>
              </a:rPr>
              <a:t>要做一个营销，需要用户参与一个活动，然后完成一系列的任务，最后可以得到一些奖励作为回报。活动的奖励包含美团外卖、酒旅和美食等多种品类券，现在需要你帮忙设计一套奖励发放方案</a:t>
            </a:r>
            <a:endParaRPr lang="en-AU" dirty="0"/>
          </a:p>
        </p:txBody>
      </p:sp>
    </p:spTree>
  </p:cSld>
  <p:clrMapOvr>
    <a:masterClrMapping/>
  </p:clrMapOvr>
  <p:transition spd="slow" advTm="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1.</a:t>
            </a:r>
            <a:r>
              <a:rPr lang="zh-CN" altLang="en-US" sz="2800" b="1" dirty="0">
                <a:solidFill>
                  <a:schemeClr val="accent1"/>
                </a:solidFill>
                <a:latin typeface="微软雅黑" panose="020B0503020204020204" pitchFamily="34" charset="-122"/>
                <a:ea typeface="微软雅黑" panose="020B0503020204020204" pitchFamily="34" charset="-122"/>
              </a:rPr>
              <a:t>什么是设计模式？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3" name="Picture 2"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75039" y="1557586"/>
            <a:ext cx="6408712" cy="4217380"/>
          </a:xfrm>
          <a:prstGeom prst="rect">
            <a:avLst/>
          </a:prstGeom>
        </p:spPr>
      </p:pic>
      <p:sp>
        <p:nvSpPr>
          <p:cNvPr id="5" name="TextBox 4"/>
          <p:cNvSpPr txBox="1"/>
          <p:nvPr/>
        </p:nvSpPr>
        <p:spPr>
          <a:xfrm>
            <a:off x="194519" y="1701602"/>
            <a:ext cx="4248472" cy="4154984"/>
          </a:xfrm>
          <a:prstGeom prst="rect">
            <a:avLst/>
          </a:prstGeom>
          <a:noFill/>
        </p:spPr>
        <p:txBody>
          <a:bodyPr wrap="square">
            <a:spAutoFit/>
          </a:bodyPr>
          <a:lstStyle/>
          <a:p>
            <a:r>
              <a:rPr lang="zh-CN" altLang="en-US" b="0" i="0" dirty="0">
                <a:solidFill>
                  <a:srgbClr val="333333"/>
                </a:solidFill>
                <a:effectLst/>
                <a:latin typeface="PingFang SC"/>
              </a:rPr>
              <a:t>一是不符合</a:t>
            </a:r>
            <a:r>
              <a:rPr lang="zh-CN" altLang="en-US" b="1" i="0" dirty="0">
                <a:solidFill>
                  <a:srgbClr val="000000"/>
                </a:solidFill>
                <a:effectLst/>
                <a:latin typeface="PingFang SC"/>
              </a:rPr>
              <a:t>开闭原则</a:t>
            </a:r>
            <a:r>
              <a:rPr lang="zh-CN" altLang="en-US" b="0" i="0" dirty="0">
                <a:solidFill>
                  <a:srgbClr val="333333"/>
                </a:solidFill>
                <a:effectLst/>
                <a:latin typeface="PingFang SC"/>
              </a:rPr>
              <a:t>，可以预见，如果后续新增品类券的话，需要直接修改主干代码，而我们提倡代码应该是对修改封闭的；</a:t>
            </a:r>
            <a:endParaRPr lang="en-AU" altLang="zh-CN" b="0" i="0" dirty="0">
              <a:solidFill>
                <a:srgbClr val="333333"/>
              </a:solidFill>
              <a:effectLst/>
              <a:latin typeface="PingFang SC"/>
            </a:endParaRPr>
          </a:p>
          <a:p>
            <a:endParaRPr lang="en-AU" altLang="zh-CN" dirty="0">
              <a:solidFill>
                <a:srgbClr val="333333"/>
              </a:solidFill>
              <a:latin typeface="PingFang SC"/>
            </a:endParaRPr>
          </a:p>
          <a:p>
            <a:r>
              <a:rPr lang="zh-CN" altLang="en-US" b="0" i="0" dirty="0">
                <a:solidFill>
                  <a:srgbClr val="333333"/>
                </a:solidFill>
                <a:effectLst/>
                <a:latin typeface="PingFang SC"/>
              </a:rPr>
              <a:t>二是不符合</a:t>
            </a:r>
            <a:r>
              <a:rPr lang="zh-CN" altLang="en-US" b="1" i="0" dirty="0">
                <a:solidFill>
                  <a:srgbClr val="000000"/>
                </a:solidFill>
                <a:effectLst/>
                <a:latin typeface="PingFang SC"/>
              </a:rPr>
              <a:t>迪米特法则</a:t>
            </a:r>
            <a:r>
              <a:rPr lang="zh-CN" altLang="en-US" b="0" i="0" dirty="0">
                <a:solidFill>
                  <a:srgbClr val="333333"/>
                </a:solidFill>
                <a:effectLst/>
                <a:latin typeface="PingFang SC"/>
              </a:rPr>
              <a:t>，发奖逻辑和各个下游接口高度耦合，这导致接口的改变将直接影响到代码的组织，使得代码的可维护性降低</a:t>
            </a:r>
            <a:endParaRPr lang="en-AU" dirty="0"/>
          </a:p>
        </p:txBody>
      </p:sp>
    </p:spTree>
  </p:cSld>
  <p:clrMapOvr>
    <a:masterClrMapping/>
  </p:clrMapOvr>
  <p:transition spd="slow" advTm="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1.</a:t>
            </a:r>
            <a:r>
              <a:rPr lang="zh-CN" altLang="en-US" sz="2800" b="1" dirty="0">
                <a:solidFill>
                  <a:schemeClr val="accent1"/>
                </a:solidFill>
                <a:latin typeface="微软雅黑" panose="020B0503020204020204" pitchFamily="34" charset="-122"/>
                <a:ea typeface="微软雅黑" panose="020B0503020204020204" pitchFamily="34" charset="-122"/>
              </a:rPr>
              <a:t>什么是设计模式？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6" name="Picture 5"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26767" y="1053530"/>
            <a:ext cx="8227602" cy="5414337"/>
          </a:xfrm>
          <a:prstGeom prst="rect">
            <a:avLst/>
          </a:prstGeom>
        </p:spPr>
      </p:pic>
    </p:spTree>
  </p:cSld>
  <p:clrMapOvr>
    <a:masterClrMapping/>
  </p:clrMapOvr>
  <p:transition spd="slow" advTm="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1.</a:t>
            </a:r>
            <a:r>
              <a:rPr lang="zh-CN" altLang="en-US" sz="2800" b="1" dirty="0">
                <a:solidFill>
                  <a:schemeClr val="accent1"/>
                </a:solidFill>
                <a:latin typeface="微软雅黑" panose="020B0503020204020204" pitchFamily="34" charset="-122"/>
                <a:ea typeface="微软雅黑" panose="020B0503020204020204" pitchFamily="34" charset="-122"/>
              </a:rPr>
              <a:t>什么是设计模式？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2" name="TextBox 1"/>
          <p:cNvSpPr txBox="1"/>
          <p:nvPr/>
        </p:nvSpPr>
        <p:spPr>
          <a:xfrm>
            <a:off x="698575" y="1917626"/>
            <a:ext cx="3456384" cy="1569660"/>
          </a:xfrm>
          <a:prstGeom prst="rect">
            <a:avLst/>
          </a:prstGeom>
          <a:noFill/>
        </p:spPr>
        <p:txBody>
          <a:bodyPr wrap="square">
            <a:spAutoFit/>
          </a:bodyPr>
          <a:lstStyle/>
          <a:p>
            <a:r>
              <a:rPr lang="zh-CN" altLang="en-US" dirty="0"/>
              <a:t>接入打车券？</a:t>
            </a:r>
            <a:endParaRPr lang="en-AU" altLang="zh-CN" dirty="0"/>
          </a:p>
          <a:p>
            <a:endParaRPr lang="en-AU" dirty="0"/>
          </a:p>
          <a:p>
            <a:r>
              <a:rPr lang="zh-CN" altLang="en-US" dirty="0"/>
              <a:t>美团外面的发券接口发生改变？</a:t>
            </a:r>
            <a:endParaRPr lang="en-AU" dirty="0"/>
          </a:p>
        </p:txBody>
      </p:sp>
      <p:pic>
        <p:nvPicPr>
          <p:cNvPr id="3" name="Picture 2"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75039" y="1557586"/>
            <a:ext cx="6408712" cy="4217380"/>
          </a:xfrm>
          <a:prstGeom prst="rect">
            <a:avLst/>
          </a:prstGeom>
        </p:spPr>
      </p:pic>
    </p:spTree>
  </p:cSld>
  <p:clrMapOvr>
    <a:masterClrMapping/>
  </p:clrMapOvr>
  <p:transition spd="slow" advTm="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1.</a:t>
            </a:r>
            <a:r>
              <a:rPr lang="zh-CN" altLang="en-US" sz="2800" b="1" dirty="0">
                <a:solidFill>
                  <a:schemeClr val="accent1"/>
                </a:solidFill>
                <a:latin typeface="微软雅黑" panose="020B0503020204020204" pitchFamily="34" charset="-122"/>
                <a:ea typeface="微软雅黑" panose="020B0503020204020204" pitchFamily="34" charset="-122"/>
              </a:rPr>
              <a:t>什么是设计模式？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3" name="Picture 2"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75039" y="1557586"/>
            <a:ext cx="6408712" cy="4217380"/>
          </a:xfrm>
          <a:prstGeom prst="rect">
            <a:avLst/>
          </a:prstGeom>
        </p:spPr>
      </p:pic>
      <p:sp>
        <p:nvSpPr>
          <p:cNvPr id="5" name="TextBox 4"/>
          <p:cNvSpPr txBox="1"/>
          <p:nvPr/>
        </p:nvSpPr>
        <p:spPr>
          <a:xfrm>
            <a:off x="194519" y="1701602"/>
            <a:ext cx="4248472" cy="4893647"/>
          </a:xfrm>
          <a:prstGeom prst="rect">
            <a:avLst/>
          </a:prstGeom>
          <a:noFill/>
        </p:spPr>
        <p:txBody>
          <a:bodyPr wrap="square">
            <a:spAutoFit/>
          </a:bodyPr>
          <a:lstStyle/>
          <a:p>
            <a:r>
              <a:rPr lang="zh-CN" altLang="en-US" b="0" i="0" dirty="0">
                <a:solidFill>
                  <a:srgbClr val="333333"/>
                </a:solidFill>
                <a:effectLst/>
                <a:latin typeface="PingFang SC"/>
              </a:rPr>
              <a:t>一是不符合</a:t>
            </a:r>
            <a:r>
              <a:rPr lang="zh-CN" altLang="en-US" b="1" i="0" dirty="0">
                <a:solidFill>
                  <a:srgbClr val="000000"/>
                </a:solidFill>
                <a:effectLst/>
                <a:latin typeface="PingFang SC"/>
              </a:rPr>
              <a:t>开闭原则</a:t>
            </a:r>
            <a:r>
              <a:rPr lang="zh-CN" altLang="en-US" b="0" i="0" dirty="0">
                <a:solidFill>
                  <a:srgbClr val="333333"/>
                </a:solidFill>
                <a:effectLst/>
                <a:latin typeface="PingFang SC"/>
              </a:rPr>
              <a:t>，可以预见，如果后续新增品类券的话，需要直接修改主干代码，而我们提倡代码应该是对修改封闭的；</a:t>
            </a:r>
            <a:endParaRPr lang="en-AU" altLang="zh-CN" b="0" i="0" dirty="0">
              <a:solidFill>
                <a:srgbClr val="333333"/>
              </a:solidFill>
              <a:effectLst/>
              <a:latin typeface="PingFang SC"/>
            </a:endParaRPr>
          </a:p>
          <a:p>
            <a:endParaRPr lang="en-AU" altLang="zh-CN" dirty="0">
              <a:solidFill>
                <a:srgbClr val="333333"/>
              </a:solidFill>
              <a:latin typeface="PingFang SC"/>
            </a:endParaRPr>
          </a:p>
          <a:p>
            <a:r>
              <a:rPr lang="zh-CN" altLang="en-US" b="0" i="0" dirty="0">
                <a:solidFill>
                  <a:srgbClr val="333333"/>
                </a:solidFill>
                <a:effectLst/>
                <a:latin typeface="PingFang SC"/>
              </a:rPr>
              <a:t>二是不符合</a:t>
            </a:r>
            <a:r>
              <a:rPr lang="zh-CN" altLang="en-US" b="1" i="0" dirty="0">
                <a:solidFill>
                  <a:srgbClr val="000000"/>
                </a:solidFill>
                <a:effectLst/>
                <a:latin typeface="PingFang SC"/>
              </a:rPr>
              <a:t>迪米特法则</a:t>
            </a:r>
            <a:r>
              <a:rPr lang="zh-CN" altLang="en-US" b="0" i="0" dirty="0">
                <a:solidFill>
                  <a:srgbClr val="333333"/>
                </a:solidFill>
                <a:effectLst/>
                <a:latin typeface="PingFang SC"/>
              </a:rPr>
              <a:t>，发奖逻辑和各个下游接口高度耦合，这导致接口的改变将直接影响到代码的组织，使得代码的可维护性降低</a:t>
            </a:r>
            <a:endParaRPr lang="en-AU" altLang="zh-CN" b="0" i="0" dirty="0">
              <a:solidFill>
                <a:srgbClr val="333333"/>
              </a:solidFill>
              <a:effectLst/>
              <a:latin typeface="PingFang SC"/>
            </a:endParaRPr>
          </a:p>
          <a:p>
            <a:endParaRPr lang="en-AU" dirty="0">
              <a:solidFill>
                <a:srgbClr val="333333"/>
              </a:solidFill>
              <a:latin typeface="PingFang SC"/>
            </a:endParaRPr>
          </a:p>
          <a:p>
            <a:r>
              <a:rPr lang="zh-CN" altLang="en-US" dirty="0">
                <a:solidFill>
                  <a:srgbClr val="FF0000"/>
                </a:solidFill>
                <a:latin typeface="PingFang SC"/>
              </a:rPr>
              <a:t>策略模式和适配器模式</a:t>
            </a:r>
            <a:endParaRPr lang="en-AU" dirty="0">
              <a:solidFill>
                <a:srgbClr val="FF0000"/>
              </a:solidFill>
              <a:latin typeface="PingFang SC"/>
            </a:endParaRPr>
          </a:p>
        </p:txBody>
      </p:sp>
    </p:spTree>
  </p:cSld>
  <p:clrMapOvr>
    <a:masterClrMapping/>
  </p:clrMapOvr>
  <p:transition spd="slow" advTm="0">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1.</a:t>
            </a:r>
            <a:r>
              <a:rPr lang="zh-CN" altLang="en-US" sz="2800" b="1" dirty="0">
                <a:solidFill>
                  <a:schemeClr val="accent1"/>
                </a:solidFill>
                <a:latin typeface="微软雅黑" panose="020B0503020204020204" pitchFamily="34" charset="-122"/>
                <a:ea typeface="微软雅黑" panose="020B0503020204020204" pitchFamily="34" charset="-122"/>
              </a:rPr>
              <a:t>什么是设计模式？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1490663" y="2133650"/>
            <a:ext cx="8836620" cy="1569660"/>
          </a:xfrm>
          <a:prstGeom prst="rect">
            <a:avLst/>
          </a:prstGeom>
          <a:noFill/>
        </p:spPr>
        <p:txBody>
          <a:bodyPr wrap="square">
            <a:spAutoFit/>
          </a:bodyPr>
          <a:lstStyle/>
          <a:p>
            <a:r>
              <a:rPr lang="zh-CN" altLang="en-US" b="0" i="0" dirty="0">
                <a:solidFill>
                  <a:srgbClr val="444444"/>
                </a:solidFill>
                <a:effectLst/>
                <a:latin typeface="Helvetica Neue"/>
              </a:rPr>
              <a:t>设计模式（</a:t>
            </a:r>
            <a:r>
              <a:rPr lang="en-US" altLang="zh-CN" b="0" i="0" dirty="0">
                <a:solidFill>
                  <a:srgbClr val="444444"/>
                </a:solidFill>
                <a:effectLst/>
                <a:latin typeface="Helvetica Neue"/>
              </a:rPr>
              <a:t>Design Pattern</a:t>
            </a:r>
            <a:r>
              <a:rPr lang="zh-CN" altLang="en-US" b="0" i="0" dirty="0">
                <a:solidFill>
                  <a:srgbClr val="444444"/>
                </a:solidFill>
                <a:effectLst/>
                <a:latin typeface="Helvetica Neue"/>
              </a:rPr>
              <a:t>）是前辈们对代码开发经验的总结，是解决特定问题的一系列套路。它不是语法规定，而是一套用来提高代码可复用性、可维护性、可读性、稳健性以及安全性的解决方案。</a:t>
            </a:r>
            <a:endParaRPr lang="en-AU" dirty="0">
              <a:solidFill>
                <a:srgbClr val="FF0000"/>
              </a:solidFill>
              <a:latin typeface="PingFang SC"/>
            </a:endParaRPr>
          </a:p>
        </p:txBody>
      </p:sp>
    </p:spTree>
  </p:cSld>
  <p:clrMapOvr>
    <a:masterClrMapping/>
  </p:clrMapOvr>
  <p:transition spd="slow"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262312" y="1988222"/>
            <a:ext cx="7373367" cy="1225548"/>
          </a:xfrm>
          <a:prstGeom prst="rect">
            <a:avLst/>
          </a:prstGeom>
          <a:solidFill>
            <a:schemeClr val="bg1">
              <a:lumMod val="95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 name="六边形 4"/>
          <p:cNvSpPr/>
          <p:nvPr/>
        </p:nvSpPr>
        <p:spPr>
          <a:xfrm>
            <a:off x="774978" y="3142178"/>
            <a:ext cx="1588089" cy="136846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r>
              <a:rPr lang="zh-CN" altLang="en-US" sz="3200" dirty="0">
                <a:latin typeface="微软雅黑" panose="020B0503020204020204" pitchFamily="34" charset="-122"/>
                <a:ea typeface="微软雅黑" panose="020B0503020204020204" pitchFamily="34" charset="-122"/>
              </a:rPr>
              <a:t>学习目的</a:t>
            </a:r>
            <a:endParaRPr lang="zh-CN" altLang="en-US" sz="3200" dirty="0">
              <a:latin typeface="微软雅黑" panose="020B0503020204020204" pitchFamily="34" charset="-122"/>
              <a:ea typeface="微软雅黑" panose="020B0503020204020204" pitchFamily="34" charset="-122"/>
            </a:endParaRPr>
          </a:p>
        </p:txBody>
      </p:sp>
      <p:cxnSp>
        <p:nvCxnSpPr>
          <p:cNvPr id="6" name="直接箭头连接符 5"/>
          <p:cNvCxnSpPr>
            <a:stCxn id="5" idx="5"/>
            <a:endCxn id="3" idx="1"/>
          </p:cNvCxnSpPr>
          <p:nvPr/>
        </p:nvCxnSpPr>
        <p:spPr>
          <a:xfrm flipV="1">
            <a:off x="2020950" y="2600996"/>
            <a:ext cx="1241362" cy="541182"/>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5" idx="1"/>
            <a:endCxn id="14" idx="1"/>
          </p:cNvCxnSpPr>
          <p:nvPr/>
        </p:nvCxnSpPr>
        <p:spPr>
          <a:xfrm>
            <a:off x="2020950" y="4510647"/>
            <a:ext cx="1241362" cy="86336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478476" y="1983656"/>
            <a:ext cx="7301219" cy="1310327"/>
          </a:xfrm>
          <a:prstGeom prst="rect">
            <a:avLst/>
          </a:prstGeom>
          <a:noFill/>
        </p:spPr>
        <p:txBody>
          <a:bodyPr wrap="square" lIns="91472" tIns="45736" rIns="91472" bIns="45736" rtlCol="0">
            <a:spAutoFit/>
          </a:bodyPr>
          <a:lstStyle/>
          <a:p>
            <a:pPr>
              <a:lnSpc>
                <a:spcPct val="130000"/>
              </a:lnSpc>
            </a:pPr>
            <a:r>
              <a:rPr lang="zh-CN" altLang="en-US" sz="3200" dirty="0">
                <a:solidFill>
                  <a:sysClr val="windowText" lastClr="000000"/>
                </a:solidFill>
                <a:latin typeface="微软雅黑" panose="020B0503020204020204" pitchFamily="34" charset="-122"/>
                <a:ea typeface="微软雅黑" panose="020B0503020204020204" pitchFamily="34" charset="-122"/>
              </a:rPr>
              <a:t>在将来的软件设计与开发中使用软件</a:t>
            </a:r>
            <a:r>
              <a:rPr lang="zh-CN" altLang="en-US" sz="3200" dirty="0">
                <a:solidFill>
                  <a:schemeClr val="accent1"/>
                </a:solidFill>
                <a:latin typeface="微软雅黑" panose="020B0503020204020204" pitchFamily="34" charset="-122"/>
                <a:ea typeface="微软雅黑" panose="020B0503020204020204" pitchFamily="34" charset="-122"/>
              </a:rPr>
              <a:t>设计模式</a:t>
            </a:r>
            <a:r>
              <a:rPr lang="zh-CN" altLang="en-US" sz="3200" dirty="0">
                <a:solidFill>
                  <a:sysClr val="windowText" lastClr="000000"/>
                </a:solidFill>
                <a:latin typeface="微软雅黑" panose="020B0503020204020204" pitchFamily="34" charset="-122"/>
                <a:ea typeface="微软雅黑" panose="020B0503020204020204" pitchFamily="34" charset="-122"/>
              </a:rPr>
              <a:t>，成为一个成功的</a:t>
            </a:r>
            <a:r>
              <a:rPr lang="zh-CN" altLang="en-US" sz="3200" dirty="0">
                <a:solidFill>
                  <a:srgbClr val="FF0000"/>
                </a:solidFill>
                <a:latin typeface="微软雅黑" panose="020B0503020204020204" pitchFamily="34" charset="-122"/>
                <a:ea typeface="微软雅黑" panose="020B0503020204020204" pitchFamily="34" charset="-122"/>
              </a:rPr>
              <a:t>软件工程师</a:t>
            </a:r>
            <a:endParaRPr lang="zh-CN" altLang="en-US" sz="3200" dirty="0">
              <a:solidFill>
                <a:srgbClr val="FF0000"/>
              </a:solidFill>
              <a:latin typeface="微软雅黑" panose="020B0503020204020204" pitchFamily="34" charset="-122"/>
              <a:ea typeface="微软雅黑" panose="020B0503020204020204" pitchFamily="34" charset="-122"/>
            </a:endParaRPr>
          </a:p>
        </p:txBody>
      </p:sp>
      <p:sp>
        <p:nvSpPr>
          <p:cNvPr id="14" name="矩形 13"/>
          <p:cNvSpPr/>
          <p:nvPr/>
        </p:nvSpPr>
        <p:spPr>
          <a:xfrm>
            <a:off x="3262312" y="4437906"/>
            <a:ext cx="7805415" cy="1872208"/>
          </a:xfrm>
          <a:prstGeom prst="rect">
            <a:avLst/>
          </a:prstGeom>
          <a:solidFill>
            <a:schemeClr val="bg1">
              <a:lumMod val="95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endParaRPr lang="zh-CN" altLang="en-US" sz="3200">
              <a:latin typeface="微软雅黑" panose="020B0503020204020204" pitchFamily="34" charset="-122"/>
              <a:ea typeface="微软雅黑" panose="020B0503020204020204" pitchFamily="34" charset="-122"/>
            </a:endParaRPr>
          </a:p>
        </p:txBody>
      </p:sp>
      <p:sp>
        <p:nvSpPr>
          <p:cNvPr id="16" name="TextBox 15"/>
          <p:cNvSpPr txBox="1"/>
          <p:nvPr/>
        </p:nvSpPr>
        <p:spPr>
          <a:xfrm>
            <a:off x="3478476" y="4437906"/>
            <a:ext cx="7301219" cy="2012891"/>
          </a:xfrm>
          <a:prstGeom prst="rect">
            <a:avLst/>
          </a:prstGeom>
          <a:noFill/>
        </p:spPr>
        <p:txBody>
          <a:bodyPr wrap="square" lIns="91472" tIns="45736" rIns="91472" bIns="45736" rtlCol="0">
            <a:spAutoFit/>
          </a:bodyPr>
          <a:lstStyle/>
          <a:p>
            <a:pPr>
              <a:lnSpc>
                <a:spcPct val="130000"/>
              </a:lnSpc>
            </a:pPr>
            <a:r>
              <a:rPr lang="zh-CN" altLang="en-US" sz="3200" dirty="0">
                <a:solidFill>
                  <a:sysClr val="windowText" lastClr="000000"/>
                </a:solidFill>
                <a:latin typeface="微软雅黑" panose="020B0503020204020204" pitchFamily="34" charset="-122"/>
                <a:ea typeface="微软雅黑" panose="020B0503020204020204" pitchFamily="34" charset="-122"/>
              </a:rPr>
              <a:t>在将来的软件设计与开发中使用</a:t>
            </a:r>
            <a:r>
              <a:rPr lang="zh-CN" altLang="en-US" sz="3200" dirty="0">
                <a:solidFill>
                  <a:schemeClr val="accent1"/>
                </a:solidFill>
                <a:latin typeface="微软雅黑" panose="020B0503020204020204" pitchFamily="34" charset="-122"/>
                <a:ea typeface="微软雅黑" panose="020B0503020204020204" pitchFamily="34" charset="-122"/>
              </a:rPr>
              <a:t>软件体系结构</a:t>
            </a:r>
            <a:r>
              <a:rPr lang="zh-CN" altLang="en-US" sz="3200" dirty="0">
                <a:solidFill>
                  <a:sysClr val="windowText" lastClr="000000"/>
                </a:solidFill>
                <a:latin typeface="微软雅黑" panose="020B0503020204020204" pitchFamily="34" charset="-122"/>
                <a:ea typeface="微软雅黑" panose="020B0503020204020204" pitchFamily="34" charset="-122"/>
              </a:rPr>
              <a:t>与</a:t>
            </a:r>
            <a:r>
              <a:rPr lang="zh-CN" altLang="en-US" sz="3200" dirty="0">
                <a:solidFill>
                  <a:schemeClr val="accent1"/>
                </a:solidFill>
                <a:latin typeface="微软雅黑" panose="020B0503020204020204" pitchFamily="34" charset="-122"/>
                <a:ea typeface="微软雅黑" panose="020B0503020204020204" pitchFamily="34" charset="-122"/>
              </a:rPr>
              <a:t>软件设计模式</a:t>
            </a:r>
            <a:r>
              <a:rPr lang="zh-CN" altLang="en-US" sz="3200" dirty="0">
                <a:solidFill>
                  <a:sysClr val="windowText" lastClr="000000"/>
                </a:solidFill>
                <a:latin typeface="微软雅黑" panose="020B0503020204020204" pitchFamily="34" charset="-122"/>
                <a:ea typeface="微软雅黑" panose="020B0503020204020204" pitchFamily="34" charset="-122"/>
              </a:rPr>
              <a:t>，成为一个成功的</a:t>
            </a:r>
            <a:r>
              <a:rPr lang="zh-CN" altLang="en-US" sz="3200" dirty="0">
                <a:solidFill>
                  <a:srgbClr val="FF0000"/>
                </a:solidFill>
                <a:latin typeface="微软雅黑" panose="020B0503020204020204" pitchFamily="34" charset="-122"/>
                <a:ea typeface="微软雅黑" panose="020B0503020204020204" pitchFamily="34" charset="-122"/>
              </a:rPr>
              <a:t>软件架构师</a:t>
            </a:r>
            <a:endParaRPr lang="zh-CN" altLang="en-US" sz="3200" dirty="0">
              <a:solidFill>
                <a:srgbClr val="FF0000"/>
              </a:solidFill>
              <a:latin typeface="微软雅黑" panose="020B0503020204020204" pitchFamily="34" charset="-122"/>
              <a:ea typeface="微软雅黑" panose="020B0503020204020204" pitchFamily="34" charset="-122"/>
            </a:endParaRPr>
          </a:p>
        </p:txBody>
      </p:sp>
      <p:sp>
        <p:nvSpPr>
          <p:cNvPr id="17"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1053530"/>
            <a:ext cx="9937104" cy="5262979"/>
          </a:xfrm>
          <a:prstGeom prst="rect">
            <a:avLst/>
          </a:prstGeom>
          <a:noFill/>
        </p:spPr>
        <p:txBody>
          <a:bodyPr wrap="square" rtlCol="0">
            <a:spAutoFit/>
          </a:bodyPr>
          <a:lstStyle/>
          <a:p>
            <a:pPr>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合作分工</a:t>
            </a:r>
            <a:endParaRPr lang="en-US" altLang="zh-CN" sz="2800" b="1" dirty="0">
              <a:solidFill>
                <a:srgbClr val="FF0000"/>
              </a:solidFill>
              <a:latin typeface="微软雅黑" panose="020B0503020204020204" pitchFamily="34" charset="-122"/>
              <a:ea typeface="微软雅黑" panose="020B0503020204020204" pitchFamily="34" charset="-122"/>
            </a:endParaRPr>
          </a:p>
          <a:p>
            <a:pPr marL="533400" indent="-533400">
              <a:lnSpc>
                <a:spcPct val="150000"/>
              </a:lnSpc>
              <a:buFont typeface="Wingdings" panose="05000000000000000000" pitchFamily="2" charset="2"/>
              <a:buAutoNum type="arabicPeriod"/>
            </a:pPr>
            <a:r>
              <a:rPr lang="zh-CN" altLang="en-AU" sz="2800" dirty="0">
                <a:solidFill>
                  <a:srgbClr val="FF0000"/>
                </a:solidFill>
                <a:latin typeface="微软雅黑" panose="020B0503020204020204" pitchFamily="34" charset="-122"/>
                <a:ea typeface="微软雅黑" panose="020B0503020204020204" pitchFamily="34" charset="-122"/>
              </a:rPr>
              <a:t>软件架构师</a:t>
            </a:r>
            <a:r>
              <a:rPr lang="zh-CN" altLang="en-AU" sz="2800" dirty="0">
                <a:solidFill>
                  <a:srgbClr val="000000"/>
                </a:solidFill>
                <a:latin typeface="微软雅黑" panose="020B0503020204020204" pitchFamily="34" charset="-122"/>
                <a:ea typeface="微软雅黑" panose="020B0503020204020204" pitchFamily="34" charset="-122"/>
              </a:rPr>
              <a:t>或者高级软件工程师使用</a:t>
            </a:r>
            <a:r>
              <a:rPr lang="zh-CN" altLang="en-AU" sz="2800" dirty="0">
                <a:solidFill>
                  <a:schemeClr val="accent1"/>
                </a:solidFill>
                <a:latin typeface="微软雅黑" panose="020B0503020204020204" pitchFamily="34" charset="-122"/>
                <a:ea typeface="微软雅黑" panose="020B0503020204020204" pitchFamily="34" charset="-122"/>
              </a:rPr>
              <a:t>软件体系结构</a:t>
            </a:r>
            <a:r>
              <a:rPr lang="zh-CN" altLang="en-AU" sz="2800" dirty="0">
                <a:solidFill>
                  <a:srgbClr val="000000"/>
                </a:solidFill>
                <a:latin typeface="微软雅黑" panose="020B0503020204020204" pitchFamily="34" charset="-122"/>
                <a:ea typeface="微软雅黑" panose="020B0503020204020204" pitchFamily="34" charset="-122"/>
              </a:rPr>
              <a:t>与软件</a:t>
            </a:r>
            <a:r>
              <a:rPr lang="zh-CN" altLang="en-AU" sz="2800" dirty="0">
                <a:solidFill>
                  <a:schemeClr val="accent1"/>
                </a:solidFill>
                <a:latin typeface="微软雅黑" panose="020B0503020204020204" pitchFamily="34" charset="-122"/>
                <a:ea typeface="微软雅黑" panose="020B0503020204020204" pitchFamily="34" charset="-122"/>
              </a:rPr>
              <a:t>设计模式</a:t>
            </a:r>
            <a:r>
              <a:rPr lang="zh-CN" altLang="en-AU" sz="2800" dirty="0">
                <a:solidFill>
                  <a:srgbClr val="000000"/>
                </a:solidFill>
                <a:latin typeface="微软雅黑" panose="020B0503020204020204" pitchFamily="34" charset="-122"/>
                <a:ea typeface="微软雅黑" panose="020B0503020204020204" pitchFamily="34" charset="-122"/>
              </a:rPr>
              <a:t>进行架构设计与概要设计</a:t>
            </a:r>
            <a:endParaRPr lang="en-AU" altLang="zh-CN" sz="2800" dirty="0">
              <a:solidFill>
                <a:srgbClr val="0000CC"/>
              </a:solidFill>
              <a:latin typeface="微软雅黑" panose="020B0503020204020204" pitchFamily="34" charset="-122"/>
              <a:ea typeface="微软雅黑" panose="020B0503020204020204" pitchFamily="34" charset="-122"/>
            </a:endParaRPr>
          </a:p>
          <a:p>
            <a:pPr marL="533400" indent="-533400">
              <a:lnSpc>
                <a:spcPct val="150000"/>
              </a:lnSpc>
              <a:buFont typeface="Wingdings" panose="05000000000000000000" pitchFamily="2" charset="2"/>
              <a:buAutoNum type="arabicPeriod"/>
            </a:pPr>
            <a:r>
              <a:rPr lang="zh-CN" altLang="en-AU" sz="2800" dirty="0">
                <a:solidFill>
                  <a:srgbClr val="000000"/>
                </a:solidFill>
                <a:latin typeface="微软雅黑" panose="020B0503020204020204" pitchFamily="34" charset="-122"/>
                <a:ea typeface="微软雅黑" panose="020B0503020204020204" pitchFamily="34" charset="-122"/>
              </a:rPr>
              <a:t>另外一组</a:t>
            </a:r>
            <a:r>
              <a:rPr lang="zh-CN" altLang="en-AU" sz="2800" dirty="0">
                <a:solidFill>
                  <a:srgbClr val="FF0000"/>
                </a:solidFill>
                <a:latin typeface="微软雅黑" panose="020B0503020204020204" pitchFamily="34" charset="-122"/>
                <a:ea typeface="微软雅黑" panose="020B0503020204020204" pitchFamily="34" charset="-122"/>
              </a:rPr>
              <a:t>高级软件工程师</a:t>
            </a:r>
            <a:r>
              <a:rPr lang="zh-CN" altLang="en-AU" sz="2800" dirty="0">
                <a:solidFill>
                  <a:srgbClr val="000000"/>
                </a:solidFill>
                <a:latin typeface="微软雅黑" panose="020B0503020204020204" pitchFamily="34" charset="-122"/>
                <a:ea typeface="微软雅黑" panose="020B0503020204020204" pitchFamily="34" charset="-122"/>
              </a:rPr>
              <a:t>进行详细设计</a:t>
            </a:r>
            <a:r>
              <a:rPr lang="en-AU" altLang="zh-CN" sz="2800" dirty="0">
                <a:solidFill>
                  <a:srgbClr val="000000"/>
                </a:solidFill>
                <a:latin typeface="微软雅黑" panose="020B0503020204020204" pitchFamily="34" charset="-122"/>
                <a:ea typeface="微软雅黑" panose="020B0503020204020204" pitchFamily="34" charset="-122"/>
              </a:rPr>
              <a:t> </a:t>
            </a:r>
            <a:endParaRPr lang="zh-CN" altLang="en-AU" sz="2800" dirty="0">
              <a:solidFill>
                <a:srgbClr val="000000"/>
              </a:solidFill>
              <a:latin typeface="微软雅黑" panose="020B0503020204020204" pitchFamily="34" charset="-122"/>
              <a:ea typeface="微软雅黑" panose="020B0503020204020204" pitchFamily="34" charset="-122"/>
            </a:endParaRPr>
          </a:p>
          <a:p>
            <a:pPr marL="914400" lvl="1" indent="-457200">
              <a:lnSpc>
                <a:spcPct val="150000"/>
              </a:lnSpc>
              <a:buFont typeface="Wingdings" panose="05000000000000000000" pitchFamily="2" charset="2"/>
              <a:buChar char="Ø"/>
            </a:pPr>
            <a:r>
              <a:rPr lang="zh-CN" altLang="en-AU" sz="2800" dirty="0">
                <a:solidFill>
                  <a:srgbClr val="0000CC"/>
                </a:solidFill>
                <a:latin typeface="微软雅黑" panose="020B0503020204020204" pitchFamily="34" charset="-122"/>
                <a:ea typeface="微软雅黑" panose="020B0503020204020204" pitchFamily="34" charset="-122"/>
              </a:rPr>
              <a:t>可能使用软件设计模式</a:t>
            </a:r>
            <a:endParaRPr lang="en-AU" altLang="zh-CN" sz="2800" dirty="0">
              <a:solidFill>
                <a:srgbClr val="0000CC"/>
              </a:solidFill>
              <a:latin typeface="微软雅黑" panose="020B0503020204020204" pitchFamily="34" charset="-122"/>
              <a:ea typeface="微软雅黑" panose="020B0503020204020204" pitchFamily="34" charset="-122"/>
            </a:endParaRPr>
          </a:p>
          <a:p>
            <a:pPr marL="914400" lvl="1" indent="-457200">
              <a:lnSpc>
                <a:spcPct val="150000"/>
              </a:lnSpc>
              <a:buFont typeface="Wingdings" panose="05000000000000000000" pitchFamily="2" charset="2"/>
              <a:buChar char="Ø"/>
            </a:pPr>
            <a:r>
              <a:rPr lang="zh-CN" altLang="en-AU" sz="2800" dirty="0">
                <a:solidFill>
                  <a:srgbClr val="0000CC"/>
                </a:solidFill>
                <a:latin typeface="微软雅黑" panose="020B0503020204020204" pitchFamily="34" charset="-122"/>
                <a:ea typeface="微软雅黑" panose="020B0503020204020204" pitchFamily="34" charset="-122"/>
              </a:rPr>
              <a:t>详细到函数层</a:t>
            </a:r>
            <a:endParaRPr lang="en-AU" altLang="zh-CN" sz="2800" dirty="0">
              <a:solidFill>
                <a:srgbClr val="0000CC"/>
              </a:solidFill>
              <a:latin typeface="微软雅黑" panose="020B0503020204020204" pitchFamily="34" charset="-122"/>
              <a:ea typeface="微软雅黑" panose="020B0503020204020204" pitchFamily="34" charset="-122"/>
            </a:endParaRPr>
          </a:p>
          <a:p>
            <a:pPr marL="914400" lvl="1" indent="-457200">
              <a:lnSpc>
                <a:spcPct val="150000"/>
              </a:lnSpc>
              <a:buFont typeface="Wingdings" panose="05000000000000000000" pitchFamily="2" charset="2"/>
              <a:buChar char="Ø"/>
            </a:pPr>
            <a:r>
              <a:rPr lang="zh-CN" altLang="en-AU" sz="2800" dirty="0">
                <a:solidFill>
                  <a:srgbClr val="0000CC"/>
                </a:solidFill>
                <a:latin typeface="微软雅黑" panose="020B0503020204020204" pitchFamily="34" charset="-122"/>
                <a:ea typeface="微软雅黑" panose="020B0503020204020204" pitchFamily="34" charset="-122"/>
              </a:rPr>
              <a:t>详细到算法层</a:t>
            </a:r>
            <a:endParaRPr lang="en-AU" altLang="zh-CN" sz="2800" dirty="0">
              <a:solidFill>
                <a:srgbClr val="0000CC"/>
              </a:solidFill>
              <a:latin typeface="微软雅黑" panose="020B0503020204020204" pitchFamily="34" charset="-122"/>
              <a:ea typeface="微软雅黑" panose="020B0503020204020204" pitchFamily="34" charset="-122"/>
            </a:endParaRPr>
          </a:p>
          <a:p>
            <a:pPr marL="533400" indent="-533400">
              <a:lnSpc>
                <a:spcPct val="150000"/>
              </a:lnSpc>
              <a:buFont typeface="Wingdings" panose="05000000000000000000" pitchFamily="2" charset="2"/>
              <a:buAutoNum type="arabicPeriod"/>
            </a:pPr>
            <a:r>
              <a:rPr lang="zh-CN" altLang="en-AU" sz="2800" dirty="0">
                <a:solidFill>
                  <a:srgbClr val="000000"/>
                </a:solidFill>
                <a:latin typeface="微软雅黑" panose="020B0503020204020204" pitchFamily="34" charset="-122"/>
                <a:ea typeface="微软雅黑" panose="020B0503020204020204" pitchFamily="34" charset="-122"/>
              </a:rPr>
              <a:t>一般的</a:t>
            </a:r>
            <a:r>
              <a:rPr lang="zh-CN" altLang="en-AU" sz="2800" dirty="0">
                <a:solidFill>
                  <a:srgbClr val="FF0000"/>
                </a:solidFill>
                <a:latin typeface="微软雅黑" panose="020B0503020204020204" pitchFamily="34" charset="-122"/>
                <a:ea typeface="微软雅黑" panose="020B0503020204020204" pitchFamily="34" charset="-122"/>
              </a:rPr>
              <a:t>软件开发者</a:t>
            </a:r>
            <a:r>
              <a:rPr lang="zh-CN" altLang="en-AU" sz="2800" dirty="0">
                <a:solidFill>
                  <a:srgbClr val="000000"/>
                </a:solidFill>
                <a:latin typeface="微软雅黑" panose="020B0503020204020204" pitchFamily="34" charset="-122"/>
                <a:ea typeface="微软雅黑" panose="020B0503020204020204" pitchFamily="34" charset="-122"/>
              </a:rPr>
              <a:t>具体地实现代码</a:t>
            </a:r>
            <a:endParaRPr lang="zh-CN" altLang="en-US" sz="2800" dirty="0">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981522"/>
            <a:ext cx="9937104" cy="5355312"/>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rPr>
              <a:t>面向对象程序设计</a:t>
            </a:r>
            <a:r>
              <a:rPr lang="en-US" altLang="zh-CN" sz="2800" dirty="0">
                <a:latin typeface="微软雅黑" panose="020B0503020204020204" pitchFamily="34" charset="-122"/>
                <a:ea typeface="微软雅黑" panose="020B0503020204020204" pitchFamily="34" charset="-122"/>
              </a:rPr>
              <a:t>OOP</a:t>
            </a:r>
            <a:r>
              <a:rPr lang="zh-CN" altLang="en-US" sz="2800" dirty="0">
                <a:latin typeface="微软雅黑" panose="020B0503020204020204" pitchFamily="34" charset="-122"/>
                <a:ea typeface="微软雅黑" panose="020B0503020204020204" pitchFamily="34" charset="-122"/>
              </a:rPr>
              <a:t>中，概念知道？</a:t>
            </a:r>
            <a:endParaRPr lang="en-US" altLang="zh-CN" sz="2800"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对象（</a:t>
            </a:r>
            <a:r>
              <a:rPr lang="en-US" altLang="zh-CN" dirty="0">
                <a:latin typeface="微软雅黑" panose="020B0503020204020204" pitchFamily="34" charset="-122"/>
                <a:ea typeface="微软雅黑" panose="020B0503020204020204" pitchFamily="34" charset="-122"/>
              </a:rPr>
              <a:t>Object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类（</a:t>
            </a:r>
            <a:r>
              <a:rPr lang="en-US" altLang="zh-CN" dirty="0">
                <a:latin typeface="微软雅黑" panose="020B0503020204020204" pitchFamily="34" charset="-122"/>
                <a:ea typeface="微软雅黑" panose="020B0503020204020204" pitchFamily="34" charset="-122"/>
              </a:rPr>
              <a:t>Class</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方法（</a:t>
            </a:r>
            <a:r>
              <a:rPr lang="en-US" altLang="zh-CN" dirty="0">
                <a:latin typeface="微软雅黑" panose="020B0503020204020204" pitchFamily="34" charset="-122"/>
                <a:ea typeface="微软雅黑" panose="020B0503020204020204" pitchFamily="34" charset="-122"/>
              </a:rPr>
              <a:t>Method</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构造方法（</a:t>
            </a:r>
            <a:r>
              <a:rPr lang="en-US" altLang="zh-CN" dirty="0">
                <a:latin typeface="微软雅黑" panose="020B0503020204020204" pitchFamily="34" charset="-122"/>
                <a:ea typeface="微软雅黑" panose="020B0503020204020204" pitchFamily="34" charset="-122"/>
              </a:rPr>
              <a:t> Construction method</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抽象类（</a:t>
            </a:r>
            <a:r>
              <a:rPr lang="en-US" altLang="zh-CN" dirty="0">
                <a:latin typeface="微软雅黑" panose="020B0503020204020204" pitchFamily="34" charset="-122"/>
                <a:ea typeface="微软雅黑" panose="020B0503020204020204" pitchFamily="34" charset="-122"/>
              </a:rPr>
              <a:t>Abstract class</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接口（</a:t>
            </a:r>
            <a:r>
              <a:rPr lang="en-US" altLang="zh-CN" dirty="0">
                <a:latin typeface="微软雅黑" panose="020B0503020204020204" pitchFamily="34" charset="-122"/>
                <a:ea typeface="微软雅黑" panose="020B0503020204020204" pitchFamily="34" charset="-122"/>
              </a:rPr>
              <a:t>Interface</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rPr>
              <a:t>如何使用？</a:t>
            </a:r>
            <a:r>
              <a:rPr lang="en-US" altLang="zh-CN" sz="2800" dirty="0">
                <a:latin typeface="微软雅黑" panose="020B0503020204020204" pitchFamily="34" charset="-122"/>
                <a:ea typeface="微软雅黑" panose="020B0503020204020204" pitchFamily="34" charset="-122"/>
              </a:rPr>
              <a:t>OOP</a:t>
            </a:r>
            <a:r>
              <a:rPr lang="zh-CN" altLang="en-US" sz="2800" dirty="0">
                <a:latin typeface="微软雅黑" panose="020B0503020204020204" pitchFamily="34" charset="-122"/>
                <a:ea typeface="微软雅黑" panose="020B0503020204020204" pitchFamily="34" charset="-122"/>
              </a:rPr>
              <a:t>好处在哪？如何设计出更高质量的代码？如何设计出更优秀的软件架构？</a:t>
            </a:r>
            <a:endParaRPr lang="zh-CN" altLang="en-US" sz="2800" dirty="0">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837506"/>
            <a:ext cx="9937104" cy="5416868"/>
          </a:xfrm>
          <a:prstGeom prst="rect">
            <a:avLst/>
          </a:prstGeom>
          <a:noFill/>
        </p:spPr>
        <p:txBody>
          <a:bodyPr wrap="square" rtlCol="0">
            <a:spAutoFit/>
          </a:bodyPr>
          <a:lstStyle/>
          <a:p>
            <a:pPr marL="457200" indent="-457200">
              <a:lnSpc>
                <a:spcPct val="150000"/>
              </a:lnSpc>
              <a:spcAft>
                <a:spcPts val="1200"/>
              </a:spcAft>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实例</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：庞大的跨平台图像浏览系统</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需求</a:t>
            </a:r>
            <a:endParaRPr lang="en-US" altLang="zh-CN" sz="2800" b="1"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某软件公司要开发一个</a:t>
            </a:r>
            <a:r>
              <a:rPr lang="zh-CN" altLang="en-US" sz="2800" dirty="0">
                <a:solidFill>
                  <a:srgbClr val="FF0000"/>
                </a:solidFill>
                <a:latin typeface="微软雅黑" panose="020B0503020204020204" pitchFamily="34" charset="-122"/>
                <a:ea typeface="微软雅黑" panose="020B0503020204020204" pitchFamily="34" charset="-122"/>
              </a:rPr>
              <a:t>跨平台</a:t>
            </a:r>
            <a:r>
              <a:rPr lang="zh-CN" altLang="en-US" sz="2800" dirty="0">
                <a:latin typeface="微软雅黑" panose="020B0503020204020204" pitchFamily="34" charset="-122"/>
                <a:ea typeface="微软雅黑" panose="020B0503020204020204" pitchFamily="34" charset="-122"/>
              </a:rPr>
              <a:t>图像浏览系统，要求该系统能够显示</a:t>
            </a:r>
            <a:r>
              <a:rPr lang="en-US" altLang="zh-CN" sz="2800" dirty="0">
                <a:latin typeface="微软雅黑" panose="020B0503020204020204" pitchFamily="34" charset="-122"/>
                <a:ea typeface="微软雅黑" panose="020B0503020204020204" pitchFamily="34" charset="-122"/>
              </a:rPr>
              <a:t>BMP</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JPG</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GIF</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PNG</a:t>
            </a:r>
            <a:r>
              <a:rPr lang="zh-CN" altLang="en-US" sz="2800" dirty="0">
                <a:latin typeface="微软雅黑" panose="020B0503020204020204" pitchFamily="34" charset="-122"/>
                <a:ea typeface="微软雅黑" panose="020B0503020204020204" pitchFamily="34" charset="-122"/>
              </a:rPr>
              <a:t>等</a:t>
            </a:r>
            <a:r>
              <a:rPr lang="zh-CN" altLang="en-US" sz="2800" dirty="0">
                <a:solidFill>
                  <a:srgbClr val="FF0000"/>
                </a:solidFill>
                <a:latin typeface="微软雅黑" panose="020B0503020204020204" pitchFamily="34" charset="-122"/>
                <a:ea typeface="微软雅黑" panose="020B0503020204020204" pitchFamily="34" charset="-122"/>
              </a:rPr>
              <a:t>多种格式</a:t>
            </a:r>
            <a:r>
              <a:rPr lang="zh-CN" altLang="en-US" sz="2800" dirty="0">
                <a:latin typeface="微软雅黑" panose="020B0503020204020204" pitchFamily="34" charset="-122"/>
                <a:ea typeface="微软雅黑" panose="020B0503020204020204" pitchFamily="34" charset="-122"/>
              </a:rPr>
              <a:t>的文件，并且能够在</a:t>
            </a:r>
            <a:r>
              <a:rPr lang="en-US" altLang="zh-CN" sz="2800" dirty="0">
                <a:latin typeface="微软雅黑" panose="020B0503020204020204" pitchFamily="34" charset="-122"/>
                <a:ea typeface="微软雅黑" panose="020B0503020204020204" pitchFamily="34" charset="-122"/>
              </a:rPr>
              <a:t>Windows</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Linux</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Unix</a:t>
            </a:r>
            <a:r>
              <a:rPr lang="zh-CN" altLang="en-US" sz="2800" dirty="0">
                <a:latin typeface="微软雅黑" panose="020B0503020204020204" pitchFamily="34" charset="-122"/>
                <a:ea typeface="微软雅黑" panose="020B0503020204020204" pitchFamily="34" charset="-122"/>
              </a:rPr>
              <a:t>等</a:t>
            </a:r>
            <a:r>
              <a:rPr lang="zh-CN" altLang="en-US" sz="2800" dirty="0">
                <a:solidFill>
                  <a:srgbClr val="FF0000"/>
                </a:solidFill>
                <a:latin typeface="微软雅黑" panose="020B0503020204020204" pitchFamily="34" charset="-122"/>
                <a:ea typeface="微软雅黑" panose="020B0503020204020204" pitchFamily="34" charset="-122"/>
              </a:rPr>
              <a:t>多个操作系统</a:t>
            </a:r>
            <a:r>
              <a:rPr lang="zh-CN" altLang="en-US" sz="2800" dirty="0">
                <a:latin typeface="微软雅黑" panose="020B0503020204020204" pitchFamily="34" charset="-122"/>
                <a:ea typeface="微软雅黑" panose="020B0503020204020204" pitchFamily="34" charset="-122"/>
              </a:rPr>
              <a:t>上运行。系统首先将各种格式的文件解析为像素矩阵</a:t>
            </a:r>
            <a:r>
              <a:rPr lang="en-US" altLang="zh-CN" sz="2800" dirty="0">
                <a:latin typeface="微软雅黑" panose="020B0503020204020204" pitchFamily="34" charset="-122"/>
                <a:ea typeface="微软雅黑" panose="020B0503020204020204" pitchFamily="34" charset="-122"/>
              </a:rPr>
              <a:t>(Matrix)</a:t>
            </a:r>
            <a:r>
              <a:rPr lang="zh-CN" altLang="en-US" sz="2800" dirty="0">
                <a:latin typeface="微软雅黑" panose="020B0503020204020204" pitchFamily="34" charset="-122"/>
                <a:ea typeface="微软雅黑" panose="020B0503020204020204" pitchFamily="34" charset="-122"/>
              </a:rPr>
              <a:t>，然后将像素矩阵显示在屏幕上，在不同的操作系统中可以调用不同的绘制函数来绘制像素矩阵。</a:t>
            </a:r>
            <a:endParaRPr lang="zh-CN" altLang="en-US" sz="2800" dirty="0">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Ø"/>
            </a:pPr>
            <a:endParaRPr lang="zh-CN" altLang="en-US" sz="2800" dirty="0">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837506"/>
            <a:ext cx="9937104" cy="662554"/>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实例</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：庞大的跨平台图像浏览系统</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初始设计方案</a:t>
            </a:r>
            <a:endParaRPr lang="en-US" altLang="zh-CN" sz="2800" b="1" dirty="0">
              <a:solidFill>
                <a:srgbClr val="FF0000"/>
              </a:solidFill>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0583" y="1629594"/>
            <a:ext cx="11017224"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837506"/>
            <a:ext cx="9937104" cy="4770537"/>
          </a:xfrm>
          <a:prstGeom prst="rect">
            <a:avLst/>
          </a:prstGeom>
          <a:noFill/>
        </p:spPr>
        <p:txBody>
          <a:bodyPr wrap="square" rtlCol="0">
            <a:spAutoFit/>
          </a:bodyPr>
          <a:lstStyle/>
          <a:p>
            <a:pPr marL="457200" indent="-457200">
              <a:lnSpc>
                <a:spcPct val="150000"/>
              </a:lnSpc>
              <a:spcAft>
                <a:spcPts val="1200"/>
              </a:spcAft>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实例</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：庞大的跨平台图像浏览系统</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存在问题</a:t>
            </a:r>
            <a:endParaRPr lang="en-US" altLang="zh-CN" sz="2800" b="1"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(1) </a:t>
            </a:r>
            <a:r>
              <a:rPr lang="zh-CN" altLang="en-US" sz="2800" dirty="0">
                <a:latin typeface="微软雅黑" panose="020B0503020204020204" pitchFamily="34" charset="-122"/>
                <a:ea typeface="微软雅黑" panose="020B0503020204020204" pitchFamily="34" charset="-122"/>
              </a:rPr>
              <a:t>采用了多层继承结构，导致系统中类的个数急剧增加，</a:t>
            </a:r>
            <a:r>
              <a:rPr lang="zh-CN" altLang="en-US" sz="2800" dirty="0">
                <a:solidFill>
                  <a:srgbClr val="FF0000"/>
                </a:solidFill>
                <a:latin typeface="微软雅黑" panose="020B0503020204020204" pitchFamily="34" charset="-122"/>
                <a:ea typeface="微软雅黑" panose="020B0503020204020204" pitchFamily="34" charset="-122"/>
              </a:rPr>
              <a:t>具体层的类的个数 </a:t>
            </a:r>
            <a:r>
              <a:rPr lang="en-US" altLang="zh-CN" sz="2800" dirty="0">
                <a:solidFill>
                  <a:srgbClr val="FF0000"/>
                </a:solidFill>
                <a:latin typeface="微软雅黑" panose="020B0503020204020204" pitchFamily="34" charset="-122"/>
                <a:ea typeface="微软雅黑" panose="020B0503020204020204" pitchFamily="34" charset="-122"/>
              </a:rPr>
              <a:t>= </a:t>
            </a:r>
            <a:r>
              <a:rPr lang="zh-CN" altLang="en-US" sz="2800" dirty="0">
                <a:solidFill>
                  <a:srgbClr val="FF0000"/>
                </a:solidFill>
                <a:latin typeface="微软雅黑" panose="020B0503020204020204" pitchFamily="34" charset="-122"/>
                <a:ea typeface="微软雅黑" panose="020B0503020204020204" pitchFamily="34" charset="-122"/>
              </a:rPr>
              <a:t>所支持的图像文件格式数</a:t>
            </a:r>
            <a:r>
              <a:rPr lang="en-US" altLang="zh-CN" sz="2800" dirty="0">
                <a:solidFill>
                  <a:srgbClr val="FF0000"/>
                </a:solidFill>
                <a:latin typeface="微软雅黑" panose="020B0503020204020204" pitchFamily="34" charset="-122"/>
                <a:ea typeface="微软雅黑" panose="020B0503020204020204" pitchFamily="34" charset="-122"/>
              </a:rPr>
              <a:t>×</a:t>
            </a:r>
            <a:r>
              <a:rPr lang="zh-CN" altLang="en-US" sz="2800" dirty="0">
                <a:solidFill>
                  <a:srgbClr val="FF0000"/>
                </a:solidFill>
                <a:latin typeface="微软雅黑" panose="020B0503020204020204" pitchFamily="34" charset="-122"/>
                <a:ea typeface="微软雅黑" panose="020B0503020204020204" pitchFamily="34" charset="-122"/>
              </a:rPr>
              <a:t>所支持的操作系统数</a:t>
            </a:r>
            <a:endParaRPr lang="zh-CN" altLang="en-US" sz="28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(2) </a:t>
            </a:r>
            <a:r>
              <a:rPr lang="zh-CN" altLang="en-US" sz="2800" dirty="0">
                <a:latin typeface="微软雅黑" panose="020B0503020204020204" pitchFamily="34" charset="-122"/>
                <a:ea typeface="微软雅黑" panose="020B0503020204020204" pitchFamily="34" charset="-122"/>
              </a:rPr>
              <a:t>系统扩展麻烦，无论是增加新的图像文件格式还是增加新的操作系统，都需要增加大量的具体类，这将</a:t>
            </a:r>
            <a:r>
              <a:rPr lang="zh-CN" altLang="en-US" sz="2800" dirty="0">
                <a:solidFill>
                  <a:srgbClr val="FF0000"/>
                </a:solidFill>
                <a:latin typeface="微软雅黑" panose="020B0503020204020204" pitchFamily="34" charset="-122"/>
                <a:ea typeface="微软雅黑" panose="020B0503020204020204" pitchFamily="34" charset="-122"/>
              </a:rPr>
              <a:t>导致系统变得非常庞大，增加运行和维护开销</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6" name="图片 5" descr="2011420168609.jpg"/>
          <p:cNvPicPr>
            <a:picLocks noChangeAspect="1"/>
          </p:cNvPicPr>
          <p:nvPr/>
        </p:nvPicPr>
        <p:blipFill>
          <a:blip r:embed="rId1" cstate="print">
            <a:extLst>
              <a:ext uri="{28A0092B-C50C-407E-A947-70E740481C1C}">
                <a14:useLocalDpi xmlns:a14="http://schemas.microsoft.com/office/drawing/2010/main" val="0"/>
              </a:ext>
            </a:extLst>
          </a:blip>
          <a:srcRect l="18616" r="23232"/>
          <a:stretch>
            <a:fillRect/>
          </a:stretch>
        </p:blipFill>
        <p:spPr bwMode="auto">
          <a:xfrm>
            <a:off x="86482" y="4653930"/>
            <a:ext cx="1332173" cy="1586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837506"/>
            <a:ext cx="9937104" cy="5324535"/>
          </a:xfrm>
          <a:prstGeom prst="rect">
            <a:avLst/>
          </a:prstGeom>
          <a:noFill/>
        </p:spPr>
        <p:txBody>
          <a:bodyPr wrap="square" rtlCol="0">
            <a:spAutoFit/>
          </a:bodyPr>
          <a:lstStyle/>
          <a:p>
            <a:pPr marL="457200" indent="-457200">
              <a:lnSpc>
                <a:spcPct val="150000"/>
              </a:lnSpc>
              <a:spcAft>
                <a:spcPts val="1200"/>
              </a:spcAft>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实例</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：不够灵活的影院售票系统</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需求</a:t>
            </a:r>
            <a:endParaRPr lang="en-US" altLang="zh-CN" sz="2800" b="1"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某软件公司为某电影院开发了一套影院售票系统，在该系统中需要</a:t>
            </a:r>
            <a:r>
              <a:rPr lang="zh-CN" altLang="en-US" dirty="0">
                <a:solidFill>
                  <a:srgbClr val="FF0000"/>
                </a:solidFill>
                <a:latin typeface="微软雅黑" panose="020B0503020204020204" pitchFamily="34" charset="-122"/>
                <a:ea typeface="微软雅黑" panose="020B0503020204020204" pitchFamily="34" charset="-122"/>
              </a:rPr>
              <a:t>为不同类型的用户提供不同的电影票打折方式</a:t>
            </a:r>
            <a:r>
              <a:rPr lang="zh-CN" altLang="en-US" dirty="0">
                <a:latin typeface="微软雅黑" panose="020B0503020204020204" pitchFamily="34" charset="-122"/>
                <a:ea typeface="微软雅黑" panose="020B0503020204020204" pitchFamily="34" charset="-122"/>
              </a:rPr>
              <a:t>，具体打折方案如下：</a:t>
            </a: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学生凭学生证可享受票价</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折优惠；</a:t>
            </a: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年龄在</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周岁及以下的儿童可享受每张票减免</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元的优惠（原始票价需大于等于</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元）；</a:t>
            </a: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影院</a:t>
            </a:r>
            <a:r>
              <a:rPr lang="en-US" altLang="zh-CN" dirty="0">
                <a:latin typeface="微软雅黑" panose="020B0503020204020204" pitchFamily="34" charset="-122"/>
                <a:ea typeface="微软雅黑" panose="020B0503020204020204" pitchFamily="34" charset="-122"/>
              </a:rPr>
              <a:t>VIP</a:t>
            </a:r>
            <a:r>
              <a:rPr lang="zh-CN" altLang="en-US" dirty="0">
                <a:latin typeface="微软雅黑" panose="020B0503020204020204" pitchFamily="34" charset="-122"/>
                <a:ea typeface="微软雅黑" panose="020B0503020204020204" pitchFamily="34" charset="-122"/>
              </a:rPr>
              <a:t>用户除享受票价半价优惠外还可进行积分，积分累计到一定额度可换取电影院赠送的奖品。</a:t>
            </a:r>
            <a:endParaRPr lang="zh-CN" altLang="en-US"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该系统在将来</a:t>
            </a:r>
            <a:r>
              <a:rPr lang="zh-CN" altLang="en-US" dirty="0">
                <a:solidFill>
                  <a:srgbClr val="FF0000"/>
                </a:solidFill>
                <a:latin typeface="微软雅黑" panose="020B0503020204020204" pitchFamily="34" charset="-122"/>
                <a:ea typeface="微软雅黑" panose="020B0503020204020204" pitchFamily="34" charset="-122"/>
              </a:rPr>
              <a:t>可能还要根据需要引入新的打折方式</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837506"/>
            <a:ext cx="9937104" cy="662554"/>
          </a:xfrm>
          <a:prstGeom prst="rect">
            <a:avLst/>
          </a:prstGeom>
          <a:noFill/>
        </p:spPr>
        <p:txBody>
          <a:bodyPr wrap="square" rtlCol="0">
            <a:spAutoFit/>
          </a:bodyPr>
          <a:lstStyle/>
          <a:p>
            <a:pPr marL="457200" indent="-457200">
              <a:lnSpc>
                <a:spcPct val="150000"/>
              </a:lnSpc>
              <a:spcAft>
                <a:spcPts val="1200"/>
              </a:spcAft>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实例</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：不够灵活的影院售票系统</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初始解决方案</a:t>
            </a:r>
            <a:endParaRPr lang="en-US" altLang="zh-CN" sz="2800" b="1" dirty="0">
              <a:solidFill>
                <a:srgbClr val="FF0000"/>
              </a:solidFill>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986607" y="1500061"/>
          <a:ext cx="10369152" cy="5242102"/>
        </p:xfrm>
        <a:graphic>
          <a:graphicData uri="http://schemas.openxmlformats.org/drawingml/2006/table">
            <a:tbl>
              <a:tblPr/>
              <a:tblGrid>
                <a:gridCol w="10369152"/>
              </a:tblGrid>
              <a:tr h="52421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public class </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MovieTicket</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private double price;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accent1">
                              <a:lumMod val="60000"/>
                              <a:lumOff val="40000"/>
                            </a:schemeClr>
                          </a:solidFill>
                          <a:effectLst/>
                          <a:latin typeface="Times New Roman" panose="02020603050405020304" pitchFamily="18" charset="0"/>
                          <a:ea typeface="隶书" panose="02010509060101010101" pitchFamily="49" charset="-122"/>
                          <a:cs typeface="Times New Roman" panose="02020603050405020304" pitchFamily="18" charset="0"/>
                        </a:rPr>
                        <a:t>    //compute the price</a:t>
                      </a:r>
                      <a:endParaRPr kumimoji="0" lang="zh-CN" altLang="zh-CN" sz="1800" b="1" i="0" u="none" strike="noStrike" cap="none" normalizeH="0" baseline="0" dirty="0">
                        <a:ln>
                          <a:noFill/>
                        </a:ln>
                        <a:solidFill>
                          <a:schemeClr val="accent1">
                            <a:lumMod val="60000"/>
                            <a:lumOff val="40000"/>
                          </a:schemeClr>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public double calculate(String type)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accent1">
                              <a:lumMod val="60000"/>
                              <a:lumOff val="40000"/>
                            </a:schemeClr>
                          </a:solidFill>
                          <a:effectLst/>
                          <a:latin typeface="Times New Roman" panose="02020603050405020304" pitchFamily="18" charset="0"/>
                          <a:ea typeface="隶书" panose="02010509060101010101" pitchFamily="49" charset="-122"/>
                          <a:cs typeface="Times New Roman" panose="02020603050405020304" pitchFamily="18" charset="0"/>
                        </a:rPr>
                        <a:t>        //student ticket</a:t>
                      </a:r>
                      <a:endParaRPr kumimoji="0" lang="zh-CN" altLang="zh-CN" sz="1800" b="1" i="0" u="none" strike="noStrike" cap="none" normalizeH="0" baseline="0" dirty="0">
                        <a:ln>
                          <a:noFill/>
                        </a:ln>
                        <a:solidFill>
                          <a:schemeClr val="accent1">
                            <a:lumMod val="60000"/>
                            <a:lumOff val="40000"/>
                          </a:schemeClr>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if(</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type.equalsIgnoreCase</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("student"))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return </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this.price</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 0.8;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accent1">
                              <a:lumMod val="60000"/>
                              <a:lumOff val="40000"/>
                            </a:schemeClr>
                          </a:solidFill>
                          <a:effectLst/>
                          <a:latin typeface="Times New Roman" panose="02020603050405020304" pitchFamily="18" charset="0"/>
                          <a:ea typeface="隶书" panose="02010509060101010101" pitchFamily="49" charset="-122"/>
                          <a:cs typeface="Times New Roman" panose="02020603050405020304" pitchFamily="18" charset="0"/>
                        </a:rPr>
                        <a:t>        //children ticket</a:t>
                      </a:r>
                      <a:endParaRPr kumimoji="0" lang="zh-CN" altLang="zh-CN" sz="1800" b="1" i="0" u="none" strike="noStrike" cap="none" normalizeH="0" baseline="0" dirty="0">
                        <a:ln>
                          <a:noFill/>
                        </a:ln>
                        <a:solidFill>
                          <a:schemeClr val="accent1">
                            <a:lumMod val="60000"/>
                            <a:lumOff val="40000"/>
                          </a:schemeClr>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else if(</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type.equalsIgnoreCase</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("children") &amp;&amp; </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this.price</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&gt;= 20 )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return </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this.price</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- 10;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r>
                        <a:rPr kumimoji="0" lang="en-US" altLang="zh-CN" sz="1800" b="1" i="0" u="none" strike="noStrike" cap="none" normalizeH="0" baseline="0" dirty="0">
                          <a:ln>
                            <a:noFill/>
                          </a:ln>
                          <a:solidFill>
                            <a:schemeClr val="accent1">
                              <a:lumMod val="60000"/>
                              <a:lumOff val="40000"/>
                            </a:schemeClr>
                          </a:solidFill>
                          <a:effectLst/>
                          <a:latin typeface="Times New Roman" panose="02020603050405020304" pitchFamily="18" charset="0"/>
                          <a:ea typeface="隶书" panose="02010509060101010101" pitchFamily="49" charset="-122"/>
                          <a:cs typeface="Times New Roman" panose="02020603050405020304" pitchFamily="18" charset="0"/>
                        </a:rPr>
                        <a:t>//VIP ticket</a:t>
                      </a:r>
                      <a:endParaRPr kumimoji="0" lang="en-US" altLang="zh-CN" sz="1800" b="1" i="0" u="none" strike="noStrike" cap="none" normalizeH="0" baseline="0" dirty="0">
                        <a:ln>
                          <a:noFill/>
                        </a:ln>
                        <a:solidFill>
                          <a:schemeClr val="accent1">
                            <a:lumMod val="60000"/>
                            <a:lumOff val="40000"/>
                          </a:schemeClr>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else if(</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type.equalsIgnoreCase</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vip</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//add points, code is omitted</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return </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this.price</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 0.5;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else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return </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this.price</a:t>
                      </a: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    }</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rPr>
                        <a:t>}</a:t>
                      </a:r>
                      <a:endParaRPr kumimoji="0" lang="zh-CN" altLang="zh-CN" sz="1800" b="1"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cs typeface="Times New Roman" panose="02020603050405020304" pitchFamily="18" charset="0"/>
                      </a:endParaRPr>
                    </a:p>
                  </a:txBody>
                  <a:tcPr marL="41469" marR="41469"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837506"/>
            <a:ext cx="9937104" cy="6063198"/>
          </a:xfrm>
          <a:prstGeom prst="rect">
            <a:avLst/>
          </a:prstGeom>
          <a:noFill/>
        </p:spPr>
        <p:txBody>
          <a:bodyPr wrap="square" rtlCol="0">
            <a:spAutoFit/>
          </a:bodyPr>
          <a:lstStyle/>
          <a:p>
            <a:pPr marL="457200" indent="-457200">
              <a:lnSpc>
                <a:spcPct val="150000"/>
              </a:lnSpc>
              <a:spcAft>
                <a:spcPts val="1200"/>
              </a:spcAft>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实例</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：不够灵活的影院售票系统</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存在问题</a:t>
            </a:r>
            <a:endParaRPr lang="en-US" altLang="zh-CN" sz="2800" b="1"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(1) </a:t>
            </a:r>
            <a:r>
              <a:rPr lang="en-US" altLang="zh-CN" sz="2800" dirty="0" err="1">
                <a:latin typeface="微软雅黑" panose="020B0503020204020204" pitchFamily="34" charset="-122"/>
                <a:ea typeface="微软雅黑" panose="020B0503020204020204" pitchFamily="34" charset="-122"/>
              </a:rPr>
              <a:t>MovieTicket</a:t>
            </a:r>
            <a:r>
              <a:rPr lang="zh-CN" altLang="en-US" sz="2800" dirty="0">
                <a:latin typeface="微软雅黑" panose="020B0503020204020204" pitchFamily="34" charset="-122"/>
                <a:ea typeface="微软雅黑" panose="020B0503020204020204" pitchFamily="34" charset="-122"/>
              </a:rPr>
              <a:t>类的</a:t>
            </a:r>
            <a:r>
              <a:rPr lang="en-US" altLang="zh-CN" sz="2800" dirty="0">
                <a:latin typeface="微软雅黑" panose="020B0503020204020204" pitchFamily="34" charset="-122"/>
                <a:ea typeface="微软雅黑" panose="020B0503020204020204" pitchFamily="34" charset="-122"/>
              </a:rPr>
              <a:t>calculate()</a:t>
            </a:r>
            <a:r>
              <a:rPr lang="zh-CN" altLang="en-US" sz="2800" dirty="0">
                <a:latin typeface="微软雅黑" panose="020B0503020204020204" pitchFamily="34" charset="-122"/>
                <a:ea typeface="微软雅黑" panose="020B0503020204020204" pitchFamily="34" charset="-122"/>
              </a:rPr>
              <a:t>方法非常庞大，它包含各种打折算法的实现代码，在代码中出现了较长的条件转移语句，不利于测试和维护。</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(2) </a:t>
            </a:r>
            <a:r>
              <a:rPr lang="zh-CN" altLang="en-US" sz="2800" dirty="0">
                <a:latin typeface="微软雅黑" panose="020B0503020204020204" pitchFamily="34" charset="-122"/>
                <a:ea typeface="微软雅黑" panose="020B0503020204020204" pitchFamily="34" charset="-122"/>
              </a:rPr>
              <a:t>在增加新的打折算法或者对原有打折算法进行修改时必须修改</a:t>
            </a:r>
            <a:r>
              <a:rPr lang="en-US" altLang="zh-CN" sz="2800" dirty="0" err="1">
                <a:latin typeface="微软雅黑" panose="020B0503020204020204" pitchFamily="34" charset="-122"/>
                <a:ea typeface="微软雅黑" panose="020B0503020204020204" pitchFamily="34" charset="-122"/>
              </a:rPr>
              <a:t>MovieTicket</a:t>
            </a:r>
            <a:r>
              <a:rPr lang="zh-CN" altLang="en-US" sz="2800" dirty="0">
                <a:latin typeface="微软雅黑" panose="020B0503020204020204" pitchFamily="34" charset="-122"/>
                <a:ea typeface="微软雅黑" panose="020B0503020204020204" pitchFamily="34" charset="-122"/>
              </a:rPr>
              <a:t>类的源代码，系统的灵活性和可扩展性较差。</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(3) </a:t>
            </a:r>
            <a:r>
              <a:rPr lang="zh-CN" altLang="en-US" sz="2800" dirty="0">
                <a:latin typeface="微软雅黑" panose="020B0503020204020204" pitchFamily="34" charset="-122"/>
                <a:ea typeface="微软雅黑" panose="020B0503020204020204" pitchFamily="34" charset="-122"/>
              </a:rPr>
              <a:t>算法的复用性差，如果另一个系统需要重用某些打折算法，只能通过对源代码进行复制粘贴来重用，无法单独重用其中的某个或某些算法。</a:t>
            </a:r>
            <a:endParaRPr lang="en-US" altLang="zh-CN" sz="2800" b="1" dirty="0">
              <a:solidFill>
                <a:srgbClr val="FF0000"/>
              </a:solidFill>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6" name="图片 5" descr="2011420168609.jpg"/>
          <p:cNvPicPr>
            <a:picLocks noChangeAspect="1"/>
          </p:cNvPicPr>
          <p:nvPr/>
        </p:nvPicPr>
        <p:blipFill>
          <a:blip r:embed="rId1" cstate="print">
            <a:extLst>
              <a:ext uri="{28A0092B-C50C-407E-A947-70E740481C1C}">
                <a14:useLocalDpi xmlns:a14="http://schemas.microsoft.com/office/drawing/2010/main" val="0"/>
              </a:ext>
            </a:extLst>
          </a:blip>
          <a:srcRect l="18616" r="23232"/>
          <a:stretch>
            <a:fillRect/>
          </a:stretch>
        </p:blipFill>
        <p:spPr bwMode="auto">
          <a:xfrm>
            <a:off x="86482" y="4653930"/>
            <a:ext cx="1332173" cy="1586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837506"/>
            <a:ext cx="9937104" cy="4770537"/>
          </a:xfrm>
          <a:prstGeom prst="rect">
            <a:avLst/>
          </a:prstGeom>
          <a:noFill/>
        </p:spPr>
        <p:txBody>
          <a:bodyPr wrap="square" rtlCol="0">
            <a:spAutoFit/>
          </a:bodyPr>
          <a:lstStyle/>
          <a:p>
            <a:pPr marL="457200" indent="-457200">
              <a:lnSpc>
                <a:spcPct val="150000"/>
              </a:lnSpc>
              <a:spcAft>
                <a:spcPts val="1200"/>
              </a:spcAft>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实例</a:t>
            </a:r>
            <a:r>
              <a:rPr lang="en-US" altLang="zh-CN" sz="2800" b="1" dirty="0">
                <a:latin typeface="微软雅黑" panose="020B0503020204020204" pitchFamily="34" charset="-122"/>
                <a:ea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rPr>
              <a:t>：重用第三方算法库时面临的问题</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需求</a:t>
            </a:r>
            <a:endParaRPr lang="en-US" altLang="zh-CN" sz="2800" b="1"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某软件公司在开发一个银行业务处理系统时需要对其中的机密数据进行加密处理，通过分析发现，用于加密的程序已经存在于一个第三方算法库中，但是</a:t>
            </a:r>
            <a:r>
              <a:rPr lang="zh-CN" altLang="en-US" sz="2800" dirty="0">
                <a:solidFill>
                  <a:srgbClr val="FF0000"/>
                </a:solidFill>
                <a:latin typeface="微软雅黑" panose="020B0503020204020204" pitchFamily="34" charset="-122"/>
                <a:ea typeface="微软雅黑" panose="020B0503020204020204" pitchFamily="34" charset="-122"/>
              </a:rPr>
              <a:t>没有该算法库的源代码</a:t>
            </a:r>
            <a:r>
              <a:rPr lang="zh-CN" altLang="en-US" sz="2800" dirty="0">
                <a:latin typeface="微软雅黑" panose="020B0503020204020204" pitchFamily="34" charset="-122"/>
                <a:ea typeface="微软雅黑" panose="020B0503020204020204" pitchFamily="34" charset="-122"/>
              </a:rPr>
              <a:t>。在系统初始设计阶段，已定义数据操作接口</a:t>
            </a:r>
            <a:r>
              <a:rPr lang="en-US" altLang="zh-CN" sz="2800" dirty="0" err="1">
                <a:latin typeface="微软雅黑" panose="020B0503020204020204" pitchFamily="34" charset="-122"/>
                <a:ea typeface="微软雅黑" panose="020B0503020204020204" pitchFamily="34" charset="-122"/>
              </a:rPr>
              <a:t>DataOperation</a:t>
            </a:r>
            <a:r>
              <a:rPr lang="zh-CN" altLang="en-US" sz="2800" dirty="0">
                <a:latin typeface="微软雅黑" panose="020B0503020204020204" pitchFamily="34" charset="-122"/>
                <a:ea typeface="微软雅黑" panose="020B0503020204020204" pitchFamily="34" charset="-122"/>
              </a:rPr>
              <a:t>，且该接口已被很多同事使用，对该接口的修改势必导致大量代码需要产生改动。</a:t>
            </a:r>
            <a:endParaRPr lang="zh-CN" altLang="en-US" sz="2800" dirty="0">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18655" y="837506"/>
            <a:ext cx="9937104" cy="2185214"/>
          </a:xfrm>
          <a:prstGeom prst="rect">
            <a:avLst/>
          </a:prstGeom>
          <a:noFill/>
        </p:spPr>
        <p:txBody>
          <a:bodyPr wrap="square" rtlCol="0">
            <a:spAutoFit/>
          </a:bodyPr>
          <a:lstStyle/>
          <a:p>
            <a:pPr marL="457200" indent="-457200">
              <a:lnSpc>
                <a:spcPct val="150000"/>
              </a:lnSpc>
              <a:spcAft>
                <a:spcPts val="1200"/>
              </a:spcAft>
              <a:buFont typeface="Wingdings" panose="05000000000000000000" pitchFamily="2" charset="2"/>
              <a:buChar char="Ø"/>
            </a:pPr>
            <a:r>
              <a:rPr lang="zh-CN" altLang="en-US" sz="2800" b="1" dirty="0">
                <a:latin typeface="微软雅黑" panose="020B0503020204020204" pitchFamily="34" charset="-122"/>
                <a:ea typeface="微软雅黑" panose="020B0503020204020204" pitchFamily="34" charset="-122"/>
              </a:rPr>
              <a:t>实例</a:t>
            </a:r>
            <a:r>
              <a:rPr lang="en-US" altLang="zh-CN" sz="2800" b="1" dirty="0">
                <a:latin typeface="微软雅黑" panose="020B0503020204020204" pitchFamily="34" charset="-122"/>
                <a:ea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rPr>
              <a:t>：重用第三方算法库时面临的问题</a:t>
            </a:r>
            <a:r>
              <a:rPr lang="en-US" altLang="zh-CN"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解决方案</a:t>
            </a:r>
            <a:endParaRPr lang="en-US" altLang="zh-CN" sz="2800" b="1" dirty="0">
              <a:solidFill>
                <a:srgbClr val="FF0000"/>
              </a:solidFill>
              <a:latin typeface="微软雅黑" panose="020B0503020204020204" pitchFamily="34" charset="-122"/>
              <a:ea typeface="微软雅黑" panose="020B0503020204020204" pitchFamily="34" charset="-122"/>
            </a:endParaRPr>
          </a:p>
          <a:p>
            <a:pPr>
              <a:lnSpc>
                <a:spcPct val="150000"/>
              </a:lnSpc>
              <a:spcAft>
                <a:spcPts val="1200"/>
              </a:spcAft>
            </a:pPr>
            <a:r>
              <a:rPr lang="zh-CN" altLang="en-US" sz="2800" dirty="0">
                <a:latin typeface="微软雅黑" panose="020B0503020204020204" pitchFamily="34" charset="-122"/>
                <a:ea typeface="微软雅黑" panose="020B0503020204020204" pitchFamily="34" charset="-122"/>
              </a:rPr>
              <a:t>如何在既不修改现有接口又不需要算法库源代码的基础上能够实现第三方算法库的重用？？？</a:t>
            </a:r>
            <a:endParaRPr lang="en-US" altLang="zh-CN" sz="2800" dirty="0">
              <a:latin typeface="微软雅黑" panose="020B0503020204020204" pitchFamily="34" charset="-122"/>
              <a:ea typeface="微软雅黑" panose="020B0503020204020204" pitchFamily="34" charset="-122"/>
            </a:endParaRPr>
          </a:p>
        </p:txBody>
      </p:sp>
      <p:sp>
        <p:nvSpPr>
          <p:cNvPr id="5" name="文本框 2"/>
          <p:cNvSpPr txBox="1"/>
          <p:nvPr/>
        </p:nvSpPr>
        <p:spPr>
          <a:xfrm>
            <a:off x="1706687" y="170270"/>
            <a:ext cx="6912768"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2.</a:t>
            </a:r>
            <a:r>
              <a:rPr lang="zh-CN" altLang="en-US" sz="2800" b="1" dirty="0">
                <a:solidFill>
                  <a:schemeClr val="accent1"/>
                </a:solidFill>
                <a:latin typeface="微软雅黑" panose="020B0503020204020204" pitchFamily="34" charset="-122"/>
                <a:ea typeface="微软雅黑" panose="020B0503020204020204" pitchFamily="34" charset="-122"/>
              </a:rPr>
              <a:t>为什么学习设计模式？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nvGraphicFramePr>
        <p:xfrm>
          <a:off x="1415767" y="3022720"/>
          <a:ext cx="9939992" cy="3431410"/>
        </p:xfrm>
        <a:graphic>
          <a:graphicData uri="http://schemas.openxmlformats.org/presentationml/2006/ole">
            <mc:AlternateContent xmlns:mc="http://schemas.openxmlformats.org/markup-compatibility/2006">
              <mc:Choice xmlns:v="urn:schemas-microsoft-com:vml" Requires="v">
                <p:oleObj spid="_x0000_s4" name="Visio" r:id="rId1" imgW="10172700" imgH="4394200" progId="Visio.Drawing.11">
                  <p:embed/>
                </p:oleObj>
              </mc:Choice>
              <mc:Fallback>
                <p:oleObj name="Visio" r:id="rId1" imgW="10172700" imgH="43942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767" y="3022720"/>
                        <a:ext cx="9939992" cy="3431410"/>
                      </a:xfrm>
                      <a:prstGeom prst="rect">
                        <a:avLst/>
                      </a:prstGeom>
                      <a:noFill/>
                      <a:ln>
                        <a:noFill/>
                      </a:ln>
                    </p:spPr>
                  </p:pic>
                </p:oleObj>
              </mc:Fallback>
            </mc:AlternateContent>
          </a:graphicData>
        </a:graphic>
      </p:graphicFrame>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Placeholder 8"/>
          <p:cNvSpPr txBox="1"/>
          <p:nvPr/>
        </p:nvSpPr>
        <p:spPr>
          <a:xfrm>
            <a:off x="2930823" y="1053530"/>
            <a:ext cx="8928992" cy="5472608"/>
          </a:xfrm>
          <a:prstGeom prst="rect">
            <a:avLst/>
          </a:prstGeom>
        </p:spPr>
        <p:txBody>
          <a:bodyPr vert="horz"/>
          <a:lstStyle>
            <a:lvl1pPr marL="0" indent="0" algn="l" defTabSz="457200" rtl="0" eaLnBrk="1" latinLnBrk="0" hangingPunct="1">
              <a:lnSpc>
                <a:spcPct val="120000"/>
              </a:lnSpc>
              <a:spcBef>
                <a:spcPct val="20000"/>
              </a:spcBef>
              <a:buFont typeface="Arial" panose="020B0604020202020204"/>
              <a:buNone/>
              <a:defRPr sz="800" kern="1200" baseline="0">
                <a:solidFill>
                  <a:schemeClr val="bg1">
                    <a:lumMod val="50000"/>
                  </a:schemeClr>
                </a:solidFill>
                <a:latin typeface="Roboto condensed"/>
                <a:ea typeface="+mn-ea"/>
                <a:cs typeface="Roboto condensed"/>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342900" indent="-342900" algn="just">
              <a:lnSpc>
                <a:spcPct val="130000"/>
              </a:lnSpc>
              <a:buFont typeface="Wingdings" panose="05000000000000000000" pitchFamily="2" charset="2"/>
              <a:buChar char="Ø"/>
            </a:pPr>
            <a:r>
              <a:rPr lang="zh-CN" altLang="en-US" sz="2400" dirty="0">
                <a:solidFill>
                  <a:srgbClr val="414455"/>
                </a:solidFill>
                <a:latin typeface="微软雅黑" panose="020B0503020204020204" pitchFamily="34" charset="-122"/>
                <a:ea typeface="微软雅黑" panose="020B0503020204020204" pitchFamily="34" charset="-122"/>
              </a:rPr>
              <a:t>模式</a:t>
            </a:r>
            <a:r>
              <a:rPr lang="en-US" altLang="zh-CN" sz="2400" dirty="0">
                <a:solidFill>
                  <a:srgbClr val="414455"/>
                </a:solidFill>
                <a:latin typeface="微软雅黑" panose="020B0503020204020204" pitchFamily="34" charset="-122"/>
                <a:ea typeface="微软雅黑" panose="020B0503020204020204" pitchFamily="34" charset="-122"/>
              </a:rPr>
              <a:t>(Pattern)</a:t>
            </a:r>
            <a:r>
              <a:rPr lang="zh-CN" altLang="en-US" sz="2400" dirty="0">
                <a:solidFill>
                  <a:srgbClr val="414455"/>
                </a:solidFill>
                <a:latin typeface="微软雅黑" panose="020B0503020204020204" pitchFamily="34" charset="-122"/>
                <a:ea typeface="微软雅黑" panose="020B0503020204020204" pitchFamily="34" charset="-122"/>
              </a:rPr>
              <a:t>起源于建筑业而非软件业</a:t>
            </a:r>
            <a:endParaRPr lang="zh-CN" altLang="en-US" sz="2400" dirty="0">
              <a:solidFill>
                <a:srgbClr val="414455"/>
              </a:solidFill>
              <a:latin typeface="微软雅黑" panose="020B0503020204020204" pitchFamily="34" charset="-122"/>
              <a:ea typeface="微软雅黑" panose="020B0503020204020204" pitchFamily="34" charset="-122"/>
            </a:endParaRPr>
          </a:p>
          <a:p>
            <a:pPr marL="342900" indent="-342900" algn="just">
              <a:lnSpc>
                <a:spcPct val="130000"/>
              </a:lnSpc>
              <a:buFont typeface="Wingdings" panose="05000000000000000000" pitchFamily="2" charset="2"/>
              <a:buChar char="Ø"/>
            </a:pPr>
            <a:r>
              <a:rPr lang="zh-CN" altLang="en-US" sz="2400" dirty="0">
                <a:solidFill>
                  <a:srgbClr val="414455"/>
                </a:solidFill>
                <a:latin typeface="微软雅黑" panose="020B0503020204020204" pitchFamily="34" charset="-122"/>
                <a:ea typeface="微软雅黑" panose="020B0503020204020204" pitchFamily="34" charset="-122"/>
              </a:rPr>
              <a:t>模式之父</a:t>
            </a:r>
            <a:r>
              <a:rPr lang="en-US" altLang="zh-CN" sz="2400" dirty="0">
                <a:solidFill>
                  <a:srgbClr val="414455"/>
                </a:solidFill>
                <a:latin typeface="微软雅黑" panose="020B0503020204020204" pitchFamily="34" charset="-122"/>
                <a:ea typeface="微软雅黑" panose="020B0503020204020204" pitchFamily="34" charset="-122"/>
              </a:rPr>
              <a:t>——</a:t>
            </a:r>
            <a:r>
              <a:rPr lang="zh-CN" altLang="en-US" sz="2400" dirty="0">
                <a:solidFill>
                  <a:srgbClr val="414455"/>
                </a:solidFill>
                <a:latin typeface="微软雅黑" panose="020B0503020204020204" pitchFamily="34" charset="-122"/>
                <a:ea typeface="微软雅黑" panose="020B0503020204020204" pitchFamily="34" charset="-122"/>
              </a:rPr>
              <a:t>美国加利佛尼亚大学环境结构中心研究所所长</a:t>
            </a:r>
            <a:r>
              <a:rPr lang="en-US" altLang="zh-CN" sz="2400" dirty="0">
                <a:solidFill>
                  <a:srgbClr val="414455"/>
                </a:solidFill>
                <a:latin typeface="微软雅黑" panose="020B0503020204020204" pitchFamily="34" charset="-122"/>
                <a:ea typeface="微软雅黑" panose="020B0503020204020204" pitchFamily="34" charset="-122"/>
              </a:rPr>
              <a:t>Christopher Alexander</a:t>
            </a:r>
            <a:r>
              <a:rPr lang="zh-CN" altLang="en-US" sz="2400" dirty="0">
                <a:solidFill>
                  <a:srgbClr val="414455"/>
                </a:solidFill>
                <a:latin typeface="微软雅黑" panose="020B0503020204020204" pitchFamily="34" charset="-122"/>
                <a:ea typeface="微软雅黑" panose="020B0503020204020204" pitchFamily="34" charset="-122"/>
              </a:rPr>
              <a:t>博士</a:t>
            </a:r>
            <a:endParaRPr lang="zh-CN" altLang="en-US" sz="2400" dirty="0">
              <a:solidFill>
                <a:srgbClr val="414455"/>
              </a:solidFill>
              <a:latin typeface="微软雅黑" panose="020B0503020204020204" pitchFamily="34" charset="-122"/>
              <a:ea typeface="微软雅黑" panose="020B0503020204020204" pitchFamily="34" charset="-122"/>
            </a:endParaRPr>
          </a:p>
          <a:p>
            <a:pPr marL="342900" indent="-342900" algn="just">
              <a:lnSpc>
                <a:spcPct val="130000"/>
              </a:lnSpc>
              <a:buFont typeface="Wingdings" panose="05000000000000000000" pitchFamily="2" charset="2"/>
              <a:buChar char="Ø"/>
            </a:pPr>
            <a:r>
              <a:rPr lang="en-US" altLang="zh-CN" sz="2400" dirty="0">
                <a:solidFill>
                  <a:srgbClr val="414455"/>
                </a:solidFill>
                <a:latin typeface="微软雅黑" panose="020B0503020204020204" pitchFamily="34" charset="-122"/>
                <a:ea typeface="微软雅黑" panose="020B0503020204020204" pitchFamily="34" charset="-122"/>
              </a:rPr>
              <a:t>《A Pattern Language: Towns, Buildings, Construction》——253</a:t>
            </a:r>
            <a:r>
              <a:rPr lang="zh-CN" altLang="en-US" sz="2400" dirty="0">
                <a:solidFill>
                  <a:srgbClr val="414455"/>
                </a:solidFill>
                <a:latin typeface="微软雅黑" panose="020B0503020204020204" pitchFamily="34" charset="-122"/>
                <a:ea typeface="微软雅黑" panose="020B0503020204020204" pitchFamily="34" charset="-122"/>
              </a:rPr>
              <a:t>个建筑和城市规划模式</a:t>
            </a:r>
            <a:endParaRPr lang="zh-CN" altLang="en-US" sz="2400" dirty="0">
              <a:solidFill>
                <a:srgbClr val="414455"/>
              </a:solidFill>
              <a:latin typeface="微软雅黑" panose="020B0503020204020204" pitchFamily="34" charset="-122"/>
              <a:ea typeface="微软雅黑" panose="020B0503020204020204" pitchFamily="34" charset="-122"/>
            </a:endParaRPr>
          </a:p>
          <a:p>
            <a:pPr marL="342900" indent="-342900" algn="just">
              <a:lnSpc>
                <a:spcPct val="130000"/>
              </a:lnSpc>
              <a:buFont typeface="Wingdings" panose="05000000000000000000" pitchFamily="2" charset="2"/>
              <a:buChar char="Ø"/>
            </a:pPr>
            <a:r>
              <a:rPr lang="zh-CN" altLang="en-US" sz="2400" dirty="0">
                <a:solidFill>
                  <a:srgbClr val="414455"/>
                </a:solidFill>
                <a:latin typeface="微软雅黑" panose="020B0503020204020204" pitchFamily="34" charset="-122"/>
                <a:ea typeface="微软雅黑" panose="020B0503020204020204" pitchFamily="34" charset="-122"/>
              </a:rPr>
              <a:t>模式</a:t>
            </a:r>
            <a:endParaRPr lang="zh-CN" altLang="en-US" sz="2400" dirty="0">
              <a:solidFill>
                <a:srgbClr val="414455"/>
              </a:solidFill>
              <a:latin typeface="微软雅黑" panose="020B0503020204020204" pitchFamily="34" charset="-122"/>
              <a:ea typeface="微软雅黑" panose="020B0503020204020204" pitchFamily="34" charset="-122"/>
            </a:endParaRPr>
          </a:p>
          <a:p>
            <a:pPr marL="1085850" lvl="1" indent="-342900" algn="just">
              <a:lnSpc>
                <a:spcPct val="130000"/>
              </a:lnSpc>
              <a:buFont typeface="Wingdings" panose="05000000000000000000" pitchFamily="2" charset="2"/>
              <a:buChar char="Ø"/>
            </a:pPr>
            <a:r>
              <a:rPr lang="en-US" altLang="zh-CN" sz="2400" b="1" dirty="0">
                <a:solidFill>
                  <a:srgbClr val="FF0000"/>
                </a:solidFill>
                <a:latin typeface="微软雅黑" panose="020B0503020204020204" pitchFamily="34" charset="-122"/>
                <a:ea typeface="微软雅黑" panose="020B0503020204020204" pitchFamily="34" charset="-122"/>
              </a:rPr>
              <a:t>Context</a:t>
            </a:r>
            <a:r>
              <a:rPr lang="zh-CN" altLang="en-US" sz="2400" dirty="0">
                <a:solidFill>
                  <a:srgbClr val="414455"/>
                </a:solidFill>
                <a:latin typeface="微软雅黑" panose="020B0503020204020204" pitchFamily="34" charset="-122"/>
                <a:ea typeface="微软雅黑" panose="020B0503020204020204" pitchFamily="34" charset="-122"/>
              </a:rPr>
              <a:t>（模式可适用的前提条件）</a:t>
            </a:r>
            <a:endParaRPr lang="zh-CN" altLang="en-US" sz="2400" dirty="0">
              <a:solidFill>
                <a:srgbClr val="414455"/>
              </a:solidFill>
              <a:latin typeface="微软雅黑" panose="020B0503020204020204" pitchFamily="34" charset="-122"/>
              <a:ea typeface="微软雅黑" panose="020B0503020204020204" pitchFamily="34" charset="-122"/>
            </a:endParaRPr>
          </a:p>
          <a:p>
            <a:pPr marL="1085850" lvl="1" indent="-342900" algn="just">
              <a:lnSpc>
                <a:spcPct val="130000"/>
              </a:lnSpc>
              <a:buFont typeface="Wingdings" panose="05000000000000000000" pitchFamily="2" charset="2"/>
              <a:buChar char="Ø"/>
            </a:pPr>
            <a:r>
              <a:rPr lang="en-US" altLang="zh-CN" sz="2400" b="1" dirty="0">
                <a:solidFill>
                  <a:srgbClr val="FF0000"/>
                </a:solidFill>
                <a:latin typeface="微软雅黑" panose="020B0503020204020204" pitchFamily="34" charset="-122"/>
                <a:ea typeface="微软雅黑" panose="020B0503020204020204" pitchFamily="34" charset="-122"/>
              </a:rPr>
              <a:t>Theme</a:t>
            </a:r>
            <a:r>
              <a:rPr lang="zh-CN" altLang="en-US" sz="2400" b="1" dirty="0">
                <a:solidFill>
                  <a:srgbClr val="FF0000"/>
                </a:solidFill>
                <a:latin typeface="微软雅黑" panose="020B0503020204020204" pitchFamily="34" charset="-122"/>
                <a:ea typeface="微软雅黑" panose="020B0503020204020204" pitchFamily="34" charset="-122"/>
              </a:rPr>
              <a:t>或</a:t>
            </a:r>
            <a:r>
              <a:rPr lang="en-US" altLang="zh-CN" sz="2400" b="1" dirty="0">
                <a:solidFill>
                  <a:srgbClr val="FF0000"/>
                </a:solidFill>
                <a:latin typeface="微软雅黑" panose="020B0503020204020204" pitchFamily="34" charset="-122"/>
                <a:ea typeface="微软雅黑" panose="020B0503020204020204" pitchFamily="34" charset="-122"/>
              </a:rPr>
              <a:t>Problem</a:t>
            </a:r>
            <a:r>
              <a:rPr lang="zh-CN" altLang="en-US" sz="2400" dirty="0">
                <a:solidFill>
                  <a:srgbClr val="414455"/>
                </a:solidFill>
                <a:latin typeface="微软雅黑" panose="020B0503020204020204" pitchFamily="34" charset="-122"/>
                <a:ea typeface="微软雅黑" panose="020B0503020204020204" pitchFamily="34" charset="-122"/>
              </a:rPr>
              <a:t>（在特定条件下要解决的目标问题）</a:t>
            </a:r>
            <a:endParaRPr lang="zh-CN" altLang="en-US" sz="2400" dirty="0">
              <a:solidFill>
                <a:srgbClr val="414455"/>
              </a:solidFill>
              <a:latin typeface="微软雅黑" panose="020B0503020204020204" pitchFamily="34" charset="-122"/>
              <a:ea typeface="微软雅黑" panose="020B0503020204020204" pitchFamily="34" charset="-122"/>
            </a:endParaRPr>
          </a:p>
          <a:p>
            <a:pPr marL="1085850" lvl="1" indent="-342900" algn="just">
              <a:lnSpc>
                <a:spcPct val="130000"/>
              </a:lnSpc>
              <a:buFont typeface="Wingdings" panose="05000000000000000000" pitchFamily="2" charset="2"/>
              <a:buChar char="Ø"/>
            </a:pPr>
            <a:r>
              <a:rPr lang="en-US" altLang="zh-CN" sz="2400" b="1" dirty="0">
                <a:solidFill>
                  <a:srgbClr val="FF0000"/>
                </a:solidFill>
                <a:latin typeface="微软雅黑" panose="020B0503020204020204" pitchFamily="34" charset="-122"/>
                <a:ea typeface="微软雅黑" panose="020B0503020204020204" pitchFamily="34" charset="-122"/>
              </a:rPr>
              <a:t>Solution</a:t>
            </a:r>
            <a:r>
              <a:rPr lang="zh-CN" altLang="en-US" sz="2400" dirty="0">
                <a:solidFill>
                  <a:srgbClr val="414455"/>
                </a:solidFill>
                <a:latin typeface="微软雅黑" panose="020B0503020204020204" pitchFamily="34" charset="-122"/>
                <a:ea typeface="微软雅黑" panose="020B0503020204020204" pitchFamily="34" charset="-122"/>
              </a:rPr>
              <a:t>（对目标问题求解过程中各种物理关系的记述）</a:t>
            </a:r>
            <a:endParaRPr lang="zh-CN" altLang="en-US" sz="2400" dirty="0">
              <a:solidFill>
                <a:srgbClr val="414455"/>
              </a:solidFill>
              <a:latin typeface="微软雅黑" panose="020B0503020204020204" pitchFamily="34" charset="-122"/>
              <a:ea typeface="微软雅黑" panose="020B0503020204020204" pitchFamily="34" charset="-122"/>
            </a:endParaRPr>
          </a:p>
        </p:txBody>
      </p:sp>
      <p:cxnSp>
        <p:nvCxnSpPr>
          <p:cNvPr id="50" name="Straight Connector 59"/>
          <p:cNvCxnSpPr/>
          <p:nvPr/>
        </p:nvCxnSpPr>
        <p:spPr>
          <a:xfrm flipV="1">
            <a:off x="2930823" y="1053530"/>
            <a:ext cx="0" cy="5472608"/>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17" name="文本框 2"/>
          <p:cNvSpPr txBox="1"/>
          <p:nvPr/>
        </p:nvSpPr>
        <p:spPr>
          <a:xfrm>
            <a:off x="2059964" y="170270"/>
            <a:ext cx="9295547"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3.</a:t>
            </a:r>
            <a:r>
              <a:rPr lang="zh-CN" altLang="en-US" sz="2800" b="1" dirty="0">
                <a:solidFill>
                  <a:schemeClr val="accent1"/>
                </a:solidFill>
                <a:latin typeface="微软雅黑" panose="020B0503020204020204" pitchFamily="34" charset="-122"/>
                <a:ea typeface="微软雅黑" panose="020B0503020204020204" pitchFamily="34" charset="-122"/>
              </a:rPr>
              <a:t>模式诞生和起源</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8435" y="1150781"/>
            <a:ext cx="2162348" cy="26390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551" y="3933850"/>
            <a:ext cx="2144143"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advTm="0">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Placeholder 8"/>
          <p:cNvSpPr txBox="1"/>
          <p:nvPr/>
        </p:nvSpPr>
        <p:spPr>
          <a:xfrm>
            <a:off x="2930823" y="1341562"/>
            <a:ext cx="8928992" cy="2376264"/>
          </a:xfrm>
          <a:prstGeom prst="rect">
            <a:avLst/>
          </a:prstGeom>
        </p:spPr>
        <p:txBody>
          <a:bodyPr vert="horz"/>
          <a:lstStyle>
            <a:lvl1pPr marL="0" indent="0" algn="l" defTabSz="457200" rtl="0" eaLnBrk="1" latinLnBrk="0" hangingPunct="1">
              <a:lnSpc>
                <a:spcPct val="120000"/>
              </a:lnSpc>
              <a:spcBef>
                <a:spcPct val="20000"/>
              </a:spcBef>
              <a:buFont typeface="Arial" panose="020B0604020202020204"/>
              <a:buNone/>
              <a:defRPr sz="800" kern="1200" baseline="0">
                <a:solidFill>
                  <a:schemeClr val="bg1">
                    <a:lumMod val="50000"/>
                  </a:schemeClr>
                </a:solidFill>
                <a:latin typeface="Roboto condensed"/>
                <a:ea typeface="+mn-ea"/>
                <a:cs typeface="Roboto condensed"/>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342900" indent="-342900" algn="just">
              <a:lnSpc>
                <a:spcPct val="130000"/>
              </a:lnSpc>
              <a:buFont typeface="Wingdings" panose="05000000000000000000" pitchFamily="2" charset="2"/>
              <a:buChar char="Ø"/>
            </a:pPr>
            <a:r>
              <a:rPr lang="en-US" altLang="zh-CN" sz="2400" dirty="0">
                <a:solidFill>
                  <a:srgbClr val="414455"/>
                </a:solidFill>
                <a:latin typeface="微软雅黑" panose="020B0503020204020204" pitchFamily="34" charset="-122"/>
                <a:ea typeface="微软雅黑" panose="020B0503020204020204" pitchFamily="34" charset="-122"/>
              </a:rPr>
              <a:t>Alexander</a:t>
            </a:r>
            <a:r>
              <a:rPr lang="zh-CN" altLang="en-US" sz="2400" dirty="0">
                <a:solidFill>
                  <a:srgbClr val="414455"/>
                </a:solidFill>
                <a:latin typeface="微软雅黑" panose="020B0503020204020204" pitchFamily="34" charset="-122"/>
                <a:ea typeface="微软雅黑" panose="020B0503020204020204" pitchFamily="34" charset="-122"/>
              </a:rPr>
              <a:t>给出了关于模式的经典定义：</a:t>
            </a:r>
            <a:endParaRPr lang="zh-CN" altLang="en-US" sz="2400" dirty="0">
              <a:solidFill>
                <a:srgbClr val="414455"/>
              </a:solidFill>
              <a:latin typeface="微软雅黑" panose="020B0503020204020204" pitchFamily="34" charset="-122"/>
              <a:ea typeface="微软雅黑" panose="020B0503020204020204" pitchFamily="34" charset="-122"/>
            </a:endParaRPr>
          </a:p>
          <a:p>
            <a:pPr marL="342900" indent="-342900" algn="just">
              <a:lnSpc>
                <a:spcPct val="130000"/>
              </a:lnSpc>
              <a:buFont typeface="Wingdings" panose="05000000000000000000" pitchFamily="2" charset="2"/>
              <a:buChar char="Ø"/>
            </a:pPr>
            <a:r>
              <a:rPr lang="zh-CN" altLang="en-US" sz="2400" dirty="0">
                <a:solidFill>
                  <a:srgbClr val="414455"/>
                </a:solidFill>
                <a:latin typeface="微软雅黑" panose="020B0503020204020204" pitchFamily="34" charset="-122"/>
                <a:ea typeface="微软雅黑" panose="020B0503020204020204" pitchFamily="34" charset="-122"/>
              </a:rPr>
              <a:t>每个模式都描述了一个</a:t>
            </a:r>
            <a:r>
              <a:rPr lang="zh-CN" altLang="en-US" sz="2400" dirty="0">
                <a:solidFill>
                  <a:srgbClr val="FF0000"/>
                </a:solidFill>
                <a:latin typeface="微软雅黑" panose="020B0503020204020204" pitchFamily="34" charset="-122"/>
                <a:ea typeface="微软雅黑" panose="020B0503020204020204" pitchFamily="34" charset="-122"/>
              </a:rPr>
              <a:t>在我们的环境中不断出现的问题</a:t>
            </a:r>
            <a:r>
              <a:rPr lang="zh-CN" altLang="en-US" sz="2400" dirty="0">
                <a:solidFill>
                  <a:srgbClr val="414455"/>
                </a:solidFill>
                <a:latin typeface="微软雅黑" panose="020B0503020204020204" pitchFamily="34" charset="-122"/>
                <a:ea typeface="微软雅黑" panose="020B0503020204020204" pitchFamily="34" charset="-122"/>
              </a:rPr>
              <a:t>，然后描述了该问题的</a:t>
            </a:r>
            <a:r>
              <a:rPr lang="zh-CN" altLang="en-US" sz="2400" dirty="0">
                <a:solidFill>
                  <a:srgbClr val="FF0000"/>
                </a:solidFill>
                <a:latin typeface="微软雅黑" panose="020B0503020204020204" pitchFamily="34" charset="-122"/>
                <a:ea typeface="微软雅黑" panose="020B0503020204020204" pitchFamily="34" charset="-122"/>
              </a:rPr>
              <a:t>解决方案的核心</a:t>
            </a:r>
            <a:r>
              <a:rPr lang="zh-CN" altLang="en-US" sz="2400" dirty="0">
                <a:solidFill>
                  <a:srgbClr val="414455"/>
                </a:solidFill>
                <a:latin typeface="微软雅黑" panose="020B0503020204020204" pitchFamily="34" charset="-122"/>
                <a:ea typeface="微软雅黑" panose="020B0503020204020204" pitchFamily="34" charset="-122"/>
              </a:rPr>
              <a:t>，通过这种方式，人们可以无数次地</a:t>
            </a:r>
            <a:r>
              <a:rPr lang="zh-CN" altLang="en-US" sz="2400" dirty="0">
                <a:solidFill>
                  <a:srgbClr val="FF0000"/>
                </a:solidFill>
                <a:latin typeface="微软雅黑" panose="020B0503020204020204" pitchFamily="34" charset="-122"/>
                <a:ea typeface="微软雅黑" panose="020B0503020204020204" pitchFamily="34" charset="-122"/>
              </a:rPr>
              <a:t>重用那些已有的解决方案</a:t>
            </a:r>
            <a:r>
              <a:rPr lang="zh-CN" altLang="en-US" sz="2400" dirty="0">
                <a:solidFill>
                  <a:srgbClr val="414455"/>
                </a:solidFill>
                <a:latin typeface="微软雅黑" panose="020B0503020204020204" pitchFamily="34" charset="-122"/>
                <a:ea typeface="微软雅黑" panose="020B0503020204020204" pitchFamily="34" charset="-122"/>
              </a:rPr>
              <a:t>，无须再重复相同的工作</a:t>
            </a:r>
            <a:endParaRPr lang="zh-CN" altLang="en-US" sz="2400" dirty="0">
              <a:solidFill>
                <a:srgbClr val="414455"/>
              </a:solidFill>
              <a:latin typeface="微软雅黑" panose="020B0503020204020204" pitchFamily="34" charset="-122"/>
              <a:ea typeface="微软雅黑" panose="020B0503020204020204" pitchFamily="34" charset="-122"/>
            </a:endParaRPr>
          </a:p>
        </p:txBody>
      </p:sp>
      <p:cxnSp>
        <p:nvCxnSpPr>
          <p:cNvPr id="50" name="Straight Connector 59"/>
          <p:cNvCxnSpPr/>
          <p:nvPr/>
        </p:nvCxnSpPr>
        <p:spPr>
          <a:xfrm flipV="1">
            <a:off x="2930823" y="1090836"/>
            <a:ext cx="0" cy="3131046"/>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17" name="文本框 2"/>
          <p:cNvSpPr txBox="1"/>
          <p:nvPr/>
        </p:nvSpPr>
        <p:spPr>
          <a:xfrm>
            <a:off x="2059964" y="170270"/>
            <a:ext cx="9295547"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3.</a:t>
            </a:r>
            <a:r>
              <a:rPr lang="zh-CN" altLang="en-US" sz="2800" b="1" dirty="0">
                <a:solidFill>
                  <a:schemeClr val="accent1"/>
                </a:solidFill>
                <a:latin typeface="微软雅黑" panose="020B0503020204020204" pitchFamily="34" charset="-122"/>
                <a:ea typeface="微软雅黑" panose="020B0503020204020204" pitchFamily="34" charset="-122"/>
              </a:rPr>
              <a:t>模式诞生和起源</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4559" y="1269554"/>
            <a:ext cx="2063054" cy="3157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表格 6"/>
          <p:cNvGraphicFramePr>
            <a:graphicFrameLocks noGrp="1"/>
          </p:cNvGraphicFramePr>
          <p:nvPr/>
        </p:nvGraphicFramePr>
        <p:xfrm>
          <a:off x="906016" y="4581922"/>
          <a:ext cx="10449495" cy="1944216"/>
        </p:xfrm>
        <a:graphic>
          <a:graphicData uri="http://schemas.openxmlformats.org/drawingml/2006/table">
            <a:tbl>
              <a:tblPr/>
              <a:tblGrid>
                <a:gridCol w="10449495"/>
              </a:tblGrid>
              <a:tr h="1944216">
                <a:tc>
                  <a:txBody>
                    <a:bodyPr/>
                    <a:lstStyle/>
                    <a:p>
                      <a:pPr algn="just">
                        <a:spcAft>
                          <a:spcPts val="0"/>
                        </a:spcAft>
                      </a:pPr>
                      <a:r>
                        <a:rPr lang="en-US" altLang="zh-CN" sz="2800" b="1" kern="100" dirty="0">
                          <a:latin typeface="Times New Roman" panose="02020603050405020304"/>
                          <a:ea typeface="宋体" panose="02010600030101010101" pitchFamily="2" charset="-122"/>
                          <a:cs typeface="Times New Roman" panose="02020603050405020304"/>
                        </a:rPr>
                        <a:t>    </a:t>
                      </a:r>
                      <a:r>
                        <a:rPr lang="zh-CN" sz="2800" b="1" kern="100" dirty="0">
                          <a:latin typeface="Times New Roman" panose="02020603050405020304"/>
                          <a:ea typeface="宋体" panose="02010600030101010101" pitchFamily="2" charset="-122"/>
                          <a:cs typeface="Times New Roman" panose="02020603050405020304"/>
                        </a:rPr>
                        <a:t>模式是</a:t>
                      </a:r>
                      <a:r>
                        <a:rPr lang="zh-CN" sz="2800" b="1" kern="100" dirty="0">
                          <a:solidFill>
                            <a:srgbClr val="FF3300"/>
                          </a:solidFill>
                          <a:latin typeface="Times New Roman" panose="02020603050405020304"/>
                          <a:ea typeface="宋体" panose="02010600030101010101" pitchFamily="2" charset="-122"/>
                          <a:cs typeface="Times New Roman" panose="02020603050405020304"/>
                        </a:rPr>
                        <a:t>在特定环境下</a:t>
                      </a:r>
                      <a:r>
                        <a:rPr lang="zh-CN" sz="2800" b="1" kern="100" dirty="0">
                          <a:latin typeface="Times New Roman" panose="02020603050405020304"/>
                          <a:ea typeface="宋体" panose="02010600030101010101" pitchFamily="2" charset="-122"/>
                          <a:cs typeface="Times New Roman" panose="02020603050405020304"/>
                        </a:rPr>
                        <a:t>人们解决某类重复出现</a:t>
                      </a:r>
                      <a:r>
                        <a:rPr lang="zh-CN" sz="2800" b="1" kern="100" dirty="0">
                          <a:solidFill>
                            <a:srgbClr val="FF3300"/>
                          </a:solidFill>
                          <a:latin typeface="Times New Roman" panose="02020603050405020304"/>
                          <a:ea typeface="宋体" panose="02010600030101010101" pitchFamily="2" charset="-122"/>
                          <a:cs typeface="Times New Roman" panose="02020603050405020304"/>
                        </a:rPr>
                        <a:t>问题</a:t>
                      </a:r>
                      <a:r>
                        <a:rPr lang="zh-CN" sz="2800" b="1" kern="100" dirty="0">
                          <a:latin typeface="Times New Roman" panose="02020603050405020304"/>
                          <a:ea typeface="宋体" panose="02010600030101010101" pitchFamily="2" charset="-122"/>
                          <a:cs typeface="Times New Roman" panose="02020603050405020304"/>
                        </a:rPr>
                        <a:t>的一套成功或有效的</a:t>
                      </a:r>
                      <a:r>
                        <a:rPr lang="zh-CN" sz="2800" b="1" kern="100" dirty="0">
                          <a:solidFill>
                            <a:srgbClr val="FF3300"/>
                          </a:solidFill>
                          <a:latin typeface="Times New Roman" panose="02020603050405020304"/>
                          <a:ea typeface="宋体" panose="02010600030101010101" pitchFamily="2" charset="-122"/>
                          <a:cs typeface="Times New Roman" panose="02020603050405020304"/>
                        </a:rPr>
                        <a:t>解决方案</a:t>
                      </a:r>
                      <a:r>
                        <a:rPr lang="zh-CN" sz="2800" b="1" kern="100" dirty="0">
                          <a:latin typeface="Times New Roman" panose="02020603050405020304"/>
                          <a:ea typeface="宋体" panose="02010600030101010101" pitchFamily="2" charset="-122"/>
                          <a:cs typeface="Times New Roman" panose="02020603050405020304"/>
                        </a:rPr>
                        <a:t>。</a:t>
                      </a:r>
                      <a:endParaRPr lang="zh-CN" sz="2800" b="1" kern="100" dirty="0">
                        <a:latin typeface="Times New Roman" panose="02020603050405020304"/>
                        <a:ea typeface="宋体" panose="02010600030101010101" pitchFamily="2" charset="-122"/>
                        <a:cs typeface="Times New Roman" panose="02020603050405020304"/>
                      </a:endParaRPr>
                    </a:p>
                    <a:p>
                      <a:pPr algn="just">
                        <a:spcAft>
                          <a:spcPts val="0"/>
                        </a:spcAft>
                      </a:pPr>
                      <a:r>
                        <a:rPr lang="en-US" sz="2800" b="1" kern="100" dirty="0">
                          <a:latin typeface="Times New Roman" panose="02020603050405020304"/>
                          <a:ea typeface="宋体" panose="02010600030101010101" pitchFamily="2" charset="-122"/>
                          <a:cs typeface="Times New Roman" panose="02020603050405020304"/>
                        </a:rPr>
                        <a:t>    A pattern is a successful or efficient </a:t>
                      </a:r>
                      <a:r>
                        <a:rPr lang="en-US" sz="2800" b="1" kern="100" dirty="0">
                          <a:solidFill>
                            <a:srgbClr val="FF3300"/>
                          </a:solidFill>
                          <a:latin typeface="Times New Roman" panose="02020603050405020304"/>
                          <a:ea typeface="宋体" panose="02010600030101010101" pitchFamily="2" charset="-122"/>
                          <a:cs typeface="Times New Roman" panose="02020603050405020304"/>
                        </a:rPr>
                        <a:t>solution</a:t>
                      </a:r>
                      <a:r>
                        <a:rPr lang="en-US" sz="2800" b="1" kern="100" dirty="0">
                          <a:latin typeface="Times New Roman" panose="02020603050405020304"/>
                          <a:ea typeface="宋体" panose="02010600030101010101" pitchFamily="2" charset="-122"/>
                          <a:cs typeface="Times New Roman" panose="02020603050405020304"/>
                        </a:rPr>
                        <a:t> to a recurring </a:t>
                      </a:r>
                      <a:r>
                        <a:rPr lang="en-US" sz="2800" b="1" kern="100" dirty="0">
                          <a:solidFill>
                            <a:srgbClr val="FF3300"/>
                          </a:solidFill>
                          <a:latin typeface="Times New Roman" panose="02020603050405020304"/>
                          <a:ea typeface="宋体" panose="02010600030101010101" pitchFamily="2" charset="-122"/>
                          <a:cs typeface="Times New Roman" panose="02020603050405020304"/>
                        </a:rPr>
                        <a:t>problem</a:t>
                      </a:r>
                      <a:r>
                        <a:rPr lang="en-US" sz="2800" b="1" kern="100" dirty="0">
                          <a:latin typeface="Times New Roman" panose="02020603050405020304"/>
                          <a:ea typeface="宋体" panose="02010600030101010101" pitchFamily="2" charset="-122"/>
                          <a:cs typeface="Times New Roman" panose="02020603050405020304"/>
                        </a:rPr>
                        <a:t> within a </a:t>
                      </a:r>
                      <a:r>
                        <a:rPr lang="en-US" sz="2800" b="1" kern="100" dirty="0">
                          <a:solidFill>
                            <a:srgbClr val="FF3300"/>
                          </a:solidFill>
                          <a:latin typeface="Times New Roman" panose="02020603050405020304"/>
                          <a:ea typeface="宋体" panose="02010600030101010101" pitchFamily="2" charset="-122"/>
                          <a:cs typeface="Times New Roman" panose="02020603050405020304"/>
                        </a:rPr>
                        <a:t>context</a:t>
                      </a:r>
                      <a:r>
                        <a:rPr lang="en-US" sz="2800" b="1" kern="100" dirty="0">
                          <a:latin typeface="Times New Roman" panose="02020603050405020304"/>
                          <a:ea typeface="宋体" panose="02010600030101010101" pitchFamily="2" charset="-122"/>
                          <a:cs typeface="Times New Roman" panose="02020603050405020304"/>
                        </a:rPr>
                        <a:t>.</a:t>
                      </a:r>
                      <a:endParaRPr lang="zh-CN" sz="2800" b="1"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bl>
          </a:graphicData>
        </a:graphic>
      </p:graphicFrame>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Placeholder 8"/>
          <p:cNvSpPr txBox="1"/>
          <p:nvPr/>
        </p:nvSpPr>
        <p:spPr>
          <a:xfrm>
            <a:off x="482551" y="1464054"/>
            <a:ext cx="3384376" cy="3405900"/>
          </a:xfrm>
          <a:prstGeom prst="rect">
            <a:avLst/>
          </a:prstGeom>
        </p:spPr>
        <p:txBody>
          <a:bodyPr vert="horz"/>
          <a:lstStyle>
            <a:lvl1pPr marL="0" indent="0" algn="l" defTabSz="457200" rtl="0" eaLnBrk="1" latinLnBrk="0" hangingPunct="1">
              <a:lnSpc>
                <a:spcPct val="120000"/>
              </a:lnSpc>
              <a:spcBef>
                <a:spcPct val="20000"/>
              </a:spcBef>
              <a:buFont typeface="Arial" panose="020B0604020202020204"/>
              <a:buNone/>
              <a:defRPr sz="800" kern="1200" baseline="0">
                <a:solidFill>
                  <a:schemeClr val="bg1">
                    <a:lumMod val="50000"/>
                  </a:schemeClr>
                </a:solidFill>
                <a:latin typeface="Roboto condensed"/>
                <a:ea typeface="+mn-ea"/>
                <a:cs typeface="Roboto condensed"/>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342900" indent="-342900" algn="just">
              <a:lnSpc>
                <a:spcPct val="130000"/>
              </a:lnSpc>
              <a:buFont typeface="Wingdings" panose="05000000000000000000" pitchFamily="2" charset="2"/>
              <a:buChar char="Ø"/>
            </a:pPr>
            <a:r>
              <a:rPr lang="zh-CN" altLang="en-US" sz="2400" b="1" dirty="0">
                <a:solidFill>
                  <a:srgbClr val="414455"/>
                </a:solidFill>
                <a:latin typeface="微软雅黑" panose="020B0503020204020204" pitchFamily="34" charset="-122"/>
                <a:ea typeface="微软雅黑" panose="020B0503020204020204" pitchFamily="34" charset="-122"/>
              </a:rPr>
              <a:t>模式（</a:t>
            </a:r>
            <a:r>
              <a:rPr lang="en-US" altLang="zh-CN" sz="2400" b="1" dirty="0">
                <a:solidFill>
                  <a:srgbClr val="414455"/>
                </a:solidFill>
                <a:latin typeface="微软雅黑" panose="020B0503020204020204" pitchFamily="34" charset="-122"/>
                <a:ea typeface="微软雅黑" panose="020B0503020204020204" pitchFamily="34" charset="-122"/>
              </a:rPr>
              <a:t>Pattern</a:t>
            </a:r>
            <a:r>
              <a:rPr lang="zh-CN" altLang="en-US" sz="2400" b="1" dirty="0">
                <a:solidFill>
                  <a:srgbClr val="414455"/>
                </a:solidFill>
                <a:latin typeface="微软雅黑" panose="020B0503020204020204" pitchFamily="34" charset="-122"/>
                <a:ea typeface="微软雅黑" panose="020B0503020204020204" pitchFamily="34" charset="-122"/>
              </a:rPr>
              <a:t>）</a:t>
            </a:r>
            <a:r>
              <a:rPr lang="zh-CN" altLang="en-US" sz="2400" dirty="0">
                <a:solidFill>
                  <a:srgbClr val="414455"/>
                </a:solidFill>
                <a:latin typeface="微软雅黑" panose="020B0503020204020204" pitchFamily="34" charset="-122"/>
                <a:ea typeface="微软雅黑" panose="020B0503020204020204" pitchFamily="34" charset="-122"/>
              </a:rPr>
              <a:t>：每个模式都描述了在环境中反复出现的（某类）问题，并以一种适当的方式描述该问题的核心解决方案，以使该方案可以千百遍地被重复使用。</a:t>
            </a:r>
            <a:endParaRPr lang="zh-CN" altLang="en-US" sz="2400" dirty="0">
              <a:solidFill>
                <a:srgbClr val="414455"/>
              </a:solidFill>
              <a:latin typeface="微软雅黑" panose="020B0503020204020204" pitchFamily="34" charset="-122"/>
              <a:ea typeface="微软雅黑" panose="020B0503020204020204" pitchFamily="34" charset="-122"/>
            </a:endParaRPr>
          </a:p>
          <a:p>
            <a:pPr marL="342900" indent="-342900" algn="just">
              <a:lnSpc>
                <a:spcPct val="130000"/>
              </a:lnSpc>
              <a:buFont typeface="Wingdings" panose="05000000000000000000" pitchFamily="2" charset="2"/>
              <a:buChar char="Ø"/>
            </a:pPr>
            <a:r>
              <a:rPr lang="zh-CN" altLang="en-US" sz="2400" b="1" dirty="0">
                <a:solidFill>
                  <a:srgbClr val="414455"/>
                </a:solidFill>
                <a:latin typeface="微软雅黑" panose="020B0503020204020204" pitchFamily="34" charset="-122"/>
                <a:ea typeface="微软雅黑" panose="020B0503020204020204" pitchFamily="34" charset="-122"/>
              </a:rPr>
              <a:t>模式的核心思想</a:t>
            </a:r>
            <a:r>
              <a:rPr lang="zh-CN" altLang="en-US" sz="2400" dirty="0">
                <a:solidFill>
                  <a:srgbClr val="414455"/>
                </a:solidFill>
                <a:latin typeface="微软雅黑" panose="020B0503020204020204" pitchFamily="34" charset="-122"/>
                <a:ea typeface="微软雅黑" panose="020B0503020204020204" pitchFamily="34" charset="-122"/>
              </a:rPr>
              <a:t>：设计复用</a:t>
            </a:r>
            <a:endParaRPr lang="zh-CN" altLang="en-US" sz="2400" dirty="0">
              <a:solidFill>
                <a:srgbClr val="414455"/>
              </a:solidFill>
              <a:latin typeface="微软雅黑" panose="020B0503020204020204" pitchFamily="34" charset="-122"/>
              <a:ea typeface="微软雅黑" panose="020B0503020204020204" pitchFamily="34" charset="-122"/>
            </a:endParaRPr>
          </a:p>
        </p:txBody>
      </p:sp>
      <p:cxnSp>
        <p:nvCxnSpPr>
          <p:cNvPr id="50" name="Straight Connector 59"/>
          <p:cNvCxnSpPr/>
          <p:nvPr/>
        </p:nvCxnSpPr>
        <p:spPr>
          <a:xfrm flipV="1">
            <a:off x="4005832" y="1472308"/>
            <a:ext cx="0" cy="4483417"/>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17" name="文本框 2"/>
          <p:cNvSpPr txBox="1"/>
          <p:nvPr/>
        </p:nvSpPr>
        <p:spPr>
          <a:xfrm>
            <a:off x="1667425" y="746334"/>
            <a:ext cx="9295547" cy="523220"/>
          </a:xfrm>
          <a:prstGeom prst="rect">
            <a:avLst/>
          </a:prstGeom>
          <a:noFill/>
        </p:spPr>
        <p:txBody>
          <a:bodyPr wrap="square" rtlCol="0">
            <a:spAutoFit/>
          </a:bodyPr>
          <a:lstStyle/>
          <a:p>
            <a:r>
              <a:rPr lang="zh-CN" altLang="en-US" sz="2800" b="1" dirty="0">
                <a:solidFill>
                  <a:schemeClr val="accent1"/>
                </a:solidFill>
                <a:latin typeface="微软雅黑" panose="020B0503020204020204" pitchFamily="34" charset="-122"/>
                <a:ea typeface="微软雅黑" panose="020B0503020204020204" pitchFamily="34" charset="-122"/>
              </a:rPr>
              <a:t>建筑物设计的例子</a:t>
            </a:r>
            <a:r>
              <a:rPr lang="en-US" altLang="zh-CN" sz="2800" b="1" dirty="0">
                <a:solidFill>
                  <a:schemeClr val="accent1"/>
                </a:solidFill>
                <a:latin typeface="微软雅黑" panose="020B0503020204020204" pitchFamily="34" charset="-122"/>
                <a:ea typeface="微软雅黑" panose="020B0503020204020204" pitchFamily="34" charset="-122"/>
              </a:rPr>
              <a:t>-1</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18" name="Picture 7" descr="20066213454028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79095" y="1226368"/>
            <a:ext cx="53530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3"/>
          <p:cNvSpPr txBox="1">
            <a:spLocks noChangeArrowheads="1"/>
          </p:cNvSpPr>
          <p:nvPr/>
        </p:nvSpPr>
        <p:spPr>
          <a:xfrm>
            <a:off x="6315199" y="5949950"/>
            <a:ext cx="5040312" cy="504825"/>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gn="ctr">
              <a:buFontTx/>
              <a:buNone/>
            </a:pPr>
            <a:r>
              <a:rPr lang="zh-CN" altLang="en-US" sz="2800" b="1">
                <a:ea typeface="黑体" panose="02010609060101010101" pitchFamily="2" charset="-122"/>
              </a:rPr>
              <a:t>欧式风格设计</a:t>
            </a:r>
            <a:endParaRPr lang="zh-CN" altLang="en-US" sz="2800" b="1" dirty="0">
              <a:ea typeface="黑体" panose="02010609060101010101" pitchFamily="2" charset="-122"/>
            </a:endParaRPr>
          </a:p>
        </p:txBody>
      </p:sp>
      <p:sp>
        <p:nvSpPr>
          <p:cNvPr id="7" name="文本框 2"/>
          <p:cNvSpPr txBox="1"/>
          <p:nvPr/>
        </p:nvSpPr>
        <p:spPr>
          <a:xfrm>
            <a:off x="2059964" y="170270"/>
            <a:ext cx="9295547"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3.</a:t>
            </a:r>
            <a:r>
              <a:rPr lang="zh-CN" altLang="en-US" sz="2800" b="1" dirty="0">
                <a:solidFill>
                  <a:schemeClr val="accent1"/>
                </a:solidFill>
                <a:latin typeface="微软雅黑" panose="020B0503020204020204" pitchFamily="34" charset="-122"/>
                <a:ea typeface="微软雅黑" panose="020B0503020204020204" pitchFamily="34" charset="-122"/>
              </a:rPr>
              <a:t>模式诞生和起源</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arn(inVertical)">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Placeholder 8"/>
          <p:cNvSpPr txBox="1"/>
          <p:nvPr/>
        </p:nvSpPr>
        <p:spPr>
          <a:xfrm>
            <a:off x="482551" y="1464054"/>
            <a:ext cx="3384376" cy="3405900"/>
          </a:xfrm>
          <a:prstGeom prst="rect">
            <a:avLst/>
          </a:prstGeom>
        </p:spPr>
        <p:txBody>
          <a:bodyPr vert="horz"/>
          <a:lstStyle>
            <a:lvl1pPr marL="0" indent="0" algn="l" defTabSz="457200" rtl="0" eaLnBrk="1" latinLnBrk="0" hangingPunct="1">
              <a:lnSpc>
                <a:spcPct val="120000"/>
              </a:lnSpc>
              <a:spcBef>
                <a:spcPct val="20000"/>
              </a:spcBef>
              <a:buFont typeface="Arial" panose="020B0604020202020204"/>
              <a:buNone/>
              <a:defRPr sz="800" kern="1200" baseline="0">
                <a:solidFill>
                  <a:schemeClr val="bg1">
                    <a:lumMod val="50000"/>
                  </a:schemeClr>
                </a:solidFill>
                <a:latin typeface="Roboto condensed"/>
                <a:ea typeface="+mn-ea"/>
                <a:cs typeface="Roboto condensed"/>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342900" indent="-342900" algn="just">
              <a:lnSpc>
                <a:spcPct val="130000"/>
              </a:lnSpc>
              <a:buFont typeface="Wingdings" panose="05000000000000000000" pitchFamily="2" charset="2"/>
              <a:buChar char="Ø"/>
            </a:pPr>
            <a:r>
              <a:rPr lang="zh-CN" altLang="en-US" sz="2400" b="1" dirty="0">
                <a:solidFill>
                  <a:srgbClr val="414455"/>
                </a:solidFill>
                <a:latin typeface="微软雅黑" panose="020B0503020204020204" pitchFamily="34" charset="-122"/>
                <a:ea typeface="微软雅黑" panose="020B0503020204020204" pitchFamily="34" charset="-122"/>
              </a:rPr>
              <a:t>模式（</a:t>
            </a:r>
            <a:r>
              <a:rPr lang="en-US" altLang="zh-CN" sz="2400" b="1" dirty="0">
                <a:solidFill>
                  <a:srgbClr val="414455"/>
                </a:solidFill>
                <a:latin typeface="微软雅黑" panose="020B0503020204020204" pitchFamily="34" charset="-122"/>
                <a:ea typeface="微软雅黑" panose="020B0503020204020204" pitchFamily="34" charset="-122"/>
              </a:rPr>
              <a:t>Pattern</a:t>
            </a:r>
            <a:r>
              <a:rPr lang="zh-CN" altLang="en-US" sz="2400" b="1" dirty="0">
                <a:solidFill>
                  <a:srgbClr val="414455"/>
                </a:solidFill>
                <a:latin typeface="微软雅黑" panose="020B0503020204020204" pitchFamily="34" charset="-122"/>
                <a:ea typeface="微软雅黑" panose="020B0503020204020204" pitchFamily="34" charset="-122"/>
              </a:rPr>
              <a:t>）</a:t>
            </a:r>
            <a:r>
              <a:rPr lang="zh-CN" altLang="en-US" sz="2400" dirty="0">
                <a:solidFill>
                  <a:srgbClr val="414455"/>
                </a:solidFill>
                <a:latin typeface="微软雅黑" panose="020B0503020204020204" pitchFamily="34" charset="-122"/>
                <a:ea typeface="微软雅黑" panose="020B0503020204020204" pitchFamily="34" charset="-122"/>
              </a:rPr>
              <a:t>：每个模式都描述了在环境中反复出现的（某类）问题，并以一种适当的方式描述该问题的核心解决方案，以使该方案可以千百遍地被重复使用。</a:t>
            </a:r>
            <a:endParaRPr lang="zh-CN" altLang="en-US" sz="2400" dirty="0">
              <a:solidFill>
                <a:srgbClr val="414455"/>
              </a:solidFill>
              <a:latin typeface="微软雅黑" panose="020B0503020204020204" pitchFamily="34" charset="-122"/>
              <a:ea typeface="微软雅黑" panose="020B0503020204020204" pitchFamily="34" charset="-122"/>
            </a:endParaRPr>
          </a:p>
          <a:p>
            <a:pPr marL="342900" indent="-342900" algn="just">
              <a:lnSpc>
                <a:spcPct val="130000"/>
              </a:lnSpc>
              <a:buFont typeface="Wingdings" panose="05000000000000000000" pitchFamily="2" charset="2"/>
              <a:buChar char="Ø"/>
            </a:pPr>
            <a:r>
              <a:rPr lang="zh-CN" altLang="en-US" sz="2400" b="1" dirty="0">
                <a:solidFill>
                  <a:srgbClr val="414455"/>
                </a:solidFill>
                <a:latin typeface="微软雅黑" panose="020B0503020204020204" pitchFamily="34" charset="-122"/>
                <a:ea typeface="微软雅黑" panose="020B0503020204020204" pitchFamily="34" charset="-122"/>
              </a:rPr>
              <a:t>模式的核心思想</a:t>
            </a:r>
            <a:r>
              <a:rPr lang="zh-CN" altLang="en-US" sz="2400" dirty="0">
                <a:solidFill>
                  <a:srgbClr val="414455"/>
                </a:solidFill>
                <a:latin typeface="微软雅黑" panose="020B0503020204020204" pitchFamily="34" charset="-122"/>
                <a:ea typeface="微软雅黑" panose="020B0503020204020204" pitchFamily="34" charset="-122"/>
              </a:rPr>
              <a:t>：设计复用</a:t>
            </a:r>
            <a:endParaRPr lang="zh-CN" altLang="en-US" sz="2400" dirty="0">
              <a:solidFill>
                <a:srgbClr val="414455"/>
              </a:solidFill>
              <a:latin typeface="微软雅黑" panose="020B0503020204020204" pitchFamily="34" charset="-122"/>
              <a:ea typeface="微软雅黑" panose="020B0503020204020204" pitchFamily="34" charset="-122"/>
            </a:endParaRPr>
          </a:p>
        </p:txBody>
      </p:sp>
      <p:cxnSp>
        <p:nvCxnSpPr>
          <p:cNvPr id="50" name="Straight Connector 59"/>
          <p:cNvCxnSpPr/>
          <p:nvPr/>
        </p:nvCxnSpPr>
        <p:spPr>
          <a:xfrm flipV="1">
            <a:off x="4005832" y="1472308"/>
            <a:ext cx="0" cy="4483417"/>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17" name="文本框 2"/>
          <p:cNvSpPr txBox="1"/>
          <p:nvPr/>
        </p:nvSpPr>
        <p:spPr>
          <a:xfrm>
            <a:off x="1274639" y="740668"/>
            <a:ext cx="3895195" cy="523220"/>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建筑物设计的例子</a:t>
            </a:r>
            <a:r>
              <a:rPr lang="en-US" altLang="zh-CN" sz="2800" b="1" dirty="0">
                <a:solidFill>
                  <a:schemeClr val="accent1"/>
                </a:solidFill>
                <a:latin typeface="微软雅黑" panose="020B0503020204020204" pitchFamily="34" charset="-122"/>
                <a:ea typeface="微软雅黑" panose="020B0503020204020204" pitchFamily="34" charset="-122"/>
              </a:rPr>
              <a:t>-2</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6" name="Picture 5" descr="200822392736166_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47047" y="1472308"/>
            <a:ext cx="5715000"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txBox="1">
            <a:spLocks noRot="1" noChangeArrowheads="1"/>
          </p:cNvSpPr>
          <p:nvPr/>
        </p:nvSpPr>
        <p:spPr>
          <a:xfrm>
            <a:off x="5883398" y="5876925"/>
            <a:ext cx="5040313" cy="650875"/>
          </a:xfrm>
          <a:prstGeom prst="rect">
            <a:avLst/>
          </a:prstGeom>
          <a:noFill/>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gn="ctr">
              <a:buFontTx/>
              <a:buNone/>
            </a:pPr>
            <a:r>
              <a:rPr lang="zh-CN" altLang="en-US" sz="2800" b="1"/>
              <a:t>经典的欧式风格</a:t>
            </a:r>
            <a:endParaRPr lang="zh-CN" altLang="en-US" sz="2800" b="1" dirty="0"/>
          </a:p>
        </p:txBody>
      </p:sp>
      <p:sp>
        <p:nvSpPr>
          <p:cNvPr id="8" name="Text Box 9"/>
          <p:cNvSpPr txBox="1">
            <a:spLocks noChangeArrowheads="1"/>
          </p:cNvSpPr>
          <p:nvPr/>
        </p:nvSpPr>
        <p:spPr bwMode="auto">
          <a:xfrm>
            <a:off x="10852000" y="2780005"/>
            <a:ext cx="143986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t>拱形，</a:t>
            </a:r>
            <a:endParaRPr lang="zh-CN" altLang="en-US" sz="2800" b="1" dirty="0"/>
          </a:p>
          <a:p>
            <a:pPr eaLnBrk="1" hangingPunct="1"/>
            <a:r>
              <a:rPr lang="zh-CN" altLang="en-US" sz="2800" b="1" dirty="0"/>
              <a:t>雕刻</a:t>
            </a:r>
            <a:endParaRPr lang="zh-CN" altLang="en-US" sz="2800" b="1" dirty="0"/>
          </a:p>
        </p:txBody>
      </p:sp>
      <p:sp>
        <p:nvSpPr>
          <p:cNvPr id="9" name="文本框 2"/>
          <p:cNvSpPr txBox="1"/>
          <p:nvPr/>
        </p:nvSpPr>
        <p:spPr>
          <a:xfrm>
            <a:off x="2059964" y="170270"/>
            <a:ext cx="9295547"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3.</a:t>
            </a:r>
            <a:r>
              <a:rPr lang="zh-CN" altLang="en-US" sz="2800" b="1" dirty="0">
                <a:solidFill>
                  <a:schemeClr val="accent1"/>
                </a:solidFill>
                <a:latin typeface="微软雅黑" panose="020B0503020204020204" pitchFamily="34" charset="-122"/>
                <a:ea typeface="微软雅黑" panose="020B0503020204020204" pitchFamily="34" charset="-122"/>
              </a:rPr>
              <a:t>模式诞生和起源</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Placeholder 8"/>
          <p:cNvSpPr txBox="1"/>
          <p:nvPr/>
        </p:nvSpPr>
        <p:spPr>
          <a:xfrm>
            <a:off x="482551" y="1464054"/>
            <a:ext cx="3384376" cy="3405900"/>
          </a:xfrm>
          <a:prstGeom prst="rect">
            <a:avLst/>
          </a:prstGeom>
        </p:spPr>
        <p:txBody>
          <a:bodyPr vert="horz"/>
          <a:lstStyle>
            <a:lvl1pPr marL="0" indent="0" algn="l" defTabSz="457200" rtl="0" eaLnBrk="1" latinLnBrk="0" hangingPunct="1">
              <a:lnSpc>
                <a:spcPct val="120000"/>
              </a:lnSpc>
              <a:spcBef>
                <a:spcPct val="20000"/>
              </a:spcBef>
              <a:buFont typeface="Arial" panose="020B0604020202020204"/>
              <a:buNone/>
              <a:defRPr sz="800" kern="1200" baseline="0">
                <a:solidFill>
                  <a:schemeClr val="bg1">
                    <a:lumMod val="50000"/>
                  </a:schemeClr>
                </a:solidFill>
                <a:latin typeface="Roboto condensed"/>
                <a:ea typeface="+mn-ea"/>
                <a:cs typeface="Roboto condensed"/>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342900" indent="-342900" algn="just">
              <a:lnSpc>
                <a:spcPct val="130000"/>
              </a:lnSpc>
              <a:buFont typeface="Wingdings" panose="05000000000000000000" pitchFamily="2" charset="2"/>
              <a:buChar char="Ø"/>
            </a:pPr>
            <a:r>
              <a:rPr lang="zh-CN" altLang="en-US" sz="2400" b="1" dirty="0">
                <a:solidFill>
                  <a:srgbClr val="414455"/>
                </a:solidFill>
                <a:latin typeface="微软雅黑" panose="020B0503020204020204" pitchFamily="34" charset="-122"/>
                <a:ea typeface="微软雅黑" panose="020B0503020204020204" pitchFamily="34" charset="-122"/>
              </a:rPr>
              <a:t>模式（</a:t>
            </a:r>
            <a:r>
              <a:rPr lang="en-US" altLang="zh-CN" sz="2400" b="1" dirty="0">
                <a:solidFill>
                  <a:srgbClr val="414455"/>
                </a:solidFill>
                <a:latin typeface="微软雅黑" panose="020B0503020204020204" pitchFamily="34" charset="-122"/>
                <a:ea typeface="微软雅黑" panose="020B0503020204020204" pitchFamily="34" charset="-122"/>
              </a:rPr>
              <a:t>Pattern</a:t>
            </a:r>
            <a:r>
              <a:rPr lang="zh-CN" altLang="en-US" sz="2400" b="1" dirty="0">
                <a:solidFill>
                  <a:srgbClr val="414455"/>
                </a:solidFill>
                <a:latin typeface="微软雅黑" panose="020B0503020204020204" pitchFamily="34" charset="-122"/>
                <a:ea typeface="微软雅黑" panose="020B0503020204020204" pitchFamily="34" charset="-122"/>
              </a:rPr>
              <a:t>）</a:t>
            </a:r>
            <a:r>
              <a:rPr lang="zh-CN" altLang="en-US" sz="2400" dirty="0">
                <a:solidFill>
                  <a:srgbClr val="414455"/>
                </a:solidFill>
                <a:latin typeface="微软雅黑" panose="020B0503020204020204" pitchFamily="34" charset="-122"/>
                <a:ea typeface="微软雅黑" panose="020B0503020204020204" pitchFamily="34" charset="-122"/>
              </a:rPr>
              <a:t>：每个模式都描述了在环境中反复出现的（某类）问题，并以一种适当的方式描述该问题的核心解决方案，以使该方案可以千百遍地被重复使用。</a:t>
            </a:r>
            <a:endParaRPr lang="zh-CN" altLang="en-US" sz="2400" dirty="0">
              <a:solidFill>
                <a:srgbClr val="414455"/>
              </a:solidFill>
              <a:latin typeface="微软雅黑" panose="020B0503020204020204" pitchFamily="34" charset="-122"/>
              <a:ea typeface="微软雅黑" panose="020B0503020204020204" pitchFamily="34" charset="-122"/>
            </a:endParaRPr>
          </a:p>
          <a:p>
            <a:pPr marL="342900" indent="-342900" algn="just">
              <a:lnSpc>
                <a:spcPct val="130000"/>
              </a:lnSpc>
              <a:buFont typeface="Wingdings" panose="05000000000000000000" pitchFamily="2" charset="2"/>
              <a:buChar char="Ø"/>
            </a:pPr>
            <a:r>
              <a:rPr lang="zh-CN" altLang="en-US" sz="2400" b="1" dirty="0">
                <a:solidFill>
                  <a:srgbClr val="414455"/>
                </a:solidFill>
                <a:latin typeface="微软雅黑" panose="020B0503020204020204" pitchFamily="34" charset="-122"/>
                <a:ea typeface="微软雅黑" panose="020B0503020204020204" pitchFamily="34" charset="-122"/>
              </a:rPr>
              <a:t>模式的核心思想</a:t>
            </a:r>
            <a:r>
              <a:rPr lang="zh-CN" altLang="en-US" sz="2400" dirty="0">
                <a:solidFill>
                  <a:srgbClr val="414455"/>
                </a:solidFill>
                <a:latin typeface="微软雅黑" panose="020B0503020204020204" pitchFamily="34" charset="-122"/>
                <a:ea typeface="微软雅黑" panose="020B0503020204020204" pitchFamily="34" charset="-122"/>
              </a:rPr>
              <a:t>：设计复用</a:t>
            </a:r>
            <a:endParaRPr lang="zh-CN" altLang="en-US" sz="2400" dirty="0">
              <a:solidFill>
                <a:srgbClr val="414455"/>
              </a:solidFill>
              <a:latin typeface="微软雅黑" panose="020B0503020204020204" pitchFamily="34" charset="-122"/>
              <a:ea typeface="微软雅黑" panose="020B0503020204020204" pitchFamily="34" charset="-122"/>
            </a:endParaRPr>
          </a:p>
        </p:txBody>
      </p:sp>
      <p:cxnSp>
        <p:nvCxnSpPr>
          <p:cNvPr id="50" name="Straight Connector 59"/>
          <p:cNvCxnSpPr/>
          <p:nvPr/>
        </p:nvCxnSpPr>
        <p:spPr>
          <a:xfrm flipV="1">
            <a:off x="4005832" y="1472308"/>
            <a:ext cx="0" cy="4483417"/>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17" name="文本框 2"/>
          <p:cNvSpPr txBox="1"/>
          <p:nvPr/>
        </p:nvSpPr>
        <p:spPr>
          <a:xfrm>
            <a:off x="1418655" y="693490"/>
            <a:ext cx="3895195" cy="523220"/>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建筑物设计的例子</a:t>
            </a:r>
            <a:r>
              <a:rPr lang="en-US" altLang="zh-CN" sz="2800" b="1" dirty="0">
                <a:solidFill>
                  <a:schemeClr val="accent1"/>
                </a:solidFill>
                <a:latin typeface="微软雅黑" panose="020B0503020204020204" pitchFamily="34" charset="-122"/>
                <a:ea typeface="微软雅黑" panose="020B0503020204020204" pitchFamily="34" charset="-122"/>
              </a:rPr>
              <a:t>-3</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10" name="Rectangle 3"/>
          <p:cNvSpPr txBox="1">
            <a:spLocks noChangeArrowheads="1"/>
          </p:cNvSpPr>
          <p:nvPr/>
        </p:nvSpPr>
        <p:spPr>
          <a:xfrm>
            <a:off x="4741043" y="5946775"/>
            <a:ext cx="5462588" cy="506413"/>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gn="ctr">
              <a:lnSpc>
                <a:spcPct val="90000"/>
              </a:lnSpc>
              <a:buFontTx/>
              <a:buNone/>
            </a:pPr>
            <a:r>
              <a:rPr lang="zh-CN" altLang="en-US" sz="2800" b="1" dirty="0">
                <a:ea typeface="黑体" panose="02010609060101010101" pitchFamily="2" charset="-122"/>
              </a:rPr>
              <a:t>中国宫廷建筑风格</a:t>
            </a:r>
            <a:endParaRPr lang="zh-CN" altLang="en-US" sz="2800" b="1" dirty="0">
              <a:ea typeface="黑体" panose="02010609060101010101" pitchFamily="2" charset="-122"/>
            </a:endParaRPr>
          </a:p>
        </p:txBody>
      </p:sp>
      <p:sp>
        <p:nvSpPr>
          <p:cNvPr id="11" name="Text Box 9"/>
          <p:cNvSpPr txBox="1">
            <a:spLocks noChangeArrowheads="1"/>
          </p:cNvSpPr>
          <p:nvPr/>
        </p:nvSpPr>
        <p:spPr bwMode="auto">
          <a:xfrm>
            <a:off x="10419630" y="3069754"/>
            <a:ext cx="18002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sz="2800" b="1" dirty="0">
                <a:solidFill>
                  <a:srgbClr val="000000"/>
                </a:solidFill>
              </a:rPr>
              <a:t>飞檐</a:t>
            </a:r>
            <a:endParaRPr lang="zh-CN" altLang="en-US" sz="2800" b="1" dirty="0">
              <a:solidFill>
                <a:srgbClr val="000000"/>
              </a:solidFill>
            </a:endParaRPr>
          </a:p>
        </p:txBody>
      </p:sp>
      <p:pic>
        <p:nvPicPr>
          <p:cNvPr id="9" name="Picture 5" descr="GG_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79411" y="1630285"/>
            <a:ext cx="57150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2"/>
          <p:cNvSpPr txBox="1"/>
          <p:nvPr/>
        </p:nvSpPr>
        <p:spPr>
          <a:xfrm>
            <a:off x="2059964" y="170270"/>
            <a:ext cx="9295547"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3.</a:t>
            </a:r>
            <a:r>
              <a:rPr lang="zh-CN" altLang="en-US" sz="2800" b="1" dirty="0">
                <a:solidFill>
                  <a:schemeClr val="accent1"/>
                </a:solidFill>
                <a:latin typeface="微软雅黑" panose="020B0503020204020204" pitchFamily="34" charset="-122"/>
                <a:ea typeface="微软雅黑" panose="020B0503020204020204" pitchFamily="34" charset="-122"/>
              </a:rPr>
              <a:t>模式诞生和起源</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72781" y="693490"/>
            <a:ext cx="5017144" cy="523220"/>
          </a:xfrm>
          <a:prstGeom prst="rect">
            <a:avLst/>
          </a:prstGeom>
          <a:noFill/>
        </p:spPr>
        <p:txBody>
          <a:bodyPr wrap="square" rtlCol="0">
            <a:spAutoFit/>
          </a:bodyPr>
          <a:lstStyle/>
          <a:p>
            <a:pPr algn="ctr"/>
            <a:r>
              <a:rPr lang="en-US" altLang="zh-CN" sz="2800" b="1" dirty="0">
                <a:solidFill>
                  <a:schemeClr val="accent1"/>
                </a:solidFill>
                <a:latin typeface="微软雅黑" panose="020B0503020204020204" pitchFamily="34" charset="-122"/>
                <a:ea typeface="微软雅黑" panose="020B0503020204020204" pitchFamily="34" charset="-122"/>
              </a:rPr>
              <a:t>Software Design Pattern</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4" name="Picture 2" descr="https://img1.doubanio.com/view/subject/l/public/s27262407.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827" y="1202878"/>
            <a:ext cx="2030972" cy="246272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59"/>
          <p:cNvCxnSpPr/>
          <p:nvPr/>
        </p:nvCxnSpPr>
        <p:spPr>
          <a:xfrm flipV="1">
            <a:off x="3218855" y="1472309"/>
            <a:ext cx="0" cy="4981821"/>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6" name="矩形 5"/>
          <p:cNvSpPr/>
          <p:nvPr/>
        </p:nvSpPr>
        <p:spPr>
          <a:xfrm>
            <a:off x="3506887" y="1269554"/>
            <a:ext cx="7848872" cy="4524315"/>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世纪</a:t>
            </a:r>
            <a:r>
              <a:rPr lang="en-US" altLang="zh-CN" dirty="0">
                <a:latin typeface="微软雅黑" panose="020B0503020204020204" pitchFamily="34" charset="-122"/>
                <a:ea typeface="微软雅黑" panose="020B0503020204020204" pitchFamily="34" charset="-122"/>
              </a:rPr>
              <a:t>80</a:t>
            </a:r>
            <a:r>
              <a:rPr lang="zh-CN" altLang="en-US" dirty="0">
                <a:latin typeface="微软雅黑" panose="020B0503020204020204" pitchFamily="34" charset="-122"/>
                <a:ea typeface="微软雅黑" panose="020B0503020204020204" pitchFamily="34" charset="-122"/>
              </a:rPr>
              <a:t>年代末，软件工程界开始关注</a:t>
            </a:r>
            <a:r>
              <a:rPr lang="en-US" altLang="zh-CN" dirty="0">
                <a:latin typeface="微软雅黑" panose="020B0503020204020204" pitchFamily="34" charset="-122"/>
                <a:ea typeface="微软雅黑" panose="020B0503020204020204" pitchFamily="34" charset="-122"/>
              </a:rPr>
              <a:t>Christopher Alexander</a:t>
            </a:r>
            <a:r>
              <a:rPr lang="zh-CN" altLang="en-US" dirty="0">
                <a:latin typeface="微软雅黑" panose="020B0503020204020204" pitchFamily="34" charset="-122"/>
                <a:ea typeface="微软雅黑" panose="020B0503020204020204" pitchFamily="34" charset="-122"/>
              </a:rPr>
              <a:t>等在这一住宅、公共建筑与城市规划领域的重大突破</a:t>
            </a:r>
            <a:endParaRPr lang="zh-CN" altLang="en-US"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“四人组</a:t>
            </a:r>
            <a:r>
              <a:rPr lang="en-US" altLang="zh-CN" dirty="0">
                <a:latin typeface="微软雅黑" panose="020B0503020204020204" pitchFamily="34" charset="-122"/>
                <a:ea typeface="微软雅黑" panose="020B0503020204020204" pitchFamily="34" charset="-122"/>
              </a:rPr>
              <a:t>(Gang of Four</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GoF</a:t>
            </a:r>
            <a:r>
              <a:rPr lang="zh-CN" altLang="en-US" dirty="0">
                <a:latin typeface="微软雅黑" panose="020B0503020204020204" pitchFamily="34" charset="-122"/>
                <a:ea typeface="微软雅黑" panose="020B0503020204020204" pitchFamily="34" charset="-122"/>
              </a:rPr>
              <a:t>，分别是</a:t>
            </a:r>
            <a:r>
              <a:rPr lang="en-US" altLang="zh-CN" dirty="0">
                <a:latin typeface="微软雅黑" panose="020B0503020204020204" pitchFamily="34" charset="-122"/>
                <a:ea typeface="微软雅黑" panose="020B0503020204020204" pitchFamily="34" charset="-122"/>
              </a:rPr>
              <a:t>Erich Gamma, Richard Helm, Ralph Johnson</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John </a:t>
            </a:r>
            <a:r>
              <a:rPr lang="en-US" altLang="zh-CN" dirty="0" err="1">
                <a:latin typeface="微软雅黑" panose="020B0503020204020204" pitchFamily="34" charset="-122"/>
                <a:ea typeface="微软雅黑" panose="020B0503020204020204" pitchFamily="34" charset="-122"/>
              </a:rPr>
              <a:t>Vlissides</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于</a:t>
            </a:r>
            <a:r>
              <a:rPr lang="en-US" altLang="zh-CN" dirty="0">
                <a:latin typeface="微软雅黑" panose="020B0503020204020204" pitchFamily="34" charset="-122"/>
                <a:ea typeface="微软雅黑" panose="020B0503020204020204" pitchFamily="34" charset="-122"/>
              </a:rPr>
              <a:t>1994</a:t>
            </a:r>
            <a:r>
              <a:rPr lang="zh-CN" altLang="en-US" dirty="0">
                <a:latin typeface="微软雅黑" panose="020B0503020204020204" pitchFamily="34" charset="-122"/>
                <a:ea typeface="微软雅黑" panose="020B0503020204020204" pitchFamily="34" charset="-122"/>
              </a:rPr>
              <a:t>年归纳发表了</a:t>
            </a:r>
            <a:r>
              <a:rPr lang="en-US" altLang="zh-CN" dirty="0">
                <a:latin typeface="微软雅黑" panose="020B0503020204020204" pitchFamily="34" charset="-122"/>
                <a:ea typeface="微软雅黑" panose="020B0503020204020204" pitchFamily="34" charset="-122"/>
              </a:rPr>
              <a:t>23</a:t>
            </a:r>
            <a:r>
              <a:rPr lang="zh-CN" altLang="en-US" dirty="0">
                <a:latin typeface="微软雅黑" panose="020B0503020204020204" pitchFamily="34" charset="-122"/>
                <a:ea typeface="微软雅黑" panose="020B0503020204020204" pitchFamily="34" charset="-122"/>
              </a:rPr>
              <a:t>种在软件开发中使用频率较高的设计模式，旨在</a:t>
            </a:r>
            <a:r>
              <a:rPr lang="zh-CN" altLang="en-US" b="1" dirty="0">
                <a:solidFill>
                  <a:srgbClr val="FF0000"/>
                </a:solidFill>
                <a:latin typeface="微软雅黑" panose="020B0503020204020204" pitchFamily="34" charset="-122"/>
                <a:ea typeface="微软雅黑" panose="020B0503020204020204" pitchFamily="34" charset="-122"/>
              </a:rPr>
              <a:t>用模式来统一沟通面向对象方法在分析、设计和实现间的鸿沟</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7" name="文本框 2"/>
          <p:cNvSpPr txBox="1"/>
          <p:nvPr/>
        </p:nvSpPr>
        <p:spPr>
          <a:xfrm>
            <a:off x="1634679" y="170270"/>
            <a:ext cx="9295547"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3.</a:t>
            </a:r>
            <a:r>
              <a:rPr lang="zh-CN" altLang="en-US" sz="2800" b="1" dirty="0">
                <a:solidFill>
                  <a:schemeClr val="accent1"/>
                </a:solidFill>
                <a:latin typeface="微软雅黑" panose="020B0503020204020204" pitchFamily="34" charset="-122"/>
                <a:ea typeface="微软雅黑" panose="020B0503020204020204" pitchFamily="34" charset="-122"/>
              </a:rPr>
              <a:t>模式诞生和起源</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220" y="3788623"/>
            <a:ext cx="1894571" cy="266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62671" y="826175"/>
            <a:ext cx="5017144" cy="523220"/>
          </a:xfrm>
          <a:prstGeom prst="rect">
            <a:avLst/>
          </a:prstGeom>
          <a:noFill/>
        </p:spPr>
        <p:txBody>
          <a:bodyPr wrap="square" rtlCol="0">
            <a:spAutoFit/>
          </a:bodyPr>
          <a:lstStyle/>
          <a:p>
            <a:pPr algn="ctr"/>
            <a:r>
              <a:rPr lang="en-US" altLang="zh-CN" sz="2800" b="1" dirty="0">
                <a:solidFill>
                  <a:schemeClr val="accent1"/>
                </a:solidFill>
                <a:latin typeface="微软雅黑" panose="020B0503020204020204" pitchFamily="34" charset="-122"/>
                <a:ea typeface="微软雅黑" panose="020B0503020204020204" pitchFamily="34" charset="-122"/>
              </a:rPr>
              <a:t>Software Design Pattern</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cxnSp>
        <p:nvCxnSpPr>
          <p:cNvPr id="5" name="Straight Connector 59"/>
          <p:cNvCxnSpPr/>
          <p:nvPr/>
        </p:nvCxnSpPr>
        <p:spPr>
          <a:xfrm flipV="1">
            <a:off x="4947047" y="1537187"/>
            <a:ext cx="0" cy="4483417"/>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6" name="矩形 5"/>
          <p:cNvSpPr/>
          <p:nvPr/>
        </p:nvSpPr>
        <p:spPr>
          <a:xfrm>
            <a:off x="5379095" y="1087785"/>
            <a:ext cx="6120680" cy="5078313"/>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b="1" dirty="0">
                <a:latin typeface="微软雅黑" panose="020B0503020204020204" pitchFamily="34" charset="-122"/>
                <a:ea typeface="微软雅黑" panose="020B0503020204020204" pitchFamily="34" charset="-122"/>
              </a:rPr>
              <a:t>Erich Gamma</a:t>
            </a:r>
            <a:r>
              <a:rPr lang="zh-CN" altLang="en-US"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苏黎世大学计算机科学博士，是</a:t>
            </a:r>
            <a:r>
              <a:rPr lang="en-US" altLang="zh-CN" dirty="0">
                <a:latin typeface="微软雅黑" panose="020B0503020204020204" pitchFamily="34" charset="-122"/>
                <a:ea typeface="微软雅黑" panose="020B0503020204020204" pitchFamily="34" charset="-122"/>
              </a:rPr>
              <a:t>Eclipse</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JUnit </a:t>
            </a:r>
            <a:r>
              <a:rPr lang="zh-CN" altLang="en-US" dirty="0">
                <a:latin typeface="微软雅黑" panose="020B0503020204020204" pitchFamily="34" charset="-122"/>
                <a:ea typeface="微软雅黑" panose="020B0503020204020204" pitchFamily="34" charset="-122"/>
              </a:rPr>
              <a:t>等项目的负责人</a:t>
            </a:r>
            <a:endParaRPr lang="zh-CN" altLang="en-US"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b="1" dirty="0">
                <a:latin typeface="微软雅黑" panose="020B0503020204020204" pitchFamily="34" charset="-122"/>
                <a:ea typeface="微软雅黑" panose="020B0503020204020204" pitchFamily="34" charset="-122"/>
              </a:rPr>
              <a:t>Richard Helm</a:t>
            </a:r>
            <a:r>
              <a:rPr lang="zh-CN" altLang="en-US"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墨尔本大学计算机科学博士，原</a:t>
            </a:r>
            <a:r>
              <a:rPr lang="en-US" altLang="zh-CN" dirty="0">
                <a:latin typeface="微软雅黑" panose="020B0503020204020204" pitchFamily="34" charset="-122"/>
                <a:ea typeface="微软雅黑" panose="020B0503020204020204" pitchFamily="34" charset="-122"/>
              </a:rPr>
              <a:t>IBM </a:t>
            </a:r>
            <a:r>
              <a:rPr lang="zh-CN" altLang="en-US" dirty="0">
                <a:latin typeface="微软雅黑" panose="020B0503020204020204" pitchFamily="34" charset="-122"/>
                <a:ea typeface="微软雅黑" panose="020B0503020204020204" pitchFamily="34" charset="-122"/>
              </a:rPr>
              <a:t>研究员，现供职于波士顿顾问集团</a:t>
            </a:r>
            <a:endParaRPr lang="zh-CN" altLang="en-US"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b="1" dirty="0">
                <a:latin typeface="微软雅黑" panose="020B0503020204020204" pitchFamily="34" charset="-122"/>
                <a:ea typeface="微软雅黑" panose="020B0503020204020204" pitchFamily="34" charset="-122"/>
              </a:rPr>
              <a:t>Ralph Johnson</a:t>
            </a:r>
            <a:r>
              <a:rPr lang="zh-CN" altLang="en-US"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康奈尔大学计算机科学博士，伊利诺伊大学教授</a:t>
            </a:r>
            <a:endParaRPr lang="zh-CN" altLang="en-US"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b="1" dirty="0">
                <a:latin typeface="微软雅黑" panose="020B0503020204020204" pitchFamily="34" charset="-122"/>
                <a:ea typeface="微软雅黑" panose="020B0503020204020204" pitchFamily="34" charset="-122"/>
              </a:rPr>
              <a:t>John </a:t>
            </a:r>
            <a:r>
              <a:rPr lang="en-US" altLang="zh-CN" b="1" dirty="0" err="1">
                <a:latin typeface="微软雅黑" panose="020B0503020204020204" pitchFamily="34" charset="-122"/>
                <a:ea typeface="微软雅黑" panose="020B0503020204020204" pitchFamily="34" charset="-122"/>
              </a:rPr>
              <a:t>Vlissides</a:t>
            </a:r>
            <a:r>
              <a:rPr lang="zh-CN" altLang="en-US"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斯坦福大学计算机科学博士，原</a:t>
            </a:r>
            <a:r>
              <a:rPr lang="en-US" altLang="zh-CN" dirty="0">
                <a:latin typeface="微软雅黑" panose="020B0503020204020204" pitchFamily="34" charset="-122"/>
                <a:ea typeface="微软雅黑" panose="020B0503020204020204" pitchFamily="34" charset="-122"/>
              </a:rPr>
              <a:t>IBM</a:t>
            </a:r>
            <a:r>
              <a:rPr lang="zh-CN" altLang="en-US" dirty="0">
                <a:latin typeface="微软雅黑" panose="020B0503020204020204" pitchFamily="34" charset="-122"/>
                <a:ea typeface="微软雅黑" panose="020B0503020204020204" pitchFamily="34" charset="-122"/>
              </a:rPr>
              <a:t>研究员</a:t>
            </a:r>
            <a:endParaRPr lang="en-US" altLang="zh-CN" dirty="0">
              <a:latin typeface="微软雅黑" panose="020B0503020204020204" pitchFamily="34" charset="-122"/>
              <a:ea typeface="微软雅黑" panose="020B0503020204020204" pitchFamily="34" charset="-122"/>
            </a:endParaRPr>
          </a:p>
        </p:txBody>
      </p:sp>
      <p:pic>
        <p:nvPicPr>
          <p:cNvPr id="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4519" y="1472309"/>
            <a:ext cx="4520799" cy="4189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2"/>
          <p:cNvSpPr txBox="1"/>
          <p:nvPr/>
        </p:nvSpPr>
        <p:spPr>
          <a:xfrm>
            <a:off x="1634679" y="170270"/>
            <a:ext cx="9295547"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3.</a:t>
            </a:r>
            <a:r>
              <a:rPr lang="zh-CN" altLang="en-US" sz="2800" b="1" dirty="0">
                <a:solidFill>
                  <a:schemeClr val="accent1"/>
                </a:solidFill>
                <a:latin typeface="微软雅黑" panose="020B0503020204020204" pitchFamily="34" charset="-122"/>
                <a:ea typeface="微软雅黑" panose="020B0503020204020204" pitchFamily="34" charset="-122"/>
              </a:rPr>
              <a:t>模式诞生和起源</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46647" y="1256223"/>
            <a:ext cx="9937104" cy="2031325"/>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zh-CN" altLang="en-US" sz="2800" dirty="0">
                <a:solidFill>
                  <a:schemeClr val="accent1"/>
                </a:solidFill>
                <a:latin typeface="微软雅黑" panose="020B0503020204020204" pitchFamily="34" charset="-122"/>
                <a:ea typeface="微软雅黑" panose="020B0503020204020204" pitchFamily="34" charset="-122"/>
              </a:rPr>
              <a:t>软件设计模式</a:t>
            </a:r>
            <a:r>
              <a:rPr lang="zh-CN" altLang="en-US" sz="2800" dirty="0">
                <a:solidFill>
                  <a:srgbClr val="000000"/>
                </a:solidFill>
                <a:latin typeface="微软雅黑" panose="020B0503020204020204" pitchFamily="34" charset="-122"/>
                <a:ea typeface="微软雅黑" panose="020B0503020204020204" pitchFamily="34" charset="-122"/>
              </a:rPr>
              <a:t>：是软件设计中反复出现的某类问题的成功解决方案，主要用于软件的局部设计。是设计复用的重要手段</a:t>
            </a:r>
            <a:r>
              <a:rPr lang="zh-CN" altLang="en-US" sz="2800" dirty="0"/>
              <a:t>。</a:t>
            </a:r>
            <a:endParaRPr lang="en-US" altLang="zh-CN" sz="2800" dirty="0"/>
          </a:p>
          <a:p>
            <a:pPr>
              <a:lnSpc>
                <a:spcPct val="150000"/>
              </a:lnSpc>
            </a:pPr>
            <a:endParaRPr lang="en-US" altLang="zh-CN" sz="2800" dirty="0"/>
          </a:p>
        </p:txBody>
      </p:sp>
      <p:sp>
        <p:nvSpPr>
          <p:cNvPr id="4" name="文本框 2"/>
          <p:cNvSpPr txBox="1"/>
          <p:nvPr/>
        </p:nvSpPr>
        <p:spPr>
          <a:xfrm>
            <a:off x="1730103" y="170270"/>
            <a:ext cx="6961360"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4. </a:t>
            </a:r>
            <a:r>
              <a:rPr lang="zh-CN" altLang="en-US" sz="2800" b="1" dirty="0">
                <a:solidFill>
                  <a:schemeClr val="accent1"/>
                </a:solidFill>
                <a:latin typeface="微软雅黑" panose="020B0503020204020204" pitchFamily="34" charset="-122"/>
                <a:ea typeface="微软雅黑" panose="020B0503020204020204" pitchFamily="34" charset="-122"/>
              </a:rPr>
              <a:t>软件设计模式</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2"/>
          <p:cNvSpPr txBox="1"/>
          <p:nvPr/>
        </p:nvSpPr>
        <p:spPr>
          <a:xfrm>
            <a:off x="1730103" y="170270"/>
            <a:ext cx="6961360"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5. </a:t>
            </a:r>
            <a:r>
              <a:rPr lang="zh-CN" altLang="en-US" sz="2800" b="1" dirty="0">
                <a:solidFill>
                  <a:schemeClr val="accent1"/>
                </a:solidFill>
                <a:latin typeface="微软雅黑" panose="020B0503020204020204" pitchFamily="34" charset="-122"/>
                <a:ea typeface="微软雅黑" panose="020B0503020204020204" pitchFamily="34" charset="-122"/>
              </a:rPr>
              <a:t>软件模式层次</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554559" y="1256223"/>
            <a:ext cx="2592288" cy="4261675"/>
            <a:chOff x="554559" y="1256223"/>
            <a:chExt cx="2592288" cy="4261675"/>
          </a:xfrm>
        </p:grpSpPr>
        <p:sp>
          <p:nvSpPr>
            <p:cNvPr id="2" name="矩形 1"/>
            <p:cNvSpPr/>
            <p:nvPr/>
          </p:nvSpPr>
          <p:spPr>
            <a:xfrm>
              <a:off x="554559" y="1256223"/>
              <a:ext cx="2592288" cy="1152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架构模式</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dirty="0">
                  <a:solidFill>
                    <a:schemeClr val="bg1"/>
                  </a:solidFill>
                  <a:latin typeface="微软雅黑" panose="020B0503020204020204" pitchFamily="34" charset="-122"/>
                  <a:ea typeface="微软雅黑" panose="020B0503020204020204" pitchFamily="34" charset="-122"/>
                </a:rPr>
                <a:t>Architectural Patterns</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554559" y="2853672"/>
              <a:ext cx="2592288" cy="1152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设计模式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Design Patterns</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gn="ct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p:cNvSpPr/>
            <p:nvPr/>
          </p:nvSpPr>
          <p:spPr>
            <a:xfrm>
              <a:off x="554559" y="4365898"/>
              <a:ext cx="2592288" cy="1152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惯用法</a:t>
              </a:r>
              <a:endParaRPr lang="en-US" altLang="zh-CN" dirty="0">
                <a:latin typeface="微软雅黑" panose="020B0503020204020204" pitchFamily="34" charset="-122"/>
                <a:ea typeface="微软雅黑" panose="020B0503020204020204" pitchFamily="34" charset="-122"/>
              </a:endParaRPr>
            </a:p>
            <a:p>
              <a:pPr algn="ctr"/>
              <a:r>
                <a:rPr lang="en-US" altLang="zh-CN" dirty="0">
                  <a:latin typeface="微软雅黑" panose="020B0503020204020204" pitchFamily="34" charset="-122"/>
                  <a:ea typeface="微软雅黑" panose="020B0503020204020204" pitchFamily="34" charset="-122"/>
                </a:rPr>
                <a:t>Idioms</a:t>
              </a:r>
              <a:endParaRPr lang="zh-CN" altLang="en-US" dirty="0">
                <a:latin typeface="微软雅黑" panose="020B0503020204020204" pitchFamily="34" charset="-122"/>
                <a:ea typeface="微软雅黑" panose="020B0503020204020204" pitchFamily="34" charset="-122"/>
              </a:endParaRPr>
            </a:p>
          </p:txBody>
        </p:sp>
      </p:grpSp>
      <p:sp>
        <p:nvSpPr>
          <p:cNvPr id="7" name="TextBox 6"/>
          <p:cNvSpPr txBox="1"/>
          <p:nvPr/>
        </p:nvSpPr>
        <p:spPr>
          <a:xfrm>
            <a:off x="410543" y="5848449"/>
            <a:ext cx="2736304" cy="461665"/>
          </a:xfrm>
          <a:prstGeom prst="rect">
            <a:avLst/>
          </a:prstGeom>
          <a:noFill/>
        </p:spPr>
        <p:txBody>
          <a:bodyPr wrap="square" rtlCol="0">
            <a:spAutoFit/>
          </a:bodyPr>
          <a:lstStyle/>
          <a:p>
            <a:r>
              <a:rPr lang="zh-CN" altLang="en-US" dirty="0">
                <a:latin typeface="隶书" panose="02010509060101010101" pitchFamily="49" charset="-122"/>
                <a:ea typeface="隶书" panose="02010509060101010101" pitchFamily="49" charset="-122"/>
              </a:rPr>
              <a:t>软件设计模式层次</a:t>
            </a:r>
            <a:endParaRPr lang="zh-CN" altLang="en-US" dirty="0">
              <a:latin typeface="隶书" panose="02010509060101010101" pitchFamily="49" charset="-122"/>
              <a:ea typeface="隶书" panose="02010509060101010101" pitchFamily="49" charset="-122"/>
            </a:endParaRPr>
          </a:p>
        </p:txBody>
      </p:sp>
      <p:cxnSp>
        <p:nvCxnSpPr>
          <p:cNvPr id="9" name="Straight Connector 59"/>
          <p:cNvCxnSpPr/>
          <p:nvPr/>
        </p:nvCxnSpPr>
        <p:spPr>
          <a:xfrm flipV="1">
            <a:off x="3650903" y="1053530"/>
            <a:ext cx="0" cy="5112568"/>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4010943" y="1256223"/>
            <a:ext cx="7272808" cy="2677656"/>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zh-CN" altLang="en-US" sz="2800" dirty="0">
                <a:solidFill>
                  <a:schemeClr val="accent1"/>
                </a:solidFill>
                <a:latin typeface="微软雅黑" panose="020B0503020204020204" pitchFamily="34" charset="-122"/>
                <a:ea typeface="微软雅黑" panose="020B0503020204020204" pitchFamily="34" charset="-122"/>
              </a:rPr>
              <a:t>架构模式</a:t>
            </a:r>
            <a:r>
              <a:rPr lang="zh-CN" altLang="en-US" sz="2800" dirty="0">
                <a:solidFill>
                  <a:srgbClr val="000000"/>
                </a:solidFill>
                <a:latin typeface="微软雅黑" panose="020B0503020204020204" pitchFamily="34" charset="-122"/>
                <a:ea typeface="微软雅黑" panose="020B0503020204020204" pitchFamily="34" charset="-122"/>
              </a:rPr>
              <a:t>：高层模式，用于体系结构的设计模式，用于描述系统级的结构组成、相互关系及相关约束。架构模式的选择是最基本的设计决策，将决定系统的基本架构。</a:t>
            </a:r>
            <a:endParaRPr lang="en-US" altLang="zh-CN" sz="2800" dirty="0"/>
          </a:p>
        </p:txBody>
      </p:sp>
    </p:spTree>
  </p:cSld>
  <p:clrMapOvr>
    <a:masterClrMapping/>
  </p:clrMapOvr>
  <p:transition spd="slow" advTm="0">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54559" y="1256223"/>
            <a:ext cx="2592288" cy="4261675"/>
            <a:chOff x="554559" y="1256223"/>
            <a:chExt cx="2592288" cy="4261675"/>
          </a:xfrm>
        </p:grpSpPr>
        <p:sp>
          <p:nvSpPr>
            <p:cNvPr id="2" name="矩形 1"/>
            <p:cNvSpPr/>
            <p:nvPr/>
          </p:nvSpPr>
          <p:spPr>
            <a:xfrm>
              <a:off x="554559" y="1256223"/>
              <a:ext cx="2592288" cy="1152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架构模式</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dirty="0">
                  <a:solidFill>
                    <a:schemeClr val="bg1"/>
                  </a:solidFill>
                  <a:latin typeface="微软雅黑" panose="020B0503020204020204" pitchFamily="34" charset="-122"/>
                  <a:ea typeface="微软雅黑" panose="020B0503020204020204" pitchFamily="34" charset="-122"/>
                </a:rPr>
                <a:t>Architectural Patterns</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554559" y="2853672"/>
              <a:ext cx="2592288" cy="1152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设计模式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Design Patterns</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p:cNvSpPr/>
            <p:nvPr/>
          </p:nvSpPr>
          <p:spPr>
            <a:xfrm>
              <a:off x="554559" y="4365898"/>
              <a:ext cx="2592288" cy="1152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惯用法</a:t>
              </a:r>
              <a:endParaRPr lang="en-US" altLang="zh-CN" dirty="0">
                <a:latin typeface="微软雅黑" panose="020B0503020204020204" pitchFamily="34" charset="-122"/>
                <a:ea typeface="微软雅黑" panose="020B0503020204020204" pitchFamily="34" charset="-122"/>
              </a:endParaRPr>
            </a:p>
            <a:p>
              <a:pPr algn="ctr"/>
              <a:r>
                <a:rPr lang="en-US" altLang="zh-CN" dirty="0">
                  <a:latin typeface="微软雅黑" panose="020B0503020204020204" pitchFamily="34" charset="-122"/>
                  <a:ea typeface="微软雅黑" panose="020B0503020204020204" pitchFamily="34" charset="-122"/>
                </a:rPr>
                <a:t>Idioms</a:t>
              </a:r>
              <a:endParaRPr lang="zh-CN" altLang="en-US" dirty="0">
                <a:latin typeface="微软雅黑" panose="020B0503020204020204" pitchFamily="34" charset="-122"/>
                <a:ea typeface="微软雅黑" panose="020B0503020204020204" pitchFamily="34" charset="-122"/>
              </a:endParaRPr>
            </a:p>
          </p:txBody>
        </p:sp>
      </p:grpSp>
      <p:sp>
        <p:nvSpPr>
          <p:cNvPr id="7" name="TextBox 6"/>
          <p:cNvSpPr txBox="1"/>
          <p:nvPr/>
        </p:nvSpPr>
        <p:spPr>
          <a:xfrm>
            <a:off x="410543" y="5848449"/>
            <a:ext cx="2736304" cy="461665"/>
          </a:xfrm>
          <a:prstGeom prst="rect">
            <a:avLst/>
          </a:prstGeom>
          <a:noFill/>
        </p:spPr>
        <p:txBody>
          <a:bodyPr wrap="square" rtlCol="0">
            <a:spAutoFit/>
          </a:bodyPr>
          <a:lstStyle/>
          <a:p>
            <a:r>
              <a:rPr lang="zh-CN" altLang="en-US" dirty="0">
                <a:latin typeface="隶书" panose="02010509060101010101" pitchFamily="49" charset="-122"/>
                <a:ea typeface="隶书" panose="02010509060101010101" pitchFamily="49" charset="-122"/>
              </a:rPr>
              <a:t>软件设计模式层次</a:t>
            </a:r>
            <a:endParaRPr lang="zh-CN" altLang="en-US" dirty="0">
              <a:latin typeface="隶书" panose="02010509060101010101" pitchFamily="49" charset="-122"/>
              <a:ea typeface="隶书" panose="02010509060101010101" pitchFamily="49" charset="-122"/>
            </a:endParaRPr>
          </a:p>
        </p:txBody>
      </p:sp>
      <p:cxnSp>
        <p:nvCxnSpPr>
          <p:cNvPr id="9" name="Straight Connector 59"/>
          <p:cNvCxnSpPr/>
          <p:nvPr/>
        </p:nvCxnSpPr>
        <p:spPr>
          <a:xfrm flipV="1">
            <a:off x="3650903" y="1053530"/>
            <a:ext cx="0" cy="5112568"/>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4010943" y="1256223"/>
            <a:ext cx="7632848" cy="5170646"/>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zh-CN" altLang="en-US" sz="2800" dirty="0">
                <a:solidFill>
                  <a:schemeClr val="accent1"/>
                </a:solidFill>
                <a:latin typeface="微软雅黑" panose="020B0503020204020204" pitchFamily="34" charset="-122"/>
                <a:ea typeface="微软雅黑" panose="020B0503020204020204" pitchFamily="34" charset="-122"/>
              </a:rPr>
              <a:t>设计模式</a:t>
            </a:r>
            <a:r>
              <a:rPr lang="zh-CN" altLang="en-US" sz="2800" dirty="0">
                <a:solidFill>
                  <a:srgbClr val="000000"/>
                </a:solidFill>
                <a:latin typeface="微软雅黑" panose="020B0503020204020204" pitchFamily="34" charset="-122"/>
                <a:ea typeface="微软雅黑" panose="020B0503020204020204" pitchFamily="34" charset="-122"/>
              </a:rPr>
              <a:t>：中层模式。</a:t>
            </a:r>
            <a:endParaRPr lang="en-US" altLang="zh-CN" sz="2800" dirty="0">
              <a:solidFill>
                <a:srgbClr val="000000"/>
              </a:solidFill>
              <a:latin typeface="微软雅黑" panose="020B0503020204020204" pitchFamily="34" charset="-122"/>
              <a:ea typeface="微软雅黑" panose="020B0503020204020204" pitchFamily="34" charset="-122"/>
            </a:endParaRPr>
          </a:p>
          <a:p>
            <a:pPr marL="1066800" lvl="1" indent="-457200">
              <a:lnSpc>
                <a:spcPct val="150000"/>
              </a:lnSpc>
              <a:buFont typeface="Wingdings" panose="05000000000000000000" pitchFamily="2" charset="2"/>
              <a:buChar char="l"/>
            </a:pPr>
            <a:r>
              <a:rPr lang="zh-CN" altLang="en-US" dirty="0">
                <a:solidFill>
                  <a:srgbClr val="000000"/>
                </a:solidFill>
                <a:latin typeface="微软雅黑" panose="020B0503020204020204" pitchFamily="34" charset="-122"/>
                <a:ea typeface="微软雅黑" panose="020B0503020204020204" pitchFamily="34" charset="-122"/>
              </a:rPr>
              <a:t>针对系统局部设计问题给出的解决方案。</a:t>
            </a:r>
            <a:endParaRPr lang="en-US" altLang="zh-CN" dirty="0">
              <a:solidFill>
                <a:srgbClr val="000000"/>
              </a:solidFill>
              <a:latin typeface="微软雅黑" panose="020B0503020204020204" pitchFamily="34" charset="-122"/>
              <a:ea typeface="微软雅黑" panose="020B0503020204020204" pitchFamily="34" charset="-122"/>
            </a:endParaRPr>
          </a:p>
          <a:p>
            <a:pPr marL="1066800" lvl="1" indent="-457200">
              <a:lnSpc>
                <a:spcPct val="150000"/>
              </a:lnSpc>
              <a:buFont typeface="Wingdings" panose="05000000000000000000" pitchFamily="2" charset="2"/>
              <a:buChar char="l"/>
            </a:pPr>
            <a:r>
              <a:rPr lang="zh-CN" altLang="en-US" dirty="0">
                <a:solidFill>
                  <a:srgbClr val="000000"/>
                </a:solidFill>
                <a:latin typeface="微软雅黑" panose="020B0503020204020204" pitchFamily="34" charset="-122"/>
                <a:ea typeface="微软雅黑" panose="020B0503020204020204" pitchFamily="34" charset="-122"/>
              </a:rPr>
              <a:t>经过验证的设计原则，适用于小型子系统，也叫微架构。</a:t>
            </a:r>
            <a:endParaRPr lang="en-US" altLang="zh-CN" dirty="0">
              <a:solidFill>
                <a:srgbClr val="000000"/>
              </a:solidFill>
              <a:latin typeface="微软雅黑" panose="020B0503020204020204" pitchFamily="34" charset="-122"/>
              <a:ea typeface="微软雅黑" panose="020B0503020204020204" pitchFamily="34" charset="-122"/>
            </a:endParaRPr>
          </a:p>
          <a:p>
            <a:pPr marL="1066800" lvl="1" indent="-457200">
              <a:lnSpc>
                <a:spcPct val="150000"/>
              </a:lnSpc>
              <a:buFont typeface="Wingdings" panose="05000000000000000000" pitchFamily="2" charset="2"/>
              <a:buChar char="l"/>
            </a:pPr>
            <a:r>
              <a:rPr lang="zh-CN" altLang="en-US" dirty="0">
                <a:solidFill>
                  <a:srgbClr val="000000"/>
                </a:solidFill>
                <a:latin typeface="微软雅黑" panose="020B0503020204020204" pitchFamily="34" charset="-122"/>
                <a:ea typeface="微软雅黑" panose="020B0503020204020204" pitchFamily="34" charset="-122"/>
              </a:rPr>
              <a:t>设计模式描述的是细致的模式，架构模式则是粗略的模式。</a:t>
            </a:r>
            <a:endParaRPr lang="en-US" altLang="zh-CN" dirty="0">
              <a:solidFill>
                <a:srgbClr val="000000"/>
              </a:solidFill>
              <a:latin typeface="微软雅黑" panose="020B0503020204020204" pitchFamily="34" charset="-122"/>
              <a:ea typeface="微软雅黑" panose="020B0503020204020204" pitchFamily="34" charset="-122"/>
            </a:endParaRPr>
          </a:p>
          <a:p>
            <a:pPr marL="1066800" lvl="1" indent="-457200">
              <a:lnSpc>
                <a:spcPct val="150000"/>
              </a:lnSpc>
              <a:buFont typeface="Wingdings" panose="05000000000000000000" pitchFamily="2" charset="2"/>
              <a:buChar char="l"/>
            </a:pPr>
            <a:r>
              <a:rPr lang="zh-CN" altLang="en-US" dirty="0">
                <a:solidFill>
                  <a:srgbClr val="000000"/>
                </a:solidFill>
                <a:latin typeface="微软雅黑" panose="020B0503020204020204" pitchFamily="34" charset="-122"/>
                <a:ea typeface="微软雅黑" panose="020B0503020204020204" pitchFamily="34" charset="-122"/>
              </a:rPr>
              <a:t>架构模式可以包含多个设计模式（非必需）。如分层架构不含其它设计模式；</a:t>
            </a:r>
            <a:r>
              <a:rPr lang="en-US" altLang="zh-CN" dirty="0">
                <a:solidFill>
                  <a:srgbClr val="000000"/>
                </a:solidFill>
                <a:latin typeface="微软雅黑" panose="020B0503020204020204" pitchFamily="34" charset="-122"/>
                <a:ea typeface="微软雅黑" panose="020B0503020204020204" pitchFamily="34" charset="-122"/>
              </a:rPr>
              <a:t>MVC</a:t>
            </a:r>
            <a:r>
              <a:rPr lang="zh-CN" altLang="en-US" dirty="0">
                <a:solidFill>
                  <a:srgbClr val="000000"/>
                </a:solidFill>
                <a:latin typeface="微软雅黑" panose="020B0503020204020204" pitchFamily="34" charset="-122"/>
                <a:ea typeface="微软雅黑" panose="020B0503020204020204" pitchFamily="34" charset="-122"/>
              </a:rPr>
              <a:t>架构模式则包含观察者模式、组成模式和策略模式。</a:t>
            </a:r>
            <a:endParaRPr lang="en-US" altLang="zh-CN" dirty="0"/>
          </a:p>
        </p:txBody>
      </p:sp>
      <p:sp>
        <p:nvSpPr>
          <p:cNvPr id="10" name="文本框 2"/>
          <p:cNvSpPr txBox="1"/>
          <p:nvPr/>
        </p:nvSpPr>
        <p:spPr>
          <a:xfrm>
            <a:off x="1730103" y="170270"/>
            <a:ext cx="6961360"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5. </a:t>
            </a:r>
            <a:r>
              <a:rPr lang="zh-CN" altLang="en-US" sz="2800" b="1" dirty="0">
                <a:solidFill>
                  <a:schemeClr val="accent1"/>
                </a:solidFill>
                <a:latin typeface="微软雅黑" panose="020B0503020204020204" pitchFamily="34" charset="-122"/>
                <a:ea typeface="微软雅黑" panose="020B0503020204020204" pitchFamily="34" charset="-122"/>
              </a:rPr>
              <a:t>软件模式层次</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54559" y="1256223"/>
            <a:ext cx="2592288" cy="4261675"/>
            <a:chOff x="554559" y="1256223"/>
            <a:chExt cx="2592288" cy="4261675"/>
          </a:xfrm>
        </p:grpSpPr>
        <p:sp>
          <p:nvSpPr>
            <p:cNvPr id="2" name="矩形 1"/>
            <p:cNvSpPr/>
            <p:nvPr/>
          </p:nvSpPr>
          <p:spPr>
            <a:xfrm>
              <a:off x="554559" y="1256223"/>
              <a:ext cx="2592288" cy="1152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架构模式</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dirty="0">
                  <a:solidFill>
                    <a:schemeClr val="bg1"/>
                  </a:solidFill>
                  <a:latin typeface="微软雅黑" panose="020B0503020204020204" pitchFamily="34" charset="-122"/>
                  <a:ea typeface="微软雅黑" panose="020B0503020204020204" pitchFamily="34" charset="-122"/>
                </a:rPr>
                <a:t>Architectural Patterns</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554559" y="2853672"/>
              <a:ext cx="2592288" cy="1152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设计模式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Design Patterns</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p:cNvSpPr/>
            <p:nvPr/>
          </p:nvSpPr>
          <p:spPr>
            <a:xfrm>
              <a:off x="554559" y="4365898"/>
              <a:ext cx="2592288" cy="1152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习惯用法</a:t>
              </a:r>
              <a:endParaRPr lang="en-US" altLang="zh-CN" dirty="0">
                <a:latin typeface="微软雅黑" panose="020B0503020204020204" pitchFamily="34" charset="-122"/>
                <a:ea typeface="微软雅黑" panose="020B0503020204020204" pitchFamily="34" charset="-122"/>
              </a:endParaRPr>
            </a:p>
            <a:p>
              <a:pPr algn="ctr"/>
              <a:r>
                <a:rPr lang="en-US" altLang="zh-CN" dirty="0">
                  <a:latin typeface="微软雅黑" panose="020B0503020204020204" pitchFamily="34" charset="-122"/>
                  <a:ea typeface="微软雅黑" panose="020B0503020204020204" pitchFamily="34" charset="-122"/>
                </a:rPr>
                <a:t>Idioms</a:t>
              </a:r>
              <a:endParaRPr lang="zh-CN" altLang="en-US" dirty="0">
                <a:latin typeface="微软雅黑" panose="020B0503020204020204" pitchFamily="34" charset="-122"/>
                <a:ea typeface="微软雅黑" panose="020B0503020204020204" pitchFamily="34" charset="-122"/>
              </a:endParaRPr>
            </a:p>
          </p:txBody>
        </p:sp>
      </p:grpSp>
      <p:sp>
        <p:nvSpPr>
          <p:cNvPr id="7" name="TextBox 6"/>
          <p:cNvSpPr txBox="1"/>
          <p:nvPr/>
        </p:nvSpPr>
        <p:spPr>
          <a:xfrm>
            <a:off x="410543" y="5848449"/>
            <a:ext cx="2736304" cy="461665"/>
          </a:xfrm>
          <a:prstGeom prst="rect">
            <a:avLst/>
          </a:prstGeom>
          <a:noFill/>
        </p:spPr>
        <p:txBody>
          <a:bodyPr wrap="square" rtlCol="0">
            <a:spAutoFit/>
          </a:bodyPr>
          <a:lstStyle/>
          <a:p>
            <a:r>
              <a:rPr lang="zh-CN" altLang="en-US" dirty="0">
                <a:latin typeface="隶书" panose="02010509060101010101" pitchFamily="49" charset="-122"/>
                <a:ea typeface="隶书" panose="02010509060101010101" pitchFamily="49" charset="-122"/>
              </a:rPr>
              <a:t>软件设计模式层次</a:t>
            </a:r>
            <a:endParaRPr lang="zh-CN" altLang="en-US" dirty="0">
              <a:latin typeface="隶书" panose="02010509060101010101" pitchFamily="49" charset="-122"/>
              <a:ea typeface="隶书" panose="02010509060101010101" pitchFamily="49" charset="-122"/>
            </a:endParaRPr>
          </a:p>
        </p:txBody>
      </p:sp>
      <p:cxnSp>
        <p:nvCxnSpPr>
          <p:cNvPr id="9" name="Straight Connector 59"/>
          <p:cNvCxnSpPr/>
          <p:nvPr/>
        </p:nvCxnSpPr>
        <p:spPr>
          <a:xfrm flipV="1">
            <a:off x="3650903" y="1053530"/>
            <a:ext cx="0" cy="5112568"/>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4010943" y="1256223"/>
            <a:ext cx="7632848" cy="3970318"/>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zh-CN" altLang="en-US" sz="2800" dirty="0">
                <a:solidFill>
                  <a:schemeClr val="accent1"/>
                </a:solidFill>
                <a:latin typeface="微软雅黑" panose="020B0503020204020204" pitchFamily="34" charset="-122"/>
                <a:ea typeface="微软雅黑" panose="020B0503020204020204" pitchFamily="34" charset="-122"/>
              </a:rPr>
              <a:t>习惯用法</a:t>
            </a:r>
            <a:r>
              <a:rPr lang="zh-CN" altLang="en-US" sz="2800" dirty="0">
                <a:solidFill>
                  <a:srgbClr val="000000"/>
                </a:solidFill>
                <a:latin typeface="微软雅黑" panose="020B0503020204020204" pitchFamily="34" charset="-122"/>
                <a:ea typeface="微软雅黑" panose="020B0503020204020204" pitchFamily="34" charset="-122"/>
              </a:rPr>
              <a:t>：低层模式。</a:t>
            </a:r>
            <a:endParaRPr lang="en-US" altLang="zh-CN" sz="2800" dirty="0">
              <a:solidFill>
                <a:srgbClr val="000000"/>
              </a:solidFill>
              <a:latin typeface="微软雅黑" panose="020B0503020204020204" pitchFamily="34" charset="-122"/>
              <a:ea typeface="微软雅黑" panose="020B0503020204020204" pitchFamily="34" charset="-122"/>
            </a:endParaRPr>
          </a:p>
          <a:p>
            <a:pPr marL="1066800" lvl="1" indent="-457200">
              <a:lnSpc>
                <a:spcPct val="150000"/>
              </a:lnSpc>
              <a:buFont typeface="Wingdings" panose="05000000000000000000" pitchFamily="2" charset="2"/>
              <a:buChar char="l"/>
            </a:pPr>
            <a:r>
              <a:rPr lang="zh-CN" altLang="en-US" sz="2800" dirty="0">
                <a:solidFill>
                  <a:srgbClr val="000000"/>
                </a:solidFill>
                <a:latin typeface="微软雅黑" panose="020B0503020204020204" pitchFamily="34" charset="-122"/>
                <a:ea typeface="微软雅黑" panose="020B0503020204020204" pitchFamily="34" charset="-122"/>
              </a:rPr>
              <a:t>架构模式和设计模式与具体编程语言无关。</a:t>
            </a:r>
            <a:endParaRPr lang="en-US" altLang="zh-CN" sz="2800" dirty="0">
              <a:solidFill>
                <a:srgbClr val="000000"/>
              </a:solidFill>
              <a:latin typeface="微软雅黑" panose="020B0503020204020204" pitchFamily="34" charset="-122"/>
              <a:ea typeface="微软雅黑" panose="020B0503020204020204" pitchFamily="34" charset="-122"/>
            </a:endParaRPr>
          </a:p>
          <a:p>
            <a:pPr marL="1066800" lvl="1" indent="-457200">
              <a:lnSpc>
                <a:spcPct val="150000"/>
              </a:lnSpc>
              <a:buFont typeface="Wingdings" panose="05000000000000000000" pitchFamily="2" charset="2"/>
              <a:buChar char="l"/>
            </a:pPr>
            <a:r>
              <a:rPr lang="zh-CN" altLang="en-US" sz="2800" dirty="0">
                <a:solidFill>
                  <a:srgbClr val="000000"/>
                </a:solidFill>
                <a:latin typeface="微软雅黑" panose="020B0503020204020204" pitchFamily="34" charset="-122"/>
                <a:ea typeface="微软雅黑" panose="020B0503020204020204" pitchFamily="34" charset="-122"/>
              </a:rPr>
              <a:t>习惯用法与具编程语言相关。</a:t>
            </a:r>
            <a:endParaRPr lang="en-US" altLang="zh-CN" sz="2800" dirty="0">
              <a:solidFill>
                <a:srgbClr val="000000"/>
              </a:solidFill>
              <a:latin typeface="微软雅黑" panose="020B0503020204020204" pitchFamily="34" charset="-122"/>
              <a:ea typeface="微软雅黑" panose="020B0503020204020204" pitchFamily="34" charset="-122"/>
            </a:endParaRPr>
          </a:p>
          <a:p>
            <a:pPr marL="1066800" lvl="1" indent="-457200">
              <a:lnSpc>
                <a:spcPct val="150000"/>
              </a:lnSpc>
              <a:buFont typeface="Wingdings" panose="05000000000000000000" pitchFamily="2" charset="2"/>
              <a:buChar char="l"/>
            </a:pPr>
            <a:r>
              <a:rPr lang="zh-CN" altLang="en-US" sz="2800" dirty="0">
                <a:solidFill>
                  <a:srgbClr val="000000"/>
                </a:solidFill>
                <a:latin typeface="微软雅黑" panose="020B0503020204020204" pitchFamily="34" charset="-122"/>
                <a:ea typeface="微软雅黑" panose="020B0503020204020204" pitchFamily="34" charset="-122"/>
              </a:rPr>
              <a:t>习惯用法给出的解决方案与具体编程语言的某种语法机制相关。</a:t>
            </a:r>
            <a:endParaRPr lang="en-US" altLang="zh-CN" sz="2800" dirty="0"/>
          </a:p>
        </p:txBody>
      </p:sp>
      <p:sp>
        <p:nvSpPr>
          <p:cNvPr id="10" name="文本框 2"/>
          <p:cNvSpPr txBox="1"/>
          <p:nvPr/>
        </p:nvSpPr>
        <p:spPr>
          <a:xfrm>
            <a:off x="1730103" y="170270"/>
            <a:ext cx="6961360"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5. </a:t>
            </a:r>
            <a:r>
              <a:rPr lang="zh-CN" altLang="en-US" sz="2800" b="1" dirty="0">
                <a:solidFill>
                  <a:schemeClr val="accent1"/>
                </a:solidFill>
                <a:latin typeface="微软雅黑" panose="020B0503020204020204" pitchFamily="34" charset="-122"/>
                <a:ea typeface="微软雅黑" panose="020B0503020204020204" pitchFamily="34" charset="-122"/>
              </a:rPr>
              <a:t>软件模式层次</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177429" y="909514"/>
            <a:ext cx="10034314" cy="5472608"/>
          </a:xfrm>
          <a:prstGeom prst="rect">
            <a:avLst/>
          </a:prstGeom>
          <a:solidFill>
            <a:srgbClr val="FFFFFF"/>
          </a:solidFill>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20000"/>
              </a:lnSpc>
            </a:pPr>
            <a:r>
              <a:rPr lang="zh-CN" altLang="en-US" sz="2800" dirty="0">
                <a:solidFill>
                  <a:srgbClr val="000000"/>
                </a:solidFill>
                <a:latin typeface="微软雅黑" panose="020B0503020204020204" pitchFamily="34" charset="-122"/>
                <a:ea typeface="微软雅黑" panose="020B0503020204020204" pitchFamily="34" charset="-122"/>
              </a:rPr>
              <a:t>软件设计中的一些重要的设计问题：</a:t>
            </a:r>
            <a:endParaRPr lang="zh-CN" altLang="en-US" sz="2800" dirty="0">
              <a:solidFill>
                <a:srgbClr val="000000"/>
              </a:solidFill>
              <a:latin typeface="微软雅黑" panose="020B0503020204020204" pitchFamily="34" charset="-122"/>
              <a:ea typeface="微软雅黑" panose="020B0503020204020204" pitchFamily="34" charset="-122"/>
            </a:endParaRPr>
          </a:p>
          <a:p>
            <a:pPr lvl="1">
              <a:lnSpc>
                <a:spcPct val="120000"/>
              </a:lnSpc>
            </a:pPr>
            <a:r>
              <a:rPr lang="zh-CN" altLang="en-US" sz="2800" b="1" dirty="0">
                <a:solidFill>
                  <a:srgbClr val="0000CC"/>
                </a:solidFill>
                <a:latin typeface="微软雅黑" panose="020B0503020204020204" pitchFamily="34" charset="-122"/>
                <a:ea typeface="微软雅黑" panose="020B0503020204020204" pitchFamily="34" charset="-122"/>
              </a:rPr>
              <a:t>模块化 </a:t>
            </a:r>
            <a:r>
              <a:rPr lang="en-US" altLang="zh-CN" sz="2800" b="1" dirty="0">
                <a:solidFill>
                  <a:srgbClr val="0000CC"/>
                </a:solidFill>
                <a:latin typeface="微软雅黑" panose="020B0503020204020204" pitchFamily="34" charset="-122"/>
                <a:ea typeface="微软雅黑" panose="020B0503020204020204" pitchFamily="34" charset="-122"/>
              </a:rPr>
              <a:t>(modularization)</a:t>
            </a:r>
            <a:endParaRPr lang="en-US" altLang="zh-CN" sz="2800" b="1" dirty="0">
              <a:solidFill>
                <a:srgbClr val="0000CC"/>
              </a:solidFill>
              <a:latin typeface="微软雅黑" panose="020B0503020204020204" pitchFamily="34" charset="-122"/>
              <a:ea typeface="微软雅黑" panose="020B0503020204020204" pitchFamily="34" charset="-122"/>
            </a:endParaRPr>
          </a:p>
          <a:p>
            <a:pPr lvl="1">
              <a:lnSpc>
                <a:spcPct val="120000"/>
              </a:lnSpc>
            </a:pPr>
            <a:r>
              <a:rPr lang="zh-CN" altLang="en-US" sz="2800" b="1" dirty="0">
                <a:solidFill>
                  <a:srgbClr val="0000CC"/>
                </a:solidFill>
                <a:latin typeface="微软雅黑" panose="020B0503020204020204" pitchFamily="34" charset="-122"/>
                <a:ea typeface="微软雅黑" panose="020B0503020204020204" pitchFamily="34" charset="-122"/>
              </a:rPr>
              <a:t>可扩展性 </a:t>
            </a:r>
            <a:r>
              <a:rPr lang="en-US" altLang="zh-CN" sz="2800" b="1" dirty="0">
                <a:solidFill>
                  <a:srgbClr val="0000CC"/>
                </a:solidFill>
                <a:latin typeface="微软雅黑" panose="020B0503020204020204" pitchFamily="34" charset="-122"/>
                <a:ea typeface="微软雅黑" panose="020B0503020204020204" pitchFamily="34" charset="-122"/>
              </a:rPr>
              <a:t>(extensibility)</a:t>
            </a:r>
            <a:endParaRPr lang="en-US" altLang="zh-CN" sz="2800" b="1" dirty="0">
              <a:solidFill>
                <a:srgbClr val="0000CC"/>
              </a:solidFill>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性能 </a:t>
            </a:r>
            <a:r>
              <a:rPr lang="en-US" altLang="zh-CN" sz="2800" b="1" dirty="0">
                <a:latin typeface="微软雅黑" panose="020B0503020204020204" pitchFamily="34" charset="-122"/>
                <a:ea typeface="微软雅黑" panose="020B0503020204020204" pitchFamily="34" charset="-122"/>
              </a:rPr>
              <a:t>(performance)</a:t>
            </a:r>
            <a:endParaRPr lang="en-US" altLang="zh-CN" sz="2800" b="1" dirty="0">
              <a:latin typeface="微软雅黑" panose="020B0503020204020204" pitchFamily="34" charset="-122"/>
              <a:ea typeface="微软雅黑" panose="020B0503020204020204" pitchFamily="34" charset="-122"/>
            </a:endParaRPr>
          </a:p>
          <a:p>
            <a:pPr lvl="1">
              <a:lnSpc>
                <a:spcPct val="120000"/>
              </a:lnSpc>
            </a:pPr>
            <a:r>
              <a:rPr lang="zh-CN" altLang="en-US" sz="2800" b="1" dirty="0">
                <a:latin typeface="微软雅黑" panose="020B0503020204020204" pitchFamily="34" charset="-122"/>
                <a:ea typeface="微软雅黑" panose="020B0503020204020204" pitchFamily="34" charset="-122"/>
              </a:rPr>
              <a:t>安全性 </a:t>
            </a:r>
            <a:r>
              <a:rPr lang="en-US" altLang="zh-CN" sz="2800" b="1" dirty="0">
                <a:latin typeface="微软雅黑" panose="020B0503020204020204" pitchFamily="34" charset="-122"/>
                <a:ea typeface="微软雅黑" panose="020B0503020204020204" pitchFamily="34" charset="-122"/>
              </a:rPr>
              <a:t>(security)</a:t>
            </a:r>
            <a:endParaRPr lang="en-US" altLang="zh-CN" sz="2800" b="1" dirty="0">
              <a:latin typeface="微软雅黑" panose="020B0503020204020204" pitchFamily="34" charset="-122"/>
              <a:ea typeface="微软雅黑" panose="020B0503020204020204" pitchFamily="34" charset="-122"/>
            </a:endParaRPr>
          </a:p>
          <a:p>
            <a:pPr>
              <a:lnSpc>
                <a:spcPct val="120000"/>
              </a:lnSpc>
            </a:pP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sz="2800" dirty="0">
                <a:solidFill>
                  <a:srgbClr val="000000"/>
                </a:solidFill>
                <a:latin typeface="微软雅黑" panose="020B0503020204020204" pitchFamily="34" charset="-122"/>
                <a:ea typeface="微软雅黑" panose="020B0503020204020204" pitchFamily="34" charset="-122"/>
              </a:rPr>
              <a:t>在软件设计中，需要学习前人的成功经验，需要学习</a:t>
            </a:r>
            <a:endParaRPr lang="zh-CN" altLang="en-US" sz="2800" dirty="0">
              <a:solidFill>
                <a:srgbClr val="000000"/>
              </a:solidFill>
              <a:latin typeface="微软雅黑" panose="020B0503020204020204" pitchFamily="34" charset="-122"/>
              <a:ea typeface="微软雅黑" panose="020B0503020204020204" pitchFamily="34" charset="-122"/>
            </a:endParaRPr>
          </a:p>
          <a:p>
            <a:pPr lvl="1">
              <a:lnSpc>
                <a:spcPct val="120000"/>
              </a:lnSpc>
            </a:pPr>
            <a:r>
              <a:rPr lang="zh-CN" altLang="en-US" sz="2800" b="1" dirty="0">
                <a:solidFill>
                  <a:srgbClr val="0000CC"/>
                </a:solidFill>
                <a:latin typeface="微软雅黑" panose="020B0503020204020204" pitchFamily="34" charset="-122"/>
                <a:ea typeface="微软雅黑" panose="020B0503020204020204" pitchFamily="34" charset="-122"/>
              </a:rPr>
              <a:t>软件设计模式 （</a:t>
            </a:r>
            <a:r>
              <a:rPr lang="en-US" altLang="zh-CN" sz="2800" b="1" dirty="0">
                <a:solidFill>
                  <a:srgbClr val="0000CC"/>
                </a:solidFill>
                <a:latin typeface="微软雅黑" panose="020B0503020204020204" pitchFamily="34" charset="-122"/>
                <a:ea typeface="微软雅黑" panose="020B0503020204020204" pitchFamily="34" charset="-122"/>
              </a:rPr>
              <a:t>software design patterns</a:t>
            </a:r>
            <a:r>
              <a:rPr lang="zh-CN" altLang="en-US" sz="2800" b="1" dirty="0">
                <a:solidFill>
                  <a:srgbClr val="0000CC"/>
                </a:solidFill>
                <a:latin typeface="微软雅黑" panose="020B0503020204020204" pitchFamily="34" charset="-122"/>
                <a:ea typeface="微软雅黑" panose="020B0503020204020204" pitchFamily="34" charset="-122"/>
              </a:rPr>
              <a:t>）</a:t>
            </a:r>
            <a:endParaRPr lang="zh-CN" altLang="en-US" sz="2800" b="1" dirty="0">
              <a:solidFill>
                <a:srgbClr val="0000CC"/>
              </a:solidFill>
              <a:latin typeface="微软雅黑" panose="020B0503020204020204" pitchFamily="34" charset="-122"/>
              <a:ea typeface="微软雅黑" panose="020B0503020204020204" pitchFamily="34" charset="-122"/>
            </a:endParaRPr>
          </a:p>
          <a:p>
            <a:pPr lvl="1">
              <a:lnSpc>
                <a:spcPct val="120000"/>
              </a:lnSpc>
            </a:pPr>
            <a:r>
              <a:rPr lang="zh-CN" altLang="en-US" sz="2800" b="1" dirty="0">
                <a:solidFill>
                  <a:srgbClr val="0000CC"/>
                </a:solidFill>
                <a:latin typeface="微软雅黑" panose="020B0503020204020204" pitchFamily="34" charset="-122"/>
                <a:ea typeface="微软雅黑" panose="020B0503020204020204" pitchFamily="34" charset="-122"/>
              </a:rPr>
              <a:t>软件体系结构 （</a:t>
            </a:r>
            <a:r>
              <a:rPr lang="en-US" altLang="zh-CN" sz="2800" b="1" dirty="0">
                <a:solidFill>
                  <a:srgbClr val="0000CC"/>
                </a:solidFill>
                <a:latin typeface="微软雅黑" panose="020B0503020204020204" pitchFamily="34" charset="-122"/>
                <a:ea typeface="微软雅黑" panose="020B0503020204020204" pitchFamily="34" charset="-122"/>
              </a:rPr>
              <a:t>software architecture</a:t>
            </a:r>
            <a:r>
              <a:rPr lang="zh-CN" altLang="en-US" sz="2800" b="1" dirty="0">
                <a:solidFill>
                  <a:srgbClr val="0000CC"/>
                </a:solidFill>
                <a:latin typeface="微软雅黑" panose="020B0503020204020204" pitchFamily="34" charset="-122"/>
                <a:ea typeface="微软雅黑" panose="020B0503020204020204" pitchFamily="34" charset="-122"/>
              </a:rPr>
              <a:t>）</a:t>
            </a:r>
            <a:endParaRPr lang="zh-CN" altLang="en-US" sz="2800" b="1" dirty="0">
              <a:solidFill>
                <a:srgbClr val="0000CC"/>
              </a:solidFill>
              <a:latin typeface="微软雅黑" panose="020B0503020204020204" pitchFamily="34" charset="-122"/>
              <a:ea typeface="微软雅黑" panose="020B0503020204020204" pitchFamily="34" charset="-122"/>
            </a:endParaRPr>
          </a:p>
        </p:txBody>
      </p:sp>
      <p:sp>
        <p:nvSpPr>
          <p:cNvPr id="5" name="文本框 2"/>
          <p:cNvSpPr txBox="1"/>
          <p:nvPr/>
        </p:nvSpPr>
        <p:spPr>
          <a:xfrm>
            <a:off x="1730103" y="170270"/>
            <a:ext cx="6961360" cy="523220"/>
          </a:xfrm>
          <a:prstGeom prst="rect">
            <a:avLst/>
          </a:prstGeom>
          <a:noFill/>
        </p:spPr>
        <p:txBody>
          <a:bodyPr wrap="square" rtlCol="0">
            <a:spAutoFit/>
          </a:bodyPr>
          <a:lstStyle/>
          <a:p>
            <a:r>
              <a:rPr lang="en-US" altLang="zh-CN" sz="2800" b="1" dirty="0">
                <a:solidFill>
                  <a:schemeClr val="accent1"/>
                </a:solidFill>
                <a:latin typeface="微软雅黑" panose="020B0503020204020204" pitchFamily="34" charset="-122"/>
                <a:ea typeface="微软雅黑" panose="020B0503020204020204" pitchFamily="34" charset="-122"/>
              </a:rPr>
              <a:t>6. </a:t>
            </a:r>
            <a:r>
              <a:rPr lang="zh-CN" altLang="en-US" sz="2800" b="1" dirty="0">
                <a:solidFill>
                  <a:schemeClr val="accent1"/>
                </a:solidFill>
                <a:latin typeface="微软雅黑" panose="020B0503020204020204" pitchFamily="34" charset="-122"/>
                <a:ea typeface="微软雅黑" panose="020B0503020204020204" pitchFamily="34" charset="-122"/>
              </a:rPr>
              <a:t>小结</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fade">
                                      <p:cBhvr>
                                        <p:cTn id="7" dur="1000"/>
                                        <p:tgtEl>
                                          <p:spTgt spid="2">
                                            <p:txEl>
                                              <p:pRg st="6" end="6"/>
                                            </p:txEl>
                                          </p:spTgt>
                                        </p:tgtEl>
                                      </p:cBhvr>
                                    </p:animEffect>
                                    <p:anim calcmode="lin" valueType="num">
                                      <p:cBhvr>
                                        <p:cTn id="8"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7" end="7"/>
                                            </p:txEl>
                                          </p:spTgt>
                                        </p:tgtEl>
                                        <p:attrNameLst>
                                          <p:attrName>style.visibility</p:attrName>
                                        </p:attrNameLst>
                                      </p:cBhvr>
                                      <p:to>
                                        <p:strVal val="visible"/>
                                      </p:to>
                                    </p:set>
                                    <p:animEffect transition="in" filter="fade">
                                      <p:cBhvr>
                                        <p:cTn id="12" dur="1000"/>
                                        <p:tgtEl>
                                          <p:spTgt spid="2">
                                            <p:txEl>
                                              <p:pRg st="7" end="7"/>
                                            </p:txEl>
                                          </p:spTgt>
                                        </p:tgtEl>
                                      </p:cBhvr>
                                    </p:animEffect>
                                    <p:anim calcmode="lin" valueType="num">
                                      <p:cBhvr>
                                        <p:cTn id="13"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7" end="7"/>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animEffect transition="in" filter="fade">
                                      <p:cBhvr>
                                        <p:cTn id="17" dur="1000"/>
                                        <p:tgtEl>
                                          <p:spTgt spid="2">
                                            <p:txEl>
                                              <p:pRg st="8" end="8"/>
                                            </p:txEl>
                                          </p:spTgt>
                                        </p:tgtEl>
                                      </p:cBhvr>
                                    </p:animEffect>
                                    <p:anim calcmode="lin" valueType="num">
                                      <p:cBhvr>
                                        <p:cTn id="18"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1706687" y="170270"/>
            <a:ext cx="6264696" cy="523220"/>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参考书</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59711" y="1672920"/>
            <a:ext cx="4399665" cy="4565186"/>
          </a:xfrm>
          <a:prstGeom prst="rect">
            <a:avLst/>
          </a:prstGeom>
        </p:spPr>
      </p:pic>
      <p:pic>
        <p:nvPicPr>
          <p:cNvPr id="1026" name="Picture 2" descr="C:\Users\Administrator\Desktop\25242383-1_u_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04" y="1197546"/>
            <a:ext cx="5184575" cy="51845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74639" y="1869897"/>
            <a:ext cx="2880320" cy="4080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1706687" y="170270"/>
            <a:ext cx="6264696" cy="523220"/>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参考书</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9130" y="1102124"/>
            <a:ext cx="3905250"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7190" y="1146002"/>
            <a:ext cx="3758209" cy="48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5439" y="1294179"/>
            <a:ext cx="3523048" cy="48107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advTm="0">
    <p:wipe/>
  </p:transition>
</p:sld>
</file>

<file path=ppt/tags/tag1.xml><?xml version="1.0" encoding="utf-8"?>
<p:tagLst xmlns:p="http://schemas.openxmlformats.org/presentationml/2006/main">
  <p:tag name="ISPRING_ULTRA_SCORM_SLIDE_COUNT" val="4"/>
  <p:tag name="ISPRING_PRESENTATION_TITLE" val="PowerPoint 演示文稿"/>
  <p:tag name="ISPRING_RESOURCE_PATHS_HASH_PRESENTER" val="af3f2d575d923f6e4ff64f325e7b41567660d7"/>
  <p:tag name="commondata" val="eyJoZGlkIjoiZmIwNTgzN2VkODcyMGZjYmE5ZDczYWZmOTUyYTJjOTMifQ=="/>
</p:tagLst>
</file>

<file path=ppt/theme/theme1.xml><?xml version="1.0" encoding="utf-8"?>
<a:theme xmlns:a="http://schemas.openxmlformats.org/drawingml/2006/main" name="第一PPT，www.1ppt.com">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4612</Words>
  <Application>WPS 演示</Application>
  <PresentationFormat>Custom</PresentationFormat>
  <Paragraphs>274</Paragraphs>
  <Slides>33</Slides>
  <Notes>30</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57" baseType="lpstr">
      <vt:lpstr>Arial</vt:lpstr>
      <vt:lpstr>宋体</vt:lpstr>
      <vt:lpstr>Wingdings</vt:lpstr>
      <vt:lpstr>微软雅黑</vt:lpstr>
      <vt:lpstr>Eras Bold ITC</vt:lpstr>
      <vt:lpstr>PingFang SC</vt:lpstr>
      <vt:lpstr>FFont-Family</vt:lpstr>
      <vt:lpstr>Helvetica Neue</vt:lpstr>
      <vt:lpstr>Arial Unicode MS</vt:lpstr>
      <vt:lpstr>Calibri</vt:lpstr>
      <vt:lpstr>Times New Roman</vt:lpstr>
      <vt:lpstr>隶书</vt:lpstr>
      <vt:lpstr>Arial</vt:lpstr>
      <vt:lpstr>Roboto condensed</vt:lpstr>
      <vt:lpstr>Times New Roman</vt:lpstr>
      <vt:lpstr>黑体</vt:lpstr>
      <vt:lpstr>KSOFF8957A5C</vt:lpstr>
      <vt:lpstr>Helvetica Neue</vt:lpstr>
      <vt:lpstr>PingFang SC</vt:lpstr>
      <vt:lpstr>Roboto condensed</vt:lpstr>
      <vt:lpstr>Wingdings</vt:lpstr>
      <vt:lpstr>Helvetica LT Pro</vt:lpstr>
      <vt:lpstr>第一PPT，www.1ppt.com</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蓝色简洁</dc:title>
  <dc:creator>第一PPT</dc:creator>
  <cp:keywords>www.1ppt.com</cp:keywords>
  <cp:lastModifiedBy>sxtyg</cp:lastModifiedBy>
  <cp:revision>180</cp:revision>
  <dcterms:created xsi:type="dcterms:W3CDTF">2014-08-23T07:50:00Z</dcterms:created>
  <dcterms:modified xsi:type="dcterms:W3CDTF">2026-09-06T16:15:56Z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78AEDB78F44D4F88A060719643C7C330_12</vt:lpwstr>
  </property>
  <property fmtid="{D5CDD505-2E9C-101B-9397-08002B2CF9AE}" pid="3" name="KSOProductBuildVer">
    <vt:lpwstr>2052-12.1.0.28488</vt:lpwstr>
  </property>
</Properties>
</file>