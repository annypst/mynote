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20" r:id="rId5"/>
    <p:sldId id="371" r:id="rId6"/>
    <p:sldId id="380" r:id="rId7"/>
    <p:sldId id="372" r:id="rId8"/>
    <p:sldId id="373" r:id="rId9"/>
    <p:sldId id="381" r:id="rId10"/>
    <p:sldId id="382" r:id="rId11"/>
    <p:sldId id="384" r:id="rId12"/>
    <p:sldId id="385" r:id="rId13"/>
    <p:sldId id="386" r:id="rId14"/>
    <p:sldId id="387" r:id="rId15"/>
    <p:sldId id="388" r:id="rId16"/>
    <p:sldId id="390" r:id="rId17"/>
    <p:sldId id="391" r:id="rId18"/>
    <p:sldId id="379" r:id="rId19"/>
    <p:sldId id="392" r:id="rId20"/>
  </p:sldIdLst>
  <p:sldSz cx="12198350" cy="6859270"/>
  <p:notesSz cx="6858000" cy="9144000"/>
  <p:custDataLst>
    <p:tags r:id="rId24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 varScale="1">
        <p:scale>
          <a:sx n="105" d="100"/>
          <a:sy n="105" d="100"/>
        </p:scale>
        <p:origin x="-678" y="-9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824" y="130098"/>
            <a:ext cx="2749999" cy="331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44823" y="2118549"/>
            <a:ext cx="93028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开闭</a:t>
            </a:r>
            <a:r>
              <a:rPr lang="zh-CN" altLang="zh-CN" sz="28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原则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：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Open-Closed Principle (OCP)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，是面向对象设计的可复用设计的第一块基石，是最重要的面向对象设计原则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“一国两制”谈起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 descr="https://timgsa.baidu.com/timg?image&amp;quality=80&amp;size=b9999_10000&amp;sec=1582694926549&amp;di=f0781214aeed4fb4440d834f95c9e4f2&amp;imgtype=0&amp;src=http%3A%2F%2F5b0988e595225.cdn.sohucs.com%2Fimages%2F20181204%2F0d1955a5c1794297b6938235f45369a9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794" y="837506"/>
            <a:ext cx="7632848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58615" y="4797946"/>
            <a:ext cx="950505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“一国两制”创造性想法的核心：大陆的社会主义制度不能修改；可以给香港、澳门扩展出另一种管理制度。</a:t>
            </a:r>
            <a:endParaRPr lang="en-US" altLang="zh-CN" sz="2800" b="1" dirty="0" smtClean="0"/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不能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修改、可以扩展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4599" y="4033404"/>
          <a:ext cx="7344816" cy="1512168"/>
        </p:xfrm>
        <a:graphic>
          <a:graphicData uri="http://schemas.openxmlformats.org/drawingml/2006/table">
            <a:tbl>
              <a:tblPr/>
              <a:tblGrid>
                <a:gridCol w="7344816"/>
              </a:tblGrid>
              <a:tr h="1512168">
                <a:tc>
                  <a:txBody>
                    <a:bodyPr/>
                    <a:lstStyle/>
                    <a:p>
                      <a:pPr indent="2622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开闭</a:t>
                      </a:r>
                      <a:r>
                        <a:rPr lang="zh-CN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原则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即开放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封闭原则，软件实体（类、模块、函数等）应该可以扩展，但是不能修改。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70583" y="1269554"/>
            <a:ext cx="10153128" cy="2031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开闭</a:t>
            </a:r>
            <a:r>
              <a:rPr lang="zh-CN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原则：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软件实体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应当对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扩展开放，对修改关闭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(OCP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):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Software entities should be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for extension, but closed for modification. </a:t>
            </a:r>
            <a:r>
              <a:rPr lang="en-US" altLang="zh-CN" sz="2800" i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(Bertrand Meyer,1988)</a:t>
            </a:r>
            <a:endParaRPr lang="en-US" altLang="zh-CN" sz="28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918" y="3573810"/>
            <a:ext cx="1952625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81522"/>
            <a:ext cx="11017224" cy="5176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在开闭原则的定义中，软件实体可以是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一个软件模块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一个由多个类组成的局部结构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一个独立的类</a:t>
            </a:r>
            <a:endParaRPr lang="en-US" altLang="zh-CN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开闭原则是指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软件实体应尽量在不修改原有代码的情况下进行</a:t>
            </a:r>
            <a:r>
              <a:rPr lang="zh-CN" altLang="en-US" sz="2800" kern="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扩展，面对需求，对程序的改动是增加新代码，不是更改现有代码。</a:t>
            </a:r>
            <a:endParaRPr lang="en-US" altLang="zh-CN" sz="2800" kern="0" dirty="0" smtClean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抽象化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是开闭原则的关键</a:t>
            </a:r>
            <a:endParaRPr lang="en-US" altLang="zh-CN" sz="28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相对稳定的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抽象层 </a:t>
            </a: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灵活的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具体层</a:t>
            </a:r>
            <a:endParaRPr lang="zh-CN" altLang="en-US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系统的可变因素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并将其封装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起来。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模式优缺点评价的重要依据，判断基于该模式设计的系统是否具有良好的灵活性和可扩展性。</a:t>
            </a:r>
            <a:endParaRPr lang="zh-CN" altLang="en-US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86334" y="3242351"/>
          <a:ext cx="5256584" cy="1920240"/>
        </p:xfrm>
        <a:graphic>
          <a:graphicData uri="http://schemas.openxmlformats.org/drawingml/2006/table">
            <a:tbl>
              <a:tblPr/>
              <a:tblGrid>
                <a:gridCol w="5256584"/>
              </a:tblGrid>
              <a:tr h="1901825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charset="-122"/>
                        </a:defRPr>
                      </a:lvl9pPr>
                    </a:lstStyle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Ibook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接口；</a:t>
                      </a:r>
                      <a:endParaRPr lang="en-US" altLang="zh-CN" sz="28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NovelBook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是一个具体实现类；</a:t>
                      </a:r>
                      <a:endParaRPr lang="en-US" altLang="zh-CN" sz="28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80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BookStore</a:t>
                      </a:r>
                      <a:r>
                        <a:rPr lang="zh-CN" altLang="en-US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是书店</a:t>
                      </a:r>
                      <a:r>
                        <a:rPr lang="zh-CN" sz="28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643363" y="6064473"/>
            <a:ext cx="2837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b="1" kern="100" dirty="0" smtClean="0">
                <a:latin typeface="Times New Roman" panose="02020603050405020304"/>
                <a:cs typeface="Times New Roman" panose="02020603050405020304"/>
              </a:rPr>
              <a:t>3-1 </a:t>
            </a:r>
            <a:r>
              <a:rPr lang="zh-CN" altLang="en-US" b="1" kern="100" dirty="0" smtClean="0">
                <a:latin typeface="Times New Roman" panose="02020603050405020304"/>
                <a:cs typeface="Times New Roman" panose="02020603050405020304"/>
              </a:rPr>
              <a:t>书店售书类图</a:t>
            </a:r>
            <a:endParaRPr lang="zh-CN" altLang="zh-CN" kern="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27" y="1197546"/>
            <a:ext cx="6192688" cy="4596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62861" y="1459156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设计一个书店销售书籍的系统</a:t>
            </a:r>
            <a:endParaRPr lang="zh-CN" altLang="en-US" sz="2800" b="1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46647" y="6078666"/>
            <a:ext cx="2837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b="1" kern="100" dirty="0" smtClean="0">
                <a:latin typeface="Times New Roman" panose="02020603050405020304"/>
                <a:cs typeface="Times New Roman" panose="02020603050405020304"/>
              </a:rPr>
              <a:t>3-1 </a:t>
            </a:r>
            <a:r>
              <a:rPr lang="zh-CN" altLang="en-US" b="1" kern="100" dirty="0" smtClean="0">
                <a:latin typeface="Times New Roman" panose="02020603050405020304"/>
                <a:cs typeface="Times New Roman" panose="02020603050405020304"/>
              </a:rPr>
              <a:t>书店售书类图</a:t>
            </a:r>
            <a:endParaRPr lang="zh-CN" altLang="zh-CN" kern="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7" y="1353960"/>
            <a:ext cx="6192688" cy="4596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408712" y="1291034"/>
            <a:ext cx="5091063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public interface IBook {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	//</a:t>
            </a:r>
            <a:r>
              <a:rPr lang="zh-CN" altLang="en-US" dirty="0"/>
              <a:t>书籍有名称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public String </a:t>
            </a:r>
            <a:r>
              <a:rPr lang="en-US" altLang="zh-CN" dirty="0" err="1"/>
              <a:t>getName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	//</a:t>
            </a:r>
            <a:r>
              <a:rPr lang="zh-CN" altLang="en-US" dirty="0"/>
              <a:t>书籍有售价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public int </a:t>
            </a:r>
            <a:r>
              <a:rPr lang="en-US" altLang="zh-CN" dirty="0" err="1"/>
              <a:t>getPrice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	//</a:t>
            </a:r>
            <a:r>
              <a:rPr lang="zh-CN" altLang="en-US" dirty="0"/>
              <a:t>书籍有作者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public String </a:t>
            </a:r>
            <a:r>
              <a:rPr lang="en-US" altLang="zh-CN" dirty="0" err="1"/>
              <a:t>getAuthor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861" y="1053530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设计一个书店销售书籍的系统</a:t>
            </a:r>
            <a:endParaRPr lang="zh-CN" altLang="en-US" sz="2800" b="1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46647" y="6078666"/>
            <a:ext cx="2837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b="1" kern="100" dirty="0" smtClean="0">
                <a:latin typeface="Times New Roman" panose="02020603050405020304"/>
                <a:cs typeface="Times New Roman" panose="02020603050405020304"/>
              </a:rPr>
              <a:t>3-1 </a:t>
            </a:r>
            <a:r>
              <a:rPr lang="zh-CN" altLang="en-US" b="1" kern="100" dirty="0" smtClean="0">
                <a:latin typeface="Times New Roman" panose="02020603050405020304"/>
                <a:cs typeface="Times New Roman" panose="02020603050405020304"/>
              </a:rPr>
              <a:t>书店售书类图</a:t>
            </a:r>
            <a:endParaRPr lang="zh-CN" altLang="zh-CN" kern="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7" y="1845618"/>
            <a:ext cx="4464496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731023" y="903119"/>
            <a:ext cx="7272808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implements IBook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name;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price;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author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(String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name,int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price,String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_author){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this.name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_name;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this.price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_price;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this.author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_author;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getAuthor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this.author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getName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{return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this.name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this.price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0543" y="903119"/>
            <a:ext cx="11593288" cy="53245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BookStore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static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&lt;IBook&gt;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&lt;IBook&gt;();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静态模块初始化，项目中一般是从持久层初始化产生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static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天龙八部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",3200,"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金庸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巴黎圣母院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",5600,"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雨果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悲惨世界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",3500,"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雨果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模拟书店买书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void main(String[]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NumberFormat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formatter =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NumberFormat.getCurrencyInstance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formatter.setMaximumFractionDigits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("------------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书店买出去的书籍记录如下：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---------------------");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for(IBook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book:bookList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书籍名称：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()+"\t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书籍作者：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book.getAuthor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()+ "\t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书籍价格：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formatter.format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book.getPrice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()/100.0)+"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6567" y="981522"/>
            <a:ext cx="10153128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现在需求发生变化，书店打折销售。所有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元以上的书籍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折销售，其他的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折销售。如何解决？？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75" y="2493690"/>
            <a:ext cx="10081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方案一：修改接口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上新增加一个方法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getOffPrice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，专门用于进行打折处理，所有的实现类实现该方法。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带来问题：实现类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要修改，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BookStore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方法也要修改。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作为接口也应该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稳定且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可靠。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方案否定！！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6567" y="981522"/>
            <a:ext cx="10153128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现在需求发生变化，书店打折销售。所有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元以上的书籍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折销售，其他的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折销售。如何解决？？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75" y="2493690"/>
            <a:ext cx="10081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方案二：修改实现类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类中的方法，直接在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getPrice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中实现打折处理，替换旧的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带来问题：采购人员也要查看价格，但是看到的是打折后的价格，可能引起决策失误。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非最优方案！！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6567" y="981522"/>
            <a:ext cx="10153128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现在需求发生变化，书店打折销售。所有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元以上的书籍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折销售，其他的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折销售。如何解决？？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75" y="2493690"/>
            <a:ext cx="10081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方案三：通过扩展实现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增加一个子类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覆写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getPrice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方法。高层次的模块（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静态模块区）通过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类产生新的对象。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修改少，风险小。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方案！！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505" y="1358955"/>
            <a:ext cx="4320480" cy="509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514999" y="903119"/>
            <a:ext cx="7488832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extends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(String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name,int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price,String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_author){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super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name,_price,_author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覆写销售价格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super.getPrice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if(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selfPrice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&gt;4000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offPrice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90/100;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}else{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offPrice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80/100;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offPrice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0543" y="903119"/>
            <a:ext cx="11593288" cy="53245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BookStore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static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&lt;IBook&gt;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&lt;IBook&gt;();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静态模块初始化，项目中一般是从持久层初始化产生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static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天龙八部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",3200,"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金庸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巴黎圣母院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",5600,"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雨果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bookList.add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OffNovelBook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悲惨世界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",3500,"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雨果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模拟书店买书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void main(String[]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NumberFormat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formatter =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NumberFormat.getCurrencyInstance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formatter.setMaximumFractionDigits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("------------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书店买出去的书籍记录如下：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---------------------");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for(IBook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book:bookList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书籍名称：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()+"\t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书籍作者：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book.getAuthor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()+ "\t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书籍价格：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formatter.format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book.getPrice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()/100.0)+"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6567" y="1125538"/>
            <a:ext cx="103691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子类实现了需求变化的适应。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没改变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NovelBook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原有代码并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没修改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（开闭原则的关闭修改，不是绝对的无任何修改，低层模块的变更，必然要有高层模块进行耦合，否则就是孤立无意义的代码。）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项目基本路径：项目开发、重构、测试、投产、运维。其中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重构可以对原有设计和代码进行修改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，运维尽量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减少对原有代码的修改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，保持历史代码的纯洁性，提高系统的稳定性。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8575" y="765498"/>
            <a:ext cx="1036915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任何系统一开始的需求都做不到考虑以后的任何变化，怎样的设计才能面对需求的改变却可以保持相对稳定，从而使得系统可以在第一个版本后不断推出新的版本呢？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开闭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何时应对变化？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开闭原则是面向对象设计的核心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带来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的好处就是可维护、可扩展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复用、灵活性好。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2" name="Picture 4" descr="https://timgsa.baidu.com/timg?image&amp;quality=80&amp;size=b9999_10000&amp;sec=1582701845025&amp;di=761358eba3bf471a425886080d14ae08&amp;imgtype=0&amp;src=http%3A%2F%2Fsx.oexing.com%2Fpublic%2Fuploads%2Fueditor%2Fimage%2F20200109%2F157856001733618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263" y="3141762"/>
            <a:ext cx="4319537" cy="257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6687" y="3789834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开放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扩展，封闭更改，开合有度是一门艺术。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39" y="1341562"/>
            <a:ext cx="9770560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3803</Words>
  <Application>WPS 演示</Application>
  <PresentationFormat>自定义</PresentationFormat>
  <Paragraphs>175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Eras Bold ITC</vt:lpstr>
      <vt:lpstr>微软雅黑</vt:lpstr>
      <vt:lpstr>Times New Roman</vt:lpstr>
      <vt:lpstr>Tahoma</vt:lpstr>
      <vt:lpstr>隶书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186</cp:revision>
  <dcterms:created xsi:type="dcterms:W3CDTF">2014-08-23T07:50:00Z</dcterms:created>
  <dcterms:modified xsi:type="dcterms:W3CDTF">2024-09-01T14:54:04Z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61D7BA8E37A04550BA2C5A0A61091D36_12</vt:lpwstr>
  </property>
  <property fmtid="{D5CDD505-2E9C-101B-9397-08002B2CF9AE}" pid="3" name="KSOProductBuildVer">
    <vt:lpwstr>2052-12.1.0.17827</vt:lpwstr>
  </property>
</Properties>
</file>