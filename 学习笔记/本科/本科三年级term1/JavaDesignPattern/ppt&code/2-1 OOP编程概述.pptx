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09" r:id="rId5"/>
    <p:sldId id="320" r:id="rId6"/>
    <p:sldId id="371" r:id="rId7"/>
    <p:sldId id="373" r:id="rId8"/>
    <p:sldId id="374" r:id="rId9"/>
    <p:sldId id="376" r:id="rId10"/>
    <p:sldId id="372" r:id="rId11"/>
    <p:sldId id="375" r:id="rId12"/>
    <p:sldId id="377" r:id="rId13"/>
    <p:sldId id="378" r:id="rId14"/>
    <p:sldId id="380" r:id="rId15"/>
  </p:sldIdLst>
  <p:sldSz cx="12198350" cy="6859270"/>
  <p:notesSz cx="6858000" cy="9144000"/>
  <p:custDataLst>
    <p:tags r:id="rId19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>
        <p:scale>
          <a:sx n="66" d="100"/>
          <a:sy n="66" d="100"/>
        </p:scale>
        <p:origin x="-2196" y="-954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baike.baidu.com/item/%E6%B3%A5%E6%B4%BB%E5%AD%97/7258213" TargetMode="External"/><Relationship Id="rId2" Type="http://schemas.openxmlformats.org/officeDocument/2006/relationships/hyperlink" Target="https://baike.baidu.com/item/%E5%8C%97%E5%AE%8B/396063" TargetMode="Externa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21505" y="-7900"/>
            <a:ext cx="12193647" cy="68606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73270" y="3002496"/>
            <a:ext cx="4606383" cy="95410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编程概述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2631" y="1176635"/>
            <a:ext cx="99371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面向对象程序设计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中，概念知道？是否清楚？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bject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）？类（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）？方法（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ethod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构造方法（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Construction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）？抽象类（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Abstract class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nterface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使用？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好处在哪？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可维护、可复用、可扩展、灵活性好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C:\Users\Administrator\Desktop\u=3012986301,1042706185&amp;fm=26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671" y="909513"/>
            <a:ext cx="8424936" cy="572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 descr="https://ss2.baidu.com/6ONYsjip0QIZ8tyhnq/it/u=2758446572,774176915&amp;fm=173&amp;app=25&amp;f=JPG?w=640&amp;h=403&amp;s=AEA067874E0138DE170504B10300C0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779" y="3141762"/>
            <a:ext cx="514598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6567" y="837506"/>
            <a:ext cx="10095020" cy="513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三国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时期，曹操曹操率军南下，荆州之主刘琮率众而降，轻易收复了荆襄之地。接着准备进军东吴，平定江南。就算孙权和刘备联盟，兵力总共不过十万，而自己八十万大军，可谓胜利在望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曹操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站在一只大船甲板上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，检阅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水军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，见水军部队整齐有序，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威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凛凛，势不可挡，心情格外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舒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畅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，大摆宴席，与会文臣武将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喝酒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咏歌，作诗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抒情。。。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2494" y="1177552"/>
            <a:ext cx="4622977" cy="2036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dirty="0" smtClean="0"/>
              <a:t> 喝酒唱歌，人生真爽</a:t>
            </a:r>
            <a:endParaRPr lang="en-US" altLang="zh-CN" sz="3600" dirty="0" smtClean="0"/>
          </a:p>
          <a:p>
            <a:r>
              <a:rPr lang="en-US" altLang="zh-CN" sz="3600" dirty="0" smtClean="0"/>
              <a:t> ……</a:t>
            </a:r>
            <a:endParaRPr lang="zh-CN" altLang="en-US" sz="3600" dirty="0"/>
          </a:p>
        </p:txBody>
      </p:sp>
      <p:sp>
        <p:nvSpPr>
          <p:cNvPr id="4" name="右箭头 3"/>
          <p:cNvSpPr/>
          <p:nvPr/>
        </p:nvSpPr>
        <p:spPr>
          <a:xfrm>
            <a:off x="5667127" y="2107228"/>
            <a:ext cx="1224136" cy="438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84110" y="4057872"/>
            <a:ext cx="4622977" cy="2036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dirty="0" smtClean="0"/>
              <a:t> 对酒当歌，人生真爽</a:t>
            </a:r>
            <a:endParaRPr lang="en-US" altLang="zh-CN" sz="3600" dirty="0" smtClean="0"/>
          </a:p>
          <a:p>
            <a:r>
              <a:rPr lang="en-US" altLang="zh-CN" sz="3600" dirty="0" smtClean="0"/>
              <a:t> ……</a:t>
            </a:r>
            <a:endParaRPr lang="zh-CN" altLang="en-US" sz="3600" dirty="0"/>
          </a:p>
        </p:txBody>
      </p:sp>
      <p:sp>
        <p:nvSpPr>
          <p:cNvPr id="6" name="下箭头 5"/>
          <p:cNvSpPr/>
          <p:nvPr/>
        </p:nvSpPr>
        <p:spPr>
          <a:xfrm>
            <a:off x="2642791" y="3429794"/>
            <a:ext cx="504056" cy="5560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667127" y="4896376"/>
            <a:ext cx="1224136" cy="438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22" name="Picture 2" descr="https://timgsa.baidu.com/timg?image&amp;quality=80&amp;size=b9999_10000&amp;sec=1582636929327&amp;di=20591e322423d1652afd405ca12eb4f7&amp;imgtype=0&amp;src=http%3A%2F%2Fdpic.tiankong.com%2F5s%2F3w%2FQJ6462251032.jpg%3Fx-oss-process%3Dstyle%2Fshow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223" y="987477"/>
            <a:ext cx="3805472" cy="244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timgsa.baidu.com/timg?image&amp;quality=80&amp;size=b9999_10000&amp;sec=1582637021123&amp;di=0babec1f5132b06dfd13aa426bb2134f&amp;imgtype=0&amp;src=http%3A%2F%2Fimg.tukexw.com%2Fimg%2Fc56c2c5debdbf4e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367" y="3458808"/>
            <a:ext cx="25146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6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2494" y="1177552"/>
            <a:ext cx="4622977" cy="2036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dirty="0" smtClean="0"/>
              <a:t> 对酒当歌，人生几何</a:t>
            </a:r>
            <a:endParaRPr lang="en-US" altLang="zh-CN" sz="3600" dirty="0" smtClean="0"/>
          </a:p>
          <a:p>
            <a:r>
              <a:rPr lang="en-US" altLang="zh-CN" sz="3600" dirty="0" smtClean="0"/>
              <a:t> ……</a:t>
            </a:r>
            <a:endParaRPr lang="zh-CN" altLang="en-US" sz="3600" dirty="0"/>
          </a:p>
        </p:txBody>
      </p:sp>
      <p:sp>
        <p:nvSpPr>
          <p:cNvPr id="4" name="右箭头 3"/>
          <p:cNvSpPr/>
          <p:nvPr/>
        </p:nvSpPr>
        <p:spPr>
          <a:xfrm>
            <a:off x="5667127" y="2107228"/>
            <a:ext cx="1224136" cy="438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 descr="https://timgsa.baidu.com/timg?image&amp;quality=80&amp;size=b9999_10000&amp;sec=1582637039545&amp;di=8db5fb171c155200b42cee2591579b0d&amp;imgtype=0&amp;src=http%3A%2F%2Fimg.tukexw.com%2Fimg%2F7f9eaf6c3d882b4c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367" y="981223"/>
            <a:ext cx="242887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836510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喝</a:t>
            </a:r>
            <a:endParaRPr lang="zh-CN" altLang="en-US" sz="3600" dirty="0"/>
          </a:p>
        </p:txBody>
      </p:sp>
      <p:sp>
        <p:nvSpPr>
          <p:cNvPr id="12" name="矩形 11"/>
          <p:cNvSpPr/>
          <p:nvPr/>
        </p:nvSpPr>
        <p:spPr>
          <a:xfrm>
            <a:off x="1968933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酒</a:t>
            </a:r>
            <a:endParaRPr lang="zh-CN" altLang="en-US" sz="3600" dirty="0"/>
          </a:p>
        </p:txBody>
      </p:sp>
      <p:sp>
        <p:nvSpPr>
          <p:cNvPr id="13" name="矩形 12"/>
          <p:cNvSpPr/>
          <p:nvPr/>
        </p:nvSpPr>
        <p:spPr>
          <a:xfrm>
            <a:off x="3101356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唱</a:t>
            </a:r>
            <a:endParaRPr lang="zh-CN" altLang="en-US" sz="3600" dirty="0"/>
          </a:p>
        </p:txBody>
      </p:sp>
      <p:sp>
        <p:nvSpPr>
          <p:cNvPr id="14" name="矩形 13"/>
          <p:cNvSpPr/>
          <p:nvPr/>
        </p:nvSpPr>
        <p:spPr>
          <a:xfrm>
            <a:off x="4233779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歌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5366202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人</a:t>
            </a:r>
            <a:endParaRPr lang="zh-CN" altLang="en-US" sz="3600" dirty="0"/>
          </a:p>
        </p:txBody>
      </p:sp>
      <p:sp>
        <p:nvSpPr>
          <p:cNvPr id="16" name="矩形 15"/>
          <p:cNvSpPr/>
          <p:nvPr/>
        </p:nvSpPr>
        <p:spPr>
          <a:xfrm>
            <a:off x="6498625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生</a:t>
            </a:r>
            <a:endParaRPr lang="zh-CN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7631048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真</a:t>
            </a:r>
            <a:endParaRPr lang="zh-CN" altLang="en-US" sz="3600" dirty="0"/>
          </a:p>
        </p:txBody>
      </p:sp>
      <p:sp>
        <p:nvSpPr>
          <p:cNvPr id="18" name="矩形 17"/>
          <p:cNvSpPr/>
          <p:nvPr/>
        </p:nvSpPr>
        <p:spPr>
          <a:xfrm>
            <a:off x="8763471" y="3645818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爽</a:t>
            </a:r>
            <a:endParaRPr lang="zh-CN" altLang="en-US" sz="3600" dirty="0"/>
          </a:p>
        </p:txBody>
      </p:sp>
      <p:sp>
        <p:nvSpPr>
          <p:cNvPr id="19" name="矩形 18"/>
          <p:cNvSpPr/>
          <p:nvPr/>
        </p:nvSpPr>
        <p:spPr>
          <a:xfrm>
            <a:off x="842591" y="5229994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对</a:t>
            </a:r>
            <a:endParaRPr lang="zh-CN" altLang="en-US" sz="3600" dirty="0"/>
          </a:p>
        </p:txBody>
      </p:sp>
      <p:sp>
        <p:nvSpPr>
          <p:cNvPr id="20" name="矩形 19"/>
          <p:cNvSpPr/>
          <p:nvPr/>
        </p:nvSpPr>
        <p:spPr>
          <a:xfrm>
            <a:off x="3074839" y="5229994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当</a:t>
            </a:r>
            <a:endParaRPr lang="zh-CN" altLang="en-US" sz="3600" dirty="0"/>
          </a:p>
        </p:txBody>
      </p:sp>
      <p:sp>
        <p:nvSpPr>
          <p:cNvPr id="21" name="矩形 20"/>
          <p:cNvSpPr/>
          <p:nvPr/>
        </p:nvSpPr>
        <p:spPr>
          <a:xfrm>
            <a:off x="7611343" y="5229994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几</a:t>
            </a:r>
            <a:endParaRPr lang="zh-CN" altLang="en-US" sz="3600" dirty="0"/>
          </a:p>
        </p:txBody>
      </p:sp>
      <p:sp>
        <p:nvSpPr>
          <p:cNvPr id="22" name="矩形 21"/>
          <p:cNvSpPr/>
          <p:nvPr/>
        </p:nvSpPr>
        <p:spPr>
          <a:xfrm>
            <a:off x="8763471" y="5229994"/>
            <a:ext cx="720080" cy="720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何</a:t>
            </a:r>
            <a:endParaRPr lang="zh-CN" altLang="en-US" sz="3600" dirty="0"/>
          </a:p>
        </p:txBody>
      </p:sp>
      <p:sp>
        <p:nvSpPr>
          <p:cNvPr id="7" name="上下箭头 6"/>
          <p:cNvSpPr/>
          <p:nvPr/>
        </p:nvSpPr>
        <p:spPr>
          <a:xfrm>
            <a:off x="1058615" y="4437906"/>
            <a:ext cx="216024" cy="6480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上下箭头 23"/>
          <p:cNvSpPr/>
          <p:nvPr/>
        </p:nvSpPr>
        <p:spPr>
          <a:xfrm>
            <a:off x="3362871" y="4437906"/>
            <a:ext cx="216024" cy="6480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上下箭头 24"/>
          <p:cNvSpPr/>
          <p:nvPr/>
        </p:nvSpPr>
        <p:spPr>
          <a:xfrm>
            <a:off x="7899375" y="4437906"/>
            <a:ext cx="216024" cy="6480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上下箭头 25"/>
          <p:cNvSpPr/>
          <p:nvPr/>
        </p:nvSpPr>
        <p:spPr>
          <a:xfrm>
            <a:off x="9051503" y="4437906"/>
            <a:ext cx="216024" cy="6480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54559" y="6136481"/>
            <a:ext cx="11305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hlinkClick r:id="rId2"/>
              </a:rPr>
              <a:t>北宋</a:t>
            </a:r>
            <a:r>
              <a:rPr lang="zh-CN" altLang="en-US" b="1" dirty="0" smtClean="0"/>
              <a:t>年间</a:t>
            </a:r>
            <a:r>
              <a:rPr lang="zh-CN" altLang="en-US" b="1" dirty="0"/>
              <a:t>（</a:t>
            </a:r>
            <a:r>
              <a:rPr lang="en-US" altLang="zh-CN" b="1" dirty="0"/>
              <a:t>1041</a:t>
            </a:r>
            <a:r>
              <a:rPr lang="zh-CN" altLang="en-US" b="1" dirty="0"/>
              <a:t>年</a:t>
            </a:r>
            <a:r>
              <a:rPr lang="en-US" altLang="zh-CN" b="1" dirty="0"/>
              <a:t>-1048</a:t>
            </a:r>
            <a:r>
              <a:rPr lang="zh-CN" altLang="en-US" b="1" dirty="0"/>
              <a:t>年）中国的毕</a:t>
            </a:r>
            <a:r>
              <a:rPr lang="zh-CN" altLang="en-US" b="1" dirty="0" smtClean="0"/>
              <a:t>昇发明</a:t>
            </a:r>
            <a:r>
              <a:rPr lang="zh-CN" altLang="en-US" b="1" dirty="0"/>
              <a:t>的</a:t>
            </a:r>
            <a:r>
              <a:rPr lang="zh-CN" altLang="en-US" b="1" dirty="0">
                <a:hlinkClick r:id="rId3"/>
              </a:rPr>
              <a:t>泥活字</a:t>
            </a:r>
            <a:r>
              <a:rPr lang="zh-CN" altLang="en-US" b="1" dirty="0"/>
              <a:t>，标志着活字印刷术的诞生。</a:t>
            </a:r>
            <a:endParaRPr lang="zh-CN" altLang="en-US" b="1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7" grpId="0" animBg="1"/>
      <p:bldP spid="24" grpId="0" animBg="1"/>
      <p:bldP spid="25" grpId="0" animBg="1"/>
      <p:bldP spid="26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 descr="https://ss0.bdstatic.com/70cFuHSh_Q1YnxGkpoWK1HF6hhy/it/u=2011687741,3326385619&amp;fm=26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15" y="1204578"/>
            <a:ext cx="10297144" cy="496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9027" y="978306"/>
            <a:ext cx="593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活字印刷术与面向对象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859087" y="117426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四大发明之活字印刷术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19027" y="1845618"/>
            <a:ext cx="90286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可维护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：只需改动需要改的文字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可复用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：刻版可用于多次印刷，重复使用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：诗歌要加文字，刻字加入即可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灵活性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：比如可横版，可竖版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599" y="4995967"/>
            <a:ext cx="9145016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中国人民的智慧是无穷的！！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—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鲁迅说的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47247" y="1125538"/>
            <a:ext cx="3600400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面向对象的三大特性：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多态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859087" y="117426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OOP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编程优点、特性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583" y="1053530"/>
            <a:ext cx="4544888" cy="33239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面向对象编程优点：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可维护</a:t>
            </a:r>
            <a:r>
              <a:rPr lang="en-US" altLang="zh-CN" sz="2800" dirty="0"/>
              <a:t>(Maintainability)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可复用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(Reusability)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sz="2800" dirty="0"/>
              <a:t>(Extensibility)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灵活性</a:t>
            </a:r>
            <a:r>
              <a:rPr lang="en-US" altLang="zh-CN" sz="2800" dirty="0" smtClean="0"/>
              <a:t>(</a:t>
            </a:r>
            <a:r>
              <a:rPr lang="en-US" altLang="zh-CN" sz="2800" dirty="0"/>
              <a:t>Flexibility)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2591" y="4566240"/>
            <a:ext cx="10513168" cy="18158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其他术语：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耦合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(coupling)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、方法重载、覆盖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override)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、重构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(Refactoring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、组合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(Composition)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、聚合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(Aggregation)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1859087" y="117426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OOP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编程七大原则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14599" y="1341562"/>
            <a:ext cx="10225136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可维护性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指软件能够被理解、改正、适应及扩展的难易程度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可复用性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指软件能够被重复使用的难易程度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个非常重要的用于</a:t>
            </a:r>
            <a:r>
              <a:rPr lang="zh-CN" altLang="en-US" sz="28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衡量软件质量的属性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面向对象设计的目标之一在于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支持可维护性复用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，一方面需要实现设计方案或者源代码的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复用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，另一方面要确保系统能够易于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扩展和修改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，具有良好的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可维护性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1859087" y="117426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OOP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编程七大原则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274639" y="1197546"/>
            <a:ext cx="9505056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面向对象设计原则为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支持可维护性复用而诞生</a:t>
            </a:r>
            <a:endParaRPr kumimoji="0" lang="en-US" altLang="zh-CN" sz="2800" b="0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指导性原则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非强制性原则</a:t>
            </a:r>
            <a:endParaRPr kumimoji="0" lang="en-US" altLang="zh-CN" sz="2800" b="0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每一个设计模式都符合一个或多个面向对象设计原则，面向对象设计原则是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用于评价一个设计模式的使用效果的重要指标之一</a:t>
            </a:r>
            <a:endParaRPr kumimoji="0" lang="en-US" altLang="zh-CN" sz="2800" b="0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1859087" y="117426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OOP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编程七大原则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6607" y="909514"/>
          <a:ext cx="10657184" cy="5468479"/>
        </p:xfrm>
        <a:graphic>
          <a:graphicData uri="http://schemas.openxmlformats.org/drawingml/2006/table">
            <a:tbl>
              <a:tblPr/>
              <a:tblGrid>
                <a:gridCol w="3096344"/>
                <a:gridCol w="5544616"/>
                <a:gridCol w="2016224"/>
              </a:tblGrid>
              <a:tr h="295817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设计原则名称</a:t>
                      </a:r>
                      <a:endParaRPr lang="zh-CN" sz="2400" kern="100" dirty="0">
                        <a:solidFill>
                          <a:schemeClr val="bg1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核心思想</a:t>
                      </a:r>
                      <a:endParaRPr lang="zh-CN" sz="2400" kern="100" dirty="0">
                        <a:solidFill>
                          <a:schemeClr val="bg1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使用频率</a:t>
                      </a:r>
                      <a:endParaRPr lang="zh-CN" sz="2400" kern="100" dirty="0">
                        <a:solidFill>
                          <a:schemeClr val="bg1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  <a:tr h="776519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单一职责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一个对象应该只包含单一的职责，并且该职责被完整地封装在一个类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★★★★☆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513905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开闭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软件实体应当对扩展开放，对修改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关闭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★★★★★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776519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里氏代换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400" b="1" kern="1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任何父类出现的地方，子类都可以替代出现</a:t>
                      </a:r>
                      <a:endParaRPr lang="zh-CN" sz="2400" b="1" kern="100" dirty="0">
                        <a:solidFill>
                          <a:schemeClr val="tx1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★★★★★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776519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依赖倒转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400" b="1" kern="100" dirty="0" smtClean="0"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要依赖于抽象，不要依赖于具体的实现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</a:t>
                      </a: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抽象不应该依赖于细节，细节应该依赖于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抽象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★★★★★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30457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接口隔离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客户端不应该依赖那些它不需要的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接口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★★☆☆☆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776519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合成复用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原则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优先使用对象组合，而不是继承来达到复用的</a:t>
                      </a:r>
                      <a:r>
                        <a:rPr lang="zh-CN" sz="2400" b="1" kern="100" dirty="0" smtClea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目的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★★★★☆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517679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迪米特</a:t>
                      </a:r>
                      <a:r>
                        <a:rPr lang="zh-CN" sz="2400" b="1" kern="100" dirty="0" smtClean="0">
                          <a:solidFill>
                            <a:srgbClr val="0070C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法则</a:t>
                      </a:r>
                      <a:endParaRPr lang="zh-CN" sz="2400" b="1" kern="100" dirty="0">
                        <a:solidFill>
                          <a:srgbClr val="0070C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400" b="1" kern="100" dirty="0" smtClean="0"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又称最少知识原则，一个对象应当对其他对象尽可能少的了解</a:t>
                      </a:r>
                      <a:r>
                        <a:rPr lang="en-US" altLang="zh-CN" sz="2400" b="1" kern="100" dirty="0" smtClean="0"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,</a:t>
                      </a:r>
                      <a:r>
                        <a:rPr lang="zh-CN" altLang="en-US" sz="2400" b="1" kern="100" dirty="0" smtClean="0"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不和陌生人说话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33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★★★☆☆</a:t>
                      </a:r>
                      <a:endParaRPr lang="zh-CN" sz="2400" kern="100" dirty="0">
                        <a:solidFill>
                          <a:srgbClr val="FF33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1369</Words>
  <Application>WPS 演示</Application>
  <PresentationFormat>自定义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Eras Bold ITC</vt:lpstr>
      <vt:lpstr>楷体_GB2312</vt:lpstr>
      <vt:lpstr>新宋体</vt:lpstr>
      <vt:lpstr>黑体</vt:lpstr>
      <vt:lpstr>Tahoma</vt:lpstr>
      <vt:lpstr>隶书</vt:lpstr>
      <vt:lpstr>Times New Roman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161</cp:revision>
  <dcterms:created xsi:type="dcterms:W3CDTF">2014-08-23T07:50:00Z</dcterms:created>
  <dcterms:modified xsi:type="dcterms:W3CDTF">2024-09-01T16:56:59Z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90EDBF140081483282A222148E23C5E4_12</vt:lpwstr>
  </property>
  <property fmtid="{D5CDD505-2E9C-101B-9397-08002B2CF9AE}" pid="3" name="KSOProductBuildVer">
    <vt:lpwstr>2052-12.1.0.17827</vt:lpwstr>
  </property>
</Properties>
</file>