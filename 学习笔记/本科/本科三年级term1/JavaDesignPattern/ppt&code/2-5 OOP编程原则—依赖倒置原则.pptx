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42" r:id="rId3"/>
    <p:sldId id="320" r:id="rId5"/>
    <p:sldId id="371" r:id="rId6"/>
    <p:sldId id="380" r:id="rId7"/>
    <p:sldId id="372" r:id="rId8"/>
    <p:sldId id="393" r:id="rId9"/>
    <p:sldId id="401" r:id="rId10"/>
    <p:sldId id="373" r:id="rId11"/>
    <p:sldId id="382" r:id="rId12"/>
    <p:sldId id="403" r:id="rId13"/>
    <p:sldId id="404" r:id="rId14"/>
    <p:sldId id="405" r:id="rId15"/>
    <p:sldId id="408" r:id="rId16"/>
    <p:sldId id="407" r:id="rId17"/>
    <p:sldId id="394" r:id="rId18"/>
    <p:sldId id="409" r:id="rId19"/>
  </p:sldIdLst>
  <p:sldSz cx="12198350" cy="6859270"/>
  <p:notesSz cx="6858000" cy="9144000"/>
  <p:custDataLst>
    <p:tags r:id="rId23"/>
  </p:custDataLst>
  <p:defaultTextStyle>
    <a:defPPr>
      <a:defRPr lang="zh-CN"/>
    </a:defPPr>
    <a:lvl1pPr marL="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pos="304" userDrawn="1">
          <p15:clr>
            <a:srgbClr val="A4A3A4"/>
          </p15:clr>
        </p15:guide>
        <p15:guide id="4" pos="1892" userDrawn="1">
          <p15:clr>
            <a:srgbClr val="A4A3A4"/>
          </p15:clr>
        </p15:guide>
        <p15:guide id="5" pos="121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005DA2"/>
    <a:srgbClr val="FFC400"/>
    <a:srgbClr val="FFD347"/>
    <a:srgbClr val="FFC91D"/>
    <a:srgbClr val="0071C1"/>
    <a:srgbClr val="4144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59" autoAdjust="0"/>
    <p:restoredTop sz="92638" autoAdjust="0"/>
  </p:normalViewPr>
  <p:slideViewPr>
    <p:cSldViewPr showGuides="1">
      <p:cViewPr varScale="1">
        <p:scale>
          <a:sx n="65" d="100"/>
          <a:sy n="65" d="100"/>
        </p:scale>
        <p:origin x="-852" y="-114"/>
      </p:cViewPr>
      <p:guideLst>
        <p:guide orient="horz" pos="2160"/>
        <p:guide pos="3842"/>
        <p:guide pos="304"/>
        <p:guide pos="1892"/>
        <p:guide pos="1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62AE03-6EE8-41FD-8A37-86C6BC5E264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8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94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903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92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88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8470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8705" algn="l" defTabSz="121983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E0E0E2-7263-44C4-AAA9-733DBA7BD205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1FD59-C920-460C-B1C9-0346C59420B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1562671" y="693490"/>
            <a:ext cx="10635679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511" y="0"/>
            <a:ext cx="1155204" cy="110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20" y="273112"/>
            <a:ext cx="4013173" cy="116232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9216" y="273114"/>
            <a:ext cx="6819216" cy="5854469"/>
          </a:xfrm>
          <a:prstGeom prst="rect">
            <a:avLst/>
          </a:prstGeom>
        </p:spPr>
        <p:txBody>
          <a:bodyPr lIns="121963" tIns="60981" rIns="121963" bIns="60981"/>
          <a:lstStyle>
            <a:lvl1pPr>
              <a:defRPr sz="4300"/>
            </a:lvl1pPr>
            <a:lvl2pPr>
              <a:defRPr sz="3700"/>
            </a:lvl2pPr>
            <a:lvl3pPr>
              <a:defRPr sz="32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920" y="1435434"/>
            <a:ext cx="4013173" cy="46921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962" y="4801712"/>
            <a:ext cx="7319010" cy="566870"/>
          </a:xfrm>
          <a:prstGeom prst="rect">
            <a:avLst/>
          </a:prstGeom>
        </p:spPr>
        <p:txBody>
          <a:bodyPr lIns="121963" tIns="60981" rIns="121963" bIns="60981" anchor="b"/>
          <a:lstStyle>
            <a:lvl1pPr algn="l">
              <a:defRPr sz="27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962" y="612916"/>
            <a:ext cx="7319010" cy="4115753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4300"/>
            </a:lvl1pPr>
            <a:lvl2pPr marL="609600" indent="0">
              <a:buNone/>
              <a:defRPr sz="3700"/>
            </a:lvl2pPr>
            <a:lvl3pPr marL="1219835" indent="0">
              <a:buNone/>
              <a:defRPr sz="3200"/>
            </a:lvl3pPr>
            <a:lvl4pPr marL="1829435" indent="0">
              <a:buNone/>
              <a:defRPr sz="2700"/>
            </a:lvl4pPr>
            <a:lvl5pPr marL="2439035" indent="0">
              <a:buNone/>
              <a:defRPr sz="2700"/>
            </a:lvl5pPr>
            <a:lvl6pPr marL="3049270" indent="0">
              <a:buNone/>
              <a:defRPr sz="2700"/>
            </a:lvl6pPr>
            <a:lvl7pPr marL="3658870" indent="0">
              <a:buNone/>
              <a:defRPr sz="2700"/>
            </a:lvl7pPr>
            <a:lvl8pPr marL="4268470" indent="0">
              <a:buNone/>
              <a:defRPr sz="2700"/>
            </a:lvl8pPr>
            <a:lvl9pPr marL="4878705" indent="0">
              <a:buNone/>
              <a:defRPr sz="27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962" y="5368581"/>
            <a:ext cx="7319010" cy="805049"/>
          </a:xfrm>
          <a:prstGeom prst="rect">
            <a:avLst/>
          </a:prstGeom>
        </p:spPr>
        <p:txBody>
          <a:bodyPr lIns="121963" tIns="60981" rIns="121963" bIns="60981"/>
          <a:lstStyle>
            <a:lvl1pPr marL="0" indent="0">
              <a:buNone/>
              <a:defRPr sz="1900"/>
            </a:lvl1pPr>
            <a:lvl2pPr marL="609600" indent="0">
              <a:buNone/>
              <a:defRPr sz="1600"/>
            </a:lvl2pPr>
            <a:lvl3pPr marL="1219835" indent="0">
              <a:buNone/>
              <a:defRPr sz="1300"/>
            </a:lvl3pPr>
            <a:lvl4pPr marL="1829435" indent="0">
              <a:buNone/>
              <a:defRPr sz="1200"/>
            </a:lvl4pPr>
            <a:lvl5pPr marL="2439035" indent="0">
              <a:buNone/>
              <a:defRPr sz="1200"/>
            </a:lvl5pPr>
            <a:lvl6pPr marL="3049270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8705" indent="0">
              <a:buNone/>
              <a:defRPr sz="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918" y="274702"/>
            <a:ext cx="10978515" cy="1143265"/>
          </a:xfrm>
          <a:prstGeom prst="rect">
            <a:avLst/>
          </a:prstGeom>
        </p:spPr>
        <p:txBody>
          <a:bodyPr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1600572"/>
            <a:ext cx="10978515" cy="4527011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804" y="206422"/>
            <a:ext cx="2744629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918" y="206422"/>
            <a:ext cx="8030580" cy="4388867"/>
          </a:xfrm>
          <a:prstGeom prst="rect">
            <a:avLst/>
          </a:prstGeom>
        </p:spPr>
        <p:txBody>
          <a:bodyPr vert="eaVert" lIns="121963" tIns="60981" rIns="121963" bIns="6098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917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DF659192-60C8-49F5-94DF-1E29C3FCC8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770" y="6357822"/>
            <a:ext cx="3862811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42151" y="6357822"/>
            <a:ext cx="2846282" cy="365210"/>
          </a:xfrm>
          <a:prstGeom prst="rect">
            <a:avLst/>
          </a:prstGeom>
        </p:spPr>
        <p:txBody>
          <a:bodyPr lIns="121963" tIns="60981" rIns="121963" bIns="60981"/>
          <a:lstStyle/>
          <a:p>
            <a:fld id="{EB730883-2733-4EB0-9793-894FF9D5011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Tm="0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slow" advTm="0">
    <p:wipe/>
  </p:transition>
  <p:timing>
    <p:tnLst>
      <p:par>
        <p:cTn id="1" dur="indefinite" restart="never" nodeType="tmRoot"/>
      </p:par>
    </p:tnLst>
  </p:timing>
  <p:txStyles>
    <p:titleStyle>
      <a:lvl1pPr algn="ctr" defTabSz="1219835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1235" indent="-3810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6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423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44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40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3670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9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indent="-304800" algn="l" defTabSz="1219835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8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4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92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705" algn="l" defTabSz="121983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screen"/>
          <a:stretch>
            <a:fillRect/>
          </a:stretch>
        </p:blipFill>
        <p:spPr>
          <a:xfrm>
            <a:off x="-616" y="-26590"/>
            <a:ext cx="12193647" cy="686064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948997" y="2709714"/>
            <a:ext cx="6260682" cy="1785100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OOP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编程原则        </a:t>
            </a:r>
            <a:endParaRPr lang="en-US" altLang="zh-CN" sz="5400" b="1" dirty="0" smtClean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r>
              <a:rPr lang="en-US" altLang="zh-CN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54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依赖倒转原则</a:t>
            </a:r>
            <a:endParaRPr lang="zh-CN" altLang="en-US" sz="5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5327222" y="4390123"/>
            <a:ext cx="6028912" cy="0"/>
          </a:xfrm>
          <a:prstGeom prst="line">
            <a:avLst/>
          </a:prstGeom>
          <a:ln w="254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82825" y="455097"/>
            <a:ext cx="2152446" cy="861974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r>
              <a:rPr lang="en-US" altLang="zh-CN" sz="4800" dirty="0">
                <a:solidFill>
                  <a:schemeClr val="bg1"/>
                </a:solidFill>
                <a:latin typeface="Eras Bold ITC" panose="020B0907030504020204" pitchFamily="34" charset="0"/>
              </a:rPr>
              <a:t>LOGO</a:t>
            </a:r>
            <a:endParaRPr lang="zh-CN" altLang="en-US" sz="4800" dirty="0">
              <a:solidFill>
                <a:schemeClr val="bg1"/>
              </a:solidFill>
              <a:latin typeface="Eras Bold ITC" panose="020B0907030504020204" pitchFamily="34" charset="0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426385" y="5197738"/>
            <a:ext cx="2353310" cy="612775"/>
          </a:xfrm>
          <a:prstGeom prst="rect">
            <a:avLst/>
          </a:prstGeom>
          <a:noFill/>
        </p:spPr>
        <p:txBody>
          <a:bodyPr wrap="none" lIns="121917" tIns="60958" rIns="121917" bIns="60958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软件学院  </a:t>
            </a:r>
            <a:endParaRPr lang="en-US" altLang="zh-CN" sz="3200" b="1" dirty="0" smtClea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1186" y="405458"/>
            <a:ext cx="3956102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38535" y="4267756"/>
            <a:ext cx="1166529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kern="1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依赖倒转原则，</a:t>
            </a:r>
            <a:r>
              <a:rPr lang="en-US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Dependence Inversion Principle (</a:t>
            </a:r>
            <a:r>
              <a:rPr lang="en-US" altLang="zh-CN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DI</a:t>
            </a:r>
            <a:r>
              <a:rPr lang="en-US" altLang="zh-CN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P)</a:t>
            </a:r>
            <a:endParaRPr lang="en-US" altLang="zh-CN" b="1" kern="100" dirty="0" smtClean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Robert C. Martin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1996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年为“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C++ Reporter”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所写的专栏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Engineering Notebook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的第三篇，后来加入到他在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2002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年出版的</a:t>
            </a:r>
            <a:r>
              <a:rPr lang="zh-CN" altLang="en-US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经典著作中。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 descr="image0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6687" y="981522"/>
            <a:ext cx="2592288" cy="28390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 descr="91080-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1143" y="949295"/>
            <a:ext cx="2232248" cy="29298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5518" y="1018132"/>
            <a:ext cx="2052631" cy="2860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学计算机的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修电脑的？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4519" y="1403692"/>
            <a:ext cx="75608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PC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看做最大的软件系统，任何部件如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、内存、硬盘、显卡等都可以理解成程序中封装的类或者程序集；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不影响别的部件前提下进行修改或者替换；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强内聚、松耦合；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部件采用标准接口，面向接口设计，便于部件更换；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面向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实现（具体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产品）设计时，紧耦合，不易更换。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Picture 2" descr="https://timgsa.baidu.com/timg?image&amp;quality=80&amp;size=b9999_10000&amp;sec=1582714282774&amp;di=b5a03bd993a4fb76972490e39068fd9a&amp;imgtype=0&amp;src=http%3A%2F%2Fwx4.sinaimg.cn%2Flarge%2F62528dc5gy1fgod94schoj20rs0rsq7e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477" y="1629594"/>
            <a:ext cx="3681314" cy="3681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依赖倒转原则的定义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770583" y="1269554"/>
          <a:ext cx="10585176" cy="3840480"/>
        </p:xfrm>
        <a:graphic>
          <a:graphicData uri="http://schemas.openxmlformats.org/drawingml/2006/table">
            <a:tbl>
              <a:tblPr/>
              <a:tblGrid>
                <a:gridCol w="10585176"/>
              </a:tblGrid>
              <a:tr h="1512168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依赖倒转原则</a:t>
                      </a: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高层模块不应该依赖低层模块，它们都应该依赖抽象。</a:t>
                      </a:r>
                      <a:r>
                        <a:rPr lang="zh-CN" altLang="en-US" sz="2800" b="0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抽象不应该依赖于细节，细节应该依赖于抽象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。</a:t>
                      </a:r>
                      <a:endParaRPr lang="en-US" altLang="zh-CN" sz="2800" b="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DIP</a:t>
                      </a: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High level modules should not depend upon low level modules, both should depend upon abstractions. </a:t>
                      </a:r>
                      <a:r>
                        <a:rPr lang="en-US" altLang="zh-CN" sz="2800" b="0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Abstractions should not depend upon details, details should depend upon abstractions</a:t>
                      </a:r>
                      <a:r>
                        <a:rPr lang="en-US" altLang="zh-CN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.</a:t>
                      </a:r>
                      <a:endParaRPr lang="zh-CN" sz="2800" kern="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54559" y="909514"/>
            <a:ext cx="11089232" cy="50130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什么是高层模块？什么是低层模块？每一个逻辑的实现都是由原子逻辑组成的，不可分割的原子逻辑就是低层模块，原子逻辑的再组装就是高层模块。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是抽象？什么是细节？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中，抽象就是接口或者抽象类，两者都是不能实例化的；细节就是实现类，可以直接实例化，就是</a:t>
            </a: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new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产生一个对象。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Java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中依赖倒置原则就是：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间的依赖通过抽象发生，实现类之间不发生直接的依赖关系，其依赖关系是通过接口或者抽象类产生的；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接口或者抽象类不依赖于实现类；</a:t>
            </a:r>
            <a:endParaRPr lang="en-US" altLang="zh-CN" kern="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</a:t>
            </a:r>
            <a:r>
              <a:rPr lang="zh-CN" altLang="en-US" kern="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类依赖接口或者抽象类。</a:t>
            </a:r>
            <a:endParaRPr lang="zh-CN" altLang="en-US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2"/>
          <p:cNvSpPr txBox="1"/>
          <p:nvPr/>
        </p:nvSpPr>
        <p:spPr>
          <a:xfrm>
            <a:off x="1778695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依赖倒转原则的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依赖倒转原则的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78695" y="3573810"/>
            <a:ext cx="8640960" cy="203132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依赖倒转原则</a:t>
            </a:r>
            <a:r>
              <a:rPr lang="zh-CN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：</a:t>
            </a:r>
            <a:r>
              <a:rPr lang="zh-CN" altLang="en-US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针对接口编程，不要针对实现编程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(</a:t>
            </a: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DI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P</a:t>
            </a:r>
            <a:r>
              <a:rPr lang="en-US" altLang="zh-CN" sz="28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): </a:t>
            </a:r>
            <a:r>
              <a:rPr lang="en-US" altLang="zh-CN" sz="2800" b="1" kern="1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Program to an interface, not an implementation</a:t>
            </a: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en-US" altLang="zh-CN" sz="28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055" y="716310"/>
            <a:ext cx="3810000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659015" y="1125538"/>
          <a:ext cx="7272808" cy="1920240"/>
        </p:xfrm>
        <a:graphic>
          <a:graphicData uri="http://schemas.openxmlformats.org/drawingml/2006/table">
            <a:tbl>
              <a:tblPr/>
              <a:tblGrid>
                <a:gridCol w="7272808"/>
              </a:tblGrid>
              <a:tr h="1512168">
                <a:tc>
                  <a:txBody>
                    <a:bodyPr/>
                    <a:lstStyle/>
                    <a:p>
                      <a:pPr marL="457200" indent="-457200" algn="l">
                        <a:lnSpc>
                          <a:spcPct val="15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2800" b="1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依赖倒转原则</a:t>
                      </a:r>
                      <a:r>
                        <a:rPr lang="zh-CN" altLang="en-US" sz="2800" b="1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：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高层模块不应该依赖低层模块，它们都应该依赖抽象。</a:t>
                      </a:r>
                      <a:r>
                        <a:rPr lang="zh-CN" altLang="en-US" sz="2800" b="0" kern="100" dirty="0" smtClean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抽象不应该依赖于细节，细节应该依赖于抽象</a:t>
                      </a:r>
                      <a:r>
                        <a:rPr lang="zh-CN" altLang="en-US" sz="2800" b="0" kern="100" dirty="0" smtClean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。</a:t>
                      </a:r>
                      <a:endParaRPr lang="en-US" altLang="zh-CN" sz="2800" b="0" kern="100" dirty="0" smtClean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依赖倒转原则分析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54559" y="909514"/>
            <a:ext cx="10873208" cy="5447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在程序代码中传递参数时或在关联关系中，</a:t>
            </a: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尽量引用层次高的抽象层类，</a:t>
            </a: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即使用接口和抽象类进行变量类型声明、参数类型声明、方法返回类型声明，以及数据类型的转换</a:t>
            </a:r>
            <a:r>
              <a:rPr lang="zh-CN" altLang="en-US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</a:t>
            </a: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不要用具体类来做。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在程序中</a:t>
            </a: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尽量使用抽象层进行编程</a:t>
            </a: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，而将具体类写在配置文件中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针对</a:t>
            </a: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抽象层编程，将具体类的对象通过</a:t>
            </a:r>
            <a:r>
              <a:rPr lang="zh-CN" altLang="en-US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依赖注入</a:t>
            </a:r>
            <a:r>
              <a:rPr lang="en-US" altLang="zh-CN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(Dependency Injection, DI)</a:t>
            </a: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的方式注入到其他对象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构造注入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设值注入（</a:t>
            </a:r>
            <a:r>
              <a:rPr lang="en-US" altLang="zh-CN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Setter</a:t>
            </a: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注入）</a:t>
            </a:r>
            <a:endParaRPr lang="zh-CN" altLang="en-US" kern="0" dirty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409700" lvl="2" indent="-342900" defTabSz="9144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Font typeface="Wingdings" panose="05000000000000000000" pitchFamily="2" charset="2"/>
              <a:buChar char="l"/>
            </a:pPr>
            <a:r>
              <a:rPr lang="zh-CN" altLang="en-US" kern="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接口</a:t>
            </a:r>
            <a:r>
              <a:rPr lang="zh-CN" altLang="en-US" kern="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注入</a:t>
            </a:r>
            <a:endParaRPr lang="zh-CN" altLang="en-US" kern="0" dirty="0">
              <a:solidFill>
                <a:srgbClr val="FF33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依赖倒转原则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10543" y="1125538"/>
            <a:ext cx="1123324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某软件公司开发人员在开发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CRM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系统时发现：该系统经常需要将存储在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TXT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或</a:t>
            </a: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Excel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文件中的客户信息转存到数据库中，因此需要进行数据格式转换。在客户数据操作类</a:t>
            </a:r>
            <a:r>
              <a:rPr lang="en-US" altLang="zh-CN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CustomerDAO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/>
              </a:rPr>
              <a:t>中将调用数据格式转换类的方法来实现格式转换，初始设计方案结构如图</a:t>
            </a:r>
            <a:endParaRPr lang="zh-CN" altLang="en-US" dirty="0"/>
          </a:p>
        </p:txBody>
      </p:sp>
      <p:pic>
        <p:nvPicPr>
          <p:cNvPr id="4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0983" y="3069754"/>
            <a:ext cx="6984776" cy="30243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倒转原则实例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2591" y="2873069"/>
            <a:ext cx="1036915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在编码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实现时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，该软件公司开发人员发现该设计方案存在一个非常严重的问题，由于每次转换数据时数据来源不一定相同，因此需要经常更换数据转换类，例如有时候需要将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TXTDataConvertor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改为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ExcelDataConvertor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，此时需要修改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的源代码，而且在引入并使用新的数据转换类时也不得不修改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CustomerDAO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的源代码，系统扩展性较差，违反了开闭原则，现需要对该方案进行重构。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4919" y="781836"/>
            <a:ext cx="6120680" cy="2091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900068" y="4797946"/>
            <a:ext cx="1036915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引入抽象数据转换类</a:t>
            </a:r>
            <a:r>
              <a:rPr lang="en-US" altLang="zh-CN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DataConvertor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重构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过程中使用了开闭原则、里氏代换原则和依赖倒转原则，开闭原则是目标，里氏代换原则是基础，依赖倒转原则是途径，相辅相成。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663" y="837506"/>
            <a:ext cx="9584265" cy="38884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5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倒转原则实例</a:t>
            </a:r>
            <a:r>
              <a:rPr lang="en-US" altLang="zh-CN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559" y="4928989"/>
            <a:ext cx="4552950" cy="138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/>
          <p:cNvSpPr/>
          <p:nvPr/>
        </p:nvSpPr>
        <p:spPr>
          <a:xfrm>
            <a:off x="3002831" y="765498"/>
            <a:ext cx="9145016" cy="40811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Dao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private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connection;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Dao(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connection)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connection;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findAll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connection.executeQuery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("SELECT * FROM test");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329694" y="4221882"/>
            <a:ext cx="6480720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executeQuery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94519" y="1773610"/>
            <a:ext cx="2808312" cy="2797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类通过调用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MysqlConnection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executeQuery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方法执行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倒转原则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814" y="794058"/>
            <a:ext cx="5602925" cy="169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/>
          <p:cNvSpPr/>
          <p:nvPr/>
        </p:nvSpPr>
        <p:spPr>
          <a:xfrm>
            <a:off x="698575" y="2921670"/>
            <a:ext cx="1051316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违反了依赖倒置原则，高层模块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强耦合了底层模块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MysqlConnection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。如果系统需要更换数据库为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，我们就不得不去修改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类，增加一个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SqlserverConnection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类，这又违反了面向对象设计的开闭原则。例子中的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是一个不稳定、随时会因为底层模块的变更而出现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的类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倒转原则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8575" y="3933850"/>
            <a:ext cx="10513168" cy="22430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修改后的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类依赖于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Connection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抽象接口，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MysqlConnection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类也以实现接口的方式依赖于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类。这时如果要更换为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SqlServer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数据库，只要增加一个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SqlserverConnection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类并实现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Connection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接口就完成了，不需要去修改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Dao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类了，大大的降低了耦合度。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790" y="837506"/>
            <a:ext cx="5904656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1" y="1413570"/>
            <a:ext cx="5602925" cy="1699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倒转原则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50503" y="2589037"/>
            <a:ext cx="8208912" cy="408111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Dao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 Connection </a:t>
            </a:r>
            <a:r>
              <a:rPr lang="en-US" altLang="zh-CN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Dao(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this.connection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connection;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findAll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connection.executeQuery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("SELECT * FROM test");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94519" y="1071762"/>
            <a:ext cx="5256584" cy="1421928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interface Connection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executeQuery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7630" y="837506"/>
            <a:ext cx="6358209" cy="319472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public class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MysqlConnection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implements Connection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@Override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public void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executeQuery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(String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{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System.out.println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);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</a:t>
            </a:r>
            <a:r>
              <a:rPr lang="zh-CN" altLang="en-US" sz="28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倒转原则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实例</a:t>
            </a:r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2"/>
          <p:cNvSpPr txBox="1"/>
          <p:nvPr/>
        </p:nvSpPr>
        <p:spPr>
          <a:xfrm>
            <a:off x="1859087" y="189434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2800" b="1" dirty="0" smtClean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  <a:endParaRPr lang="zh-CN" altLang="en-US" sz="28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8575" y="981522"/>
            <a:ext cx="10945216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为什么叫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倒转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？那什么是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正转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依赖正转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就是类间的依赖是实实在在的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实现类之间的依赖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，也就是面向实现编程，也是传统的思维方式。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而编写程序需要的是对现实世界的事物进行抽象，抽象的结果就是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有了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抽象类和接口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，然后根据系统设计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的需要产生了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抽象类间的依赖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，代替了传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统思维中事物间的依赖，因此叫“倒转”。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记住关键：面向接口编程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0164" y="3834755"/>
            <a:ext cx="3357563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66627" y="3285778"/>
            <a:ext cx="986509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60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8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4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3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92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8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470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705" algn="l" defTabSz="121983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一句话点评：</a:t>
            </a:r>
            <a:endParaRPr lang="en-US" altLang="zh-CN" sz="2800" b="1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搞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建筑时要做设计师，而不是砖瓦工，抽象的蓝图要靠具体的材料一点点实现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0489" y="771484"/>
            <a:ext cx="6999166" cy="3106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SLIDE_COUNT" val="4"/>
  <p:tag name="ISPRING_PRESENTATION_TITLE" val="PowerPoint 演示文稿"/>
  <p:tag name="ISPRING_RESOURCE_PATHS_HASH_PRESENTER" val="af3f2d575d923f6e4ff64f325e7b41567660d7"/>
  <p:tag name="commondata" val="eyJoZGlkIjoiZmIwNTgzN2VkODcyMGZjYmE5ZDczYWZmOTUyYTJjOTMifQ=="/>
</p:tagLst>
</file>

<file path=ppt/theme/theme1.xml><?xml version="1.0" encoding="utf-8"?>
<a:theme xmlns:a="http://schemas.openxmlformats.org/drawingml/2006/main" name="第一PPT，www.1ppt.com">
  <a:themeElements>
    <a:clrScheme name="自定义 10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FFC000"/>
      </a:accent2>
      <a:accent3>
        <a:srgbClr val="BFBFBF"/>
      </a:accent3>
      <a:accent4>
        <a:srgbClr val="BFBFBF"/>
      </a:accent4>
      <a:accent5>
        <a:srgbClr val="BFBFB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2929</Words>
  <Application>WPS 演示</Application>
  <PresentationFormat>自定义</PresentationFormat>
  <Paragraphs>125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Eras Bold ITC</vt:lpstr>
      <vt:lpstr>Times New Roman</vt:lpstr>
      <vt:lpstr>-apple-system</vt:lpstr>
      <vt:lpstr>FFont-Family</vt:lpstr>
      <vt:lpstr>Arial</vt:lpstr>
      <vt:lpstr>Arial Unicode MS</vt:lpstr>
      <vt:lpstr>Calibri</vt:lpstr>
      <vt:lpstr>-apple-system</vt:lpstr>
      <vt:lpstr>Times New Roman</vt:lpstr>
      <vt:lpstr>Wingdings</vt:lpstr>
      <vt:lpstr>Be Happy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蓝色简洁</dc:title>
  <dc:creator>第一PPT</dc:creator>
  <cp:keywords>www.1ppt.com</cp:keywords>
  <cp:lastModifiedBy>sxtyg</cp:lastModifiedBy>
  <cp:revision>206</cp:revision>
  <dcterms:created xsi:type="dcterms:W3CDTF">2014-08-23T07:50:00Z</dcterms:created>
  <dcterms:modified xsi:type="dcterms:W3CDTF">2026-09-10T13:19:14Z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58579B66583743739229654B6012EEB3_12</vt:lpwstr>
  </property>
  <property fmtid="{D5CDD505-2E9C-101B-9397-08002B2CF9AE}" pid="3" name="KSOProductBuildVer">
    <vt:lpwstr>2052-12.1.0.28488</vt:lpwstr>
  </property>
</Properties>
</file>